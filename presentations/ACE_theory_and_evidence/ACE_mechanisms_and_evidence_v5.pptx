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af92fc39034ae0" /><Relationship Type="http://schemas.openxmlformats.org/officeDocument/2006/relationships/extended-properties" Target="/docProps/app.xml" Id="R19dd6d9687374650" /><Relationship Type="http://schemas.openxmlformats.org/officeDocument/2006/relationships/officeDocument" Target="/ppt/presentation.xml" Id="Rfb8f1993cf884b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cbf5f843dc4c6c"/>
  </p:sldMasterIdLst>
  <p:notesMasterIdLst>
    <p:notesMasterId xmlns:r="http://schemas.openxmlformats.org/officeDocument/2006/relationships" r:id="Rf4ed36402bc14056"/>
  </p:notesMasterIdLst>
  <p:sldIdLst>
    <p:sldId xmlns:r="http://schemas.openxmlformats.org/officeDocument/2006/relationships" id="256" r:id="Ra51c085db6594f89"/>
    <p:sldId xmlns:r="http://schemas.openxmlformats.org/officeDocument/2006/relationships" id="257" r:id="Ra3f2ba4bab174b4c"/>
    <p:sldId xmlns:r="http://schemas.openxmlformats.org/officeDocument/2006/relationships" id="258" r:id="R51bea0ede030459b"/>
    <p:sldId xmlns:r="http://schemas.openxmlformats.org/officeDocument/2006/relationships" id="259" r:id="R08743e26231848cc"/>
    <p:sldId xmlns:r="http://schemas.openxmlformats.org/officeDocument/2006/relationships" id="260" r:id="R641fc21a80e147e6"/>
    <p:sldId xmlns:r="http://schemas.openxmlformats.org/officeDocument/2006/relationships" id="261" r:id="R31b292c586394810"/>
    <p:sldId xmlns:r="http://schemas.openxmlformats.org/officeDocument/2006/relationships" id="262" r:id="R32d05f40e06b4a79"/>
    <p:sldId xmlns:r="http://schemas.openxmlformats.org/officeDocument/2006/relationships" id="263" r:id="R26139c41c24c4d86"/>
    <p:sldId xmlns:r="http://schemas.openxmlformats.org/officeDocument/2006/relationships" id="264" r:id="R410c9b0d2af74ed9"/>
    <p:sldId xmlns:r="http://schemas.openxmlformats.org/officeDocument/2006/relationships" id="265" r:id="R9e842b36378f48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20bd91844043f1" /><Relationship Type="http://schemas.openxmlformats.org/officeDocument/2006/relationships/slideMaster" Target="/ppt/slideMasters/slideMaster1.xml" Id="R60cbf5f843dc4c6c" /><Relationship Type="http://schemas.openxmlformats.org/officeDocument/2006/relationships/notesMaster" Target="/ppt/notesMasters/notesMaster1.xml" Id="Rf4ed36402bc14056" /><Relationship Type="http://schemas.openxmlformats.org/officeDocument/2006/relationships/presProps" Target="/ppt/presProps.xml" Id="Ra305c5f1fd4f44a9" /><Relationship Type="http://schemas.openxmlformats.org/officeDocument/2006/relationships/tableStyles" Target="/ppt/tableStyles.xml" Id="R5804e16e53de45b1" /><Relationship Type="http://schemas.openxmlformats.org/officeDocument/2006/relationships/slide" Target="/ppt/slides/slide1.xml" Id="Ra51c085db6594f89" /><Relationship Type="http://schemas.openxmlformats.org/officeDocument/2006/relationships/slide" Target="/ppt/slides/slide2.xml" Id="Ra3f2ba4bab174b4c" /><Relationship Type="http://schemas.openxmlformats.org/officeDocument/2006/relationships/slide" Target="/ppt/slides/slide3.xml" Id="R51bea0ede030459b" /><Relationship Type="http://schemas.openxmlformats.org/officeDocument/2006/relationships/slide" Target="/ppt/slides/slide4.xml" Id="R08743e26231848cc" /><Relationship Type="http://schemas.openxmlformats.org/officeDocument/2006/relationships/slide" Target="/ppt/slides/slide5.xml" Id="R641fc21a80e147e6" /><Relationship Type="http://schemas.openxmlformats.org/officeDocument/2006/relationships/slide" Target="/ppt/slides/slide6.xml" Id="R31b292c586394810" /><Relationship Type="http://schemas.openxmlformats.org/officeDocument/2006/relationships/slide" Target="/ppt/slides/slide7.xml" Id="R32d05f40e06b4a79" /><Relationship Type="http://schemas.openxmlformats.org/officeDocument/2006/relationships/slide" Target="/ppt/slides/slide8.xml" Id="R26139c41c24c4d86" /><Relationship Type="http://schemas.openxmlformats.org/officeDocument/2006/relationships/slide" Target="/ppt/slides/slide9.xml" Id="R410c9b0d2af74ed9" /><Relationship Type="http://schemas.openxmlformats.org/officeDocument/2006/relationships/slide" Target="/ppt/slides/slide10.xml" Id="R9e842b36378f48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51e99afa1d44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dac9fa9764dc0" /><Relationship Type="http://schemas.openxmlformats.org/officeDocument/2006/relationships/notesMaster" Target="/ppt/notesMasters/notesMaster1.xml" Id="R20297a4aa5044c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822e97ca2b442e" /><Relationship Type="http://schemas.openxmlformats.org/officeDocument/2006/relationships/notesMaster" Target="/ppt/notesMasters/notesMaster1.xml" Id="R49dc3e4e9f754e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4d9062c0584ba7" /><Relationship Type="http://schemas.openxmlformats.org/officeDocument/2006/relationships/notesMaster" Target="/ppt/notesMasters/notesMaster1.xml" Id="R526ef8b8ac0444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1f1eb928c74ea2" /><Relationship Type="http://schemas.openxmlformats.org/officeDocument/2006/relationships/notesMaster" Target="/ppt/notesMasters/notesMaster1.xml" Id="R4f2aa0ddfdc94b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b0b25677ef4b8e" /><Relationship Type="http://schemas.openxmlformats.org/officeDocument/2006/relationships/notesMaster" Target="/ppt/notesMasters/notesMaster1.xml" Id="R4849b7d361124f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a95933af7b4f3a" /><Relationship Type="http://schemas.openxmlformats.org/officeDocument/2006/relationships/notesMaster" Target="/ppt/notesMasters/notesMaster1.xml" Id="Rebdcf926f80a47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f80b4396744b66" /><Relationship Type="http://schemas.openxmlformats.org/officeDocument/2006/relationships/notesMaster" Target="/ppt/notesMasters/notesMaster1.xml" Id="R530d29b9dc644e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23f087302d4b3c" /><Relationship Type="http://schemas.openxmlformats.org/officeDocument/2006/relationships/notesMaster" Target="/ppt/notesMasters/notesMaster1.xml" Id="R07322f0d929740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0c52008d764a99" /><Relationship Type="http://schemas.openxmlformats.org/officeDocument/2006/relationships/notesMaster" Target="/ppt/notesMasters/notesMaster1.xml" Id="R598fe3d02d044c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3de36f69eb4984" /><Relationship Type="http://schemas.openxmlformats.org/officeDocument/2006/relationships/notesMaster" Target="/ppt/notesMasters/notesMaster1.xml" Id="Rda4f3d84ccb442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Slides1–4 introduce SCMs and experiment selection. Slides5–7 are an illustrative three-node calculation, with the same covariance-score structure but simplified fixed candidates and linear heads. Slide8 is an archived action selected without performance screening. Slide9 distinguishes separate historical studies. Slide10 is a research proposal. Implementation: baselines.py, EnsembleStudentSCM / EnsembleLearner / PropagatedVariancePolicy, and scripts/research/persistent_scm.py. Historical PEV uses known graphs, independently initialized neural heads, model-only candidate contexts and covariance-based integrated variance reduction summed over descendant mechanisms. It does not identify the graph or optimize the proposed terminal-risk objective. Noise proxy is residual error, not a certified aleatoric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/Users/pat/code/ACE/docs/development/guidance/ace_theoretical_ideation_2026-10-08.md</a:t>
            </a:r>
          </a:p>
          <a:p xmlns:a="http://schemas.openxmlformats.org/drawingml/2006/main">
            <a:r>
              <a:t>/Users/pat/code/ACE/docs/ACE_evidence_and_public_claims_2026-10-08.md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SCM definition: Xi=fi(Pa_i,Ui). Edges specify direct causes in the assumed graph, f describes the mechanism, U describes external disturbances. The toy is a fully observed, deterministic chain with dimensionless values. Its true rules are M=2.5X and Y=3M, with U=0. These truth equations explain the example to the audience; the policy receives only its candidate models and allowed actions, not oracle truth. Known graph does not imply known mechanisms. General SCMs may have dependent disturbances; identification and fitting require explicit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/Users/pat/code/ACE/docs/development/guidance/ace_theoretical_ideation_2026-10-08.md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do(M=m) fixes M independently of its usual parents and replaces M=fM(X,UM) with M=m. X→M is removed for this experiment, while M→Y remains. Row X=x,M=m,Y=y supplies a natural Y label with measured parent m, but is not a natural M=fM(X) label. Under do(X=x), both M and Y remain naturally generated and eligible under the stated retention/noise assumptions. The implementation excludes the intervened head and uses observed parents for eligible training. Candidate simulation propagates ensemble-mean parents. Historical acquisition-study evaluation instead predicts each mechanism from observed parents; the toy composed target forecast and delivery studies have different evaluation semantics.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/Users/pat/code/ACE/docs/development/guidance/ace_theoretical_ideation_2026-10-08.md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 representation-size illustration, not an ACE benchmark. Define a deterministic discrete SCM with10independently controllable five-valued input nodes and9two-parent mechanism nodes arranged as a binary reduction tree. Every endogenous output also has5values. A naive associative lookup table for the final response over the full joint input grid requires5^10=9,765,625entries. With the graph supplied, nine local mechanism tables require9*5^2=225entries, a43,402.78fold representation-count difference. This is not a measured intervention-count reduction. Learning local tables assumes each required parent configuration is accessible with the child mechanism intact and allvariablesobserved; without internal interventions, reachability can fail. Sharedparentsettings may reveal several labels. Noncausal regressors can exploit smoothness/sparsity and need not enumerate a grid; the comparator is specifically exhaustive lookup, not allassociativelearning. No empirical superiority over this new baseline has been measured. Current PEV scores candidates by descendant ensemble covariance reduction; details retained in the worked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/Users/pat/code/ACE/docs/development/guidance/ace_theoretical_ideation_2026-10-08.md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configuration only. Three linear ensemble members: M slopes1,2,3, Y slopes2,3,4; ensemble means2X and3M. Candidates ordered X−1,X0,X1,M−1,M0,M1. Reference parent values−1,0,1. Population covariance denominator3, residual noise proxy1/20, deterministic mean-propagated parent contexts, no jitter or epsilon exploration. Preintervention observation history empty for this hand-constructed initial state. One response remaining. Oracle truth hidden from score: M=2.5X,Y=3M. Production historical confirmation uses neural heads and different grids/batches. All numbers are generated by explain_ace_mechanics.py with exact rational arithmetic.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  <a:p xmlns:a="http://schemas.openxmlformats.org/drawingml/2006/main">
            <a:r>
              <a:t>/Users/pat/code/ACE/scripts/research/explain_ace_mechanics.py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score for M context±1 is160/387≈0.413436693. Y context±2 is640/1467≈0.436264485. Their sum is≈0.849701178. Under do(M=±1) the clamped M mechanism contributes zero, leaving only Y≈0.413436693. Zero contexts give zero covariance and zero score. X+1 tiesX−1; first-maximum tie rule choosesX−1. At that action the ensemble mean predictsM−2,Y−6. No oracle outcome is queried during scoring. The Y slope ensemble is evaluated at the simulated mean parent; it is not a member-paired composed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oracle row isX−1,M−2.5,Y−7.5. Eligible pairs M:(−1,−2.5),Y:(−2.5,−7.5); clamped X supplies no natural root-distribution update. For transparent arithmetic use one gradient step on half squared error, with etaM1/2 and etaY2/25. M slopes1,2,3 become1.75,2.25,2.75. Y slopes2,3,4 become2.5,3,3.5. At X−1, updated mean predictsM−2.25 andY−6.75. Signed final error drops from1.5 to.75 on this same illustrative row. This is not held-out improvement or production training: production uses neural heads, Adam and member-specific masks. Response budget becomes0. Do not associate this made-up row with the real archived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archived DAG for smallest seed5000, not chosen for favorable performance. Edges point parent to child. HighlightX7 first chosen intervention and its descendant edges. FirstactiondoX7=3.857086181640625 buys50responses. Eachrow supplieseligible natural-mechanism labels using observedparents. Fullcampaign32interventionbatches1600responses plus400observationalresponses. All20DAGs in thecomparison shareonefive-layergenerator, not20independentgraphfamilies. Rawrows/candidatescores notretained for thisaction.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results/research_pev_shift30_mean_confirmation/shift30/pev/seed_5000/system.json</a:t>
            </a:r>
          </a:p>
          <a:p xmlns:a="http://schemas.openxmlformats.org/drawingml/2006/main">
            <a:r>
              <a:t>results/research_pev_shift30_mean_confirmation/shift30/pev/seed_5000/trajectory.csv</a:t>
            </a:r>
          </a:p>
          <a:p xmlns:a="http://schemas.openxmlformats.org/drawingml/2006/main">
            <a:r>
              <a:t>/Users/pat/code/ACE/results/research_pev_shift30_mean_confirmation/README.md</a:t>
            </a:r>
          </a:p>
          <a:p xmlns:a="http://schemas.openxmlformats.org/drawingml/2006/main">
            <a:r>
              <a:t>/Users/pat/code/ACE/presentations/ACE_theory_and_evidence/recorded_curves_2026-10-09.json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All20shift30systemsseeds5000–5019. Arithmeticmean noise-free feasible nonroot mechanism MSE, measured-parent prediction. Full32checkpoints shown atleft; samecurves4–32zoomatright. FinalACE.0154302049,random.0438980071,64.85%lowerratioofmeans,19/20pairedwins. Secondarycontrastp.00750. Prespecifiedcoveragecontrastfails p.05108 andnaivevariancescoringunresolved p.62176. Earlyrandomadvantage remains visible. No Bresults,confidenceband,newfit ornewhypothesis.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/Users/pat/code/ACE/results/research_pev_shift30_mean_confirmation/README.md</a:t>
            </a:r>
          </a:p>
          <a:p xmlns:a="http://schemas.openxmlformats.org/drawingml/2006/main">
            <a:r>
              <a:t>/Users/pat/code/ACE/presentations/ACE_theory_and_evidence/recorded_curves_2026-10-09.json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descriptivepost-hocdisplayonly. TargetdefinedasrandomfinalgroupmeanMSE .043898007078491626. Firstobservedgroupmeancrossing,nointerpolation:ACEbatch10,500interventionresponses+120obs=620total,mean.04007927;randombatch28,1400interventionresponses+360obs=1760total,mean.04216014. 1−10/28=64.2857%fewerbatches/interventionresponses;1−620/1760=64.7727%fewertotalresponses. Randomcrossesbackabove atbatch31. Bothoriginalcampaignsactuallyran32batches2000totalresponses;thesearedescriptiveprefixcomparisons,notactualsavedcompute/measurements,norvalidatedprospectivestoppingrule. Groupmeanfirstcrossingnotmeanofindividualfirstcrossings. Noone-systemorpopulationguarantee. Originalstudiesshowfixedbudgetpredictionadvantage;prospectivesample-efficiencyconfirmationremainsfuture.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/Users/pat/code/ACE/presentations/ACE_theory_and_evidence/recorded_curves_2026-10-09.json</a:t>
            </a:r>
          </a:p>
          <a:p xmlns:a="http://schemas.openxmlformats.org/drawingml/2006/main">
            <a:r>
              <a:t>/Users/pat/code/ACE/results/research_pev_shift30_mean_confirmation/README.md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33cc082744c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ea810097a4b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0e6f199d84a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7304260db4d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b7a2ea3a54b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bad1501fa49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F08CBF-74A7-4293-AF2A-0354F22E0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2B1FE8-CE76-4E51-A38D-EFFFC053A7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2C4C0E2-DAF4-41F7-A721-13BF314194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DAD83D-8146-4189-82AB-0E9DC84E9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281F9A2-FDF9-4829-A0B7-0432E1F9B7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7C16C6-CC10-4078-935D-1E380B9092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FFF126-91CD-4598-8875-8C8BDC6173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7B60D1-96E9-4657-BFFF-F3937F43B0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6F5765-E26A-4B52-91E2-A5C9C71D1D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5DA753-B4CF-49D0-8185-D4519B120C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4ac9ca8c45404b" /><Relationship Type="http://schemas.openxmlformats.org/officeDocument/2006/relationships/slideLayout" Target="/ppt/slideLayouts/slideLayout1.xml" Id="Rdfe2803d25b74cea" /><Relationship Type="http://schemas.openxmlformats.org/officeDocument/2006/relationships/slideLayout" Target="/ppt/slideLayouts/slideLayout2.xml" Id="R3e1f7801c45347ba" /><Relationship Type="http://schemas.openxmlformats.org/officeDocument/2006/relationships/slideLayout" Target="/ppt/slideLayouts/slideLayout3.xml" Id="R25eab8d899934730" /><Relationship Type="http://schemas.openxmlformats.org/officeDocument/2006/relationships/slideLayout" Target="/ppt/slideLayouts/slideLayout4.xml" Id="R5d5138991de14b9b" /><Relationship Type="http://schemas.openxmlformats.org/officeDocument/2006/relationships/slideLayout" Target="/ppt/slideLayouts/slideLayout5.xml" Id="R8ad811814c2d415e" /><Relationship Type="http://schemas.openxmlformats.org/officeDocument/2006/relationships/slideLayout" Target="/ppt/slideLayouts/slideLayout6.xml" Id="R6c1b8c26e26f41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e2803d25b74cea"/>
    <p:sldLayoutId xmlns:r="http://schemas.openxmlformats.org/officeDocument/2006/relationships" id="2147483650" r:id="R3e1f7801c45347ba"/>
    <p:sldLayoutId xmlns:r="http://schemas.openxmlformats.org/officeDocument/2006/relationships" id="2147483651" r:id="R25eab8d899934730"/>
    <p:sldLayoutId xmlns:r="http://schemas.openxmlformats.org/officeDocument/2006/relationships" id="2147483652" r:id="R5d5138991de14b9b"/>
    <p:sldLayoutId xmlns:r="http://schemas.openxmlformats.org/officeDocument/2006/relationships" id="2147483653" r:id="R8ad811814c2d415e"/>
    <p:sldLayoutId xmlns:r="http://schemas.openxmlformats.org/officeDocument/2006/relationships" id="2147483654" r:id="R6c1b8c26e26f41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df314435f493f" /><Relationship Type="http://schemas.openxmlformats.org/officeDocument/2006/relationships/notesSlide" Target="/ppt/notesSlides/notesSlide1.xml" Id="R02f0fc52ae214a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de7d43ae142fc" /><Relationship Type="http://schemas.openxmlformats.org/officeDocument/2006/relationships/notesSlide" Target="/ppt/notesSlides/notesSlide2.xml" Id="R886131c4a7cd4b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37ad32bb74e2a" /><Relationship Type="http://schemas.openxmlformats.org/officeDocument/2006/relationships/notesSlide" Target="/ppt/notesSlides/notesSlide3.xml" Id="R6acebdbd8ed946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a86f702f742b9" /><Relationship Type="http://schemas.openxmlformats.org/officeDocument/2006/relationships/notesSlide" Target="/ppt/notesSlides/notesSlide4.xml" Id="R93417f9e616f44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6143ffe744c95" /><Relationship Type="http://schemas.openxmlformats.org/officeDocument/2006/relationships/notesSlide" Target="/ppt/notesSlides/notesSlide5.xml" Id="Rd34bba829f9c48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1ff411a70f423c" /><Relationship Type="http://schemas.openxmlformats.org/officeDocument/2006/relationships/notesSlide" Target="/ppt/notesSlides/notesSlide6.xml" Id="R55a18810fb2844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32ffb68ee94c4a" /><Relationship Type="http://schemas.openxmlformats.org/officeDocument/2006/relationships/notesSlide" Target="/ppt/notesSlides/notesSlide7.xml" Id="R746f52ee09ae42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096a0e9e7c417f" /><Relationship Type="http://schemas.openxmlformats.org/officeDocument/2006/relationships/notesSlide" Target="/ppt/notesSlides/notesSlide8.xml" Id="R01fa522f0ee544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81c893faa484f" /><Relationship Type="http://schemas.openxmlformats.org/officeDocument/2006/relationships/chart" Target="/ppt/slides/charts/chart1.xml" Id="Rdbe6dbf25f544e83" /><Relationship Type="http://schemas.openxmlformats.org/officeDocument/2006/relationships/chart" Target="/ppt/slides/charts/chart2.xml" Id="R7622e53f0e4e4c0c" /><Relationship Type="http://schemas.openxmlformats.org/officeDocument/2006/relationships/notesSlide" Target="/ppt/notesSlides/notesSlide9.xml" Id="R77e9bdfda7e74d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6039a81bc4097" /><Relationship Type="http://schemas.openxmlformats.org/officeDocument/2006/relationships/chart" Target="/ppt/slides/charts/chart3.xml" Id="R6209513e648c40a9" /><Relationship Type="http://schemas.openxmlformats.org/officeDocument/2006/relationships/notesSlide" Target="/ppt/notesSlides/notesSlide10.xml" Id="Rba2046a09c5740e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Random</c:v>
          </c:tx>
          <c:spPr>
            <a:ln xmlns:a="http://schemas.openxmlformats.org/drawingml/2006/main" w="28575">
              <a:solidFill>
                <a:srgbClr val="B95435"/>
              </a:solidFill>
            </a:ln>
          </c:spPr>
          <c:marker>
            <c:symbol val="none"/>
          </c:marker>
          <c:cat>
            <c:numRef>
              <c:f>'Chart Data'!$A$2:$A$33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cat>
          <c:val>
            <c:numRef>
              <c:f>'Chart Data'!$B$2:$B$33</c:f>
              <c:numCache>
                <c:formatCode>0.0</c:formatCode>
                <c:ptCount val="32"/>
                <c:pt idx="0">
                  <c:v>2.2732068463</c:v>
                </c:pt>
                <c:pt idx="1">
                  <c:v>0.471886686419</c:v>
                </c:pt>
                <c:pt idx="2">
                  <c:v>0.10972867089</c:v>
                </c:pt>
                <c:pt idx="3">
                  <c:v>0.0669085623209</c:v>
                </c:pt>
                <c:pt idx="4">
                  <c:v>0.06569636005</c:v>
                </c:pt>
                <c:pt idx="5">
                  <c:v>0.0629286340252</c:v>
                </c:pt>
                <c:pt idx="6">
                  <c:v>0.0653752201358</c:v>
                </c:pt>
                <c:pt idx="7">
                  <c:v>0.0649233507722</c:v>
                </c:pt>
                <c:pt idx="8">
                  <c:v>0.0582163593845</c:v>
                </c:pt>
                <c:pt idx="9">
                  <c:v>0.0646492747348</c:v>
                </c:pt>
                <c:pt idx="10">
                  <c:v>0.0720560292501</c:v>
                </c:pt>
                <c:pt idx="11">
                  <c:v>0.0753091231711</c:v>
                </c:pt>
                <c:pt idx="12">
                  <c:v>0.0727468288016</c:v>
                </c:pt>
                <c:pt idx="13">
                  <c:v>0.0723713423048</c:v>
                </c:pt>
                <c:pt idx="14">
                  <c:v>0.0724149556073</c:v>
                </c:pt>
                <c:pt idx="15">
                  <c:v>0.0717998610912</c:v>
                </c:pt>
                <c:pt idx="16">
                  <c:v>0.0686765256895</c:v>
                </c:pt>
                <c:pt idx="17">
                  <c:v>0.0587051144801</c:v>
                </c:pt>
                <c:pt idx="18">
                  <c:v>0.0571742685284</c:v>
                </c:pt>
                <c:pt idx="19">
                  <c:v>0.0544004405493</c:v>
                </c:pt>
                <c:pt idx="20">
                  <c:v>0.0542922261814</c:v>
                </c:pt>
                <c:pt idx="21">
                  <c:v>0.0553085399088</c:v>
                </c:pt>
                <c:pt idx="22">
                  <c:v>0.0501537249925</c:v>
                </c:pt>
                <c:pt idx="23">
                  <c:v>0.0497737358661</c:v>
                </c:pt>
                <c:pt idx="24">
                  <c:v>0.0496752072739</c:v>
                </c:pt>
                <c:pt idx="25">
                  <c:v>0.0487805661038</c:v>
                </c:pt>
                <c:pt idx="26">
                  <c:v>0.04543041126</c:v>
                </c:pt>
                <c:pt idx="27">
                  <c:v>0.0421601388253</c:v>
                </c:pt>
                <c:pt idx="28">
                  <c:v>0.0431491192364</c:v>
                </c:pt>
                <c:pt idx="29">
                  <c:v>0.0432550288176</c:v>
                </c:pt>
                <c:pt idx="30">
                  <c:v>0.0455449700639</c:v>
                </c:pt>
                <c:pt idx="31">
                  <c:v>0.0438980070785</c:v>
                </c:pt>
              </c:numCache>
            </c:numRef>
          </c:val>
          <c:smooth val="0"/>
        </c:ser>
        <c:ser>
          <c:idx val="1"/>
          <c:order val="1"/>
          <c:tx>
            <c:v>ACE / PEV</c:v>
          </c:tx>
          <c:spPr>
            <a:ln xmlns:a="http://schemas.openxmlformats.org/drawingml/2006/main" w="28575">
              <a:solidFill>
                <a:srgbClr val="087F83"/>
              </a:solidFill>
            </a:ln>
          </c:spPr>
          <c:marker>
            <c:symbol val="none"/>
          </c:marker>
          <c:cat>
            <c:numRef>
              <c:f>'Chart Data'!$C$2:$C$33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cat>
          <c:val>
            <c:numRef>
              <c:f>'Chart Data'!$D$2:$D$33</c:f>
              <c:numCache>
                <c:formatCode>0.0</c:formatCode>
                <c:ptCount val="32"/>
                <c:pt idx="0">
                  <c:v>6.1393211968</c:v>
                </c:pt>
                <c:pt idx="1">
                  <c:v>1.42892976507</c:v>
                </c:pt>
                <c:pt idx="2">
                  <c:v>0.371549300366</c:v>
                </c:pt>
                <c:pt idx="3">
                  <c:v>0.118696252316</c:v>
                </c:pt>
                <c:pt idx="4">
                  <c:v>0.0891531731772</c:v>
                </c:pt>
                <c:pt idx="5">
                  <c:v>0.0737694362645</c:v>
                </c:pt>
                <c:pt idx="6">
                  <c:v>0.0530689909715</c:v>
                </c:pt>
                <c:pt idx="7">
                  <c:v>0.0491279692323</c:v>
                </c:pt>
                <c:pt idx="8">
                  <c:v>0.047785933589</c:v>
                </c:pt>
                <c:pt idx="9">
                  <c:v>0.0400792712592</c:v>
                </c:pt>
                <c:pt idx="10">
                  <c:v>0.0403974543664</c:v>
                </c:pt>
                <c:pt idx="11">
                  <c:v>0.0382029949284</c:v>
                </c:pt>
                <c:pt idx="12">
                  <c:v>0.030342672804</c:v>
                </c:pt>
                <c:pt idx="13">
                  <c:v>0.0291690604685</c:v>
                </c:pt>
                <c:pt idx="14">
                  <c:v>0.0277269143791</c:v>
                </c:pt>
                <c:pt idx="15">
                  <c:v>0.0251735080168</c:v>
                </c:pt>
                <c:pt idx="16">
                  <c:v>0.024291315978</c:v>
                </c:pt>
                <c:pt idx="17">
                  <c:v>0.0238577286833</c:v>
                </c:pt>
                <c:pt idx="18">
                  <c:v>0.0224386316811</c:v>
                </c:pt>
                <c:pt idx="19">
                  <c:v>0.0224865435665</c:v>
                </c:pt>
                <c:pt idx="20">
                  <c:v>0.0218317552663</c:v>
                </c:pt>
                <c:pt idx="21">
                  <c:v>0.0204009176553</c:v>
                </c:pt>
                <c:pt idx="22">
                  <c:v>0.0216182428369</c:v>
                </c:pt>
                <c:pt idx="23">
                  <c:v>0.020389394095</c:v>
                </c:pt>
                <c:pt idx="24">
                  <c:v>0.0192289545853</c:v>
                </c:pt>
                <c:pt idx="25">
                  <c:v>0.0190304754876</c:v>
                </c:pt>
                <c:pt idx="26">
                  <c:v>0.0181310143643</c:v>
                </c:pt>
                <c:pt idx="27">
                  <c:v>0.0171716089184</c:v>
                </c:pt>
                <c:pt idx="28">
                  <c:v>0.0167776460259</c:v>
                </c:pt>
                <c:pt idx="29">
                  <c:v>0.0162150930691</c:v>
                </c:pt>
                <c:pt idx="30">
                  <c:v>0.0154987929315</c:v>
                </c:pt>
                <c:pt idx="31">
                  <c:v>0.0154302049069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Intervention batches (50 responses each)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6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3DDD9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Random</c:v>
          </c:tx>
          <c:spPr>
            <a:ln xmlns:a="http://schemas.openxmlformats.org/drawingml/2006/main" w="28575">
              <a:solidFill>
                <a:srgbClr val="B95435"/>
              </a:solidFill>
            </a:ln>
          </c:spPr>
          <c:marker>
            <c:symbol val="none"/>
          </c:marker>
          <c:cat>
            <c:numRef>
              <c:f>'Chart Data'!$A$2:$A$30</c:f>
              <c:numCache>
                <c:formatCode>General</c:formatCode>
                <c:ptCount val="29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22</c:v>
                </c:pt>
                <c:pt idx="19">
                  <c:v>23</c:v>
                </c:pt>
                <c:pt idx="20">
                  <c:v>24</c:v>
                </c:pt>
                <c:pt idx="21">
                  <c:v>25</c:v>
                </c:pt>
                <c:pt idx="22">
                  <c:v>26</c:v>
                </c:pt>
                <c:pt idx="23">
                  <c:v>27</c:v>
                </c:pt>
                <c:pt idx="24">
                  <c:v>28</c:v>
                </c:pt>
                <c:pt idx="25">
                  <c:v>29</c:v>
                </c:pt>
                <c:pt idx="26">
                  <c:v>30</c:v>
                </c:pt>
                <c:pt idx="27">
                  <c:v>31</c:v>
                </c:pt>
                <c:pt idx="28">
                  <c:v>32</c:v>
                </c:pt>
              </c:numCache>
            </c:numRef>
          </c:cat>
          <c:val>
            <c:numRef>
              <c:f>'Chart Data'!$B$2:$B$30</c:f>
              <c:numCache>
                <c:formatCode>0.00</c:formatCode>
                <c:ptCount val="29"/>
                <c:pt idx="0">
                  <c:v>0.0669085623209</c:v>
                </c:pt>
                <c:pt idx="1">
                  <c:v>0.06569636005</c:v>
                </c:pt>
                <c:pt idx="2">
                  <c:v>0.0629286340252</c:v>
                </c:pt>
                <c:pt idx="3">
                  <c:v>0.0653752201358</c:v>
                </c:pt>
                <c:pt idx="4">
                  <c:v>0.0649233507722</c:v>
                </c:pt>
                <c:pt idx="5">
                  <c:v>0.0582163593845</c:v>
                </c:pt>
                <c:pt idx="6">
                  <c:v>0.0646492747348</c:v>
                </c:pt>
                <c:pt idx="7">
                  <c:v>0.0720560292501</c:v>
                </c:pt>
                <c:pt idx="8">
                  <c:v>0.0753091231711</c:v>
                </c:pt>
                <c:pt idx="9">
                  <c:v>0.0727468288016</c:v>
                </c:pt>
                <c:pt idx="10">
                  <c:v>0.0723713423048</c:v>
                </c:pt>
                <c:pt idx="11">
                  <c:v>0.0724149556073</c:v>
                </c:pt>
                <c:pt idx="12">
                  <c:v>0.0717998610912</c:v>
                </c:pt>
                <c:pt idx="13">
                  <c:v>0.0686765256895</c:v>
                </c:pt>
                <c:pt idx="14">
                  <c:v>0.0587051144801</c:v>
                </c:pt>
                <c:pt idx="15">
                  <c:v>0.0571742685284</c:v>
                </c:pt>
                <c:pt idx="16">
                  <c:v>0.0544004405493</c:v>
                </c:pt>
                <c:pt idx="17">
                  <c:v>0.0542922261814</c:v>
                </c:pt>
                <c:pt idx="18">
                  <c:v>0.0553085399088</c:v>
                </c:pt>
                <c:pt idx="19">
                  <c:v>0.0501537249925</c:v>
                </c:pt>
                <c:pt idx="20">
                  <c:v>0.0497737358661</c:v>
                </c:pt>
                <c:pt idx="21">
                  <c:v>0.0496752072739</c:v>
                </c:pt>
                <c:pt idx="22">
                  <c:v>0.0487805661038</c:v>
                </c:pt>
                <c:pt idx="23">
                  <c:v>0.04543041126</c:v>
                </c:pt>
                <c:pt idx="24">
                  <c:v>0.0421601388253</c:v>
                </c:pt>
                <c:pt idx="25">
                  <c:v>0.0431491192364</c:v>
                </c:pt>
                <c:pt idx="26">
                  <c:v>0.0432550288176</c:v>
                </c:pt>
                <c:pt idx="27">
                  <c:v>0.0455449700639</c:v>
                </c:pt>
                <c:pt idx="28">
                  <c:v>0.0438980070785</c:v>
                </c:pt>
              </c:numCache>
            </c:numRef>
          </c:val>
          <c:smooth val="0"/>
        </c:ser>
        <c:ser>
          <c:idx val="1"/>
          <c:order val="1"/>
          <c:tx>
            <c:v>ACE / PEV</c:v>
          </c:tx>
          <c:spPr>
            <a:ln xmlns:a="http://schemas.openxmlformats.org/drawingml/2006/main" w="28575">
              <a:solidFill>
                <a:srgbClr val="087F83"/>
              </a:solidFill>
            </a:ln>
          </c:spPr>
          <c:marker>
            <c:symbol val="none"/>
          </c:marker>
          <c:cat>
            <c:numRef>
              <c:f>'Chart Data'!$C$2:$C$30</c:f>
              <c:numCache>
                <c:formatCode>General</c:formatCode>
                <c:ptCount val="29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22</c:v>
                </c:pt>
                <c:pt idx="19">
                  <c:v>23</c:v>
                </c:pt>
                <c:pt idx="20">
                  <c:v>24</c:v>
                </c:pt>
                <c:pt idx="21">
                  <c:v>25</c:v>
                </c:pt>
                <c:pt idx="22">
                  <c:v>26</c:v>
                </c:pt>
                <c:pt idx="23">
                  <c:v>27</c:v>
                </c:pt>
                <c:pt idx="24">
                  <c:v>28</c:v>
                </c:pt>
                <c:pt idx="25">
                  <c:v>29</c:v>
                </c:pt>
                <c:pt idx="26">
                  <c:v>30</c:v>
                </c:pt>
                <c:pt idx="27">
                  <c:v>31</c:v>
                </c:pt>
                <c:pt idx="28">
                  <c:v>32</c:v>
                </c:pt>
              </c:numCache>
            </c:numRef>
          </c:cat>
          <c:val>
            <c:numRef>
              <c:f>'Chart Data'!$D$2:$D$30</c:f>
              <c:numCache>
                <c:formatCode>0.00</c:formatCode>
                <c:ptCount val="29"/>
                <c:pt idx="0">
                  <c:v>0.118696252316</c:v>
                </c:pt>
                <c:pt idx="1">
                  <c:v>0.0891531731772</c:v>
                </c:pt>
                <c:pt idx="2">
                  <c:v>0.0737694362645</c:v>
                </c:pt>
                <c:pt idx="3">
                  <c:v>0.0530689909715</c:v>
                </c:pt>
                <c:pt idx="4">
                  <c:v>0.0491279692323</c:v>
                </c:pt>
                <c:pt idx="5">
                  <c:v>0.047785933589</c:v>
                </c:pt>
                <c:pt idx="6">
                  <c:v>0.0400792712592</c:v>
                </c:pt>
                <c:pt idx="7">
                  <c:v>0.0403974543664</c:v>
                </c:pt>
                <c:pt idx="8">
                  <c:v>0.0382029949284</c:v>
                </c:pt>
                <c:pt idx="9">
                  <c:v>0.030342672804</c:v>
                </c:pt>
                <c:pt idx="10">
                  <c:v>0.0291690604685</c:v>
                </c:pt>
                <c:pt idx="11">
                  <c:v>0.0277269143791</c:v>
                </c:pt>
                <c:pt idx="12">
                  <c:v>0.0251735080168</c:v>
                </c:pt>
                <c:pt idx="13">
                  <c:v>0.024291315978</c:v>
                </c:pt>
                <c:pt idx="14">
                  <c:v>0.0238577286833</c:v>
                </c:pt>
                <c:pt idx="15">
                  <c:v>0.0224386316811</c:v>
                </c:pt>
                <c:pt idx="16">
                  <c:v>0.0224865435665</c:v>
                </c:pt>
                <c:pt idx="17">
                  <c:v>0.0218317552663</c:v>
                </c:pt>
                <c:pt idx="18">
                  <c:v>0.0204009176553</c:v>
                </c:pt>
                <c:pt idx="19">
                  <c:v>0.0216182428369</c:v>
                </c:pt>
                <c:pt idx="20">
                  <c:v>0.020389394095</c:v>
                </c:pt>
                <c:pt idx="21">
                  <c:v>0.0192289545853</c:v>
                </c:pt>
                <c:pt idx="22">
                  <c:v>0.0190304754876</c:v>
                </c:pt>
                <c:pt idx="23">
                  <c:v>0.0181310143643</c:v>
                </c:pt>
                <c:pt idx="24">
                  <c:v>0.0171716089184</c:v>
                </c:pt>
                <c:pt idx="25">
                  <c:v>0.0167776460259</c:v>
                </c:pt>
                <c:pt idx="26">
                  <c:v>0.0162150930691</c:v>
                </c:pt>
                <c:pt idx="27">
                  <c:v>0.0154987929315</c:v>
                </c:pt>
                <c:pt idx="28">
                  <c:v>0.0154302049069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Intervention batches (50 responses each)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1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3DDD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Result</c:v>
          </c:tx>
          <c:spPr>
            <a:solidFill xmlns:a="http://schemas.openxmlformats.org/drawingml/2006/main">
              <a:srgbClr val="087F8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9543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F8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Random</c:v>
                </c:pt>
                <c:pt idx="1">
                  <c:v>ACE / PEV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28</c:v>
                </c:pt>
                <c:pt idx="1">
                  <c:v>10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6313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3DD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3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3DDD9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16FBC-48D4-4548-9A0C-61793D33BDCD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5734050" y="293370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tailEnd type="arrow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E251F-1851-4974-8071-79D569BB6107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2019300" y="293370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tailEnd type="arrow" w="sm" len="sm"/>
          </a:ln>
        </p:spPr>
      </p:cxnSp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86C62FE-1194-446C-9494-FF3FB859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ACE uses causal mechanisms to choose experiments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F41EEE2-6CD3-4B3D-8247-85DD0811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Structural causal model (SCM">
            <a:extLst xmlns:a="http://schemas.openxmlformats.org/drawingml/2006/main">
              <a:ext uri="{FF2B5EF4-FFF2-40B4-BE49-F238E27FC236}">
                <a16:creationId xmlns:a16="http://schemas.microsoft.com/office/drawing/2014/main" id="{019397F3-D258-4545-AC61-EBB9010E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9DD4CD"/>
                </a:solidFill>
                <a:latin typeface="Helvetica Neue"/>
                <a:ea typeface="Helvetica Neue"/>
                <a:cs typeface="Helvetica Neue"/>
              </a:rPr>
              <a:t>Structural causal model (SCM)</a:t>
            </a:r>
          </a:p>
        </p:txBody>
      </p:sp>
      <p:sp>
        <p:nvSpPr>
          <p:cNvPr id="4" name="SCM node X">
            <a:extLst xmlns:a="http://schemas.openxmlformats.org/drawingml/2006/main">
              <a:ext uri="{FF2B5EF4-FFF2-40B4-BE49-F238E27FC236}">
                <a16:creationId xmlns:a16="http://schemas.microsoft.com/office/drawing/2014/main" id="{7AE0E645-2D94-4C34-ACCB-03C27430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</p:txBody>
      </p:sp>
      <p:sp>
        <p:nvSpPr>
          <p:cNvPr id="5" name="SCM node M">
            <a:extLst xmlns:a="http://schemas.openxmlformats.org/drawingml/2006/main">
              <a:ext uri="{FF2B5EF4-FFF2-40B4-BE49-F238E27FC236}">
                <a16:creationId xmlns:a16="http://schemas.microsoft.com/office/drawing/2014/main" id="{37C87579-CEBA-4D27-BCD0-0B91C8C8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431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</a:t>
            </a:r>
          </a:p>
        </p:txBody>
      </p:sp>
      <p:sp>
        <p:nvSpPr>
          <p:cNvPr id="6" name="SCM node Y">
            <a:extLst xmlns:a="http://schemas.openxmlformats.org/drawingml/2006/main">
              <a:ext uri="{FF2B5EF4-FFF2-40B4-BE49-F238E27FC236}">
                <a16:creationId xmlns:a16="http://schemas.microsoft.com/office/drawing/2014/main" id="{6B5FD7D5-9265-4921-AB9D-78FF6FE3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431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</p:txBody>
      </p:sp>
      <p:sp>
        <p:nvSpPr>
          <p:cNvPr id="9" name="cause">
            <a:extLst xmlns:a="http://schemas.openxmlformats.org/drawingml/2006/main">
              <a:ext uri="{FF2B5EF4-FFF2-40B4-BE49-F238E27FC236}">
                <a16:creationId xmlns:a16="http://schemas.microsoft.com/office/drawing/2014/main" id="{499C85AB-8CF3-4DA3-842C-4B1940DB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5336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10" name="cause">
            <a:extLst xmlns:a="http://schemas.openxmlformats.org/drawingml/2006/main">
              <a:ext uri="{FF2B5EF4-FFF2-40B4-BE49-F238E27FC236}">
                <a16:creationId xmlns:a16="http://schemas.microsoft.com/office/drawing/2014/main" id="{457390BD-F47B-4C1E-B2D9-DF86A43F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3365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11" name="Inputs">
            <a:extLst xmlns:a="http://schemas.openxmlformats.org/drawingml/2006/main">
              <a:ext uri="{FF2B5EF4-FFF2-40B4-BE49-F238E27FC236}">
                <a16:creationId xmlns:a16="http://schemas.microsoft.com/office/drawing/2014/main" id="{59EEEF26-ED3A-43AA-BDC7-DB725F2D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9DD4CD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12" name="Observed responses&#10;Known gra">
            <a:extLst xmlns:a="http://schemas.openxmlformats.org/drawingml/2006/main">
              <a:ext uri="{FF2B5EF4-FFF2-40B4-BE49-F238E27FC236}">
                <a16:creationId xmlns:a16="http://schemas.microsoft.com/office/drawing/2014/main" id="{C1B0783E-F537-45D1-8AD8-DB008939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9053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Observed responses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Known graph and legal actions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Experiment budget</a:t>
            </a:r>
          </a:p>
        </p:txBody>
      </p:sp>
      <p:sp>
        <p:nvSpPr>
          <p:cNvPr id="13" name="Outputs">
            <a:extLst xmlns:a="http://schemas.openxmlformats.org/drawingml/2006/main">
              <a:ext uri="{FF2B5EF4-FFF2-40B4-BE49-F238E27FC236}">
                <a16:creationId xmlns:a16="http://schemas.microsoft.com/office/drawing/2014/main" id="{8DF4A87B-55F8-4C13-8D78-58E19000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9DD4CD"/>
                </a:solidFill>
                <a:latin typeface="Helvetica Neue"/>
                <a:ea typeface="Helvetica Neue"/>
                <a:cs typeface="Helvetica Neue"/>
              </a:rPr>
              <a:t>Outputs</a:t>
            </a:r>
          </a:p>
        </p:txBody>
      </p:sp>
      <p:sp>
        <p:nvSpPr>
          <p:cNvPr id="14" name="The next intervention&#10;Update">
            <a:extLst xmlns:a="http://schemas.openxmlformats.org/drawingml/2006/main">
              <a:ext uri="{FF2B5EF4-FFF2-40B4-BE49-F238E27FC236}">
                <a16:creationId xmlns:a16="http://schemas.microsoft.com/office/drawing/2014/main" id="{CF125E5A-78C5-41C0-AE8C-4667E802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43425"/>
            <a:ext cx="48101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next intervention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Updated mechanism models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Predictions for new actions</a:t>
            </a:r>
          </a:p>
        </p:txBody>
      </p:sp>
    </p:spTree>
    <p:extLst>
      <p:ext uri="{BB962C8B-B14F-4D97-AF65-F5344CB8AC3E}">
        <p14:creationId xmlns:p14="http://schemas.microsoft.com/office/powerpoint/2010/main" val="814300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19A52-0788-43C9-B775-5950C2D62974}"/>
              </a:ext>
            </a:extLst>
          </p:cNvPr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5734050" y="4200525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tailEnd type="arrow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96A4C-9090-4C40-8409-ACFC656B25C7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019300" y="4200525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tailEnd type="arrow" w="sm" len="sm"/>
          </a:ln>
        </p:spPr>
      </p:cxn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EA039A36-258B-4B54-BFF8-7EF4295F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Each SCM equation describes one mechanism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FB17611-74EA-4CC9-AD73-546C5F6C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Xᵢ = fᵢ(Paᵢ, Uᵢ)">
            <a:extLst xmlns:a="http://schemas.openxmlformats.org/drawingml/2006/main">
              <a:ext uri="{FF2B5EF4-FFF2-40B4-BE49-F238E27FC236}">
                <a16:creationId xmlns:a16="http://schemas.microsoft.com/office/drawing/2014/main" id="{A80AED0A-2BA6-4A76-B3B4-827B14A3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Xᵢ = fᵢ(Paᵢ, Uᵢ)</a:t>
            </a:r>
          </a:p>
        </p:txBody>
      </p:sp>
      <p:sp>
        <p:nvSpPr>
          <p:cNvPr id="4" name="Parents Paᵢ supply inputs. U">
            <a:extLst xmlns:a="http://schemas.openxmlformats.org/drawingml/2006/main">
              <a:ext uri="{FF2B5EF4-FFF2-40B4-BE49-F238E27FC236}">
                <a16:creationId xmlns:a16="http://schemas.microsoft.com/office/drawing/2014/main" id="{6DAC78C1-ACFF-4639-A498-0947868E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Parents Paᵢ supply inputs. Uᵢ represents outside influences.</a:t>
            </a:r>
          </a:p>
        </p:txBody>
      </p:sp>
      <p:sp>
        <p:nvSpPr>
          <p:cNvPr id="5" name="SCM node X">
            <a:extLst xmlns:a="http://schemas.openxmlformats.org/drawingml/2006/main">
              <a:ext uri="{FF2B5EF4-FFF2-40B4-BE49-F238E27FC236}">
                <a16:creationId xmlns:a16="http://schemas.microsoft.com/office/drawing/2014/main" id="{54BE97AA-B340-4871-91B0-B68B492B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</p:txBody>
      </p:sp>
      <p:sp>
        <p:nvSpPr>
          <p:cNvPr id="6" name="SCM node M">
            <a:extLst xmlns:a="http://schemas.openxmlformats.org/drawingml/2006/main">
              <a:ext uri="{FF2B5EF4-FFF2-40B4-BE49-F238E27FC236}">
                <a16:creationId xmlns:a16="http://schemas.microsoft.com/office/drawing/2014/main" id="{6E29E500-5911-40FF-B6A3-1B1D3D35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</a:t>
            </a:r>
          </a:p>
        </p:txBody>
      </p:sp>
      <p:sp>
        <p:nvSpPr>
          <p:cNvPr id="7" name="SCM node Y">
            <a:extLst xmlns:a="http://schemas.openxmlformats.org/drawingml/2006/main">
              <a:ext uri="{FF2B5EF4-FFF2-40B4-BE49-F238E27FC236}">
                <a16:creationId xmlns:a16="http://schemas.microsoft.com/office/drawing/2014/main" id="{40CBFB12-0EA3-4B59-BF95-42643053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</p:txBody>
      </p:sp>
      <p:sp>
        <p:nvSpPr>
          <p:cNvPr id="10" name="M = 2.5X">
            <a:extLst xmlns:a="http://schemas.openxmlformats.org/drawingml/2006/main">
              <a:ext uri="{FF2B5EF4-FFF2-40B4-BE49-F238E27FC236}">
                <a16:creationId xmlns:a16="http://schemas.microsoft.com/office/drawing/2014/main" id="{53038561-DB01-42AD-A109-E62D3481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910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M = 2.5X</a:t>
            </a:r>
          </a:p>
        </p:txBody>
      </p:sp>
      <p:sp>
        <p:nvSpPr>
          <p:cNvPr id="11" name="Y = 3M">
            <a:extLst xmlns:a="http://schemas.openxmlformats.org/drawingml/2006/main">
              <a:ext uri="{FF2B5EF4-FFF2-40B4-BE49-F238E27FC236}">
                <a16:creationId xmlns:a16="http://schemas.microsoft.com/office/drawing/2014/main" id="{A55EC07D-D7FC-4FA0-A318-62A5C21C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910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Y = 3M</a:t>
            </a:r>
          </a:p>
        </p:txBody>
      </p:sp>
      <p:sp>
        <p:nvSpPr>
          <p:cNvPr id="12" name="Worked example: known graph,">
            <a:extLst xmlns:a="http://schemas.openxmlformats.org/drawingml/2006/main">
              <a:ext uri="{FF2B5EF4-FFF2-40B4-BE49-F238E27FC236}">
                <a16:creationId xmlns:a16="http://schemas.microsoft.com/office/drawing/2014/main" id="{C6F0517C-222C-4CF3-B281-348EEAE0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Worked example: known graph, unknown slopes, zero disturbances and dimensionless values.</a:t>
            </a:r>
          </a:p>
        </p:txBody>
      </p:sp>
    </p:spTree>
    <p:extLst>
      <p:ext uri="{BB962C8B-B14F-4D97-AF65-F5344CB8AC3E}">
        <p14:creationId xmlns:p14="http://schemas.microsoft.com/office/powerpoint/2010/main" val="3758737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E028A-410E-43DF-A48F-8D2B2F8C499C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5734050" y="476250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tailEnd type="arrow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8DE33-7149-419E-9F7F-AC22C090D340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5734050" y="259080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tailEnd type="arrow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0EC11-A509-4533-BAA6-27FB178AE2A6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2019300" y="259080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66B"/>
            </a:solidFill>
            <a:tailEnd type="arrow" w="sm" len="sm"/>
          </a:ln>
        </p:spPr>
      </p:cxnSp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DA5355FF-2EB9-44C0-8558-E98D8FA6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An intervention replaces one mechanism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856783C-B89F-45E5-ACB6-B6FE644C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Ordinary system">
            <a:extLst xmlns:a="http://schemas.openxmlformats.org/drawingml/2006/main">
              <a:ext uri="{FF2B5EF4-FFF2-40B4-BE49-F238E27FC236}">
                <a16:creationId xmlns:a16="http://schemas.microsoft.com/office/drawing/2014/main" id="{67FC3413-9BEC-4341-9EC2-249ECD6C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Ordinary system</a:t>
            </a:r>
          </a:p>
        </p:txBody>
      </p:sp>
      <p:sp>
        <p:nvSpPr>
          <p:cNvPr id="4" name="SCM node X">
            <a:extLst xmlns:a="http://schemas.openxmlformats.org/drawingml/2006/main">
              <a:ext uri="{FF2B5EF4-FFF2-40B4-BE49-F238E27FC236}">
                <a16:creationId xmlns:a16="http://schemas.microsoft.com/office/drawing/2014/main" id="{11CF50FD-7746-43B5-9BC2-5280E3E2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</p:txBody>
      </p:sp>
      <p:sp>
        <p:nvSpPr>
          <p:cNvPr id="5" name="SCM node M">
            <a:extLst xmlns:a="http://schemas.openxmlformats.org/drawingml/2006/main">
              <a:ext uri="{FF2B5EF4-FFF2-40B4-BE49-F238E27FC236}">
                <a16:creationId xmlns:a16="http://schemas.microsoft.com/office/drawing/2014/main" id="{64FA46B4-6B67-44E4-91D3-7817AA61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02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</a:t>
            </a:r>
          </a:p>
        </p:txBody>
      </p:sp>
      <p:sp>
        <p:nvSpPr>
          <p:cNvPr id="6" name="SCM node Y">
            <a:extLst xmlns:a="http://schemas.openxmlformats.org/drawingml/2006/main">
              <a:ext uri="{FF2B5EF4-FFF2-40B4-BE49-F238E27FC236}">
                <a16:creationId xmlns:a16="http://schemas.microsoft.com/office/drawing/2014/main" id="{4AE3D956-940A-4564-A7F0-A3A25653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02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</p:txBody>
      </p:sp>
      <p:sp>
        <p:nvSpPr>
          <p:cNvPr id="9" name="Experiment: do(M = 1)">
            <a:extLst xmlns:a="http://schemas.openxmlformats.org/drawingml/2006/main">
              <a:ext uri="{FF2B5EF4-FFF2-40B4-BE49-F238E27FC236}">
                <a16:creationId xmlns:a16="http://schemas.microsoft.com/office/drawing/2014/main" id="{A7099BB6-CA35-4C03-8C06-0F14EE47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6191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Experiment: do(M = 1)</a:t>
            </a:r>
          </a:p>
        </p:txBody>
      </p:sp>
      <p:sp>
        <p:nvSpPr>
          <p:cNvPr id="10" name="SCM node X">
            <a:extLst xmlns:a="http://schemas.openxmlformats.org/drawingml/2006/main">
              <a:ext uri="{FF2B5EF4-FFF2-40B4-BE49-F238E27FC236}">
                <a16:creationId xmlns:a16="http://schemas.microsoft.com/office/drawing/2014/main" id="{42E1B222-978F-4859-B29E-AF86803E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</p:txBody>
      </p:sp>
      <p:sp>
        <p:nvSpPr>
          <p:cNvPr id="11" name="SCM node M = 1">
            <a:extLst xmlns:a="http://schemas.openxmlformats.org/drawingml/2006/main">
              <a:ext uri="{FF2B5EF4-FFF2-40B4-BE49-F238E27FC236}">
                <a16:creationId xmlns:a16="http://schemas.microsoft.com/office/drawing/2014/main" id="{DFF0736F-DD48-46F3-9D89-1F346798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719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 = 1</a:t>
            </a:r>
          </a:p>
        </p:txBody>
      </p:sp>
      <p:sp>
        <p:nvSpPr>
          <p:cNvPr id="12" name="SCM node Y">
            <a:extLst xmlns:a="http://schemas.openxmlformats.org/drawingml/2006/main">
              <a:ext uri="{FF2B5EF4-FFF2-40B4-BE49-F238E27FC236}">
                <a16:creationId xmlns:a16="http://schemas.microsoft.com/office/drawing/2014/main" id="{E75B2147-95D5-417F-8EB2-3FF19F7C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</p:txBody>
      </p:sp>
      <p:sp>
        <p:nvSpPr>
          <p:cNvPr id="14" name="Incoming edge removed">
            <a:extLst xmlns:a="http://schemas.openxmlformats.org/drawingml/2006/main">
              <a:ext uri="{FF2B5EF4-FFF2-40B4-BE49-F238E27FC236}">
                <a16:creationId xmlns:a16="http://schemas.microsoft.com/office/drawing/2014/main" id="{EB91C0B8-ABE9-48A5-A6DD-8AD4304D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768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95435"/>
                </a:solidFill>
                <a:latin typeface="Helvetica Neue"/>
                <a:ea typeface="Helvetica Neue"/>
                <a:cs typeface="Helvetica Neue"/>
              </a:rPr>
              <a:t>Incoming edge removed</a:t>
            </a:r>
          </a:p>
        </p:txBody>
      </p:sp>
      <p:sp>
        <p:nvSpPr>
          <p:cNvPr id="15" name="Y still responds to M">
            <a:extLst xmlns:a="http://schemas.openxmlformats.org/drawingml/2006/main">
              <a:ext uri="{FF2B5EF4-FFF2-40B4-BE49-F238E27FC236}">
                <a16:creationId xmlns:a16="http://schemas.microsoft.com/office/drawing/2014/main" id="{AE1B431B-9603-4BCE-8570-EC17D365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276850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Y still responds to M</a:t>
            </a:r>
          </a:p>
        </p:txBody>
      </p:sp>
      <p:sp>
        <p:nvSpPr>
          <p:cNvPr id="16" name="One paid response can train ">
            <a:extLst xmlns:a="http://schemas.openxmlformats.org/drawingml/2006/main">
              <a:ext uri="{FF2B5EF4-FFF2-40B4-BE49-F238E27FC236}">
                <a16:creationId xmlns:a16="http://schemas.microsoft.com/office/drawing/2014/main" id="{562570C9-A5C8-443D-9C16-2395A622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One paid response can train several natural mechanisms. It is still one paid response.</a:t>
            </a:r>
          </a:p>
        </p:txBody>
      </p:sp>
    </p:spTree>
    <p:extLst>
      <p:ext uri="{BB962C8B-B14F-4D97-AF65-F5344CB8AC3E}">
        <p14:creationId xmlns:p14="http://schemas.microsoft.com/office/powerpoint/2010/main" val="1647515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5AAA87BD-277C-4613-ACF7-84961032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Exhaustive grids multiply the work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933655D-D250-4BE0-B3BB-8A69E123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Illustration: 10 inputs × 5 ">
            <a:extLst xmlns:a="http://schemas.openxmlformats.org/drawingml/2006/main">
              <a:ext uri="{FF2B5EF4-FFF2-40B4-BE49-F238E27FC236}">
                <a16:creationId xmlns:a16="http://schemas.microsoft.com/office/drawing/2014/main" id="{8FC58A8E-3DB0-4928-851A-9E89F7EE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Illustration: 10 inputs × 5 settings per input</a:t>
            </a:r>
          </a:p>
        </p:txBody>
      </p:sp>
      <p:sp>
        <p:nvSpPr>
          <p:cNvPr id="4" name="Naive joint response table">
            <a:extLst xmlns:a="http://schemas.openxmlformats.org/drawingml/2006/main">
              <a:ext uri="{FF2B5EF4-FFF2-40B4-BE49-F238E27FC236}">
                <a16:creationId xmlns:a16="http://schemas.microsoft.com/office/drawing/2014/main" id="{CF622B49-CB49-4ACA-8748-6BC46D46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5953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rPr>
              <a:t>Naive joint response table</a:t>
            </a:r>
          </a:p>
        </p:txBody>
      </p:sp>
      <p:sp>
        <p:nvSpPr>
          <p:cNvPr id="5" name="9,765,625">
            <a:extLst xmlns:a="http://schemas.openxmlformats.org/drawingml/2006/main">
              <a:ext uri="{FF2B5EF4-FFF2-40B4-BE49-F238E27FC236}">
                <a16:creationId xmlns:a16="http://schemas.microsoft.com/office/drawing/2014/main" id="{ECFFB126-12F7-4705-9DAC-1DE0AAA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rPr>
              <a:t>9,765,625</a:t>
            </a:r>
          </a:p>
        </p:txBody>
      </p:sp>
      <p:sp>
        <p:nvSpPr>
          <p:cNvPr id="6" name="joint input configurations">
            <a:extLst xmlns:a="http://schemas.openxmlformats.org/drawingml/2006/main">
              <a:ext uri="{FF2B5EF4-FFF2-40B4-BE49-F238E27FC236}">
                <a16:creationId xmlns:a16="http://schemas.microsoft.com/office/drawing/2014/main" id="{4E8ADF67-EBD1-4C4E-A235-A8F50FD5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joint input configurations</a:t>
            </a:r>
          </a:p>
        </p:txBody>
      </p:sp>
      <p:sp>
        <p:nvSpPr>
          <p:cNvPr id="7" name="SCM mechanism tables">
            <a:extLst xmlns:a="http://schemas.openxmlformats.org/drawingml/2006/main">
              <a:ext uri="{FF2B5EF4-FFF2-40B4-BE49-F238E27FC236}">
                <a16:creationId xmlns:a16="http://schemas.microsoft.com/office/drawing/2014/main" id="{842255C8-065A-48DD-A760-F4896317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4191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SCM mechanism tables</a:t>
            </a:r>
          </a:p>
        </p:txBody>
      </p:sp>
      <p:sp>
        <p:nvSpPr>
          <p:cNvPr id="8" name="225">
            <a:extLst xmlns:a="http://schemas.openxmlformats.org/drawingml/2006/main">
              <a:ext uri="{FF2B5EF4-FFF2-40B4-BE49-F238E27FC236}">
                <a16:creationId xmlns:a16="http://schemas.microsoft.com/office/drawing/2014/main" id="{3CBA5AA0-2751-4D26-99ED-4D329DB6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305175"/>
            <a:ext cx="4191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225</a:t>
            </a:r>
          </a:p>
        </p:txBody>
      </p:sp>
      <p:sp>
        <p:nvSpPr>
          <p:cNvPr id="9" name="local parent configurations&#10;">
            <a:extLst xmlns:a="http://schemas.openxmlformats.org/drawingml/2006/main">
              <a:ext uri="{FF2B5EF4-FFF2-40B4-BE49-F238E27FC236}">
                <a16:creationId xmlns:a16="http://schemas.microsoft.com/office/drawing/2014/main" id="{70E5064E-0ABD-43BA-BE75-16E73D5C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400550"/>
            <a:ext cx="42291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local parent configurations</a:t>
            </a:r>
          </a:p>
          <a:p xmlns:a="http://schemas.openxmlformats.org/drawingml/2006/main">
            <a:pPr>
              <a:defRPr sz="2100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9 mechanisms × 25 each</a:t>
            </a:r>
          </a:p>
        </p:txBody>
      </p:sp>
      <p:sp>
        <p:nvSpPr>
          <p:cNvPr id="10" name="Representation-size illustra">
            <a:extLst xmlns:a="http://schemas.openxmlformats.org/drawingml/2006/main">
              <a:ext uri="{FF2B5EF4-FFF2-40B4-BE49-F238E27FC236}">
                <a16:creationId xmlns:a16="http://schemas.microsoft.com/office/drawing/2014/main" id="{5C6EEC7C-E15E-468D-A5DA-5E7182AF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Representation-size illustration · known graph · five-valued variables · accessible local parent settings</a:t>
            </a:r>
          </a:p>
        </p:txBody>
      </p:sp>
    </p:spTree>
    <p:extLst>
      <p:ext uri="{BB962C8B-B14F-4D97-AF65-F5344CB8AC3E}">
        <p14:creationId xmlns:p14="http://schemas.microsoft.com/office/powerpoint/2010/main" val="1345818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59D7D6B-3EAC-483B-82B1-0FC37701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Exact inputs to the three-node demonstration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F675101-BACE-4ADF-A64C-2A6FF082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BA1B5-2BEE-4663-8DE3-3F403E083AE0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820400" cy="2057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86125"/>
                <a:gridCol w="3190875"/>
                <a:gridCol w="4343400"/>
              </a:tblGrid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Member slopes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prediction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</a:tr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21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 from X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1, 2, 3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M̂ = 2X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21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 from M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2, 3, 4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Ŷ = 3M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4" name="Actions: clamp X or M to −1,">
            <a:extLst xmlns:a="http://schemas.openxmlformats.org/drawingml/2006/main">
              <a:ext uri="{FF2B5EF4-FFF2-40B4-BE49-F238E27FC236}">
                <a16:creationId xmlns:a16="http://schemas.microsoft.com/office/drawing/2014/main" id="{1AC4BB51-CBA9-4A6B-8FB1-E474426B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Actions: clamp X or M to −1, 0 or +1</a:t>
            </a:r>
          </a:p>
        </p:txBody>
      </p:sp>
      <p:sp>
        <p:nvSpPr>
          <p:cNvPr id="5" name="References: −1, 0, +1     No">
            <a:extLst xmlns:a="http://schemas.openxmlformats.org/drawingml/2006/main">
              <a:ext uri="{FF2B5EF4-FFF2-40B4-BE49-F238E27FC236}">
                <a16:creationId xmlns:a16="http://schemas.microsoft.com/office/drawing/2014/main" id="{10500377-4EC0-443F-80EF-C06B65B3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References: −1, 0, +1     Noise proxy: 0.05</a:t>
            </a:r>
          </a:p>
          <a:p xmlns:a="http://schemas.openxmlformats.org/drawingml/2006/main">
            <a:pPr>
              <a:defRPr sz="217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Budget: one response     Ties: first action in the list</a:t>
            </a:r>
          </a:p>
        </p:txBody>
      </p:sp>
      <p:sp>
        <p:nvSpPr>
          <p:cNvPr id="6" name="Simplified linear ensemble ·">
            <a:extLst xmlns:a="http://schemas.openxmlformats.org/drawingml/2006/main">
              <a:ext uri="{FF2B5EF4-FFF2-40B4-BE49-F238E27FC236}">
                <a16:creationId xmlns:a16="http://schemas.microsoft.com/office/drawing/2014/main" id="{43105EFB-D368-4BFA-8093-B8B12F62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Simplified linear ensemble · six candidate actions · one response budget</a:t>
            </a:r>
          </a:p>
        </p:txBody>
      </p:sp>
    </p:spTree>
    <p:extLst>
      <p:ext uri="{BB962C8B-B14F-4D97-AF65-F5344CB8AC3E}">
        <p14:creationId xmlns:p14="http://schemas.microsoft.com/office/powerpoint/2010/main" val="1807585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03FF5F1-BB92-4CFD-83EA-A0BBEEE8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The score selects do(X = −1)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BE11369-0304-49CA-82C9-67C11123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C7064-90D6-49A5-BEED-872C0012A5B3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820400" cy="3600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2533650"/>
                <a:gridCol w="2533650"/>
                <a:gridCol w="2514600"/>
              </a:tblGrid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Intervention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 contribution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 contribution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do(X = -1)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0.413437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0.436264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0.849701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do(X = 0)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do(X = 1)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0.413437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0.436264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0.849701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do(M = -1)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0.413437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0.413437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do(M = 0)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do(M = 1)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0.413437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0.413437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4" name="Selected prediction: M̂ = −2">
            <a:extLst xmlns:a="http://schemas.openxmlformats.org/drawingml/2006/main">
              <a:ext uri="{FF2B5EF4-FFF2-40B4-BE49-F238E27FC236}">
                <a16:creationId xmlns:a16="http://schemas.microsoft.com/office/drawing/2014/main" id="{7421532B-9B20-4362-9BAE-99A39C50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Selected prediction: M̂ = −2,  Ŷ = −6</a:t>
            </a:r>
          </a:p>
        </p:txBody>
      </p:sp>
      <p:sp>
        <p:nvSpPr>
          <p:cNvPr id="5" name="Score contribution: mean Cov">
            <a:extLst xmlns:a="http://schemas.openxmlformats.org/drawingml/2006/main">
              <a:ext uri="{FF2B5EF4-FFF2-40B4-BE49-F238E27FC236}">
                <a16:creationId xmlns:a16="http://schemas.microsoft.com/office/drawing/2014/main" id="{5638DD63-B570-4EB4-8003-8D704D83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Score contribution: mean Cov² / (Variance + noise proxy) · tied actions follow the declared order</a:t>
            </a:r>
          </a:p>
        </p:txBody>
      </p:sp>
    </p:spTree>
    <p:extLst>
      <p:ext uri="{BB962C8B-B14F-4D97-AF65-F5344CB8AC3E}">
        <p14:creationId xmlns:p14="http://schemas.microsoft.com/office/powerpoint/2010/main" val="438422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E28C530-A25A-4526-BF93-064E0B79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The response updates eligible mechanisms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CAE57DA-18AD-4013-BBB3-4017B7FA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Observed row: X = −1, M = −2">
            <a:extLst xmlns:a="http://schemas.openxmlformats.org/drawingml/2006/main">
              <a:ext uri="{FF2B5EF4-FFF2-40B4-BE49-F238E27FC236}">
                <a16:creationId xmlns:a16="http://schemas.microsoft.com/office/drawing/2014/main" id="{E1D81018-E5EC-452E-A212-520B06D6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76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Observed row: X = −1, M = −2.5, Y = −7.5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D1C15-5701-422E-BE2A-AAC2D85886B9}"/>
              </a:ext>
            </a:extLst>
          </p:cNvPr>
          <p:cNvGraphicFramePr/>
          <p:nvPr/>
        </p:nvGraphicFramePr>
        <p:xfrm>
          <a:off xmlns:a="http://schemas.openxmlformats.org/drawingml/2006/main" x="609600" y="2419350"/>
          <a:ext xmlns:a="http://schemas.openxmlformats.org/drawingml/2006/main" cx="10820400" cy="1943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3771900"/>
                <a:gridCol w="3714750"/>
              </a:tblGrid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Natural mechanism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input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label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</a:tr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2100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00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X = −1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00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 = −2.5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2100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00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M = −2.5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00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 = −7.5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5" name="After one illustrative gradi">
            <a:extLst xmlns:a="http://schemas.openxmlformats.org/drawingml/2006/main">
              <a:ext uri="{FF2B5EF4-FFF2-40B4-BE49-F238E27FC236}">
                <a16:creationId xmlns:a16="http://schemas.microsoft.com/office/drawing/2014/main" id="{A0297192-B4DF-4C4B-B2D4-A654A3A5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After one illustrative gradient update</a:t>
            </a:r>
          </a:p>
        </p:txBody>
      </p:sp>
      <p:sp>
        <p:nvSpPr>
          <p:cNvPr id="6" name="M̂ = −2.25       Ŷ = −6.75  ">
            <a:extLst xmlns:a="http://schemas.openxmlformats.org/drawingml/2006/main">
              <a:ext uri="{FF2B5EF4-FFF2-40B4-BE49-F238E27FC236}">
                <a16:creationId xmlns:a16="http://schemas.microsoft.com/office/drawing/2014/main" id="{E638C927-32A5-42F6-A03E-6FC7D0BF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M̂ = −2.25       Ŷ = −6.75       Budget left: 0</a:t>
            </a:r>
          </a:p>
        </p:txBody>
      </p:sp>
      <p:sp>
        <p:nvSpPr>
          <p:cNvPr id="7" name="Illustrative linear update ·">
            <a:extLst xmlns:a="http://schemas.openxmlformats.org/drawingml/2006/main">
              <a:ext uri="{FF2B5EF4-FFF2-40B4-BE49-F238E27FC236}">
                <a16:creationId xmlns:a16="http://schemas.microsoft.com/office/drawing/2014/main" id="{0C632C93-DFF7-40C5-8C05-D23F44D3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Illustrative linear update · both natural mechanisms learn from the same paid response</a:t>
            </a:r>
          </a:p>
        </p:txBody>
      </p:sp>
    </p:spTree>
    <p:extLst>
      <p:ext uri="{BB962C8B-B14F-4D97-AF65-F5344CB8AC3E}">
        <p14:creationId xmlns:p14="http://schemas.microsoft.com/office/powerpoint/2010/main" val="1541129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5B47EE-4118-44B1-A257-294FB088040A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1428750" y="3019425"/>
            <a:ext cx="1381125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225B74-AF5E-4045-8A6B-7DD418A0B896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1428750" y="3724275"/>
            <a:ext cx="13811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42FB4D-8981-436F-9987-66750D718254}"/>
              </a:ext>
            </a:extLst>
          </p:cNvPr>
          <p:cNvCxnSpPr>
            <a:stCxn xmlns:a="http://schemas.openxmlformats.org/drawingml/2006/main" id="3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428750" y="2314575"/>
            <a:ext cx="1381125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CE8E17E-8CEC-45B3-BF83-97B5365C5C53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1428750" y="3724275"/>
            <a:ext cx="1381125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DF8874-7F3A-4847-962F-B11953D1980B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1428750" y="3019425"/>
            <a:ext cx="13811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34CD69-066D-4C74-884F-B5B3DD53527E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1428750" y="2314575"/>
            <a:ext cx="1381125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9CA4232-F421-4BC2-A103-0DEE817D1A13}"/>
              </a:ext>
            </a:extLst>
          </p:cNvPr>
          <p:cNvCxnSpPr>
            <a:stCxn xmlns:a="http://schemas.openxmlformats.org/drawingml/2006/main" id="3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1428750" y="231457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A54378-98D6-436E-B54B-092D5A5D08DD}"/>
              </a:ext>
            </a:extLst>
          </p:cNvPr>
          <p:cNvCxnSpPr>
            <a:stCxn xmlns:a="http://schemas.openxmlformats.org/drawingml/2006/main" id="27" idx="6"/>
            <a:endCxn xmlns:a="http://schemas.openxmlformats.org/drawingml/2006/main" id="32" idx="2"/>
          </p:cNvCxnSpPr>
          <p:nvPr/>
        </p:nvCxnSpPr>
        <p:spPr>
          <a:xfrm xmlns:a="http://schemas.openxmlformats.org/drawingml/2006/main">
            <a:off x="7286625" y="513397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2C5080-E909-414A-ACA6-436E3044240C}"/>
              </a:ext>
            </a:extLst>
          </p:cNvPr>
          <p:cNvCxnSpPr>
            <a:stCxn xmlns:a="http://schemas.openxmlformats.org/drawingml/2006/main" id="23" idx="6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7286625" y="2314575"/>
            <a:ext cx="1381125" cy="2114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65543D-3B70-4042-B0C5-4DE76B94B43C}"/>
              </a:ext>
            </a:extLst>
          </p:cNvPr>
          <p:cNvCxnSpPr>
            <a:stCxn xmlns:a="http://schemas.openxmlformats.org/drawingml/2006/main" id="27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V="1">
            <a:off x="7286625" y="3724275"/>
            <a:ext cx="1381125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DF5670-0A1D-47C3-83EA-1FE7AB3F816B}"/>
              </a:ext>
            </a:extLst>
          </p:cNvPr>
          <p:cNvCxnSpPr>
            <a:stCxn xmlns:a="http://schemas.openxmlformats.org/drawingml/2006/main" id="23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7286625" y="2314575"/>
            <a:ext cx="13811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4C937F-0FC6-4FDE-8C2A-D4BDE078D34B}"/>
              </a:ext>
            </a:extLst>
          </p:cNvPr>
          <p:cNvCxnSpPr>
            <a:stCxn xmlns:a="http://schemas.openxmlformats.org/drawingml/2006/main" id="24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7286625" y="2314575"/>
            <a:ext cx="13811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5435"/>
            </a:solidFill>
            <a:tailEnd type="arrow" w="sm" len="sm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588800-F977-4E19-A914-EE5BDDCC8482}"/>
              </a:ext>
            </a:extLst>
          </p:cNvPr>
          <p:cNvCxnSpPr>
            <a:stCxn xmlns:a="http://schemas.openxmlformats.org/drawingml/2006/main" id="18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5334000" y="3900488"/>
            <a:ext cx="1381125" cy="123348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7A5C62-DBD9-4968-8A8E-3B4FD3E4A9F4}"/>
              </a:ext>
            </a:extLst>
          </p:cNvPr>
          <p:cNvCxnSpPr>
            <a:stCxn xmlns:a="http://schemas.openxmlformats.org/drawingml/2006/main" id="20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5334000" y="4605338"/>
            <a:ext cx="1381125" cy="52863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A162B4-06EF-44F2-A742-343916AD090C}"/>
              </a:ext>
            </a:extLst>
          </p:cNvPr>
          <p:cNvCxnSpPr>
            <a:stCxn xmlns:a="http://schemas.openxmlformats.org/drawingml/2006/main" id="19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5334000" y="4252913"/>
            <a:ext cx="1381125" cy="17621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DFF99A-B882-41F7-8076-C936E692C103}"/>
              </a:ext>
            </a:extLst>
          </p:cNvPr>
          <p:cNvCxnSpPr>
            <a:stCxn xmlns:a="http://schemas.openxmlformats.org/drawingml/2006/main" id="14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5334000" y="2490788"/>
            <a:ext cx="1381125" cy="193833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5435"/>
            </a:solidFill>
            <a:tailEnd type="arrow" w="sm" len="sm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D6AB37-FCF6-43C7-822E-5B04B44813E9}"/>
              </a:ext>
            </a:extLst>
          </p:cNvPr>
          <p:cNvCxnSpPr>
            <a:stCxn xmlns:a="http://schemas.openxmlformats.org/drawingml/2006/main" id="17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5334000" y="3548063"/>
            <a:ext cx="1381125" cy="88106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1347A0-B1BC-4A97-9F25-A9CAE008AAE6}"/>
              </a:ext>
            </a:extLst>
          </p:cNvPr>
          <p:cNvCxnSpPr>
            <a:stCxn xmlns:a="http://schemas.openxmlformats.org/drawingml/2006/main" id="22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5334000" y="3724275"/>
            <a:ext cx="1381125" cy="1585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5435"/>
            </a:solidFill>
            <a:tailEnd type="arrow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A4612F-7E15-4B83-B691-2176707BD8DC}"/>
              </a:ext>
            </a:extLst>
          </p:cNvPr>
          <p:cNvCxnSpPr>
            <a:stCxn xmlns:a="http://schemas.openxmlformats.org/drawingml/2006/main" id="13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5334000" y="2138363"/>
            <a:ext cx="1381125" cy="158591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5435"/>
            </a:solidFill>
            <a:tailEnd type="arrow" w="sm" len="sm"/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91F4A3-8E9C-480F-B54F-6DE0853FE1C3}"/>
              </a:ext>
            </a:extLst>
          </p:cNvPr>
          <p:cNvCxnSpPr>
            <a:stCxn xmlns:a="http://schemas.openxmlformats.org/drawingml/2006/main" id="19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5334000" y="3019425"/>
            <a:ext cx="1381125" cy="12334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F36517-EDCC-49B7-AAFB-38A7A49788D3}"/>
              </a:ext>
            </a:extLst>
          </p:cNvPr>
          <p:cNvCxnSpPr>
            <a:stCxn xmlns:a="http://schemas.openxmlformats.org/drawingml/2006/main" id="18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5334000" y="3019425"/>
            <a:ext cx="1381125" cy="881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67FD49-CF22-48CB-8E56-89F103F99B77}"/>
              </a:ext>
            </a:extLst>
          </p:cNvPr>
          <p:cNvCxnSpPr>
            <a:stCxn xmlns:a="http://schemas.openxmlformats.org/drawingml/2006/main" id="14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5334000" y="2490788"/>
            <a:ext cx="1381125" cy="52863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5435"/>
            </a:solidFill>
            <a:tailEnd type="arrow" w="sm" len="sm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9E2A92-EAB3-4326-A558-14E7B87F5C4D}"/>
              </a:ext>
            </a:extLst>
          </p:cNvPr>
          <p:cNvCxnSpPr>
            <a:stCxn xmlns:a="http://schemas.openxmlformats.org/drawingml/2006/main" id="16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5334000" y="2314575"/>
            <a:ext cx="1381125" cy="881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9CE4AD-3BCB-4D21-9BD8-852DEF20A98D}"/>
              </a:ext>
            </a:extLst>
          </p:cNvPr>
          <p:cNvCxnSpPr>
            <a:stCxn xmlns:a="http://schemas.openxmlformats.org/drawingml/2006/main" id="18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5334000" y="2314575"/>
            <a:ext cx="1381125" cy="1585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B63768-7E29-40D3-B7D4-F2F3B28B0A4D}"/>
              </a:ext>
            </a:extLst>
          </p:cNvPr>
          <p:cNvCxnSpPr>
            <a:stCxn xmlns:a="http://schemas.openxmlformats.org/drawingml/2006/main" id="17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5334000" y="2314575"/>
            <a:ext cx="1381125" cy="12334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53F075-9F03-4DB5-A258-6947842B620D}"/>
              </a:ext>
            </a:extLst>
          </p:cNvPr>
          <p:cNvCxnSpPr>
            <a:stCxn xmlns:a="http://schemas.openxmlformats.org/drawingml/2006/main" id="9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3381375" y="3019425"/>
            <a:ext cx="1381125" cy="2290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5435"/>
            </a:solidFill>
            <a:tailEnd type="arrow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350BCA-525C-4148-830C-EA5A1D8A42B9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3381375" y="4429125"/>
            <a:ext cx="1381125" cy="528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663A29-F5B2-4F4C-A89B-48854F641F96}"/>
              </a:ext>
            </a:extLst>
          </p:cNvPr>
          <p:cNvCxnSpPr>
            <a:stCxn xmlns:a="http://schemas.openxmlformats.org/drawingml/2006/main" id="8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>
            <a:off x="3381375" y="2314575"/>
            <a:ext cx="1381125" cy="2290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32E2BF-20D4-4DA3-A03E-164D1140D8AE}"/>
              </a:ext>
            </a:extLst>
          </p:cNvPr>
          <p:cNvCxnSpPr>
            <a:stCxn xmlns:a="http://schemas.openxmlformats.org/drawingml/2006/main" id="12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3381375" y="4605338"/>
            <a:ext cx="1381125" cy="52863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E6F857-D2AA-457D-8B61-766AFD40569B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3381375" y="4252913"/>
            <a:ext cx="1381125" cy="17621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094ECA-C026-428C-8DCC-8D2CDFF34644}"/>
              </a:ext>
            </a:extLst>
          </p:cNvPr>
          <p:cNvCxnSpPr>
            <a:stCxn xmlns:a="http://schemas.openxmlformats.org/drawingml/2006/main" id="8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3381375" y="2314575"/>
            <a:ext cx="1381125" cy="1585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D1EE04-E628-4EDE-8AFF-714146CFAFD7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3381375" y="3548063"/>
            <a:ext cx="1381125" cy="88106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1DB6DE-3E62-4F7E-BBD9-C6D0A26FCD9A}"/>
              </a:ext>
            </a:extLst>
          </p:cNvPr>
          <p:cNvCxnSpPr>
            <a:stCxn xmlns:a="http://schemas.openxmlformats.org/drawingml/2006/main" id="10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3381375" y="3548063"/>
            <a:ext cx="1381125" cy="17621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1954CE-BA0B-4DAA-96A3-427963ADC704}"/>
              </a:ext>
            </a:extLst>
          </p:cNvPr>
          <p:cNvCxnSpPr>
            <a:stCxn xmlns:a="http://schemas.openxmlformats.org/drawingml/2006/main" id="12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3381375" y="3195638"/>
            <a:ext cx="1381125" cy="193833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6EFBEF-37C1-424B-B858-583BCD44B904}"/>
              </a:ext>
            </a:extLst>
          </p:cNvPr>
          <p:cNvCxnSpPr>
            <a:stCxn xmlns:a="http://schemas.openxmlformats.org/drawingml/2006/main" id="8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3381375" y="2314575"/>
            <a:ext cx="1381125" cy="528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7FF0A4-EB04-45C8-88F9-426DCEF9281F}"/>
              </a:ext>
            </a:extLst>
          </p:cNvPr>
          <p:cNvCxnSpPr>
            <a:stCxn xmlns:a="http://schemas.openxmlformats.org/drawingml/2006/main" id="9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3381375" y="2490788"/>
            <a:ext cx="1381125" cy="52863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5435"/>
            </a:solidFill>
            <a:tailEnd type="arrow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84442D-3C14-4E00-9B3E-65F2ACF324E0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3381375" y="2490788"/>
            <a:ext cx="1381125" cy="193833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F92A9B-B5A9-4016-A804-D8F6802349A4}"/>
              </a:ext>
            </a:extLst>
          </p:cNvPr>
          <p:cNvCxnSpPr>
            <a:stCxn xmlns:a="http://schemas.openxmlformats.org/drawingml/2006/main" id="9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3381375" y="2138363"/>
            <a:ext cx="1381125" cy="88106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5435"/>
            </a:solidFill>
            <a:tailEnd type="arrow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D15DCC-7BC2-43F9-B4F8-DFB28A3F24F8}"/>
              </a:ext>
            </a:extLst>
          </p:cNvPr>
          <p:cNvCxnSpPr>
            <a:stCxn xmlns:a="http://schemas.openxmlformats.org/drawingml/2006/main" id="6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1428750" y="4429125"/>
            <a:ext cx="13811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081918-5805-49D4-AB27-9C278E00E57B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1428750" y="513397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3DDD9"/>
            </a:solidFill>
            <a:tailEnd type="arrow" w="sm" len="sm"/>
          </a:ln>
        </p:spPr>
      </p:cxn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9997473A-0F1A-4086-8CE6-FF209DEB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A real scenario: 30 linked mechanisms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7271E7D-21ED-4436-B3DF-C288FF19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SCM node X1">
            <a:extLst xmlns:a="http://schemas.openxmlformats.org/drawingml/2006/main">
              <a:ext uri="{FF2B5EF4-FFF2-40B4-BE49-F238E27FC236}">
                <a16:creationId xmlns:a16="http://schemas.microsoft.com/office/drawing/2014/main" id="{16344DF2-F96F-4BCA-A741-2B85B8E2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</a:t>
            </a:r>
          </a:p>
        </p:txBody>
      </p:sp>
      <p:sp>
        <p:nvSpPr>
          <p:cNvPr id="4" name="SCM node X2">
            <a:extLst xmlns:a="http://schemas.openxmlformats.org/drawingml/2006/main">
              <a:ext uri="{FF2B5EF4-FFF2-40B4-BE49-F238E27FC236}">
                <a16:creationId xmlns:a16="http://schemas.microsoft.com/office/drawing/2014/main" id="{D03C3176-5296-4699-9F48-22DD976C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</a:t>
            </a:r>
          </a:p>
        </p:txBody>
      </p:sp>
      <p:sp>
        <p:nvSpPr>
          <p:cNvPr id="5" name="SCM node X3">
            <a:extLst xmlns:a="http://schemas.openxmlformats.org/drawingml/2006/main">
              <a:ext uri="{FF2B5EF4-FFF2-40B4-BE49-F238E27FC236}">
                <a16:creationId xmlns:a16="http://schemas.microsoft.com/office/drawing/2014/main" id="{F586F66A-7C39-4111-89ED-E302ABEC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X3</a:t>
            </a:r>
          </a:p>
        </p:txBody>
      </p:sp>
      <p:sp>
        <p:nvSpPr>
          <p:cNvPr id="6" name="SCM node X4">
            <a:extLst xmlns:a="http://schemas.openxmlformats.org/drawingml/2006/main">
              <a:ext uri="{FF2B5EF4-FFF2-40B4-BE49-F238E27FC236}">
                <a16:creationId xmlns:a16="http://schemas.microsoft.com/office/drawing/2014/main" id="{2DE6420D-8DF2-47FA-BAF6-6FE89171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X4</a:t>
            </a:r>
          </a:p>
        </p:txBody>
      </p:sp>
      <p:sp>
        <p:nvSpPr>
          <p:cNvPr id="7" name="SCM node X5">
            <a:extLst xmlns:a="http://schemas.openxmlformats.org/drawingml/2006/main">
              <a:ext uri="{FF2B5EF4-FFF2-40B4-BE49-F238E27FC236}">
                <a16:creationId xmlns:a16="http://schemas.microsoft.com/office/drawing/2014/main" id="{BD91A587-2D3D-4E53-AA2B-830FEAD8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X5</a:t>
            </a:r>
          </a:p>
        </p:txBody>
      </p:sp>
      <p:sp>
        <p:nvSpPr>
          <p:cNvPr id="8" name="SCM node X6">
            <a:extLst xmlns:a="http://schemas.openxmlformats.org/drawingml/2006/main">
              <a:ext uri="{FF2B5EF4-FFF2-40B4-BE49-F238E27FC236}">
                <a16:creationId xmlns:a16="http://schemas.microsoft.com/office/drawing/2014/main" id="{19084C11-1181-43AA-BCBB-B9DF95E3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621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X6</a:t>
            </a:r>
          </a:p>
        </p:txBody>
      </p:sp>
      <p:sp>
        <p:nvSpPr>
          <p:cNvPr id="9" name="SCM node X7">
            <a:extLst xmlns:a="http://schemas.openxmlformats.org/drawingml/2006/main">
              <a:ext uri="{FF2B5EF4-FFF2-40B4-BE49-F238E27FC236}">
                <a16:creationId xmlns:a16="http://schemas.microsoft.com/office/drawing/2014/main" id="{4D2D9820-EA65-4E09-AD2F-6DBD476B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670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435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X7</a:t>
            </a:r>
          </a:p>
        </p:txBody>
      </p:sp>
      <p:sp>
        <p:nvSpPr>
          <p:cNvPr id="10" name="SCM node X8">
            <a:extLst xmlns:a="http://schemas.openxmlformats.org/drawingml/2006/main">
              <a:ext uri="{FF2B5EF4-FFF2-40B4-BE49-F238E27FC236}">
                <a16:creationId xmlns:a16="http://schemas.microsoft.com/office/drawing/2014/main" id="{488BBE18-8E30-4927-BE9D-283D89A1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718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X8</a:t>
            </a:r>
          </a:p>
        </p:txBody>
      </p:sp>
      <p:sp>
        <p:nvSpPr>
          <p:cNvPr id="11" name="SCM node X9">
            <a:extLst xmlns:a="http://schemas.openxmlformats.org/drawingml/2006/main">
              <a:ext uri="{FF2B5EF4-FFF2-40B4-BE49-F238E27FC236}">
                <a16:creationId xmlns:a16="http://schemas.microsoft.com/office/drawing/2014/main" id="{5CC9C6DE-893E-48D1-BD3D-F334C18E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767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X9</a:t>
            </a:r>
          </a:p>
        </p:txBody>
      </p:sp>
      <p:sp>
        <p:nvSpPr>
          <p:cNvPr id="12" name="SCM node X10">
            <a:extLst xmlns:a="http://schemas.openxmlformats.org/drawingml/2006/main">
              <a:ext uri="{FF2B5EF4-FFF2-40B4-BE49-F238E27FC236}">
                <a16:creationId xmlns:a16="http://schemas.microsoft.com/office/drawing/2014/main" id="{5BFEC396-A19D-47AD-B5C8-2B632E35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9815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X10</a:t>
            </a:r>
          </a:p>
        </p:txBody>
      </p:sp>
      <p:sp>
        <p:nvSpPr>
          <p:cNvPr id="13" name="SCM node X11">
            <a:extLst xmlns:a="http://schemas.openxmlformats.org/drawingml/2006/main">
              <a:ext uri="{FF2B5EF4-FFF2-40B4-BE49-F238E27FC236}">
                <a16:creationId xmlns:a16="http://schemas.microsoft.com/office/drawing/2014/main" id="{A7C31EAE-88F6-4117-A80A-555BBAB1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5963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X11</a:t>
            </a:r>
          </a:p>
        </p:txBody>
      </p:sp>
      <p:sp>
        <p:nvSpPr>
          <p:cNvPr id="14" name="SCM node X12">
            <a:extLst xmlns:a="http://schemas.openxmlformats.org/drawingml/2006/main">
              <a:ext uri="{FF2B5EF4-FFF2-40B4-BE49-F238E27FC236}">
                <a16:creationId xmlns:a16="http://schemas.microsoft.com/office/drawing/2014/main" id="{11A0D802-99E2-4B71-8C4D-5B37A258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8388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X12</a:t>
            </a:r>
          </a:p>
        </p:txBody>
      </p:sp>
      <p:sp>
        <p:nvSpPr>
          <p:cNvPr id="15" name="SCM node X13">
            <a:extLst xmlns:a="http://schemas.openxmlformats.org/drawingml/2006/main">
              <a:ext uri="{FF2B5EF4-FFF2-40B4-BE49-F238E27FC236}">
                <a16:creationId xmlns:a16="http://schemas.microsoft.com/office/drawing/2014/main" id="{1DE5D58F-B4AA-4091-8CDF-ADCD3625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90813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X13</a:t>
            </a:r>
          </a:p>
        </p:txBody>
      </p:sp>
      <p:sp>
        <p:nvSpPr>
          <p:cNvPr id="16" name="SCM node X14">
            <a:extLst xmlns:a="http://schemas.openxmlformats.org/drawingml/2006/main">
              <a:ext uri="{FF2B5EF4-FFF2-40B4-BE49-F238E27FC236}">
                <a16:creationId xmlns:a16="http://schemas.microsoft.com/office/drawing/2014/main" id="{F4E05188-1CAC-460A-B54F-014C7A11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3238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X14</a:t>
            </a:r>
          </a:p>
        </p:txBody>
      </p:sp>
      <p:sp>
        <p:nvSpPr>
          <p:cNvPr id="17" name="SCM node X15">
            <a:extLst xmlns:a="http://schemas.openxmlformats.org/drawingml/2006/main">
              <a:ext uri="{FF2B5EF4-FFF2-40B4-BE49-F238E27FC236}">
                <a16:creationId xmlns:a16="http://schemas.microsoft.com/office/drawing/2014/main" id="{71E21D7F-53E0-434C-B790-2C0BEDB8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5663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X15</a:t>
            </a:r>
          </a:p>
        </p:txBody>
      </p:sp>
      <p:sp>
        <p:nvSpPr>
          <p:cNvPr id="18" name="SCM node X16">
            <a:extLst xmlns:a="http://schemas.openxmlformats.org/drawingml/2006/main">
              <a:ext uri="{FF2B5EF4-FFF2-40B4-BE49-F238E27FC236}">
                <a16:creationId xmlns:a16="http://schemas.microsoft.com/office/drawing/2014/main" id="{D2519D75-184C-4974-8CD9-8FFED618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48088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X16</a:t>
            </a:r>
          </a:p>
        </p:txBody>
      </p:sp>
      <p:sp>
        <p:nvSpPr>
          <p:cNvPr id="19" name="SCM node X17">
            <a:extLst xmlns:a="http://schemas.openxmlformats.org/drawingml/2006/main">
              <a:ext uri="{FF2B5EF4-FFF2-40B4-BE49-F238E27FC236}">
                <a16:creationId xmlns:a16="http://schemas.microsoft.com/office/drawing/2014/main" id="{BB955E7D-13F3-4A88-891D-7F59FE28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00513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X17</a:t>
            </a:r>
          </a:p>
        </p:txBody>
      </p:sp>
      <p:sp>
        <p:nvSpPr>
          <p:cNvPr id="20" name="SCM node X18">
            <a:extLst xmlns:a="http://schemas.openxmlformats.org/drawingml/2006/main">
              <a:ext uri="{FF2B5EF4-FFF2-40B4-BE49-F238E27FC236}">
                <a16:creationId xmlns:a16="http://schemas.microsoft.com/office/drawing/2014/main" id="{861235A1-76F8-4003-9DCA-F39946B5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52938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X18</a:t>
            </a:r>
          </a:p>
        </p:txBody>
      </p:sp>
      <p:sp>
        <p:nvSpPr>
          <p:cNvPr id="21" name="SCM node X19">
            <a:extLst xmlns:a="http://schemas.openxmlformats.org/drawingml/2006/main">
              <a:ext uri="{FF2B5EF4-FFF2-40B4-BE49-F238E27FC236}">
                <a16:creationId xmlns:a16="http://schemas.microsoft.com/office/drawing/2014/main" id="{5C111615-EF22-4071-9625-9CA764E8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05363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X19</a:t>
            </a:r>
          </a:p>
        </p:txBody>
      </p:sp>
      <p:sp>
        <p:nvSpPr>
          <p:cNvPr id="22" name="SCM node X20">
            <a:extLst xmlns:a="http://schemas.openxmlformats.org/drawingml/2006/main">
              <a:ext uri="{FF2B5EF4-FFF2-40B4-BE49-F238E27FC236}">
                <a16:creationId xmlns:a16="http://schemas.microsoft.com/office/drawing/2014/main" id="{53C33779-CFA7-4864-9147-E586D124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57788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X20</a:t>
            </a:r>
          </a:p>
        </p:txBody>
      </p:sp>
      <p:sp>
        <p:nvSpPr>
          <p:cNvPr id="23" name="SCM node X21">
            <a:extLst xmlns:a="http://schemas.openxmlformats.org/drawingml/2006/main">
              <a:ext uri="{FF2B5EF4-FFF2-40B4-BE49-F238E27FC236}">
                <a16:creationId xmlns:a16="http://schemas.microsoft.com/office/drawing/2014/main" id="{6F99A125-05E1-4547-AEA1-E639D4D0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621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X21</a:t>
            </a:r>
          </a:p>
        </p:txBody>
      </p:sp>
      <p:sp>
        <p:nvSpPr>
          <p:cNvPr id="24" name="SCM node X22">
            <a:extLst xmlns:a="http://schemas.openxmlformats.org/drawingml/2006/main">
              <a:ext uri="{FF2B5EF4-FFF2-40B4-BE49-F238E27FC236}">
                <a16:creationId xmlns:a16="http://schemas.microsoft.com/office/drawing/2014/main" id="{8E941765-5B27-4233-9C01-64D813A6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670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X22</a:t>
            </a:r>
          </a:p>
        </p:txBody>
      </p:sp>
      <p:sp>
        <p:nvSpPr>
          <p:cNvPr id="25" name="SCM node X23">
            <a:extLst xmlns:a="http://schemas.openxmlformats.org/drawingml/2006/main">
              <a:ext uri="{FF2B5EF4-FFF2-40B4-BE49-F238E27FC236}">
                <a16:creationId xmlns:a16="http://schemas.microsoft.com/office/drawing/2014/main" id="{745A7D77-BB40-488C-9FDB-EBEE95B3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718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X23</a:t>
            </a:r>
          </a:p>
        </p:txBody>
      </p:sp>
      <p:sp>
        <p:nvSpPr>
          <p:cNvPr id="26" name="SCM node X24">
            <a:extLst xmlns:a="http://schemas.openxmlformats.org/drawingml/2006/main">
              <a:ext uri="{FF2B5EF4-FFF2-40B4-BE49-F238E27FC236}">
                <a16:creationId xmlns:a16="http://schemas.microsoft.com/office/drawing/2014/main" id="{3FCF8A3C-6DD1-4331-B745-B422DC7A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767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X24</a:t>
            </a:r>
          </a:p>
        </p:txBody>
      </p:sp>
      <p:sp>
        <p:nvSpPr>
          <p:cNvPr id="27" name="SCM node X25">
            <a:extLst xmlns:a="http://schemas.openxmlformats.org/drawingml/2006/main">
              <a:ext uri="{FF2B5EF4-FFF2-40B4-BE49-F238E27FC236}">
                <a16:creationId xmlns:a16="http://schemas.microsoft.com/office/drawing/2014/main" id="{167B826F-8913-4959-8FDB-70659FAF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815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X25</a:t>
            </a:r>
          </a:p>
        </p:txBody>
      </p:sp>
      <p:sp>
        <p:nvSpPr>
          <p:cNvPr id="28" name="SCM node X26">
            <a:extLst xmlns:a="http://schemas.openxmlformats.org/drawingml/2006/main">
              <a:ext uri="{FF2B5EF4-FFF2-40B4-BE49-F238E27FC236}">
                <a16:creationId xmlns:a16="http://schemas.microsoft.com/office/drawing/2014/main" id="{9C05266F-80FA-47BD-BE5E-FAFF2366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621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X26</a:t>
            </a:r>
          </a:p>
        </p:txBody>
      </p:sp>
      <p:sp>
        <p:nvSpPr>
          <p:cNvPr id="29" name="SCM node X27">
            <a:extLst xmlns:a="http://schemas.openxmlformats.org/drawingml/2006/main">
              <a:ext uri="{FF2B5EF4-FFF2-40B4-BE49-F238E27FC236}">
                <a16:creationId xmlns:a16="http://schemas.microsoft.com/office/drawing/2014/main" id="{9A98BE56-DADF-4A80-AD83-EA29E3A3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670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X27</a:t>
            </a:r>
          </a:p>
        </p:txBody>
      </p:sp>
      <p:sp>
        <p:nvSpPr>
          <p:cNvPr id="30" name="SCM node X28">
            <a:extLst xmlns:a="http://schemas.openxmlformats.org/drawingml/2006/main">
              <a:ext uri="{FF2B5EF4-FFF2-40B4-BE49-F238E27FC236}">
                <a16:creationId xmlns:a16="http://schemas.microsoft.com/office/drawing/2014/main" id="{60C9D4ED-EBFB-4525-8459-3D4D6768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X28</a:t>
            </a:r>
          </a:p>
        </p:txBody>
      </p:sp>
      <p:sp>
        <p:nvSpPr>
          <p:cNvPr id="31" name="SCM node X29">
            <a:extLst xmlns:a="http://schemas.openxmlformats.org/drawingml/2006/main">
              <a:ext uri="{FF2B5EF4-FFF2-40B4-BE49-F238E27FC236}">
                <a16:creationId xmlns:a16="http://schemas.microsoft.com/office/drawing/2014/main" id="{5BB34827-F62E-410A-A1CF-74CE52EF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767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X29</a:t>
            </a:r>
          </a:p>
        </p:txBody>
      </p:sp>
      <p:sp>
        <p:nvSpPr>
          <p:cNvPr id="32" name="SCM node X30">
            <a:extLst xmlns:a="http://schemas.openxmlformats.org/drawingml/2006/main">
              <a:ext uri="{FF2B5EF4-FFF2-40B4-BE49-F238E27FC236}">
                <a16:creationId xmlns:a16="http://schemas.microsoft.com/office/drawing/2014/main" id="{3D69495D-4288-4EC8-98F3-6AAB2E60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815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X30</a:t>
            </a:r>
          </a:p>
        </p:txBody>
      </p:sp>
      <p:sp>
        <p:nvSpPr>
          <p:cNvPr id="73" name="First selected action: do(X7">
            <a:extLst xmlns:a="http://schemas.openxmlformats.org/drawingml/2006/main">
              <a:ext uri="{FF2B5EF4-FFF2-40B4-BE49-F238E27FC236}">
                <a16:creationId xmlns:a16="http://schemas.microsoft.com/office/drawing/2014/main" id="{D2448C7C-64F6-48A9-8FFA-C2009B7C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First selected action: do(X7 = 3.8571)  →  50 responses</a:t>
            </a:r>
          </a:p>
        </p:txBody>
      </p:sp>
      <p:sp>
        <p:nvSpPr>
          <p:cNvPr id="74" name="Seed 5000 graph. Coral marks">
            <a:extLst xmlns:a="http://schemas.openxmlformats.org/drawingml/2006/main">
              <a:ext uri="{FF2B5EF4-FFF2-40B4-BE49-F238E27FC236}">
                <a16:creationId xmlns:a16="http://schemas.microsoft.com/office/drawing/2014/main" id="{FD34CF01-D35C-48AE-A484-E5FD134C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Seed 5000 graph. Coral marks the intervention and outgoing descendant paths; the full study uses 20 systems.</a:t>
            </a:r>
          </a:p>
        </p:txBody>
      </p:sp>
    </p:spTree>
    <p:extLst>
      <p:ext uri="{BB962C8B-B14F-4D97-AF65-F5344CB8AC3E}">
        <p14:creationId xmlns:p14="http://schemas.microsoft.com/office/powerpoint/2010/main" val="1423297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44705258-1592-4A6B-9C1C-A95D428F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65% lower prediction error than random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54EC892-5EBD-48C3-80B0-07507A20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Mean mechanism MSE · 20 syst">
            <a:extLst xmlns:a="http://schemas.openxmlformats.org/drawingml/2006/main">
              <a:ext uri="{FF2B5EF4-FFF2-40B4-BE49-F238E27FC236}">
                <a16:creationId xmlns:a16="http://schemas.microsoft.com/office/drawing/2014/main" id="{A8AF8A17-8D79-4E2F-B9DA-76D06DF3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Mean mechanism MSE · 20 systems · lower is better</a:t>
            </a:r>
          </a:p>
        </p:txBody>
      </p:sp>
      <p:sp>
        <p:nvSpPr>
          <p:cNvPr id="4" name="Full recorded curve">
            <a:extLst xmlns:a="http://schemas.openxmlformats.org/drawingml/2006/main">
              <a:ext uri="{FF2B5EF4-FFF2-40B4-BE49-F238E27FC236}">
                <a16:creationId xmlns:a16="http://schemas.microsoft.com/office/drawing/2014/main" id="{C33ACD51-EFA6-42EA-9FA9-5200C024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Full recorded curve</a:t>
            </a:r>
          </a:p>
        </p:txBody>
      </p:sp>
      <p:sp>
        <p:nvSpPr>
          <p:cNvPr id="5" name="Detail: batches 4–32">
            <a:extLst xmlns:a="http://schemas.openxmlformats.org/drawingml/2006/main">
              <a:ext uri="{FF2B5EF4-FFF2-40B4-BE49-F238E27FC236}">
                <a16:creationId xmlns:a16="http://schemas.microsoft.com/office/drawing/2014/main" id="{2051B569-BF25-46BF-92A0-D35B864D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859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Detail: batches 4–32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4CA60E0-ECED-4701-956A-0FA6D4E6F328}"/>
              </a:ext>
            </a:extLst>
          </p:cNvPr>
          <p:cNvGraphicFramePr/>
          <p:nvPr/>
        </p:nvGraphicFramePr>
        <p:xfrm>
          <a:off xmlns:a="http://schemas.openxmlformats.org/drawingml/2006/main" x="609600" y="2524125"/>
          <a:ext xmlns:a="http://schemas.openxmlformats.org/drawingml/2006/main" cx="3429000" cy="2638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e6dbf25f544e83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69E1BB2-7929-45F9-AF1B-B36108F26372}"/>
              </a:ext>
            </a:extLst>
          </p:cNvPr>
          <p:cNvGraphicFramePr/>
          <p:nvPr/>
        </p:nvGraphicFramePr>
        <p:xfrm>
          <a:off xmlns:a="http://schemas.openxmlformats.org/drawingml/2006/main" x="4419600" y="2524125"/>
          <a:ext xmlns:a="http://schemas.openxmlformats.org/drawingml/2006/main" cx="7048500" cy="2638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22e53f0e4e4c0c"/>
          </a:graphicData>
        </a:graphic>
      </p:graphicFrame>
      <p:sp>
        <p:nvSpPr>
          <p:cNvPr id="8" name="Final MSE: 0.01543 ACE vs 0.">
            <a:extLst xmlns:a="http://schemas.openxmlformats.org/drawingml/2006/main">
              <a:ext uri="{FF2B5EF4-FFF2-40B4-BE49-F238E27FC236}">
                <a16:creationId xmlns:a16="http://schemas.microsoft.com/office/drawing/2014/main" id="{FEC2889F-6931-4938-AD09-23E696CF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Final MSE: 0.01543 ACE vs 0.04390 random  |  19 / 20 wins</a:t>
            </a:r>
          </a:p>
        </p:txBody>
      </p:sp>
      <p:sp>
        <p:nvSpPr>
          <p:cNvPr id="9" name="20 synthetic causal systems ">
            <a:extLst xmlns:a="http://schemas.openxmlformats.org/drawingml/2006/main">
              <a:ext uri="{FF2B5EF4-FFF2-40B4-BE49-F238E27FC236}">
                <a16:creationId xmlns:a16="http://schemas.microsoft.com/office/drawing/2014/main" id="{847A2412-26DE-4D8D-8F6D-30A268FC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20 synthetic causal systems · equal 2,000-response budgets · ACE / PEV versus non-leaf random selection</a:t>
            </a:r>
          </a:p>
        </p:txBody>
      </p:sp>
    </p:spTree>
    <p:extLst>
      <p:ext uri="{BB962C8B-B14F-4D97-AF65-F5344CB8AC3E}">
        <p14:creationId xmlns:p14="http://schemas.microsoft.com/office/powerpoint/2010/main" val="2912172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C7828FF0-D467-4045-9BD6-164A9198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64% fewer interventions at matched error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E74426D-BD17-42A7-9225-43CF81D7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First recorded crossing of M">
            <a:extLst xmlns:a="http://schemas.openxmlformats.org/drawingml/2006/main">
              <a:ext uri="{FF2B5EF4-FFF2-40B4-BE49-F238E27FC236}">
                <a16:creationId xmlns:a16="http://schemas.microsoft.com/office/drawing/2014/main" id="{75C14339-2CB2-4431-9F14-91E63B10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First recorded crossing of MSE ≤ 0.04390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3EAD2C4-AD90-46FB-9C5F-2ADB2D1E9BFE}"/>
              </a:ext>
            </a:extLst>
          </p:cNvPr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5762625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09513e648c40a9"/>
          </a:graphicData>
        </a:graphic>
      </p:graphicFrame>
      <p:sp>
        <p:nvSpPr>
          <p:cNvPr id="5" name="Intervention batches · 50 re">
            <a:extLst xmlns:a="http://schemas.openxmlformats.org/drawingml/2006/main">
              <a:ext uri="{FF2B5EF4-FFF2-40B4-BE49-F238E27FC236}">
                <a16:creationId xmlns:a16="http://schemas.microsoft.com/office/drawing/2014/main" id="{06CABE49-2273-4271-9133-500CE4DF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592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Intervention batches · 50 responses each</a:t>
            </a:r>
          </a:p>
        </p:txBody>
      </p:sp>
      <p:sp>
        <p:nvSpPr>
          <p:cNvPr id="6" name="64.3% fewer">
            <a:extLst xmlns:a="http://schemas.openxmlformats.org/drawingml/2006/main">
              <a:ext uri="{FF2B5EF4-FFF2-40B4-BE49-F238E27FC236}">
                <a16:creationId xmlns:a16="http://schemas.microsoft.com/office/drawing/2014/main" id="{D2CA6D0A-025E-4076-81C0-B3C0049D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28875"/>
            <a:ext cx="4381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64.3% fewer</a:t>
            </a:r>
          </a:p>
        </p:txBody>
      </p:sp>
      <p:sp>
        <p:nvSpPr>
          <p:cNvPr id="7" name="1,400 → 500&#10;intervention res">
            <a:extLst xmlns:a="http://schemas.openxmlformats.org/drawingml/2006/main">
              <a:ext uri="{FF2B5EF4-FFF2-40B4-BE49-F238E27FC236}">
                <a16:creationId xmlns:a16="http://schemas.microsoft.com/office/drawing/2014/main" id="{0407E20E-9176-4012-8AD1-A56BAE3E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90900"/>
            <a:ext cx="4229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1,400 → 500</a:t>
            </a:r>
          </a:p>
          <a:p xmlns:a="http://schemas.openxmlformats.org/drawingml/2006/main">
            <a:pPr>
              <a:defRPr sz="232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intervention responses</a:t>
            </a:r>
          </a:p>
        </p:txBody>
      </p:sp>
      <p:sp>
        <p:nvSpPr>
          <p:cNvPr id="8" name="Including observations:&#10;1,76">
            <a:extLst xmlns:a="http://schemas.openxmlformats.org/drawingml/2006/main">
              <a:ext uri="{FF2B5EF4-FFF2-40B4-BE49-F238E27FC236}">
                <a16:creationId xmlns:a16="http://schemas.microsoft.com/office/drawing/2014/main" id="{C3348A81-18E0-45F6-B8EA-C15A9A4C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48200"/>
            <a:ext cx="42195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Including observations:</a:t>
            </a:r>
          </a:p>
          <a:p xmlns:a="http://schemas.openxmlformats.org/drawingml/2006/main">
            <a:pPr>
              <a:def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1,760 → 620 total responses</a:t>
            </a:r>
          </a:p>
        </p:txBody>
      </p:sp>
      <p:sp>
        <p:nvSpPr>
          <p:cNvPr id="9" name="Retrospective comparison of ">
            <a:extLst xmlns:a="http://schemas.openxmlformats.org/drawingml/2006/main">
              <a:ext uri="{FF2B5EF4-FFF2-40B4-BE49-F238E27FC236}">
                <a16:creationId xmlns:a16="http://schemas.microsoft.com/office/drawing/2014/main" id="{C1DB1159-55AB-47DB-9382-D2195E43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Retrospective comparison of mean learning curves across 20 synthetic systems · target: random’s final mean error</a:t>
            </a:r>
          </a:p>
        </p:txBody>
      </p:sp>
    </p:spTree>
    <p:extLst>
      <p:ext uri="{BB962C8B-B14F-4D97-AF65-F5344CB8AC3E}">
        <p14:creationId xmlns:p14="http://schemas.microsoft.com/office/powerpoint/2010/main" val="245209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2026-10-09T14:28:05.0230000Z</dcterms:created>
  <dcterms:modified xsi:type="dcterms:W3CDTF">2026-10-09T14:28:05.0230000Z</dcterms:modified>
</coreProperties>
</file>