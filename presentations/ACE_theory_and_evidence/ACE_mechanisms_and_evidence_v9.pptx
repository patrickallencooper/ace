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db2db05c1eb4a0a" /><Relationship Type="http://schemas.openxmlformats.org/officeDocument/2006/relationships/extended-properties" Target="/docProps/app.xml" Id="Rc1110aa951454031" /><Relationship Type="http://schemas.openxmlformats.org/officeDocument/2006/relationships/officeDocument" Target="/ppt/presentation.xml" Id="R75bb5875a2004267" /></Relationships>
</file>

<file path=ppt/presentation.xml><?xml version="1.0" encoding="utf-8"?>
<p:presentation xmlns:p="http://schemas.openxmlformats.org/presentationml/2006/main">
  <p:sldMasterIdLst>
    <p:sldMasterId xmlns:r="http://schemas.openxmlformats.org/officeDocument/2006/relationships" id="2147483648" r:id="R2715eb8eb28a4360"/>
  </p:sldMasterIdLst>
  <p:notesMasterIdLst>
    <p:notesMasterId xmlns:r="http://schemas.openxmlformats.org/officeDocument/2006/relationships" r:id="R47db168d8c8b41b7"/>
  </p:notesMasterIdLst>
  <p:sldIdLst>
    <p:sldId xmlns:r="http://schemas.openxmlformats.org/officeDocument/2006/relationships" id="256" r:id="R3e1b26c11eaf44ca"/>
    <p:sldId xmlns:r="http://schemas.openxmlformats.org/officeDocument/2006/relationships" id="257" r:id="R422829b4a8504396"/>
    <p:sldId xmlns:r="http://schemas.openxmlformats.org/officeDocument/2006/relationships" id="258" r:id="R9418a46d8a9b4da1"/>
    <p:sldId xmlns:r="http://schemas.openxmlformats.org/officeDocument/2006/relationships" id="259" r:id="Redae1c307cc54d03"/>
    <p:sldId xmlns:r="http://schemas.openxmlformats.org/officeDocument/2006/relationships" id="260" r:id="Rf0495f20c88742ec"/>
    <p:sldId xmlns:r="http://schemas.openxmlformats.org/officeDocument/2006/relationships" id="261" r:id="Rc96e8064afec4673"/>
    <p:sldId xmlns:r="http://schemas.openxmlformats.org/officeDocument/2006/relationships" id="262" r:id="Rbefc7913b4c74ea1"/>
    <p:sldId xmlns:r="http://schemas.openxmlformats.org/officeDocument/2006/relationships" id="263" r:id="Ra07efe9aca2a45be"/>
    <p:sldId xmlns:r="http://schemas.openxmlformats.org/officeDocument/2006/relationships" id="264" r:id="Rebf848cb1e3c4ee0"/>
    <p:sldId xmlns:r="http://schemas.openxmlformats.org/officeDocument/2006/relationships" id="265" r:id="R729fe6bb14564dc6"/>
    <p:sldId xmlns:r="http://schemas.openxmlformats.org/officeDocument/2006/relationships" id="266" r:id="R4af5f78146894370"/>
    <p:sldId xmlns:r="http://schemas.openxmlformats.org/officeDocument/2006/relationships" id="267" r:id="Rd020d335dbc741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4c0b5056704c1d" /><Relationship Type="http://schemas.openxmlformats.org/officeDocument/2006/relationships/slideMaster" Target="/ppt/slideMasters/slideMaster1.xml" Id="R2715eb8eb28a4360" /><Relationship Type="http://schemas.openxmlformats.org/officeDocument/2006/relationships/notesMaster" Target="/ppt/notesMasters/notesMaster1.xml" Id="R47db168d8c8b41b7" /><Relationship Type="http://schemas.openxmlformats.org/officeDocument/2006/relationships/presProps" Target="/ppt/presProps.xml" Id="Ra12fd8207cfc4f52" /><Relationship Type="http://schemas.openxmlformats.org/officeDocument/2006/relationships/tableStyles" Target="/ppt/tableStyles.xml" Id="R0a4aee6a4a1944a9" /><Relationship Type="http://schemas.openxmlformats.org/officeDocument/2006/relationships/slide" Target="/ppt/slides/slide1.xml" Id="R3e1b26c11eaf44ca" /><Relationship Type="http://schemas.openxmlformats.org/officeDocument/2006/relationships/slide" Target="/ppt/slides/slide2.xml" Id="R422829b4a8504396" /><Relationship Type="http://schemas.openxmlformats.org/officeDocument/2006/relationships/slide" Target="/ppt/slides/slide3.xml" Id="R9418a46d8a9b4da1" /><Relationship Type="http://schemas.openxmlformats.org/officeDocument/2006/relationships/slide" Target="/ppt/slides/slide4.xml" Id="Redae1c307cc54d03" /><Relationship Type="http://schemas.openxmlformats.org/officeDocument/2006/relationships/slide" Target="/ppt/slides/slide5.xml" Id="Rf0495f20c88742ec" /><Relationship Type="http://schemas.openxmlformats.org/officeDocument/2006/relationships/slide" Target="/ppt/slides/slide6.xml" Id="Rc96e8064afec4673" /><Relationship Type="http://schemas.openxmlformats.org/officeDocument/2006/relationships/slide" Target="/ppt/slides/slide7.xml" Id="Rbefc7913b4c74ea1" /><Relationship Type="http://schemas.openxmlformats.org/officeDocument/2006/relationships/slide" Target="/ppt/slides/slide8.xml" Id="Ra07efe9aca2a45be" /><Relationship Type="http://schemas.openxmlformats.org/officeDocument/2006/relationships/slide" Target="/ppt/slides/slide9.xml" Id="Rebf848cb1e3c4ee0" /><Relationship Type="http://schemas.openxmlformats.org/officeDocument/2006/relationships/slide" Target="/ppt/slides/slide10.xml" Id="R729fe6bb14564dc6" /><Relationship Type="http://schemas.openxmlformats.org/officeDocument/2006/relationships/slide" Target="/ppt/slides/slide11.xml" Id="R4af5f78146894370" /><Relationship Type="http://schemas.openxmlformats.org/officeDocument/2006/relationships/slide" Target="/ppt/slides/slide12.xml" Id="Rd020d335dbc741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d5dd2303cb42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8fac65741c4a8e" /><Relationship Type="http://schemas.openxmlformats.org/officeDocument/2006/relationships/notesMaster" Target="/ppt/notesMasters/notesMaster1.xml" Id="Rf162cb35dc6e4d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a8786d3eba452f" /><Relationship Type="http://schemas.openxmlformats.org/officeDocument/2006/relationships/notesMaster" Target="/ppt/notesMasters/notesMaster1.xml" Id="R3df7f7af0f2247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35c01f6dea4feb" /><Relationship Type="http://schemas.openxmlformats.org/officeDocument/2006/relationships/notesMaster" Target="/ppt/notesMasters/notesMaster1.xml" Id="Rae3c65e6a8c64e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fd288bdf7a4cf5" /><Relationship Type="http://schemas.openxmlformats.org/officeDocument/2006/relationships/notesMaster" Target="/ppt/notesMasters/notesMaster1.xml" Id="R27dae4fb028241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2e16b0b3424f7c" /><Relationship Type="http://schemas.openxmlformats.org/officeDocument/2006/relationships/notesMaster" Target="/ppt/notesMasters/notesMaster1.xml" Id="R1c8feb962caa49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fd578f6c4840e1" /><Relationship Type="http://schemas.openxmlformats.org/officeDocument/2006/relationships/notesMaster" Target="/ppt/notesMasters/notesMaster1.xml" Id="R6ed4c7d5b26846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908d0ca3644508" /><Relationship Type="http://schemas.openxmlformats.org/officeDocument/2006/relationships/notesMaster" Target="/ppt/notesMasters/notesMaster1.xml" Id="R7cc9272b44ca43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aa4b2cc4604b43" /><Relationship Type="http://schemas.openxmlformats.org/officeDocument/2006/relationships/notesMaster" Target="/ppt/notesMasters/notesMaster1.xml" Id="R219c3ea6eefb42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af108d6e144327" /><Relationship Type="http://schemas.openxmlformats.org/officeDocument/2006/relationships/notesMaster" Target="/ppt/notesMasters/notesMaster1.xml" Id="R0b1026940f20490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7a7680df0d44d5" /><Relationship Type="http://schemas.openxmlformats.org/officeDocument/2006/relationships/notesMaster" Target="/ppt/notesMasters/notesMaster1.xml" Id="Ra9af6c0a75c942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3a1719244642ea" /><Relationship Type="http://schemas.openxmlformats.org/officeDocument/2006/relationships/notesMaster" Target="/ppt/notesMasters/notesMaster1.xml" Id="R4be2db2857524d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dbd62059a048a4" /><Relationship Type="http://schemas.openxmlformats.org/officeDocument/2006/relationships/notesMaster" Target="/ppt/notesMasters/notesMaster1.xml" Id="R2906f6c6574841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ACE selects interventions using an assumed causal graph and uncertainty about local mechanisms. Compressor visual is a newly generated conceptual engineering illustration, not the apparatus used in the reported synthetic experiments. Slides1–4 introduce the theory; slides5–7 give precise illustrative inputs, scores and outputs; slide8 shows an archived graph; slides9–10 show historical evidence. Implementation: baselines.py, EnsembleStudentSCM / EnsembleLearner / PropagatedVariancePolicy, and scripts/research/persistent_scm.py. Historical PEV uses known graphs, independently initialized neural heads, model-only candidate contexts and covariance-based integrated variance reduction summed over descendant mechanisms. It does not identify the graph or optimize the proposed terminal-risk objective. Noise proxy is residual error, not a certified aleatoric estimate.</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/Users/pat/code/ACE/docs/ACE_evidence_and_public_claims_2026-10-08.md</a:t>
            </a:r>
          </a:p>
          <a:p xmlns:a="http://schemas.openxmlformats.org/drawingml/2006/main">
            <a:r>
              <a:t>/Users/pat/code/ACE/presentations/ACE_theory_and_evidence/mechanistic_demonstration_2026-10-09.json</a:t>
            </a:r>
          </a:p>
          <a:p xmlns:a="http://schemas.openxmlformats.org/drawingml/2006/main">
            <a:r>
              <a:t>Revision7 inserts the local-versus-joint explanation at4 and the proposed foundation-model/SCM overview at6. The worked example is7–9, archived graph10, empirical learning curves11 and closing comparison12.</a:t>
            </a:r>
          </a:p>
          <a:p xmlns:a="http://schemas.openxmlformats.org/drawingml/2006/main">
            <a:r>
              <a:t>Version8: technology name Active Causal Experimentalism and user-provided tagline Every experiment counts. New white compressor/SCM concept cover edited with built-in image generation from the prior concept asset. Illustrative machine, not an experimental photograph. Prompt saved in cover_asset_v8.json. All measured acquisition results remain historical synthetic neural-SCM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SCM definition: Xi=fi(Pa_i,Ui). Edges specify direct causes in the assumed graph, f describes the mechanism, U describes external disturbances. The toy is a fully observed, deterministic chain with dimensionless values. Its true rules are M=2.5X and Y=3M, with U=0. These truth equations explain the example to the audience; the policy receives only its candidate models and allowed actions, not oracle truth. Known graph does not imply known mechanisms. General SCMs may have dependent disturbances; identification and fitting require explicit assumptions.</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a:p xmlns:a="http://schemas.openxmlformats.org/drawingml/2006/main">
            <a:r>
              <a:t>Compressor analogy introduced in version8: X is normalized drive-command deviation, M normalized shaft-speed deviation, and Y normalized pressure-rise deviation. Other conditions are held fixed. The supplied graph is a simplified teaching chain with linear, zero-disturbance illustrative rules, not validated compressor dynamics. Negative teaching values mean below-reference deviations, not negative physical RPM or absolute pressure. Measured historical experiments later are synthetic systems. The real compressor can have additional direct paths, nonlinearities, operating limits and confounding, which this teaching model does not establish.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do(M=m) fixes M independently of its usual parents and replaces M=fM(X,UM) with M=m. X→M is removed for this experiment, while M→Y remains. Row X=x,M=m,Y=y supplies a natural Y label with measured parent m, but is not a natural M=fM(X) label. Under do(X=x), both M and Y remain naturally generated and eligible under the stated retention/noise assumptions. The implementation excludes the intervened head and uses observed parents for eligible training. Candidate simulation propagates ensemble-mean parents. Historical acquisition-study evaluation instead predicts each mechanism from observed parents; the toy composed target forecast and delivery studies have different evaluation semantics.</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a:p xmlns:a="http://schemas.openxmlformats.org/drawingml/2006/main">
            <a:r>
              <a:t>Version8 uses the same simplified compressor chain as slide2. Internal intervention assumes an approved independent test-rig controller can hold shaft speed, bypassing the usual drive-command mechanism. It is a legal action of this illustrative simulator/test rig, not a claim that arbitrary internal compressor quantities can be clamped. Unit1 means a normalized above-reference speed. The incoming X-to-M edge is absent during the clamp. M-to-Y remains. Numbers and eligibility rules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 representation example, not measured sample efficiency. Same discrete setup as the next slide: ten independent five-valued inputs, nine two-parent deterministic five-valued mechanisms in a binary reduction tree, all relevant variables observed. Each local table maps the two direct parent values to its child. Nine local maps compose to predict the final Y. Each local map has5^2=25input rows,225total. Joint lookup has one row per complete ten-input vector,5^10=9,765,625rows. Displayed outputs m1... and y1... are placeholders, not experimental observations. Learning all local entries requires every parent setting accessible with the child mechanism intact. Intermediate variables must be observed. A noncausal regressor need not enumerate this grid. Actual ACE learners fit functions (neural mechanisms in the historical results), not literal local lookup tables.</a:t>
            </a:r>
          </a:p>
          <a:p xmlns:a="http://schemas.openxmlformats.org/drawingml/2006/main">
            <a:r>
              <a:t>Sources</a:t>
            </a:r>
          </a:p>
          <a:p xmlns:a="http://schemas.openxmlformats.org/drawingml/2006/main">
            <a:r>
              <a:t>/Users/pat/code/ACE/presentations/ACE_theory_and_evidence/SCM_free_grid_comparison.json</a:t>
            </a:r>
          </a:p>
          <a:p xmlns:a="http://schemas.openxmlformats.org/drawingml/2006/main">
            <a:r>
              <a:t>/Users/pat/code/ACE/docs/development/guidance/ace_theoretical_ideation_2026-10-08.md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 representation-size illustration, not an ACE benchmark. Define a deterministic discrete SCM with10independently controllable five-valued input nodes and9two-parent mechanism nodes arranged as a binary reduction tree. Every endogenous output also has5values. A naive associative lookup table for the final response over the full joint input grid requires5^10=9,765,625entries. With the graph supplied, nine local mechanism tables require9*5^2=225entries, a43,402.78fold representation-count difference. This is not a measured intervention-count reduction. Learning local tables assumes each required parent configuration is accessible with the child mechanism intact and allvariablesobserved; without internal interventions, reachability can fail. Sharedparentsettings may reveal several labels. Noncausal regressors can exploit smoothness/sparsity and need not enumerate a grid; the comparator is specifically exhaustive lookup, not allassociativelearning. No empirical superiority over this new baseline has been measured. Current PEV scores candidates by descendant ensemble covariance reduction; details retained in the worked calculation.</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a:p xmlns:a="http://schemas.openxmlformats.org/drawingml/2006/main">
            <a:r>
              <a:t>Uniform random sampling baseline: independently draw one of N=5^10 joint configurations, with replacement and no SCM. Expected distinct fraction after n draws is 1−(1−1/N)^n. The smallest n for95% expected coverage is29,255,197. This is expected grid coverage, not a95% probability of complete coverage or a prediction-error target. The exhaustive/local entry ratio is43,402.78; do not present the random/local ratio as experimental intervention savings. Local access and determinism assumptions stated above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Implemented paths are distinguished. The lower SCM uncertainty/intervention/environment loop summarizes the measured PEV acquisition procedure. The upper LLM policy is a separate implemented historical path, not the source of the plotted PEV gains and not demonstrated superior by this slide. ace_experiments.py:HuggingFacePolicy loads a pretrained causal language model; supervised_pretrain_llm teaches teacher-generated legal intervention commands using graph/node losses; dpo_loss_llm increases preference for the winner over loser relative to a reference policy. Candidate scores include lookahead improvement and configured bonuses/scaffolding. Historical default lookahead can query the environment for candidate scoring; all such queries must be charged. --lookahead_on_student instead simulates from current learned mechanisms. This conceptual connection does not assert that the historical DPO learner used PEV scoring, that the two paths have been experimentally integrated, or that LLM training guarantees good intervention selection. The diagram proposes the interface between the LLM candidate channel and an SCM scorer while showing the numerical loop separately. The recent language mechanism-proposal screen is a different interface and had six invalid proposals; it does not qualify the LLM policy. Inputs to the policy include the SCM state, errors/history and legal command syntax. No new training was run.</a:t>
            </a:r>
          </a:p>
          <a:p xmlns:a="http://schemas.openxmlformats.org/drawingml/2006/main">
            <a:r>
              <a:t>Sources</a:t>
            </a:r>
          </a:p>
          <a:p xmlns:a="http://schemas.openxmlformats.org/drawingml/2006/main">
            <a:r>
              <a:t>/Users/pat/code/ACE/ace_experiments.py (HuggingFacePolicy, supervised_pretrain_llm, dpo_loss_llm and winner/loser updates)</a:t>
            </a:r>
          </a:p>
          <a:p xmlns:a="http://schemas.openxmlformats.org/drawingml/2006/main">
            <a:r>
              <a:t>/Users/pat/code/ACE/scripts/research/persistent_scm.py:campaign</a:t>
            </a:r>
          </a:p>
          <a:p xmlns:a="http://schemas.openxmlformats.org/drawingml/2006/main">
            <a:r>
              <a:t>/Users/pat/code/ACE/baselines.py:PropagatedVariancePolicy</a:t>
            </a:r>
          </a:p>
          <a:p xmlns:a="http://schemas.openxmlformats.org/drawingml/2006/main">
            <a:r>
              <a:t>/Users/pat/code/ACE/docs/development/guidance/ace_foundation_cycle_closeout_2026-10-09.md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configuration only. Three linear ensemble members: M slopes1,2,3, Y slopes2,3,4; ensemble means2X and3M. Candidates ordered X−1,X0,X1,M−1,M0,M1. Reference parent values−1,0,1. Population covariance denominator3, residual noise proxy1/20, deterministic mean-propagated parent contexts, no jitter or epsilon exploration. Preintervention observation history empty for this hand-constructed initial state. One response remaining. Oracle truth hidden from score: M=2.5X,Y=3M. Production historical confirmation uses neural heads and different grids/batches. All numbers are generated by explain_ace_mechanics.py with exact rational arithmetic.</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a:p xmlns:a="http://schemas.openxmlformats.org/drawingml/2006/main">
            <a:r>
              <a:t>/Users/pat/code/ACE/scripts/research/explain_ace_mechanics.py</a:t>
            </a:r>
          </a:p>
          <a:p xmlns:a="http://schemas.openxmlformats.org/drawingml/2006/main">
            <a:r>
              <a:t>Version8 physical reading: X drive-command deviation, M shaft-speed deviation, Y pressure-rise deviation. Normalized toy values, zero disturbances. These exact arithmetic results are a teaching example, not measured compressor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score for M context±1 is160/387≈0.413436693. Y context±2 is640/1467≈0.436264485. Their sum is≈0.849701178. Under do(M=±1) the clamped M mechanism contributes zero, leaving only Y≈0.413436693. Zero contexts give zero covariance and zero score. X+1 tiesX−1; first-maximum tie rule choosesX−1. At that action the ensemble mean predictsM−2,Y−6. No oracle outcome is queried during scoring. The Y slope ensemble is evaluated at the simulated mean parent; it is not a member-paired composed posterior.</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a:p xmlns:a="http://schemas.openxmlformats.org/drawingml/2006/main">
            <a:r>
              <a:t>Version8 physical reading: X drive-command deviation, M shaft-speed deviation, Y pressure-rise deviation. Normalized toy values, zero disturbances. These exact arithmetic results are a teaching example, not measured compressor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oracle row isX−1,M−2.5,Y−7.5. Eligible pairs M:(−1,−2.5),Y:(−2.5,−7.5); clamped X supplies no natural root-distribution update. For transparent arithmetic use one gradient step on half squared error, with etaM1/2 and etaY2/25. M slopes1,2,3 become1.75,2.25,2.75. Y slopes2,3,4 become2.5,3,3.5. At X−1, updated mean predictsM−2.25 andY−6.75. Signed final error drops from1.5 to.75 on this same illustrative row. This is not held-out improvement or production training: production uses neural heads, Adam and member-specific masks. Response budget becomes0. Do not associate this made-up row with the real archived trace.</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a:p xmlns:a="http://schemas.openxmlformats.org/drawingml/2006/main">
            <a:r>
              <a:t>Version8 physical reading: X drive-command deviation, M shaft-speed deviation, Y pressure-rise deviation. Normalized toy values, zero disturbances. These exact arithmetic results are a teaching example, not measured compressor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archived DAG for smallest seed5000, not chosen for favorable performance. Edges point parent to child. HighlightX7 first chosen intervention and its descendant edges. FirstactiondoX7=3.857086181640625 buys50responses. Eachrow supplieseligible natural-mechanism labels using observedparents. Fullcampaign32interventionbatches1600responses plus400observationalresponses. All20DAGs in thecomparison shareonefive-layergenerator, not20independentgraphfamilies. Rawrows/candidatescores notretained for thisaction.</a:t>
            </a:r>
          </a:p>
          <a:p xmlns:a="http://schemas.openxmlformats.org/drawingml/2006/main">
            <a:r>
              <a:t/>
            </a:r>
          </a:p>
          <a:p xmlns:a="http://schemas.openxmlformats.org/drawingml/2006/main">
            <a:r>
              <a:t>Sources</a:t>
            </a:r>
          </a:p>
          <a:p xmlns:a="http://schemas.openxmlformats.org/drawingml/2006/main">
            <a:r>
              <a:t>results/research_pev_shift30_mean_confirmation/shift30/pev/seed_5000/system.json</a:t>
            </a:r>
          </a:p>
          <a:p xmlns:a="http://schemas.openxmlformats.org/drawingml/2006/main">
            <a:r>
              <a:t>results/research_pev_shift30_mean_confirmation/shift30/pev/seed_5000/trajectory.csv</a:t>
            </a:r>
          </a:p>
          <a:p xmlns:a="http://schemas.openxmlformats.org/drawingml/2006/main">
            <a:r>
              <a:t>/Users/pat/code/ACE/results/research_pev_shift30_mean_confirmation/README.md</a:t>
            </a:r>
          </a:p>
          <a:p xmlns:a="http://schemas.openxmlformats.org/drawingml/2006/main">
            <a:r>
              <a:t>/Users/pat/code/ACE/presentations/ACE_theory_and_evidence/recorded_curves_2026-10-09.json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All20shift30systemsseeds5000–5019. Arithmeticmean noise-free feasible nonroot mechanism MSE, measured-parent prediction. Full32checkpoints shown atleft; samecurves4–32zoomatright. FinalACE.0154302049,random.0438980071,64.85%lowerratioofmeans,19/20pairedwins. Secondarycontrastp.00750. Prespecifiedcoveragecontrastfails p.05108 andnaivevariancescoringunresolved p.62176. Earlyrandomadvantage remains visible. No Bresults,confidenceband,newfit ornewhypothesis.</a:t>
            </a:r>
          </a:p>
          <a:p xmlns:a="http://schemas.openxmlformats.org/drawingml/2006/main">
            <a:r>
              <a:t/>
            </a:r>
          </a:p>
          <a:p xmlns:a="http://schemas.openxmlformats.org/drawingml/2006/main">
            <a:r>
              <a:t>Sources</a:t>
            </a:r>
          </a:p>
          <a:p xmlns:a="http://schemas.openxmlformats.org/drawingml/2006/main">
            <a:r>
              <a:t>/Users/pat/code/ACE/results/research_pev_shift30_mean_confirmation/README.md</a:t>
            </a:r>
          </a:p>
          <a:p xmlns:a="http://schemas.openxmlformats.org/drawingml/2006/main">
            <a:r>
              <a:t>/Users/pat/code/ACE/presentations/ACE_theory_and_evidence/recorded_curves_2026-10-09.json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bars use counts of individual queries: measured PEV500 intervention responses at first mean-curve crossing versus random1400, and analytic29255197uniform random joint-grid draws for95%expected coverage. The third bar has a DIFFERENT endpoint/system/distribution, is not an empirical third arm, and cannot support a ratio of ACE savings relative to grid search. The shared linear axis deliberately leaves the measured bars nearly invisible; exact counts remain in data labels and the measured comparison is restated below. Measured values are retrospective first crossings of group mean curves across20synthetic30-node systems, MSEthreshold0.043898007078491626,50interventionresponses perbatch. Including observations, prefixes620and1760; both full campaigns ran2000totalresponses. The random arm is NonLeafRandomPolicy: uniform choice among graph-eligible nonleaf targets and random.uniform values, with the same SCM ensemble learner as PEV. It is not a deterministic direct policy; PEV is the direct SCM-scored policy. Third bar: ten five-valued inputs,9765625jointentries,uniform independent joint draws withreplacement. One queried configuration yields one deterministic lookup response in this analytic illustration. Other associative learners need not enumerate a grid. No new experiment has been run.</a:t>
            </a:r>
          </a:p>
          <a:p xmlns:a="http://schemas.openxmlformats.org/drawingml/2006/main">
            <a:r>
              <a:t>Sources</a:t>
            </a:r>
          </a:p>
          <a:p xmlns:a="http://schemas.openxmlformats.org/drawingml/2006/main">
            <a:r>
              <a:t>/Users/pat/code/ACE/presentations/ACE_theory_and_evidence/recorded_curves_2026-10-09.json</a:t>
            </a:r>
          </a:p>
          <a:p xmlns:a="http://schemas.openxmlformats.org/drawingml/2006/main">
            <a:r>
              <a:t>/Users/pat/code/ACE/presentations/ACE_theory_and_evidence/SCM_free_grid_comparison.json</a:t>
            </a:r>
          </a:p>
          <a:p xmlns:a="http://schemas.openxmlformats.org/drawingml/2006/main">
            <a:r>
              <a:t>/Users/pat/code/ACE/scripts/research/persistent_scm.py:campaign</a:t>
            </a:r>
          </a:p>
          <a:p xmlns:a="http://schemas.openxmlformats.org/drawingml/2006/main">
            <a:r>
              <a:t>/Users/pat/code/ACE/baselines.py:RandomPolicy,NonLeafRandomPolicy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deb8623b9f488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84e3985100d453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51ae9634c248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4ca10bdf8d42c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8af0cd405c428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052d4adae054db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07BE2F-EB44-45BE-A450-0E5C47BC706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071255-1744-4ED2-A669-12356283AB2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19384D-28C0-40F0-B60C-802CC3D5BF0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6EF0BB-AA83-4C03-9972-7D4F2015E2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700167-752E-4C01-92ED-DA6273CDFA9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1D2ECAC-E4A2-4161-9FD0-BAA6B23A377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5359DF-C0EB-4159-ACA8-2D913F35DD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5385D51-E29E-4631-9047-7F0B5BB72EF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DA069B-2752-4470-BA2F-D0F7A83C93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AA4D67C-67BE-41F2-A6C0-71269FFBDE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38f9b3415e4a10" /><Relationship Type="http://schemas.openxmlformats.org/officeDocument/2006/relationships/slideLayout" Target="/ppt/slideLayouts/slideLayout1.xml" Id="R498dabed596e401c" /><Relationship Type="http://schemas.openxmlformats.org/officeDocument/2006/relationships/slideLayout" Target="/ppt/slideLayouts/slideLayout2.xml" Id="Rc4f52478cd34401b" /><Relationship Type="http://schemas.openxmlformats.org/officeDocument/2006/relationships/slideLayout" Target="/ppt/slideLayouts/slideLayout3.xml" Id="R951b8b203e4c400d" /><Relationship Type="http://schemas.openxmlformats.org/officeDocument/2006/relationships/slideLayout" Target="/ppt/slideLayouts/slideLayout4.xml" Id="R5aba82ac4c5e480b" /><Relationship Type="http://schemas.openxmlformats.org/officeDocument/2006/relationships/slideLayout" Target="/ppt/slideLayouts/slideLayout5.xml" Id="R2ef18369557845e6" /><Relationship Type="http://schemas.openxmlformats.org/officeDocument/2006/relationships/slideLayout" Target="/ppt/slideLayouts/slideLayout6.xml" Id="R81c23ca209664f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8dabed596e401c"/>
    <p:sldLayoutId xmlns:r="http://schemas.openxmlformats.org/officeDocument/2006/relationships" id="2147483650" r:id="Rc4f52478cd34401b"/>
    <p:sldLayoutId xmlns:r="http://schemas.openxmlformats.org/officeDocument/2006/relationships" id="2147483651" r:id="R951b8b203e4c400d"/>
    <p:sldLayoutId xmlns:r="http://schemas.openxmlformats.org/officeDocument/2006/relationships" id="2147483652" r:id="R5aba82ac4c5e480b"/>
    <p:sldLayoutId xmlns:r="http://schemas.openxmlformats.org/officeDocument/2006/relationships" id="2147483653" r:id="R2ef18369557845e6"/>
    <p:sldLayoutId xmlns:r="http://schemas.openxmlformats.org/officeDocument/2006/relationships" id="2147483654" r:id="R81c23ca209664f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ed5760966a4362" /><Relationship Type="http://schemas.openxmlformats.org/officeDocument/2006/relationships/image" Target="/ppt/media/image.png" Id="R44bb03348dd946af" /><Relationship Type="http://schemas.openxmlformats.org/officeDocument/2006/relationships/notesSlide" Target="/ppt/notesSlides/notesSlide1.xml" Id="R4f98681b70ae4f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b8441f36f544e9" /><Relationship Type="http://schemas.openxmlformats.org/officeDocument/2006/relationships/notesSlide" Target="/ppt/notesSlides/notesSlide2.xml" Id="R5a0aa9e65d6445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fc925a5c3824347" /><Relationship Type="http://schemas.openxmlformats.org/officeDocument/2006/relationships/notesSlide" Target="/ppt/notesSlides/notesSlide3.xml" Id="Rac283920089d487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997bf1d73a149fc" /><Relationship Type="http://schemas.openxmlformats.org/officeDocument/2006/relationships/notesSlide" Target="/ppt/notesSlides/notesSlide4.xml" Id="Ra7dc29187a0e4d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955c79286fb400d" /><Relationship Type="http://schemas.openxmlformats.org/officeDocument/2006/relationships/notesSlide" Target="/ppt/notesSlides/notesSlide5.xml" Id="Rf27fcffe9a2d47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3cce0aaa84c40d7" /><Relationship Type="http://schemas.openxmlformats.org/officeDocument/2006/relationships/notesSlide" Target="/ppt/notesSlides/notesSlide6.xml" Id="Rf68f1876330848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5ce42624614705" /><Relationship Type="http://schemas.openxmlformats.org/officeDocument/2006/relationships/notesSlide" Target="/ppt/notesSlides/notesSlide7.xml" Id="Rb91b7b1e2310466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fbe26b2f6654760" /><Relationship Type="http://schemas.openxmlformats.org/officeDocument/2006/relationships/notesSlide" Target="/ppt/notesSlides/notesSlide8.xml" Id="R00cbfac8167b40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d5034fa97c144b1" /><Relationship Type="http://schemas.openxmlformats.org/officeDocument/2006/relationships/notesSlide" Target="/ppt/notesSlides/notesSlide9.xml" Id="R2a9d624e836d43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1647d1439ce4d89" /><Relationship Type="http://schemas.openxmlformats.org/officeDocument/2006/relationships/notesSlide" Target="/ppt/notesSlides/notesSlide10.xml" Id="R2b583e1d5d7b4d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48d25f7a5c14128" /><Relationship Type="http://schemas.openxmlformats.org/officeDocument/2006/relationships/chart" Target="/ppt/slides/charts/chart1.xml" Id="Rae86db918b3f4e66" /><Relationship Type="http://schemas.openxmlformats.org/officeDocument/2006/relationships/chart" Target="/ppt/slides/charts/chart2.xml" Id="Ree3d74efa7654dbe" /><Relationship Type="http://schemas.openxmlformats.org/officeDocument/2006/relationships/notesSlide" Target="/ppt/notesSlides/notesSlide11.xml" Id="R3e844d7856bd44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e9fe1dafa184670" /><Relationship Type="http://schemas.openxmlformats.org/officeDocument/2006/relationships/chart" Target="/ppt/slides/charts/chart3.xml" Id="R6f90919995434c78" /><Relationship Type="http://schemas.openxmlformats.org/officeDocument/2006/relationships/notesSlide" Target="/ppt/notesSlides/notesSlide12.xml" Id="R7ecf2bf14f9f47c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Random</c:v>
          </c:tx>
          <c:spPr>
            <a:ln xmlns:a="http://schemas.openxmlformats.org/drawingml/2006/main" w="28575">
              <a:solidFill>
                <a:srgbClr val="B95435"/>
              </a:solidFill>
            </a:ln>
          </c:spPr>
          <c:marker>
            <c:symbol val="none"/>
          </c:marker>
          <c:cat>
            <c:numRef>
              <c:f>'Chart Data'!$A$2:$A$33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cat>
          <c:val>
            <c:numRef>
              <c:f>'Chart Data'!$B$2:$B$33</c:f>
              <c:numCache>
                <c:formatCode>0.0</c:formatCode>
                <c:ptCount val="32"/>
                <c:pt idx="0">
                  <c:v>2.2732068463</c:v>
                </c:pt>
                <c:pt idx="1">
                  <c:v>0.471886686419</c:v>
                </c:pt>
                <c:pt idx="2">
                  <c:v>0.10972867089</c:v>
                </c:pt>
                <c:pt idx="3">
                  <c:v>0.0669085623209</c:v>
                </c:pt>
                <c:pt idx="4">
                  <c:v>0.06569636005</c:v>
                </c:pt>
                <c:pt idx="5">
                  <c:v>0.0629286340252</c:v>
                </c:pt>
                <c:pt idx="6">
                  <c:v>0.0653752201358</c:v>
                </c:pt>
                <c:pt idx="7">
                  <c:v>0.0649233507722</c:v>
                </c:pt>
                <c:pt idx="8">
                  <c:v>0.0582163593845</c:v>
                </c:pt>
                <c:pt idx="9">
                  <c:v>0.0646492747348</c:v>
                </c:pt>
                <c:pt idx="10">
                  <c:v>0.0720560292501</c:v>
                </c:pt>
                <c:pt idx="11">
                  <c:v>0.0753091231711</c:v>
                </c:pt>
                <c:pt idx="12">
                  <c:v>0.0727468288016</c:v>
                </c:pt>
                <c:pt idx="13">
                  <c:v>0.0723713423048</c:v>
                </c:pt>
                <c:pt idx="14">
                  <c:v>0.0724149556073</c:v>
                </c:pt>
                <c:pt idx="15">
                  <c:v>0.0717998610912</c:v>
                </c:pt>
                <c:pt idx="16">
                  <c:v>0.0686765256895</c:v>
                </c:pt>
                <c:pt idx="17">
                  <c:v>0.0587051144801</c:v>
                </c:pt>
                <c:pt idx="18">
                  <c:v>0.0571742685284</c:v>
                </c:pt>
                <c:pt idx="19">
                  <c:v>0.0544004405493</c:v>
                </c:pt>
                <c:pt idx="20">
                  <c:v>0.0542922261814</c:v>
                </c:pt>
                <c:pt idx="21">
                  <c:v>0.0553085399088</c:v>
                </c:pt>
                <c:pt idx="22">
                  <c:v>0.0501537249925</c:v>
                </c:pt>
                <c:pt idx="23">
                  <c:v>0.0497737358661</c:v>
                </c:pt>
                <c:pt idx="24">
                  <c:v>0.0496752072739</c:v>
                </c:pt>
                <c:pt idx="25">
                  <c:v>0.0487805661038</c:v>
                </c:pt>
                <c:pt idx="26">
                  <c:v>0.04543041126</c:v>
                </c:pt>
                <c:pt idx="27">
                  <c:v>0.0421601388253</c:v>
                </c:pt>
                <c:pt idx="28">
                  <c:v>0.0431491192364</c:v>
                </c:pt>
                <c:pt idx="29">
                  <c:v>0.0432550288176</c:v>
                </c:pt>
                <c:pt idx="30">
                  <c:v>0.0455449700639</c:v>
                </c:pt>
                <c:pt idx="31">
                  <c:v>0.0438980070785</c:v>
                </c:pt>
              </c:numCache>
            </c:numRef>
          </c:val>
          <c:smooth val="0"/>
        </c:ser>
        <c:ser>
          <c:idx val="1"/>
          <c:order val="1"/>
          <c:tx>
            <c:v>ACE / PEV</c:v>
          </c:tx>
          <c:spPr>
            <a:ln xmlns:a="http://schemas.openxmlformats.org/drawingml/2006/main" w="28575">
              <a:solidFill>
                <a:srgbClr val="087F83"/>
              </a:solidFill>
            </a:ln>
          </c:spPr>
          <c:marker>
            <c:symbol val="none"/>
          </c:marker>
          <c:cat>
            <c:numRef>
              <c:f>'Chart Data'!$C$2:$C$33</c:f>
              <c:numCache>
                <c:formatCode>General</c:formatCode>
                <c:ptCount val="32"/>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numCache>
            </c:numRef>
          </c:cat>
          <c:val>
            <c:numRef>
              <c:f>'Chart Data'!$D$2:$D$33</c:f>
              <c:numCache>
                <c:formatCode>0.0</c:formatCode>
                <c:ptCount val="32"/>
                <c:pt idx="0">
                  <c:v>6.1393211968</c:v>
                </c:pt>
                <c:pt idx="1">
                  <c:v>1.42892976507</c:v>
                </c:pt>
                <c:pt idx="2">
                  <c:v>0.371549300366</c:v>
                </c:pt>
                <c:pt idx="3">
                  <c:v>0.118696252316</c:v>
                </c:pt>
                <c:pt idx="4">
                  <c:v>0.0891531731772</c:v>
                </c:pt>
                <c:pt idx="5">
                  <c:v>0.0737694362645</c:v>
                </c:pt>
                <c:pt idx="6">
                  <c:v>0.0530689909715</c:v>
                </c:pt>
                <c:pt idx="7">
                  <c:v>0.0491279692323</c:v>
                </c:pt>
                <c:pt idx="8">
                  <c:v>0.047785933589</c:v>
                </c:pt>
                <c:pt idx="9">
                  <c:v>0.0400792712592</c:v>
                </c:pt>
                <c:pt idx="10">
                  <c:v>0.0403974543664</c:v>
                </c:pt>
                <c:pt idx="11">
                  <c:v>0.0382029949284</c:v>
                </c:pt>
                <c:pt idx="12">
                  <c:v>0.030342672804</c:v>
                </c:pt>
                <c:pt idx="13">
                  <c:v>0.0291690604685</c:v>
                </c:pt>
                <c:pt idx="14">
                  <c:v>0.0277269143791</c:v>
                </c:pt>
                <c:pt idx="15">
                  <c:v>0.0251735080168</c:v>
                </c:pt>
                <c:pt idx="16">
                  <c:v>0.024291315978</c:v>
                </c:pt>
                <c:pt idx="17">
                  <c:v>0.0238577286833</c:v>
                </c:pt>
                <c:pt idx="18">
                  <c:v>0.0224386316811</c:v>
                </c:pt>
                <c:pt idx="19">
                  <c:v>0.0224865435665</c:v>
                </c:pt>
                <c:pt idx="20">
                  <c:v>0.0218317552663</c:v>
                </c:pt>
                <c:pt idx="21">
                  <c:v>0.0204009176553</c:v>
                </c:pt>
                <c:pt idx="22">
                  <c:v>0.0216182428369</c:v>
                </c:pt>
                <c:pt idx="23">
                  <c:v>0.020389394095</c:v>
                </c:pt>
                <c:pt idx="24">
                  <c:v>0.0192289545853</c:v>
                </c:pt>
                <c:pt idx="25">
                  <c:v>0.0190304754876</c:v>
                </c:pt>
                <c:pt idx="26">
                  <c:v>0.0181310143643</c:v>
                </c:pt>
                <c:pt idx="27">
                  <c:v>0.0171716089184</c:v>
                </c:pt>
                <c:pt idx="28">
                  <c:v>0.0167776460259</c:v>
                </c:pt>
                <c:pt idx="29">
                  <c:v>0.0162150930691</c:v>
                </c:pt>
                <c:pt idx="30">
                  <c:v>0.0154987929315</c:v>
                </c:pt>
                <c:pt idx="31">
                  <c:v>0.0154302049069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Intervention batches (50 responses each)</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72768"/>
      </c:catAx>
      <c:valAx>
        <c:axId val="48672768"/>
        <c:scaling>
          <c:orientation val="minMax"/>
          <c:max val="6.5"/>
          <c:min val="0"/>
        </c:scaling>
        <c:delete val="0"/>
        <c:axPos val="l"/>
        <c:majorGridlines>
          <c:spPr>
            <a:ln xmlns:a="http://schemas.openxmlformats.org/drawingml/2006/main" w="9525">
              <a:solidFill>
                <a:srgbClr val="D3DDD9"/>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Helvetica Neue"/>
                <a:ea typeface="Helvetica Neue"/>
                <a:cs typeface="Helvetica Neue"/>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Random</c:v>
          </c:tx>
          <c:spPr>
            <a:ln xmlns:a="http://schemas.openxmlformats.org/drawingml/2006/main" w="28575">
              <a:solidFill>
                <a:srgbClr val="B95435"/>
              </a:solidFill>
            </a:ln>
          </c:spPr>
          <c:marker>
            <c:symbol val="none"/>
          </c:marker>
          <c:cat>
            <c:numRef>
              <c:f>'Chart Data'!$A$2:$A$30</c:f>
              <c:numCache>
                <c:formatCode>General</c:formatCode>
                <c:ptCount val="29"/>
                <c:pt idx="0">
                  <c:v>4</c:v>
                </c:pt>
                <c:pt idx="1">
                  <c:v>5</c:v>
                </c:pt>
                <c:pt idx="2">
                  <c:v>6</c:v>
                </c:pt>
                <c:pt idx="3">
                  <c:v>7</c:v>
                </c:pt>
                <c:pt idx="4">
                  <c:v>8</c:v>
                </c:pt>
                <c:pt idx="5">
                  <c:v>9</c:v>
                </c:pt>
                <c:pt idx="6">
                  <c:v>10</c:v>
                </c:pt>
                <c:pt idx="7">
                  <c:v>11</c:v>
                </c:pt>
                <c:pt idx="8">
                  <c:v>12</c:v>
                </c:pt>
                <c:pt idx="9">
                  <c:v>13</c:v>
                </c:pt>
                <c:pt idx="10">
                  <c:v>14</c:v>
                </c:pt>
                <c:pt idx="11">
                  <c:v>15</c:v>
                </c:pt>
                <c:pt idx="12">
                  <c:v>16</c:v>
                </c:pt>
                <c:pt idx="13">
                  <c:v>17</c:v>
                </c:pt>
                <c:pt idx="14">
                  <c:v>18</c:v>
                </c:pt>
                <c:pt idx="15">
                  <c:v>19</c:v>
                </c:pt>
                <c:pt idx="16">
                  <c:v>20</c:v>
                </c:pt>
                <c:pt idx="17">
                  <c:v>21</c:v>
                </c:pt>
                <c:pt idx="18">
                  <c:v>22</c:v>
                </c:pt>
                <c:pt idx="19">
                  <c:v>23</c:v>
                </c:pt>
                <c:pt idx="20">
                  <c:v>24</c:v>
                </c:pt>
                <c:pt idx="21">
                  <c:v>25</c:v>
                </c:pt>
                <c:pt idx="22">
                  <c:v>26</c:v>
                </c:pt>
                <c:pt idx="23">
                  <c:v>27</c:v>
                </c:pt>
                <c:pt idx="24">
                  <c:v>28</c:v>
                </c:pt>
                <c:pt idx="25">
                  <c:v>29</c:v>
                </c:pt>
                <c:pt idx="26">
                  <c:v>30</c:v>
                </c:pt>
                <c:pt idx="27">
                  <c:v>31</c:v>
                </c:pt>
                <c:pt idx="28">
                  <c:v>32</c:v>
                </c:pt>
              </c:numCache>
            </c:numRef>
          </c:cat>
          <c:val>
            <c:numRef>
              <c:f>'Chart Data'!$B$2:$B$30</c:f>
              <c:numCache>
                <c:formatCode>0.00</c:formatCode>
                <c:ptCount val="29"/>
                <c:pt idx="0">
                  <c:v>0.0669085623209</c:v>
                </c:pt>
                <c:pt idx="1">
                  <c:v>0.06569636005</c:v>
                </c:pt>
                <c:pt idx="2">
                  <c:v>0.0629286340252</c:v>
                </c:pt>
                <c:pt idx="3">
                  <c:v>0.0653752201358</c:v>
                </c:pt>
                <c:pt idx="4">
                  <c:v>0.0649233507722</c:v>
                </c:pt>
                <c:pt idx="5">
                  <c:v>0.0582163593845</c:v>
                </c:pt>
                <c:pt idx="6">
                  <c:v>0.0646492747348</c:v>
                </c:pt>
                <c:pt idx="7">
                  <c:v>0.0720560292501</c:v>
                </c:pt>
                <c:pt idx="8">
                  <c:v>0.0753091231711</c:v>
                </c:pt>
                <c:pt idx="9">
                  <c:v>0.0727468288016</c:v>
                </c:pt>
                <c:pt idx="10">
                  <c:v>0.0723713423048</c:v>
                </c:pt>
                <c:pt idx="11">
                  <c:v>0.0724149556073</c:v>
                </c:pt>
                <c:pt idx="12">
                  <c:v>0.0717998610912</c:v>
                </c:pt>
                <c:pt idx="13">
                  <c:v>0.0686765256895</c:v>
                </c:pt>
                <c:pt idx="14">
                  <c:v>0.0587051144801</c:v>
                </c:pt>
                <c:pt idx="15">
                  <c:v>0.0571742685284</c:v>
                </c:pt>
                <c:pt idx="16">
                  <c:v>0.0544004405493</c:v>
                </c:pt>
                <c:pt idx="17">
                  <c:v>0.0542922261814</c:v>
                </c:pt>
                <c:pt idx="18">
                  <c:v>0.0553085399088</c:v>
                </c:pt>
                <c:pt idx="19">
                  <c:v>0.0501537249925</c:v>
                </c:pt>
                <c:pt idx="20">
                  <c:v>0.0497737358661</c:v>
                </c:pt>
                <c:pt idx="21">
                  <c:v>0.0496752072739</c:v>
                </c:pt>
                <c:pt idx="22">
                  <c:v>0.0487805661038</c:v>
                </c:pt>
                <c:pt idx="23">
                  <c:v>0.04543041126</c:v>
                </c:pt>
                <c:pt idx="24">
                  <c:v>0.0421601388253</c:v>
                </c:pt>
                <c:pt idx="25">
                  <c:v>0.0431491192364</c:v>
                </c:pt>
                <c:pt idx="26">
                  <c:v>0.0432550288176</c:v>
                </c:pt>
                <c:pt idx="27">
                  <c:v>0.0455449700639</c:v>
                </c:pt>
                <c:pt idx="28">
                  <c:v>0.0438980070785</c:v>
                </c:pt>
              </c:numCache>
            </c:numRef>
          </c:val>
          <c:smooth val="0"/>
        </c:ser>
        <c:ser>
          <c:idx val="1"/>
          <c:order val="1"/>
          <c:tx>
            <c:v>ACE / PEV</c:v>
          </c:tx>
          <c:spPr>
            <a:ln xmlns:a="http://schemas.openxmlformats.org/drawingml/2006/main" w="28575">
              <a:solidFill>
                <a:srgbClr val="087F83"/>
              </a:solidFill>
            </a:ln>
          </c:spPr>
          <c:marker>
            <c:symbol val="none"/>
          </c:marker>
          <c:cat>
            <c:numRef>
              <c:f>'Chart Data'!$C$2:$C$30</c:f>
              <c:numCache>
                <c:formatCode>General</c:formatCode>
                <c:ptCount val="29"/>
                <c:pt idx="0">
                  <c:v>4</c:v>
                </c:pt>
                <c:pt idx="1">
                  <c:v>5</c:v>
                </c:pt>
                <c:pt idx="2">
                  <c:v>6</c:v>
                </c:pt>
                <c:pt idx="3">
                  <c:v>7</c:v>
                </c:pt>
                <c:pt idx="4">
                  <c:v>8</c:v>
                </c:pt>
                <c:pt idx="5">
                  <c:v>9</c:v>
                </c:pt>
                <c:pt idx="6">
                  <c:v>10</c:v>
                </c:pt>
                <c:pt idx="7">
                  <c:v>11</c:v>
                </c:pt>
                <c:pt idx="8">
                  <c:v>12</c:v>
                </c:pt>
                <c:pt idx="9">
                  <c:v>13</c:v>
                </c:pt>
                <c:pt idx="10">
                  <c:v>14</c:v>
                </c:pt>
                <c:pt idx="11">
                  <c:v>15</c:v>
                </c:pt>
                <c:pt idx="12">
                  <c:v>16</c:v>
                </c:pt>
                <c:pt idx="13">
                  <c:v>17</c:v>
                </c:pt>
                <c:pt idx="14">
                  <c:v>18</c:v>
                </c:pt>
                <c:pt idx="15">
                  <c:v>19</c:v>
                </c:pt>
                <c:pt idx="16">
                  <c:v>20</c:v>
                </c:pt>
                <c:pt idx="17">
                  <c:v>21</c:v>
                </c:pt>
                <c:pt idx="18">
                  <c:v>22</c:v>
                </c:pt>
                <c:pt idx="19">
                  <c:v>23</c:v>
                </c:pt>
                <c:pt idx="20">
                  <c:v>24</c:v>
                </c:pt>
                <c:pt idx="21">
                  <c:v>25</c:v>
                </c:pt>
                <c:pt idx="22">
                  <c:v>26</c:v>
                </c:pt>
                <c:pt idx="23">
                  <c:v>27</c:v>
                </c:pt>
                <c:pt idx="24">
                  <c:v>28</c:v>
                </c:pt>
                <c:pt idx="25">
                  <c:v>29</c:v>
                </c:pt>
                <c:pt idx="26">
                  <c:v>30</c:v>
                </c:pt>
                <c:pt idx="27">
                  <c:v>31</c:v>
                </c:pt>
                <c:pt idx="28">
                  <c:v>32</c:v>
                </c:pt>
              </c:numCache>
            </c:numRef>
          </c:cat>
          <c:val>
            <c:numRef>
              <c:f>'Chart Data'!$D$2:$D$30</c:f>
              <c:numCache>
                <c:formatCode>0.00</c:formatCode>
                <c:ptCount val="29"/>
                <c:pt idx="0">
                  <c:v>0.118696252316</c:v>
                </c:pt>
                <c:pt idx="1">
                  <c:v>0.0891531731772</c:v>
                </c:pt>
                <c:pt idx="2">
                  <c:v>0.0737694362645</c:v>
                </c:pt>
                <c:pt idx="3">
                  <c:v>0.0530689909715</c:v>
                </c:pt>
                <c:pt idx="4">
                  <c:v>0.0491279692323</c:v>
                </c:pt>
                <c:pt idx="5">
                  <c:v>0.047785933589</c:v>
                </c:pt>
                <c:pt idx="6">
                  <c:v>0.0400792712592</c:v>
                </c:pt>
                <c:pt idx="7">
                  <c:v>0.0403974543664</c:v>
                </c:pt>
                <c:pt idx="8">
                  <c:v>0.0382029949284</c:v>
                </c:pt>
                <c:pt idx="9">
                  <c:v>0.030342672804</c:v>
                </c:pt>
                <c:pt idx="10">
                  <c:v>0.0291690604685</c:v>
                </c:pt>
                <c:pt idx="11">
                  <c:v>0.0277269143791</c:v>
                </c:pt>
                <c:pt idx="12">
                  <c:v>0.0251735080168</c:v>
                </c:pt>
                <c:pt idx="13">
                  <c:v>0.024291315978</c:v>
                </c:pt>
                <c:pt idx="14">
                  <c:v>0.0238577286833</c:v>
                </c:pt>
                <c:pt idx="15">
                  <c:v>0.0224386316811</c:v>
                </c:pt>
                <c:pt idx="16">
                  <c:v>0.0224865435665</c:v>
                </c:pt>
                <c:pt idx="17">
                  <c:v>0.0218317552663</c:v>
                </c:pt>
                <c:pt idx="18">
                  <c:v>0.0204009176553</c:v>
                </c:pt>
                <c:pt idx="19">
                  <c:v>0.0216182428369</c:v>
                </c:pt>
                <c:pt idx="20">
                  <c:v>0.020389394095</c:v>
                </c:pt>
                <c:pt idx="21">
                  <c:v>0.0192289545853</c:v>
                </c:pt>
                <c:pt idx="22">
                  <c:v>0.0190304754876</c:v>
                </c:pt>
                <c:pt idx="23">
                  <c:v>0.0181310143643</c:v>
                </c:pt>
                <c:pt idx="24">
                  <c:v>0.0171716089184</c:v>
                </c:pt>
                <c:pt idx="25">
                  <c:v>0.0167776460259</c:v>
                </c:pt>
                <c:pt idx="26">
                  <c:v>0.0162150930691</c:v>
                </c:pt>
                <c:pt idx="27">
                  <c:v>0.0154987929315</c:v>
                </c:pt>
                <c:pt idx="28">
                  <c:v>0.0154302049069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Intervention batches (50 responses each)</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Helvetica Neue"/>
                <a:ea typeface="Helvetica Neue"/>
                <a:cs typeface="Helvetica Neue"/>
              </a:defRPr>
            </a:pPr>
          </a:p>
        </c:txPr>
        <c:crossAx val="48672768"/>
      </c:catAx>
      <c:valAx>
        <c:axId val="48672768"/>
        <c:scaling>
          <c:orientation val="minMax"/>
          <c:max val="0.13"/>
          <c:min val="0"/>
        </c:scaling>
        <c:delete val="0"/>
        <c:axPos val="l"/>
        <c:majorGridlines>
          <c:spPr>
            <a:ln xmlns:a="http://schemas.openxmlformats.org/drawingml/2006/main" w="9525">
              <a:solidFill>
                <a:srgbClr val="D3DDD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Helvetica Neue"/>
                <a:ea typeface="Helvetica Neue"/>
                <a:cs typeface="Helvetica Neue"/>
              </a:defRPr>
            </a:pPr>
          </a:p>
        </c:txPr>
        <c:crossAx val="48650112"/>
        <c:crossBetween val="between"/>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Query count</c:v>
          </c:tx>
          <c:spPr>
            <a:solidFill xmlns:a="http://schemas.openxmlformats.org/drawingml/2006/main">
              <a:srgbClr val="087F83"/>
            </a:solidFill>
          </c:spPr>
          <c:dPt>
            <c:idx val="0"/>
            <c:invertIfNegative val="0"/>
            <c:spPr>
              <a:solidFill xmlns:a="http://schemas.openxmlformats.org/drawingml/2006/main">
                <a:srgbClr val="087F83"/>
              </a:solidFill>
            </c:spPr>
          </c:dPt>
          <c:dPt>
            <c:idx val="1"/>
            <c:invertIfNegative val="0"/>
            <c:spPr>
              <a:solidFill xmlns:a="http://schemas.openxmlformats.org/drawingml/2006/main">
                <a:srgbClr val="8BA5AD"/>
              </a:solidFill>
            </c:spPr>
          </c:dPt>
          <c:dPt>
            <c:idx val="2"/>
            <c:invertIfNegative val="0"/>
            <c:spPr>
              <a:solidFill xmlns:a="http://schemas.openxmlformats.org/drawingml/2006/main">
                <a:srgbClr val="B95435"/>
              </a:solidFill>
            </c:spPr>
          </c:dPt>
          <c:cat>
            <c:strRef>
              <c:f>'Chart Data'!$A$2:$A$4</c:f>
              <c:strCache>
                <c:ptCount val="3"/>
                <c:pt idx="0">
                  <c:v>SCM-scored ACE</c:v>
                </c:pt>
                <c:pt idx="1">
                  <c:v>Random + SCM</c:v>
                </c:pt>
                <c:pt idx="2">
                  <c:v>SCM-free grid</c:v>
                </c:pt>
              </c:strCache>
            </c:strRef>
          </c:cat>
          <c:val>
            <c:numRef>
              <c:f>'Chart Data'!$B$2:$B$4</c:f>
              <c:numCache>
                <c:formatCode>0,,"m"</c:formatCode>
                <c:ptCount val="3"/>
                <c:pt idx="0">
                  <c:v>500</c:v>
                </c:pt>
                <c:pt idx="1">
                  <c:v>1400</c:v>
                </c:pt>
                <c:pt idx="2">
                  <c:v>29255197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b="1">
                  <a:solidFill>
                    <a:srgbClr val="1631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DD9"/>
            </a:solidFill>
          </a:ln>
        </c:spPr>
        <c:txPr>
          <a:bodyPr xmlns:a="http://schemas.openxmlformats.org/drawingml/2006/main" anchorCtr="1"/>
          <a:lstStyle xmlns:a="http://schemas.openxmlformats.org/drawingml/2006/main"/>
          <a:p xmlns:a="http://schemas.openxmlformats.org/drawingml/2006/main">
            <a:pPr>
              <a:defRPr sz="1650">
                <a:solidFill>
                  <a:srgbClr val="16313A"/>
                </a:solidFill>
                <a:latin typeface="Helvetica Neue"/>
                <a:ea typeface="Helvetica Neue"/>
                <a:cs typeface="Helvetica Neue"/>
              </a:defRPr>
            </a:pPr>
          </a:p>
        </c:txPr>
        <c:crossAx val="48672768"/>
      </c:catAx>
      <c:valAx>
        <c:axId val="48672768"/>
        <c:scaling>
          <c:orientation val="minMax"/>
          <c:max val="32000000"/>
          <c:min val="0"/>
        </c:scaling>
        <c:delete val="0"/>
        <c:axPos val="l"/>
        <c:majorGridlines>
          <c:spPr>
            <a:ln xmlns:a="http://schemas.openxmlformats.org/drawingml/2006/main" w="9525">
              <a:solidFill>
                <a:srgbClr val="D3DDD9"/>
              </a:solidFill>
            </a:ln>
          </c:spPr>
        </c:majorGridlines>
        <c:numFmt formatCode="0,,&quot;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66B"/>
                </a:solidFill>
                <a:latin typeface="Helvetica Neue"/>
                <a:ea typeface="Helvetica Neue"/>
                <a:cs typeface="Helvetica Neue"/>
              </a:defRPr>
            </a:pPr>
          </a:p>
        </c:txPr>
        <c:crossAx val="48650112"/>
        <c:crossBetween val="between"/>
        <c:majorUnit val="1000000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1D34780-9F73-4596-916C-C6B2D5A1BB68}"/>
              </a:ext>
            </a:extLst>
          </p:cNvPr>
          <p:cNvPicPr>
            <a:picLocks xmlns:a="http://schemas.openxmlformats.org/drawingml/2006/main" noChangeAspect="1"/>
          </p:cNvPicPr>
          <p:nvPr/>
        </p:nvPicPr>
        <p:blipFill>
          <a:blip xmlns:r="http://schemas.openxmlformats.org/officeDocument/2006/relationships" xmlns:a="http://schemas.openxmlformats.org/drawingml/2006/main" r:embed="R44bb03348dd946a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AA614CAD-56D3-419C-8967-A78D14B2C60B}"/>
              </a:ext>
            </a:extLst>
          </p:cNvPr>
          <p:cNvSpPr>
            <a:spLocks xmlns:a="http://schemas.openxmlformats.org/drawingml/2006/main" noGrp="1"/>
          </p:cNvSpPr>
          <p:nvPr/>
        </p:nvSpPr>
        <p:spPr>
          <a:xfrm xmlns:a="http://schemas.openxmlformats.org/drawingml/2006/main">
            <a:off x="609600" y="971550"/>
            <a:ext cx="4381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500" b="1">
                <a:solidFill>
                  <a:srgbClr val="087F83"/>
                </a:solidFill>
                <a:latin typeface="Helvetica Neue"/>
                <a:ea typeface="Helvetica Neue"/>
                <a:cs typeface="Helvetica Neue"/>
              </a:defRPr>
            </a:defPPr>
          </a:lstStyle>
          <a:p xmlns:a="http://schemas.openxmlformats.org/drawingml/2006/main">
            <a:pPr>
              <a:buNone/>
              <a:defRPr sz="7500" b="1">
                <a:solidFill>
                  <a:srgbClr val="087F83"/>
                </a:solidFill>
                <a:latin typeface="Helvetica Neue"/>
                <a:ea typeface="Helvetica Neue"/>
                <a:cs typeface="Helvetica Neue"/>
              </a:defRPr>
            </a:pPr>
            <a:r>
              <a:rPr sz="7500" b="1">
                <a:solidFill>
                  <a:srgbClr val="087F83"/>
                </a:solidFill>
                <a:latin typeface="Helvetica Neue"/>
                <a:ea typeface="Helvetica Neue"/>
                <a:cs typeface="Helvetica Neue"/>
              </a:rPr>
              <a:t>ACE</a:t>
            </a:r>
          </a:p>
        </p:txBody>
      </p:sp>
      <p:sp>
        <p:nvSpPr>
          <p:cNvPr id="3" name="technology">
            <a:extLst xmlns:a="http://schemas.openxmlformats.org/drawingml/2006/main">
              <a:ext uri="{FF2B5EF4-FFF2-40B4-BE49-F238E27FC236}">
                <a16:creationId xmlns:a16="http://schemas.microsoft.com/office/drawing/2014/main" id="{F78F60D8-A707-493D-B6E2-81C1704A535F}"/>
              </a:ext>
            </a:extLst>
          </p:cNvPr>
          <p:cNvSpPr>
            <a:spLocks xmlns:a="http://schemas.openxmlformats.org/drawingml/2006/main" noGrp="1"/>
          </p:cNvSpPr>
          <p:nvPr/>
        </p:nvSpPr>
        <p:spPr>
          <a:xfrm xmlns:a="http://schemas.openxmlformats.org/drawingml/2006/main">
            <a:off x="628650" y="2514600"/>
            <a:ext cx="5000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6313A"/>
                </a:solidFill>
                <a:latin typeface="Helvetica Neue"/>
                <a:ea typeface="Helvetica Neue"/>
                <a:cs typeface="Helvetica Neue"/>
              </a:defRPr>
            </a:defPPr>
          </a:lstStyle>
          <a:p xmlns:a="http://schemas.openxmlformats.org/drawingml/2006/main">
            <a:pPr>
              <a:buNone/>
              <a:defRPr sz="3600" b="1">
                <a:solidFill>
                  <a:srgbClr val="16313A"/>
                </a:solidFill>
                <a:latin typeface="Helvetica Neue"/>
                <a:ea typeface="Helvetica Neue"/>
                <a:cs typeface="Helvetica Neue"/>
              </a:defRPr>
            </a:pPr>
            <a:r>
              <a:rPr sz="3600" b="1">
                <a:solidFill>
                  <a:srgbClr val="16313A"/>
                </a:solidFill>
                <a:latin typeface="Helvetica Neue"/>
                <a:ea typeface="Helvetica Neue"/>
                <a:cs typeface="Helvetica Neue"/>
              </a:rPr>
              <a:t>Active Causal</a:t>
            </a:r>
          </a:p>
          <a:p xmlns:a="http://schemas.openxmlformats.org/drawingml/2006/main">
            <a:pPr>
              <a:buNone/>
              <a:defRPr sz="3600" b="1">
                <a:solidFill>
                  <a:srgbClr val="16313A"/>
                </a:solidFill>
                <a:latin typeface="Helvetica Neue"/>
                <a:ea typeface="Helvetica Neue"/>
                <a:cs typeface="Helvetica Neue"/>
              </a:defRPr>
            </a:pPr>
            <a:r>
              <a:rPr sz="3600" b="1">
                <a:solidFill>
                  <a:srgbClr val="16313A"/>
                </a:solidFill>
                <a:latin typeface="Helvetica Neue"/>
                <a:ea typeface="Helvetica Neue"/>
                <a:cs typeface="Helvetica Neue"/>
              </a:rPr>
              <a:t>Experimentalism</a:t>
            </a:r>
          </a:p>
        </p:txBody>
      </p:sp>
      <p:sp>
        <p:nvSpPr>
          <p:cNvPr id="4" name="tagline">
            <a:extLst xmlns:a="http://schemas.openxmlformats.org/drawingml/2006/main">
              <a:ext uri="{FF2B5EF4-FFF2-40B4-BE49-F238E27FC236}">
                <a16:creationId xmlns:a16="http://schemas.microsoft.com/office/drawing/2014/main" id="{102C9C3F-D334-4841-B8FF-BF0591163AC7}"/>
              </a:ext>
            </a:extLst>
          </p:cNvPr>
          <p:cNvSpPr>
            <a:spLocks xmlns:a="http://schemas.openxmlformats.org/drawingml/2006/main" noGrp="1"/>
          </p:cNvSpPr>
          <p:nvPr/>
        </p:nvSpPr>
        <p:spPr>
          <a:xfrm xmlns:a="http://schemas.openxmlformats.org/drawingml/2006/main">
            <a:off x="638175" y="44291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16313A"/>
                </a:solidFill>
                <a:latin typeface="Helvetica Neue"/>
                <a:ea typeface="Helvetica Neue"/>
                <a:cs typeface="Helvetica Neue"/>
              </a:defRPr>
            </a:defPPr>
          </a:lstStyle>
          <a:p xmlns:a="http://schemas.openxmlformats.org/drawingml/2006/main">
            <a:pPr>
              <a:buNone/>
              <a:defRPr sz="2475" b="0">
                <a:solidFill>
                  <a:srgbClr val="16313A"/>
                </a:solidFill>
                <a:latin typeface="Helvetica Neue"/>
                <a:ea typeface="Helvetica Neue"/>
                <a:cs typeface="Helvetica Neue"/>
              </a:defRPr>
            </a:pPr>
            <a:r>
              <a:rPr sz="2475" b="0">
                <a:solidFill>
                  <a:srgbClr val="16313A"/>
                </a:solidFill>
                <a:latin typeface="Helvetica Neue"/>
                <a:ea typeface="Helvetica Neue"/>
                <a:cs typeface="Helvetica Neue"/>
              </a:rPr>
              <a:t>Every experiment counts</a:t>
            </a:r>
          </a:p>
        </p:txBody>
      </p:sp>
      <p:sp>
        <p:nvSpPr>
          <p:cNvPr id="5" name="Compressor concept illustrat">
            <a:extLst xmlns:a="http://schemas.openxmlformats.org/drawingml/2006/main">
              <a:ext uri="{FF2B5EF4-FFF2-40B4-BE49-F238E27FC236}">
                <a16:creationId xmlns:a16="http://schemas.microsoft.com/office/drawing/2014/main" id="{0EEE9EC1-67B8-43B1-A04E-958BC13AEB57}"/>
              </a:ext>
            </a:extLst>
          </p:cNvPr>
          <p:cNvSpPr>
            <a:spLocks xmlns:a="http://schemas.openxmlformats.org/drawingml/2006/main" noGrp="1"/>
          </p:cNvSpPr>
          <p:nvPr/>
        </p:nvSpPr>
        <p:spPr>
          <a:xfrm xmlns:a="http://schemas.openxmlformats.org/drawingml/2006/main">
            <a:off x="638175" y="6324600"/>
            <a:ext cx="581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66B"/>
                </a:solidFill>
                <a:latin typeface="Helvetica Neue"/>
                <a:ea typeface="Helvetica Neue"/>
                <a:cs typeface="Helvetica Neue"/>
              </a:defRPr>
            </a:defPPr>
          </a:lstStyle>
          <a:p xmlns:a="http://schemas.openxmlformats.org/drawingml/2006/main">
            <a:pPr>
              <a:buNone/>
              <a:defRPr sz="1350" b="0">
                <a:solidFill>
                  <a:srgbClr val="53666B"/>
                </a:solidFill>
                <a:latin typeface="Helvetica Neue"/>
                <a:ea typeface="Helvetica Neue"/>
                <a:cs typeface="Helvetica Neue"/>
              </a:defRPr>
            </a:pPr>
            <a:r>
              <a:rPr sz="1350" b="0">
                <a:solidFill>
                  <a:srgbClr val="53666B"/>
                </a:solidFill>
                <a:latin typeface="Helvetica Neue"/>
                <a:ea typeface="Helvetica Neue"/>
                <a:cs typeface="Helvetica Neue"/>
              </a:rPr>
              <a:t>Compressor concept illustration</a:t>
            </a:r>
          </a:p>
        </p:txBody>
      </p:sp>
    </p:spTree>
    <p:extLst>
      <p:ext uri="{BB962C8B-B14F-4D97-AF65-F5344CB8AC3E}">
        <p14:creationId xmlns:p14="http://schemas.microsoft.com/office/powerpoint/2010/main" val="14163899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BB04FD89-5BD0-4672-8154-14D8C5869DA5}"/>
              </a:ext>
            </a:extLst>
          </p:cNvPr>
          <p:cNvCxnSpPr>
            <a:stCxn xmlns:a="http://schemas.openxmlformats.org/drawingml/2006/main" id="5" idx="6"/>
            <a:endCxn xmlns:a="http://schemas.openxmlformats.org/drawingml/2006/main" id="6" idx="2"/>
          </p:cNvCxnSpPr>
          <p:nvPr/>
        </p:nvCxnSpPr>
        <p:spPr>
          <a:xfrm xmlns:a="http://schemas.openxmlformats.org/drawingml/2006/main">
            <a:off x="6638925" y="3176588"/>
            <a:ext cx="2886075" cy="0"/>
          </a:xfrm>
          <a:prstGeom xmlns:a="http://schemas.openxmlformats.org/drawingml/2006/main" prst="straightConnector1">
            <a:avLst/>
          </a:prstGeom>
          <a:ln xmlns:a="http://schemas.openxmlformats.org/drawingml/2006/main" w="66675">
            <a:solidFill>
              <a:srgbClr val="087F83"/>
            </a:solidFill>
            <a:tailEnd type="triangle" w="lg" len="lg"/>
          </a:ln>
        </p:spPr>
      </p:cxnSp>
      <p:cxnSp>
        <p:nvCxnSpPr>
          <p:cNvPr id="7" name="">
            <a:extLst xmlns:a="http://schemas.openxmlformats.org/drawingml/2006/main">
              <a:ext uri="{FF2B5EF4-FFF2-40B4-BE49-F238E27FC236}">
                <a16:creationId xmlns:a16="http://schemas.microsoft.com/office/drawing/2014/main" id="{C7E4728F-F7BE-4927-A807-9A1E5751539B}"/>
              </a:ext>
            </a:extLst>
          </p:cNvPr>
          <p:cNvCxnSpPr>
            <a:stCxn xmlns:a="http://schemas.openxmlformats.org/drawingml/2006/main" id="4" idx="6"/>
            <a:endCxn xmlns:a="http://schemas.openxmlformats.org/drawingml/2006/main" id="5" idx="2"/>
          </p:cNvCxnSpPr>
          <p:nvPr/>
        </p:nvCxnSpPr>
        <p:spPr>
          <a:xfrm xmlns:a="http://schemas.openxmlformats.org/drawingml/2006/main">
            <a:off x="2571750" y="3176588"/>
            <a:ext cx="2886075" cy="0"/>
          </a:xfrm>
          <a:prstGeom xmlns:a="http://schemas.openxmlformats.org/drawingml/2006/main" prst="straightConnector1">
            <a:avLst/>
          </a:prstGeom>
          <a:ln xmlns:a="http://schemas.openxmlformats.org/drawingml/2006/main" w="66675">
            <a:solidFill>
              <a:srgbClr val="087F83"/>
            </a:solidFill>
            <a:tailEnd type="triangle" w="lg" len="lg"/>
          </a:ln>
        </p:spPr>
      </p:cxnSp>
      <p:sp>
        <p:nvSpPr>
          <p:cNvPr id="17" name="title">
            <a:extLst xmlns:a="http://schemas.openxmlformats.org/drawingml/2006/main">
              <a:ext uri="{FF2B5EF4-FFF2-40B4-BE49-F238E27FC236}">
                <a16:creationId xmlns:a16="http://schemas.microsoft.com/office/drawing/2014/main" id="{B1D924A6-3327-4D68-B9C4-1829891091E3}"/>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A compressor as a causal model</a:t>
            </a:r>
          </a:p>
        </p:txBody>
      </p:sp>
      <p:sp>
        <p:nvSpPr>
          <p:cNvPr id="2" name="page">
            <a:extLst xmlns:a="http://schemas.openxmlformats.org/drawingml/2006/main">
              <a:ext uri="{FF2B5EF4-FFF2-40B4-BE49-F238E27FC236}">
                <a16:creationId xmlns:a16="http://schemas.microsoft.com/office/drawing/2014/main" id="{70526834-F5CC-42DB-BF57-701C786E5152}"/>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02</a:t>
            </a:r>
          </a:p>
        </p:txBody>
      </p:sp>
      <p:sp>
        <p:nvSpPr>
          <p:cNvPr id="3" name="Illustrative test rig with o">
            <a:extLst xmlns:a="http://schemas.openxmlformats.org/drawingml/2006/main">
              <a:ext uri="{FF2B5EF4-FFF2-40B4-BE49-F238E27FC236}">
                <a16:creationId xmlns:a16="http://schemas.microsoft.com/office/drawing/2014/main" id="{689CFE50-F47E-40F3-985E-62F1069E3F14}"/>
              </a:ext>
            </a:extLst>
          </p:cNvPr>
          <p:cNvSpPr>
            <a:spLocks xmlns:a="http://schemas.openxmlformats.org/drawingml/2006/main" noGrp="1"/>
          </p:cNvSpPr>
          <p:nvPr/>
        </p:nvSpPr>
        <p:spPr>
          <a:xfrm xmlns:a="http://schemas.openxmlformats.org/drawingml/2006/main">
            <a:off x="609600" y="14573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66B"/>
                </a:solidFill>
                <a:latin typeface="Helvetica Neue"/>
                <a:ea typeface="Helvetica Neue"/>
                <a:cs typeface="Helvetica Neue"/>
              </a:defRPr>
            </a:defPPr>
          </a:lstStyle>
          <a:p xmlns:a="http://schemas.openxmlformats.org/drawingml/2006/main">
            <a:pPr>
              <a:buNone/>
              <a:defRPr sz="2100" b="0">
                <a:solidFill>
                  <a:srgbClr val="53666B"/>
                </a:solidFill>
                <a:latin typeface="Helvetica Neue"/>
                <a:ea typeface="Helvetica Neue"/>
                <a:cs typeface="Helvetica Neue"/>
              </a:defRPr>
            </a:pPr>
            <a:r>
              <a:rPr sz="2100" b="0">
                <a:solidFill>
                  <a:srgbClr val="53666B"/>
                </a:solidFill>
                <a:latin typeface="Helvetica Neue"/>
                <a:ea typeface="Helvetica Neue"/>
                <a:cs typeface="Helvetica Neue"/>
              </a:rPr>
              <a:t>Illustrative test rig with other operating conditions fixed</a:t>
            </a:r>
          </a:p>
        </p:txBody>
      </p:sp>
      <p:sp>
        <p:nvSpPr>
          <p:cNvPr id="4" name="SCM node X">
            <a:extLst xmlns:a="http://schemas.openxmlformats.org/drawingml/2006/main">
              <a:ext uri="{FF2B5EF4-FFF2-40B4-BE49-F238E27FC236}">
                <a16:creationId xmlns:a16="http://schemas.microsoft.com/office/drawing/2014/main" id="{DAA91061-BC3B-47D5-B0C7-E166CD07D6AC}"/>
              </a:ext>
            </a:extLst>
          </p:cNvPr>
          <p:cNvSpPr>
            <a:spLocks xmlns:a="http://schemas.openxmlformats.org/drawingml/2006/main" noGrp="1"/>
          </p:cNvSpPr>
          <p:nvPr/>
        </p:nvSpPr>
        <p:spPr>
          <a:xfrm xmlns:a="http://schemas.openxmlformats.org/drawingml/2006/main">
            <a:off x="1390650" y="2724150"/>
            <a:ext cx="1181100" cy="9048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X</a:t>
            </a:r>
          </a:p>
        </p:txBody>
      </p:sp>
      <p:sp>
        <p:nvSpPr>
          <p:cNvPr id="5" name="SCM node M">
            <a:extLst xmlns:a="http://schemas.openxmlformats.org/drawingml/2006/main">
              <a:ext uri="{FF2B5EF4-FFF2-40B4-BE49-F238E27FC236}">
                <a16:creationId xmlns:a16="http://schemas.microsoft.com/office/drawing/2014/main" id="{EB2F9586-F87A-4270-BCD0-4E5E903AE5B1}"/>
              </a:ext>
            </a:extLst>
          </p:cNvPr>
          <p:cNvSpPr>
            <a:spLocks xmlns:a="http://schemas.openxmlformats.org/drawingml/2006/main" noGrp="1"/>
          </p:cNvSpPr>
          <p:nvPr/>
        </p:nvSpPr>
        <p:spPr>
          <a:xfrm xmlns:a="http://schemas.openxmlformats.org/drawingml/2006/main">
            <a:off x="5457825" y="2724150"/>
            <a:ext cx="1181100" cy="9048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a:t>
            </a:r>
          </a:p>
        </p:txBody>
      </p:sp>
      <p:sp>
        <p:nvSpPr>
          <p:cNvPr id="6" name="SCM node Y">
            <a:extLst xmlns:a="http://schemas.openxmlformats.org/drawingml/2006/main">
              <a:ext uri="{FF2B5EF4-FFF2-40B4-BE49-F238E27FC236}">
                <a16:creationId xmlns:a16="http://schemas.microsoft.com/office/drawing/2014/main" id="{CF54B576-BE70-4325-8572-2251FD92A852}"/>
              </a:ext>
            </a:extLst>
          </p:cNvPr>
          <p:cNvSpPr>
            <a:spLocks xmlns:a="http://schemas.openxmlformats.org/drawingml/2006/main" noGrp="1"/>
          </p:cNvSpPr>
          <p:nvPr/>
        </p:nvSpPr>
        <p:spPr>
          <a:xfrm xmlns:a="http://schemas.openxmlformats.org/drawingml/2006/main">
            <a:off x="9525000" y="2724150"/>
            <a:ext cx="1181100" cy="904875"/>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Y</a:t>
            </a:r>
          </a:p>
        </p:txBody>
      </p:sp>
      <p:sp>
        <p:nvSpPr>
          <p:cNvPr id="9" name="Drive command">
            <a:extLst xmlns:a="http://schemas.openxmlformats.org/drawingml/2006/main">
              <a:ext uri="{FF2B5EF4-FFF2-40B4-BE49-F238E27FC236}">
                <a16:creationId xmlns:a16="http://schemas.microsoft.com/office/drawing/2014/main" id="{FD65E7C0-1F0A-44BA-BF3C-B6E2479DAE8D}"/>
              </a:ext>
            </a:extLst>
          </p:cNvPr>
          <p:cNvSpPr>
            <a:spLocks xmlns:a="http://schemas.openxmlformats.org/drawingml/2006/main" noGrp="1"/>
          </p:cNvSpPr>
          <p:nvPr/>
        </p:nvSpPr>
        <p:spPr>
          <a:xfrm xmlns:a="http://schemas.openxmlformats.org/drawingml/2006/main">
            <a:off x="609600" y="3895725"/>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1">
                <a:solidFill>
                  <a:srgbClr val="16313A"/>
                </a:solidFill>
                <a:latin typeface="Helvetica Neue"/>
                <a:ea typeface="Helvetica Neue"/>
                <a:cs typeface="Helvetica Neue"/>
              </a:defRPr>
            </a:defPPr>
          </a:lstStyle>
          <a:p xmlns:a="http://schemas.openxmlformats.org/drawingml/2006/main">
            <a:pPr algn="ctr">
              <a:buNone/>
              <a:defRPr sz="2400" b="1">
                <a:solidFill>
                  <a:srgbClr val="16313A"/>
                </a:solidFill>
                <a:latin typeface="Helvetica Neue"/>
                <a:ea typeface="Helvetica Neue"/>
                <a:cs typeface="Helvetica Neue"/>
              </a:defRPr>
            </a:pPr>
            <a:r>
              <a:rPr sz="2400" b="1">
                <a:solidFill>
                  <a:srgbClr val="16313A"/>
                </a:solidFill>
                <a:latin typeface="Helvetica Neue"/>
                <a:ea typeface="Helvetica Neue"/>
                <a:cs typeface="Helvetica Neue"/>
              </a:rPr>
              <a:t>Drive command</a:t>
            </a:r>
          </a:p>
        </p:txBody>
      </p:sp>
      <p:sp>
        <p:nvSpPr>
          <p:cNvPr id="10" name="Shaft speed">
            <a:extLst xmlns:a="http://schemas.openxmlformats.org/drawingml/2006/main">
              <a:ext uri="{FF2B5EF4-FFF2-40B4-BE49-F238E27FC236}">
                <a16:creationId xmlns:a16="http://schemas.microsoft.com/office/drawing/2014/main" id="{73C81ABD-B31C-44E2-B4DD-D9088F7F1B2B}"/>
              </a:ext>
            </a:extLst>
          </p:cNvPr>
          <p:cNvSpPr>
            <a:spLocks xmlns:a="http://schemas.openxmlformats.org/drawingml/2006/main" noGrp="1"/>
          </p:cNvSpPr>
          <p:nvPr/>
        </p:nvSpPr>
        <p:spPr>
          <a:xfrm xmlns:a="http://schemas.openxmlformats.org/drawingml/2006/main">
            <a:off x="4676775" y="3895725"/>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1">
                <a:solidFill>
                  <a:srgbClr val="16313A"/>
                </a:solidFill>
                <a:latin typeface="Helvetica Neue"/>
                <a:ea typeface="Helvetica Neue"/>
                <a:cs typeface="Helvetica Neue"/>
              </a:defRPr>
            </a:defPPr>
          </a:lstStyle>
          <a:p xmlns:a="http://schemas.openxmlformats.org/drawingml/2006/main">
            <a:pPr algn="ctr">
              <a:buNone/>
              <a:defRPr sz="2400" b="1">
                <a:solidFill>
                  <a:srgbClr val="16313A"/>
                </a:solidFill>
                <a:latin typeface="Helvetica Neue"/>
                <a:ea typeface="Helvetica Neue"/>
                <a:cs typeface="Helvetica Neue"/>
              </a:defRPr>
            </a:pPr>
            <a:r>
              <a:rPr sz="2400" b="1">
                <a:solidFill>
                  <a:srgbClr val="16313A"/>
                </a:solidFill>
                <a:latin typeface="Helvetica Neue"/>
                <a:ea typeface="Helvetica Neue"/>
                <a:cs typeface="Helvetica Neue"/>
              </a:rPr>
              <a:t>Shaft speed</a:t>
            </a:r>
          </a:p>
        </p:txBody>
      </p:sp>
      <p:sp>
        <p:nvSpPr>
          <p:cNvPr id="11" name="Pressure rise">
            <a:extLst xmlns:a="http://schemas.openxmlformats.org/drawingml/2006/main">
              <a:ext uri="{FF2B5EF4-FFF2-40B4-BE49-F238E27FC236}">
                <a16:creationId xmlns:a16="http://schemas.microsoft.com/office/drawing/2014/main" id="{A77C0090-D462-4405-831E-F7D1B76DDCFF}"/>
              </a:ext>
            </a:extLst>
          </p:cNvPr>
          <p:cNvSpPr>
            <a:spLocks xmlns:a="http://schemas.openxmlformats.org/drawingml/2006/main" noGrp="1"/>
          </p:cNvSpPr>
          <p:nvPr/>
        </p:nvSpPr>
        <p:spPr>
          <a:xfrm xmlns:a="http://schemas.openxmlformats.org/drawingml/2006/main">
            <a:off x="8743950" y="3895725"/>
            <a:ext cx="276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1">
                <a:solidFill>
                  <a:srgbClr val="16313A"/>
                </a:solidFill>
                <a:latin typeface="Helvetica Neue"/>
                <a:ea typeface="Helvetica Neue"/>
                <a:cs typeface="Helvetica Neue"/>
              </a:defRPr>
            </a:defPPr>
          </a:lstStyle>
          <a:p xmlns:a="http://schemas.openxmlformats.org/drawingml/2006/main">
            <a:pPr algn="ctr">
              <a:buNone/>
              <a:defRPr sz="2400" b="1">
                <a:solidFill>
                  <a:srgbClr val="16313A"/>
                </a:solidFill>
                <a:latin typeface="Helvetica Neue"/>
                <a:ea typeface="Helvetica Neue"/>
                <a:cs typeface="Helvetica Neue"/>
              </a:defRPr>
            </a:pPr>
            <a:r>
              <a:rPr sz="2400" b="1">
                <a:solidFill>
                  <a:srgbClr val="16313A"/>
                </a:solidFill>
                <a:latin typeface="Helvetica Neue"/>
                <a:ea typeface="Helvetica Neue"/>
                <a:cs typeface="Helvetica Neue"/>
              </a:rPr>
              <a:t>Pressure rise</a:t>
            </a:r>
          </a:p>
        </p:txBody>
      </p:sp>
      <p:sp>
        <p:nvSpPr>
          <p:cNvPr id="12" name="Input we choose">
            <a:extLst xmlns:a="http://schemas.openxmlformats.org/drawingml/2006/main">
              <a:ext uri="{FF2B5EF4-FFF2-40B4-BE49-F238E27FC236}">
                <a16:creationId xmlns:a16="http://schemas.microsoft.com/office/drawing/2014/main" id="{873E9FA4-FABE-4556-8627-C79BB569C141}"/>
              </a:ext>
            </a:extLst>
          </p:cNvPr>
          <p:cNvSpPr>
            <a:spLocks xmlns:a="http://schemas.openxmlformats.org/drawingml/2006/main" noGrp="1"/>
          </p:cNvSpPr>
          <p:nvPr/>
        </p:nvSpPr>
        <p:spPr>
          <a:xfrm xmlns:a="http://schemas.openxmlformats.org/drawingml/2006/main">
            <a:off x="609600" y="4419600"/>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0">
                <a:solidFill>
                  <a:srgbClr val="53666B"/>
                </a:solidFill>
                <a:latin typeface="Helvetica Neue"/>
                <a:ea typeface="Helvetica Neue"/>
                <a:cs typeface="Helvetica Neue"/>
              </a:defRPr>
            </a:defPPr>
          </a:lstStyle>
          <a:p xmlns:a="http://schemas.openxmlformats.org/drawingml/2006/main">
            <a:pPr algn="ctr">
              <a:buNone/>
              <a:defRPr sz="1950" b="0">
                <a:solidFill>
                  <a:srgbClr val="53666B"/>
                </a:solidFill>
                <a:latin typeface="Helvetica Neue"/>
                <a:ea typeface="Helvetica Neue"/>
                <a:cs typeface="Helvetica Neue"/>
              </a:defRPr>
            </a:pPr>
            <a:r>
              <a:rPr sz="1950" b="0">
                <a:solidFill>
                  <a:srgbClr val="53666B"/>
                </a:solidFill>
                <a:latin typeface="Helvetica Neue"/>
                <a:ea typeface="Helvetica Neue"/>
                <a:cs typeface="Helvetica Neue"/>
              </a:rPr>
              <a:t>Input we choose</a:t>
            </a:r>
          </a:p>
        </p:txBody>
      </p:sp>
      <p:sp>
        <p:nvSpPr>
          <p:cNvPr id="13" name="M = f(X)">
            <a:extLst xmlns:a="http://schemas.openxmlformats.org/drawingml/2006/main">
              <a:ext uri="{FF2B5EF4-FFF2-40B4-BE49-F238E27FC236}">
                <a16:creationId xmlns:a16="http://schemas.microsoft.com/office/drawing/2014/main" id="{96F50893-C093-4C87-AE64-F22A0AFDB5EF}"/>
              </a:ext>
            </a:extLst>
          </p:cNvPr>
          <p:cNvSpPr>
            <a:spLocks xmlns:a="http://schemas.openxmlformats.org/drawingml/2006/main" noGrp="1"/>
          </p:cNvSpPr>
          <p:nvPr/>
        </p:nvSpPr>
        <p:spPr>
          <a:xfrm xmlns:a="http://schemas.openxmlformats.org/drawingml/2006/main">
            <a:off x="4676775" y="4419600"/>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087F83"/>
                </a:solidFill>
                <a:latin typeface="Helvetica Neue"/>
                <a:ea typeface="Helvetica Neue"/>
                <a:cs typeface="Helvetica Neue"/>
              </a:defRPr>
            </a:defPPr>
          </a:lstStyle>
          <a:p xmlns:a="http://schemas.openxmlformats.org/drawingml/2006/main">
            <a:pPr algn="ctr">
              <a:buNone/>
              <a:defRPr sz="2400" b="0">
                <a:solidFill>
                  <a:srgbClr val="087F83"/>
                </a:solidFill>
                <a:latin typeface="Helvetica Neue"/>
                <a:ea typeface="Helvetica Neue"/>
                <a:cs typeface="Helvetica Neue"/>
              </a:defRPr>
            </a:pPr>
            <a:r>
              <a:rPr sz="2400" b="0">
                <a:solidFill>
                  <a:srgbClr val="087F83"/>
                </a:solidFill>
                <a:latin typeface="Helvetica Neue"/>
                <a:ea typeface="Helvetica Neue"/>
                <a:cs typeface="Helvetica Neue"/>
              </a:rPr>
              <a:t>M = f(X)</a:t>
            </a:r>
          </a:p>
        </p:txBody>
      </p:sp>
      <p:sp>
        <p:nvSpPr>
          <p:cNvPr id="14" name="Y = g(M)">
            <a:extLst xmlns:a="http://schemas.openxmlformats.org/drawingml/2006/main">
              <a:ext uri="{FF2B5EF4-FFF2-40B4-BE49-F238E27FC236}">
                <a16:creationId xmlns:a16="http://schemas.microsoft.com/office/drawing/2014/main" id="{76B083EB-E16C-4E6E-B3F1-C3EE049EFCFC}"/>
              </a:ext>
            </a:extLst>
          </p:cNvPr>
          <p:cNvSpPr>
            <a:spLocks xmlns:a="http://schemas.openxmlformats.org/drawingml/2006/main" noGrp="1"/>
          </p:cNvSpPr>
          <p:nvPr/>
        </p:nvSpPr>
        <p:spPr>
          <a:xfrm xmlns:a="http://schemas.openxmlformats.org/drawingml/2006/main">
            <a:off x="8743950" y="4419600"/>
            <a:ext cx="276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400" b="0">
                <a:solidFill>
                  <a:srgbClr val="087F83"/>
                </a:solidFill>
                <a:latin typeface="Helvetica Neue"/>
                <a:ea typeface="Helvetica Neue"/>
                <a:cs typeface="Helvetica Neue"/>
              </a:defRPr>
            </a:defPPr>
          </a:lstStyle>
          <a:p xmlns:a="http://schemas.openxmlformats.org/drawingml/2006/main">
            <a:pPr algn="ctr">
              <a:buNone/>
              <a:defRPr sz="2400" b="0">
                <a:solidFill>
                  <a:srgbClr val="087F83"/>
                </a:solidFill>
                <a:latin typeface="Helvetica Neue"/>
                <a:ea typeface="Helvetica Neue"/>
                <a:cs typeface="Helvetica Neue"/>
              </a:defRPr>
            </a:pPr>
            <a:r>
              <a:rPr sz="2400" b="0">
                <a:solidFill>
                  <a:srgbClr val="087F83"/>
                </a:solidFill>
                <a:latin typeface="Helvetica Neue"/>
                <a:ea typeface="Helvetica Neue"/>
                <a:cs typeface="Helvetica Neue"/>
              </a:rPr>
              <a:t>Y = g(M)</a:t>
            </a:r>
          </a:p>
        </p:txBody>
      </p:sp>
      <p:sp>
        <p:nvSpPr>
          <p:cNvPr id="15" name="An SCM models each local mec">
            <a:extLst xmlns:a="http://schemas.openxmlformats.org/drawingml/2006/main">
              <a:ext uri="{FF2B5EF4-FFF2-40B4-BE49-F238E27FC236}">
                <a16:creationId xmlns:a16="http://schemas.microsoft.com/office/drawing/2014/main" id="{88F48755-35B0-4499-B6F7-770F59487865}"/>
              </a:ext>
            </a:extLst>
          </p:cNvPr>
          <p:cNvSpPr>
            <a:spLocks xmlns:a="http://schemas.openxmlformats.org/drawingml/2006/main" noGrp="1"/>
          </p:cNvSpPr>
          <p:nvPr/>
        </p:nvSpPr>
        <p:spPr>
          <a:xfrm xmlns:a="http://schemas.openxmlformats.org/drawingml/2006/main">
            <a:off x="609600" y="53244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13A"/>
                </a:solidFill>
                <a:latin typeface="Helvetica Neue"/>
                <a:ea typeface="Helvetica Neue"/>
                <a:cs typeface="Helvetica Neue"/>
              </a:defRPr>
            </a:defPPr>
          </a:lstStyle>
          <a:p xmlns:a="http://schemas.openxmlformats.org/drawingml/2006/main">
            <a:pPr>
              <a:buNone/>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An SCM models each local mechanism, then connects its predictions.</a:t>
            </a:r>
          </a:p>
        </p:txBody>
      </p:sp>
      <p:sp>
        <p:nvSpPr>
          <p:cNvPr id="16" name="Teaching values: M = 2.5X, Y">
            <a:extLst xmlns:a="http://schemas.openxmlformats.org/drawingml/2006/main">
              <a:ext uri="{FF2B5EF4-FFF2-40B4-BE49-F238E27FC236}">
                <a16:creationId xmlns:a16="http://schemas.microsoft.com/office/drawing/2014/main" id="{F173AEBD-046D-442F-B3BC-4AAB668F486F}"/>
              </a:ext>
            </a:extLst>
          </p:cNvPr>
          <p:cNvSpPr>
            <a:spLocks xmlns:a="http://schemas.openxmlformats.org/drawingml/2006/main" noGrp="1"/>
          </p:cNvSpPr>
          <p:nvPr/>
        </p:nvSpPr>
        <p:spPr>
          <a:xfrm xmlns:a="http://schemas.openxmlformats.org/drawingml/2006/main">
            <a:off x="609600" y="6086475"/>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3666B"/>
                </a:solidFill>
                <a:latin typeface="Helvetica Neue"/>
                <a:ea typeface="Helvetica Neue"/>
                <a:cs typeface="Helvetica Neue"/>
              </a:defRPr>
            </a:defPPr>
          </a:lstStyle>
          <a:p xmlns:a="http://schemas.openxmlformats.org/drawingml/2006/main">
            <a:pPr>
              <a:buNone/>
              <a:defRPr sz="1575" b="0">
                <a:solidFill>
                  <a:srgbClr val="53666B"/>
                </a:solidFill>
                <a:latin typeface="Helvetica Neue"/>
                <a:ea typeface="Helvetica Neue"/>
                <a:cs typeface="Helvetica Neue"/>
              </a:defRPr>
            </a:pPr>
            <a:r>
              <a:rPr sz="1575" b="0">
                <a:solidFill>
                  <a:srgbClr val="53666B"/>
                </a:solidFill>
                <a:latin typeface="Helvetica Neue"/>
                <a:ea typeface="Helvetica Neue"/>
                <a:cs typeface="Helvetica Neue"/>
              </a:rPr>
              <a:t>Teaching values: M = 2.5X, Y = 3M. Normalized deviations around a reference condition.</a:t>
            </a:r>
          </a:p>
        </p:txBody>
      </p:sp>
    </p:spTree>
    <p:extLst>
      <p:ext uri="{BB962C8B-B14F-4D97-AF65-F5344CB8AC3E}">
        <p14:creationId xmlns:p14="http://schemas.microsoft.com/office/powerpoint/2010/main" val="19634968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B1690285-ADF0-4A5B-95ED-62839414CD05}"/>
              </a:ext>
            </a:extLst>
          </p:cNvPr>
          <p:cNvCxnSpPr>
            <a:stCxn xmlns:a="http://schemas.openxmlformats.org/drawingml/2006/main" id="14" idx="6"/>
            <a:endCxn xmlns:a="http://schemas.openxmlformats.org/drawingml/2006/main" id="15" idx="2"/>
          </p:cNvCxnSpPr>
          <p:nvPr/>
        </p:nvCxnSpPr>
        <p:spPr>
          <a:xfrm xmlns:a="http://schemas.openxmlformats.org/drawingml/2006/main">
            <a:off x="6638925" y="4943475"/>
            <a:ext cx="2886075" cy="0"/>
          </a:xfrm>
          <a:prstGeom xmlns:a="http://schemas.openxmlformats.org/drawingml/2006/main" prst="straightConnector1">
            <a:avLst/>
          </a:prstGeom>
          <a:ln xmlns:a="http://schemas.openxmlformats.org/drawingml/2006/main" w="66675">
            <a:solidFill>
              <a:srgbClr val="087F83"/>
            </a:solidFill>
            <a:tailEnd type="triangle" w="lg" len="lg"/>
          </a:ln>
        </p:spPr>
      </p:cxnSp>
      <p:cxnSp>
        <p:nvCxnSpPr>
          <p:cNvPr id="8" name="">
            <a:extLst xmlns:a="http://schemas.openxmlformats.org/drawingml/2006/main">
              <a:ext uri="{FF2B5EF4-FFF2-40B4-BE49-F238E27FC236}">
                <a16:creationId xmlns:a16="http://schemas.microsoft.com/office/drawing/2014/main" id="{C8F591F4-2B02-4E2A-AD17-15EF3D9664FD}"/>
              </a:ext>
            </a:extLst>
          </p:cNvPr>
          <p:cNvCxnSpPr>
            <a:stCxn xmlns:a="http://schemas.openxmlformats.org/drawingml/2006/main" id="5" idx="6"/>
            <a:endCxn xmlns:a="http://schemas.openxmlformats.org/drawingml/2006/main" id="6" idx="2"/>
          </p:cNvCxnSpPr>
          <p:nvPr/>
        </p:nvCxnSpPr>
        <p:spPr>
          <a:xfrm xmlns:a="http://schemas.openxmlformats.org/drawingml/2006/main">
            <a:off x="6638925" y="2590800"/>
            <a:ext cx="2886075" cy="0"/>
          </a:xfrm>
          <a:prstGeom xmlns:a="http://schemas.openxmlformats.org/drawingml/2006/main" prst="straightConnector1">
            <a:avLst/>
          </a:prstGeom>
          <a:ln xmlns:a="http://schemas.openxmlformats.org/drawingml/2006/main" w="66675">
            <a:solidFill>
              <a:srgbClr val="087F83"/>
            </a:solidFill>
            <a:tailEnd type="triangle" w="lg" len="lg"/>
          </a:ln>
        </p:spPr>
      </p:cxnSp>
      <p:cxnSp>
        <p:nvCxnSpPr>
          <p:cNvPr id="7" name="">
            <a:extLst xmlns:a="http://schemas.openxmlformats.org/drawingml/2006/main">
              <a:ext uri="{FF2B5EF4-FFF2-40B4-BE49-F238E27FC236}">
                <a16:creationId xmlns:a16="http://schemas.microsoft.com/office/drawing/2014/main" id="{577B466B-57E3-4618-AA5C-ECAF2225DD94}"/>
              </a:ext>
            </a:extLst>
          </p:cNvPr>
          <p:cNvCxnSpPr>
            <a:stCxn xmlns:a="http://schemas.openxmlformats.org/drawingml/2006/main" id="4" idx="6"/>
            <a:endCxn xmlns:a="http://schemas.openxmlformats.org/drawingml/2006/main" id="5" idx="2"/>
          </p:cNvCxnSpPr>
          <p:nvPr/>
        </p:nvCxnSpPr>
        <p:spPr>
          <a:xfrm xmlns:a="http://schemas.openxmlformats.org/drawingml/2006/main">
            <a:off x="2571750" y="2590800"/>
            <a:ext cx="2886075" cy="0"/>
          </a:xfrm>
          <a:prstGeom xmlns:a="http://schemas.openxmlformats.org/drawingml/2006/main" prst="straightConnector1">
            <a:avLst/>
          </a:prstGeom>
          <a:ln xmlns:a="http://schemas.openxmlformats.org/drawingml/2006/main" w="66675">
            <a:solidFill>
              <a:srgbClr val="087F83"/>
            </a:solidFill>
            <a:tailEnd type="triangle" w="lg" len="lg"/>
          </a:ln>
        </p:spPr>
      </p:cxnSp>
      <p:sp>
        <p:nvSpPr>
          <p:cNvPr id="20" name="title">
            <a:extLst xmlns:a="http://schemas.openxmlformats.org/drawingml/2006/main">
              <a:ext uri="{FF2B5EF4-FFF2-40B4-BE49-F238E27FC236}">
                <a16:creationId xmlns:a16="http://schemas.microsoft.com/office/drawing/2014/main" id="{7BB44B2C-0244-4FAA-B84A-DD5996FCD8AB}"/>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Two interventions on the same compressor</a:t>
            </a:r>
          </a:p>
        </p:txBody>
      </p:sp>
      <p:sp>
        <p:nvSpPr>
          <p:cNvPr id="2" name="page">
            <a:extLst xmlns:a="http://schemas.openxmlformats.org/drawingml/2006/main">
              <a:ext uri="{FF2B5EF4-FFF2-40B4-BE49-F238E27FC236}">
                <a16:creationId xmlns:a16="http://schemas.microsoft.com/office/drawing/2014/main" id="{0B395699-C989-44F5-8EA4-48768BCE69A6}"/>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03</a:t>
            </a:r>
          </a:p>
        </p:txBody>
      </p:sp>
      <p:sp>
        <p:nvSpPr>
          <p:cNvPr id="3" name="Change the drive command">
            <a:extLst xmlns:a="http://schemas.openxmlformats.org/drawingml/2006/main">
              <a:ext uri="{FF2B5EF4-FFF2-40B4-BE49-F238E27FC236}">
                <a16:creationId xmlns:a16="http://schemas.microsoft.com/office/drawing/2014/main" id="{4B0146CB-0D59-4413-B2A4-9A8D2295980A}"/>
              </a:ext>
            </a:extLst>
          </p:cNvPr>
          <p:cNvSpPr>
            <a:spLocks xmlns:a="http://schemas.openxmlformats.org/drawingml/2006/main" noGrp="1"/>
          </p:cNvSpPr>
          <p:nvPr/>
        </p:nvSpPr>
        <p:spPr>
          <a:xfrm xmlns:a="http://schemas.openxmlformats.org/drawingml/2006/main">
            <a:off x="609600" y="1457325"/>
            <a:ext cx="876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Change the drive command</a:t>
            </a:r>
          </a:p>
        </p:txBody>
      </p:sp>
      <p:sp>
        <p:nvSpPr>
          <p:cNvPr id="4" name="SCM node X">
            <a:extLst xmlns:a="http://schemas.openxmlformats.org/drawingml/2006/main">
              <a:ext uri="{FF2B5EF4-FFF2-40B4-BE49-F238E27FC236}">
                <a16:creationId xmlns:a16="http://schemas.microsoft.com/office/drawing/2014/main" id="{E0EF851B-27E1-4CD6-9FB9-CD577BFD8118}"/>
              </a:ext>
            </a:extLst>
          </p:cNvPr>
          <p:cNvSpPr>
            <a:spLocks xmlns:a="http://schemas.openxmlformats.org/drawingml/2006/main" noGrp="1"/>
          </p:cNvSpPr>
          <p:nvPr/>
        </p:nvSpPr>
        <p:spPr>
          <a:xfrm xmlns:a="http://schemas.openxmlformats.org/drawingml/2006/main">
            <a:off x="1390650" y="2209800"/>
            <a:ext cx="1181100" cy="7620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X</a:t>
            </a:r>
          </a:p>
        </p:txBody>
      </p:sp>
      <p:sp>
        <p:nvSpPr>
          <p:cNvPr id="5" name="SCM node M">
            <a:extLst xmlns:a="http://schemas.openxmlformats.org/drawingml/2006/main">
              <a:ext uri="{FF2B5EF4-FFF2-40B4-BE49-F238E27FC236}">
                <a16:creationId xmlns:a16="http://schemas.microsoft.com/office/drawing/2014/main" id="{D84B887D-4647-4CC1-A2C0-23C1825EADE9}"/>
              </a:ext>
            </a:extLst>
          </p:cNvPr>
          <p:cNvSpPr>
            <a:spLocks xmlns:a="http://schemas.openxmlformats.org/drawingml/2006/main" noGrp="1"/>
          </p:cNvSpPr>
          <p:nvPr/>
        </p:nvSpPr>
        <p:spPr>
          <a:xfrm xmlns:a="http://schemas.openxmlformats.org/drawingml/2006/main">
            <a:off x="5457825" y="2209800"/>
            <a:ext cx="1181100" cy="7620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a:t>
            </a:r>
          </a:p>
        </p:txBody>
      </p:sp>
      <p:sp>
        <p:nvSpPr>
          <p:cNvPr id="6" name="SCM node Y">
            <a:extLst xmlns:a="http://schemas.openxmlformats.org/drawingml/2006/main">
              <a:ext uri="{FF2B5EF4-FFF2-40B4-BE49-F238E27FC236}">
                <a16:creationId xmlns:a16="http://schemas.microsoft.com/office/drawing/2014/main" id="{3D0FFEDA-840F-416A-A07D-034236651088}"/>
              </a:ext>
            </a:extLst>
          </p:cNvPr>
          <p:cNvSpPr>
            <a:spLocks xmlns:a="http://schemas.openxmlformats.org/drawingml/2006/main" noGrp="1"/>
          </p:cNvSpPr>
          <p:nvPr/>
        </p:nvSpPr>
        <p:spPr>
          <a:xfrm xmlns:a="http://schemas.openxmlformats.org/drawingml/2006/main">
            <a:off x="9525000" y="2209800"/>
            <a:ext cx="1181100" cy="7620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Y</a:t>
            </a:r>
          </a:p>
        </p:txBody>
      </p:sp>
      <p:sp>
        <p:nvSpPr>
          <p:cNvPr id="9" name="Drive command">
            <a:extLst xmlns:a="http://schemas.openxmlformats.org/drawingml/2006/main">
              <a:ext uri="{FF2B5EF4-FFF2-40B4-BE49-F238E27FC236}">
                <a16:creationId xmlns:a16="http://schemas.microsoft.com/office/drawing/2014/main" id="{D7658226-E5ED-49D6-8268-38F5923313A7}"/>
              </a:ext>
            </a:extLst>
          </p:cNvPr>
          <p:cNvSpPr>
            <a:spLocks xmlns:a="http://schemas.openxmlformats.org/drawingml/2006/main" noGrp="1"/>
          </p:cNvSpPr>
          <p:nvPr/>
        </p:nvSpPr>
        <p:spPr>
          <a:xfrm xmlns:a="http://schemas.openxmlformats.org/drawingml/2006/main">
            <a:off x="609600" y="310515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0">
                <a:solidFill>
                  <a:srgbClr val="16313A"/>
                </a:solidFill>
                <a:latin typeface="Helvetica Neue"/>
                <a:ea typeface="Helvetica Neue"/>
                <a:cs typeface="Helvetica Neue"/>
              </a:defRPr>
            </a:defPPr>
          </a:lstStyle>
          <a:p xmlns:a="http://schemas.openxmlformats.org/drawingml/2006/main">
            <a:pPr algn="ctr">
              <a:buNone/>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Drive command</a:t>
            </a:r>
          </a:p>
        </p:txBody>
      </p:sp>
      <p:sp>
        <p:nvSpPr>
          <p:cNvPr id="10" name="Shaft speed responds">
            <a:extLst xmlns:a="http://schemas.openxmlformats.org/drawingml/2006/main">
              <a:ext uri="{FF2B5EF4-FFF2-40B4-BE49-F238E27FC236}">
                <a16:creationId xmlns:a16="http://schemas.microsoft.com/office/drawing/2014/main" id="{454220C2-80D3-40F2-ADBC-3B3C7BFFCC24}"/>
              </a:ext>
            </a:extLst>
          </p:cNvPr>
          <p:cNvSpPr>
            <a:spLocks xmlns:a="http://schemas.openxmlformats.org/drawingml/2006/main" noGrp="1"/>
          </p:cNvSpPr>
          <p:nvPr/>
        </p:nvSpPr>
        <p:spPr>
          <a:xfrm xmlns:a="http://schemas.openxmlformats.org/drawingml/2006/main">
            <a:off x="4305300" y="3105150"/>
            <a:ext cx="3495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0">
                <a:solidFill>
                  <a:srgbClr val="16313A"/>
                </a:solidFill>
                <a:latin typeface="Helvetica Neue"/>
                <a:ea typeface="Helvetica Neue"/>
                <a:cs typeface="Helvetica Neue"/>
              </a:defRPr>
            </a:defPPr>
          </a:lstStyle>
          <a:p xmlns:a="http://schemas.openxmlformats.org/drawingml/2006/main">
            <a:pPr algn="ctr">
              <a:buNone/>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Shaft speed responds</a:t>
            </a:r>
          </a:p>
        </p:txBody>
      </p:sp>
      <p:sp>
        <p:nvSpPr>
          <p:cNvPr id="11" name="Pressure responds">
            <a:extLst xmlns:a="http://schemas.openxmlformats.org/drawingml/2006/main">
              <a:ext uri="{FF2B5EF4-FFF2-40B4-BE49-F238E27FC236}">
                <a16:creationId xmlns:a16="http://schemas.microsoft.com/office/drawing/2014/main" id="{E83A5ED8-F038-40D1-BF7E-943AE3D63DC2}"/>
              </a:ext>
            </a:extLst>
          </p:cNvPr>
          <p:cNvSpPr>
            <a:spLocks xmlns:a="http://schemas.openxmlformats.org/drawingml/2006/main" noGrp="1"/>
          </p:cNvSpPr>
          <p:nvPr/>
        </p:nvSpPr>
        <p:spPr>
          <a:xfrm xmlns:a="http://schemas.openxmlformats.org/drawingml/2006/main">
            <a:off x="8496300" y="310515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0">
                <a:solidFill>
                  <a:srgbClr val="16313A"/>
                </a:solidFill>
                <a:latin typeface="Helvetica Neue"/>
                <a:ea typeface="Helvetica Neue"/>
                <a:cs typeface="Helvetica Neue"/>
              </a:defRPr>
            </a:defPPr>
          </a:lstStyle>
          <a:p xmlns:a="http://schemas.openxmlformats.org/drawingml/2006/main">
            <a:pPr algn="ctr">
              <a:buNone/>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Pressure responds</a:t>
            </a:r>
          </a:p>
        </p:txBody>
      </p:sp>
      <p:sp>
        <p:nvSpPr>
          <p:cNvPr id="12" name="Hold shaft speed with a test">
            <a:extLst xmlns:a="http://schemas.openxmlformats.org/drawingml/2006/main">
              <a:ext uri="{FF2B5EF4-FFF2-40B4-BE49-F238E27FC236}">
                <a16:creationId xmlns:a16="http://schemas.microsoft.com/office/drawing/2014/main" id="{EEB557D4-F376-4D5D-B687-FD4E74896FA2}"/>
              </a:ext>
            </a:extLst>
          </p:cNvPr>
          <p:cNvSpPr>
            <a:spLocks xmlns:a="http://schemas.openxmlformats.org/drawingml/2006/main" noGrp="1"/>
          </p:cNvSpPr>
          <p:nvPr/>
        </p:nvSpPr>
        <p:spPr>
          <a:xfrm xmlns:a="http://schemas.openxmlformats.org/drawingml/2006/main">
            <a:off x="609600" y="3800475"/>
            <a:ext cx="10572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Hold shaft speed with a test-rig controller: do(M = 1)</a:t>
            </a:r>
          </a:p>
        </p:txBody>
      </p:sp>
      <p:sp>
        <p:nvSpPr>
          <p:cNvPr id="13" name="SCM node X">
            <a:extLst xmlns:a="http://schemas.openxmlformats.org/drawingml/2006/main">
              <a:ext uri="{FF2B5EF4-FFF2-40B4-BE49-F238E27FC236}">
                <a16:creationId xmlns:a16="http://schemas.microsoft.com/office/drawing/2014/main" id="{036DA077-F706-4B1F-A80C-C1F8B616BA67}"/>
              </a:ext>
            </a:extLst>
          </p:cNvPr>
          <p:cNvSpPr>
            <a:spLocks xmlns:a="http://schemas.openxmlformats.org/drawingml/2006/main" noGrp="1"/>
          </p:cNvSpPr>
          <p:nvPr/>
        </p:nvSpPr>
        <p:spPr>
          <a:xfrm xmlns:a="http://schemas.openxmlformats.org/drawingml/2006/main">
            <a:off x="1390650" y="4562475"/>
            <a:ext cx="1181100" cy="7620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X</a:t>
            </a:r>
          </a:p>
        </p:txBody>
      </p:sp>
      <p:sp>
        <p:nvSpPr>
          <p:cNvPr id="14" name="SCM node M = 1">
            <a:extLst xmlns:a="http://schemas.openxmlformats.org/drawingml/2006/main">
              <a:ext uri="{FF2B5EF4-FFF2-40B4-BE49-F238E27FC236}">
                <a16:creationId xmlns:a16="http://schemas.microsoft.com/office/drawing/2014/main" id="{0689650E-A10B-40E1-80BE-18621962CE6D}"/>
              </a:ext>
            </a:extLst>
          </p:cNvPr>
          <p:cNvSpPr>
            <a:spLocks xmlns:a="http://schemas.openxmlformats.org/drawingml/2006/main" noGrp="1"/>
          </p:cNvSpPr>
          <p:nvPr/>
        </p:nvSpPr>
        <p:spPr>
          <a:xfrm xmlns:a="http://schemas.openxmlformats.org/drawingml/2006/main">
            <a:off x="5457825" y="4562475"/>
            <a:ext cx="1181100" cy="762000"/>
          </a:xfrm>
          <a:prstGeom xmlns:a="http://schemas.openxmlformats.org/drawingml/2006/main" prst="ellipse">
            <a:avLst/>
          </a:prstGeom>
          <a:solidFill xmlns:a="http://schemas.openxmlformats.org/drawingml/2006/main">
            <a:srgbClr val="B95435"/>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 = 1</a:t>
            </a:r>
          </a:p>
        </p:txBody>
      </p:sp>
      <p:sp>
        <p:nvSpPr>
          <p:cNvPr id="15" name="SCM node Y">
            <a:extLst xmlns:a="http://schemas.openxmlformats.org/drawingml/2006/main">
              <a:ext uri="{FF2B5EF4-FFF2-40B4-BE49-F238E27FC236}">
                <a16:creationId xmlns:a16="http://schemas.microsoft.com/office/drawing/2014/main" id="{9EF2C61C-5844-4543-85C8-4E40C0134F80}"/>
              </a:ext>
            </a:extLst>
          </p:cNvPr>
          <p:cNvSpPr>
            <a:spLocks xmlns:a="http://schemas.openxmlformats.org/drawingml/2006/main" noGrp="1"/>
          </p:cNvSpPr>
          <p:nvPr/>
        </p:nvSpPr>
        <p:spPr>
          <a:xfrm xmlns:a="http://schemas.openxmlformats.org/drawingml/2006/main">
            <a:off x="9525000" y="4562475"/>
            <a:ext cx="1181100" cy="7620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Y</a:t>
            </a:r>
          </a:p>
        </p:txBody>
      </p:sp>
      <p:sp>
        <p:nvSpPr>
          <p:cNvPr id="17" name="Drive-to-speed link bypassed">
            <a:extLst xmlns:a="http://schemas.openxmlformats.org/drawingml/2006/main">
              <a:ext uri="{FF2B5EF4-FFF2-40B4-BE49-F238E27FC236}">
                <a16:creationId xmlns:a16="http://schemas.microsoft.com/office/drawing/2014/main" id="{73C8395B-AD3E-453E-ADB8-630AB6120ABB}"/>
              </a:ext>
            </a:extLst>
          </p:cNvPr>
          <p:cNvSpPr>
            <a:spLocks xmlns:a="http://schemas.openxmlformats.org/drawingml/2006/main" noGrp="1"/>
          </p:cNvSpPr>
          <p:nvPr/>
        </p:nvSpPr>
        <p:spPr>
          <a:xfrm xmlns:a="http://schemas.openxmlformats.org/drawingml/2006/main">
            <a:off x="1323975" y="5562600"/>
            <a:ext cx="514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0">
                <a:solidFill>
                  <a:srgbClr val="B95435"/>
                </a:solidFill>
                <a:latin typeface="Helvetica Neue"/>
                <a:ea typeface="Helvetica Neue"/>
                <a:cs typeface="Helvetica Neue"/>
              </a:defRPr>
            </a:defPPr>
          </a:lstStyle>
          <a:p xmlns:a="http://schemas.openxmlformats.org/drawingml/2006/main">
            <a:pPr algn="ctr">
              <a:buNone/>
              <a:defRPr sz="1950" b="0">
                <a:solidFill>
                  <a:srgbClr val="B95435"/>
                </a:solidFill>
                <a:latin typeface="Helvetica Neue"/>
                <a:ea typeface="Helvetica Neue"/>
                <a:cs typeface="Helvetica Neue"/>
              </a:defRPr>
            </a:pPr>
            <a:r>
              <a:rPr sz="1950" b="0">
                <a:solidFill>
                  <a:srgbClr val="B95435"/>
                </a:solidFill>
                <a:latin typeface="Helvetica Neue"/>
                <a:ea typeface="Helvetica Neue"/>
                <a:cs typeface="Helvetica Neue"/>
              </a:rPr>
              <a:t>Drive-to-speed link bypassed</a:t>
            </a:r>
          </a:p>
        </p:txBody>
      </p:sp>
      <p:sp>
        <p:nvSpPr>
          <p:cNvPr id="18" name="Pressure still responds">
            <a:extLst xmlns:a="http://schemas.openxmlformats.org/drawingml/2006/main">
              <a:ext uri="{FF2B5EF4-FFF2-40B4-BE49-F238E27FC236}">
                <a16:creationId xmlns:a16="http://schemas.microsoft.com/office/drawing/2014/main" id="{36DD9E6A-C7A7-4954-9031-67D03569EDCD}"/>
              </a:ext>
            </a:extLst>
          </p:cNvPr>
          <p:cNvSpPr>
            <a:spLocks xmlns:a="http://schemas.openxmlformats.org/drawingml/2006/main" noGrp="1"/>
          </p:cNvSpPr>
          <p:nvPr/>
        </p:nvSpPr>
        <p:spPr>
          <a:xfrm xmlns:a="http://schemas.openxmlformats.org/drawingml/2006/main">
            <a:off x="7781925" y="5562600"/>
            <a:ext cx="3952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0">
                <a:solidFill>
                  <a:srgbClr val="087F83"/>
                </a:solidFill>
                <a:latin typeface="Helvetica Neue"/>
                <a:ea typeface="Helvetica Neue"/>
                <a:cs typeface="Helvetica Neue"/>
              </a:defRPr>
            </a:defPPr>
          </a:lstStyle>
          <a:p xmlns:a="http://schemas.openxmlformats.org/drawingml/2006/main">
            <a:pPr algn="ctr">
              <a:buNone/>
              <a:defRPr sz="1950" b="0">
                <a:solidFill>
                  <a:srgbClr val="087F83"/>
                </a:solidFill>
                <a:latin typeface="Helvetica Neue"/>
                <a:ea typeface="Helvetica Neue"/>
                <a:cs typeface="Helvetica Neue"/>
              </a:defRPr>
            </a:pPr>
            <a:r>
              <a:rPr sz="1950" b="0">
                <a:solidFill>
                  <a:srgbClr val="087F83"/>
                </a:solidFill>
                <a:latin typeface="Helvetica Neue"/>
                <a:ea typeface="Helvetica Neue"/>
                <a:cs typeface="Helvetica Neue"/>
              </a:rPr>
              <a:t>Pressure still responds</a:t>
            </a:r>
          </a:p>
        </p:txBody>
      </p:sp>
      <p:sp>
        <p:nvSpPr>
          <p:cNvPr id="19" name="Learn only from mechanisms l">
            <a:extLst xmlns:a="http://schemas.openxmlformats.org/drawingml/2006/main">
              <a:ext uri="{FF2B5EF4-FFF2-40B4-BE49-F238E27FC236}">
                <a16:creationId xmlns:a16="http://schemas.microsoft.com/office/drawing/2014/main" id="{4B1B200A-71EA-423C-861E-4569BEDA4DDB}"/>
              </a:ext>
            </a:extLst>
          </p:cNvPr>
          <p:cNvSpPr>
            <a:spLocks xmlns:a="http://schemas.openxmlformats.org/drawingml/2006/main" noGrp="1"/>
          </p:cNvSpPr>
          <p:nvPr/>
        </p:nvSpPr>
        <p:spPr>
          <a:xfrm xmlns:a="http://schemas.openxmlformats.org/drawingml/2006/main">
            <a:off x="609600" y="6200775"/>
            <a:ext cx="1038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Learn only from mechanisms left natural. The imposed speed is not a training label for f(X).</a:t>
            </a:r>
          </a:p>
        </p:txBody>
      </p:sp>
    </p:spTree>
    <p:extLst>
      <p:ext uri="{BB962C8B-B14F-4D97-AF65-F5344CB8AC3E}">
        <p14:creationId xmlns:p14="http://schemas.microsoft.com/office/powerpoint/2010/main" val="6655150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39D8BA61-D1AA-4374-ADAE-6022A705BF89}"/>
              </a:ext>
            </a:extLst>
          </p:cNvPr>
          <p:cNvCxnSpPr>
            <a:stCxn xmlns:a="http://schemas.openxmlformats.org/drawingml/2006/main" id="7" idx="4"/>
            <a:endCxn xmlns:a="http://schemas.openxmlformats.org/drawingml/2006/main" id="8" idx="6"/>
          </p:cNvCxnSpPr>
          <p:nvPr/>
        </p:nvCxnSpPr>
        <p:spPr>
          <a:xfrm xmlns:a="http://schemas.openxmlformats.org/drawingml/2006/main" flipH="1">
            <a:off x="3562350" y="3076575"/>
            <a:ext cx="1295400" cy="49530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9" name="">
            <a:extLst xmlns:a="http://schemas.openxmlformats.org/drawingml/2006/main">
              <a:ext uri="{FF2B5EF4-FFF2-40B4-BE49-F238E27FC236}">
                <a16:creationId xmlns:a16="http://schemas.microsoft.com/office/drawing/2014/main" id="{961C69D2-E0FE-4ABE-B504-EFFF62F65C1A}"/>
              </a:ext>
            </a:extLst>
          </p:cNvPr>
          <p:cNvCxnSpPr>
            <a:stCxn xmlns:a="http://schemas.openxmlformats.org/drawingml/2006/main" id="6" idx="4"/>
            <a:endCxn xmlns:a="http://schemas.openxmlformats.org/drawingml/2006/main" id="8" idx="2"/>
          </p:cNvCxnSpPr>
          <p:nvPr/>
        </p:nvCxnSpPr>
        <p:spPr>
          <a:xfrm xmlns:a="http://schemas.openxmlformats.org/drawingml/2006/main">
            <a:off x="1390650" y="3076575"/>
            <a:ext cx="1295400" cy="495300"/>
          </a:xfrm>
          <a:prstGeom xmlns:a="http://schemas.openxmlformats.org/drawingml/2006/main" prst="straightConnector1">
            <a:avLst/>
          </a:prstGeom>
          <a:ln xmlns:a="http://schemas.openxmlformats.org/drawingml/2006/main" w="47625">
            <a:solidFill>
              <a:srgbClr val="087F83"/>
            </a:solidFill>
            <a:tailEnd type="triangle" w="lg" len="lg"/>
          </a:ln>
        </p:spPr>
      </p:cxnSp>
      <p:sp>
        <p:nvSpPr>
          <p:cNvPr id="18" name="title">
            <a:extLst xmlns:a="http://schemas.openxmlformats.org/drawingml/2006/main">
              <a:ext uri="{FF2B5EF4-FFF2-40B4-BE49-F238E27FC236}">
                <a16:creationId xmlns:a16="http://schemas.microsoft.com/office/drawing/2014/main" id="{855872C2-62A4-4314-AD4B-1050DE783EE3}"/>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Local mechanism tables vs one joint table</a:t>
            </a:r>
          </a:p>
        </p:txBody>
      </p:sp>
      <p:sp>
        <p:nvSpPr>
          <p:cNvPr id="2" name="Same system: 10 inputs, 5 se">
            <a:extLst xmlns:a="http://schemas.openxmlformats.org/drawingml/2006/main">
              <a:ext uri="{FF2B5EF4-FFF2-40B4-BE49-F238E27FC236}">
                <a16:creationId xmlns:a16="http://schemas.microsoft.com/office/drawing/2014/main" id="{AA8E6D2F-A8DA-4E02-99B6-6303D5AA5B38}"/>
              </a:ext>
            </a:extLst>
          </p:cNvPr>
          <p:cNvSpPr>
            <a:spLocks xmlns:a="http://schemas.openxmlformats.org/drawingml/2006/main" noGrp="1"/>
          </p:cNvSpPr>
          <p:nvPr/>
        </p:nvSpPr>
        <p:spPr>
          <a:xfrm xmlns:a="http://schemas.openxmlformats.org/drawingml/2006/main">
            <a:off x="609600" y="14097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66B"/>
                </a:solidFill>
                <a:latin typeface="Helvetica Neue"/>
                <a:ea typeface="Helvetica Neue"/>
                <a:cs typeface="Helvetica Neue"/>
              </a:defRPr>
            </a:defPPr>
          </a:lstStyle>
          <a:p xmlns:a="http://schemas.openxmlformats.org/drawingml/2006/main">
            <a:pPr>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Same system: 10 inputs, 5 settings each, 9 mechanisms with two parents</a:t>
            </a:r>
          </a:p>
        </p:txBody>
      </p:sp>
      <p:sp>
        <p:nvSpPr>
          <p:cNvPr id="3" name="SCM LOCAL TABLES">
            <a:extLst xmlns:a="http://schemas.openxmlformats.org/drawingml/2006/main">
              <a:ext uri="{FF2B5EF4-FFF2-40B4-BE49-F238E27FC236}">
                <a16:creationId xmlns:a16="http://schemas.microsoft.com/office/drawing/2014/main" id="{3BF53DE5-000B-463F-A08D-E8FB2EB9FA74}"/>
              </a:ext>
            </a:extLst>
          </p:cNvPr>
          <p:cNvSpPr>
            <a:spLocks xmlns:a="http://schemas.openxmlformats.org/drawingml/2006/main" noGrp="1"/>
          </p:cNvSpPr>
          <p:nvPr/>
        </p:nvSpPr>
        <p:spPr>
          <a:xfrm xmlns:a="http://schemas.openxmlformats.org/drawingml/2006/main">
            <a:off x="609600" y="1943100"/>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F83"/>
                </a:solidFill>
                <a:latin typeface="Helvetica Neue"/>
                <a:ea typeface="Helvetica Neue"/>
                <a:cs typeface="Helvetica Neue"/>
              </a:defRPr>
            </a:defPPr>
          </a:lstStyle>
          <a:p xmlns:a="http://schemas.openxmlformats.org/drawingml/2006/main">
            <a:pPr>
              <a:defRPr sz="2100" b="1">
                <a:solidFill>
                  <a:srgbClr val="087F83"/>
                </a:solidFill>
                <a:latin typeface="Helvetica Neue"/>
                <a:ea typeface="Helvetica Neue"/>
                <a:cs typeface="Helvetica Neue"/>
              </a:defRPr>
            </a:pPr>
            <a:r>
              <a:rPr sz="2100" b="1">
                <a:solidFill>
                  <a:srgbClr val="087F83"/>
                </a:solidFill>
                <a:latin typeface="Helvetica Neue"/>
                <a:ea typeface="Helvetica Neue"/>
                <a:cs typeface="Helvetica Neue"/>
              </a:rPr>
              <a:t>SCM LOCAL TABLES</a:t>
            </a:r>
          </a:p>
        </p:txBody>
      </p:sp>
      <p:sp>
        <p:nvSpPr>
          <p:cNvPr id="4" name="SCM-FREE JOINT TABLE">
            <a:extLst xmlns:a="http://schemas.openxmlformats.org/drawingml/2006/main">
              <a:ext uri="{FF2B5EF4-FFF2-40B4-BE49-F238E27FC236}">
                <a16:creationId xmlns:a16="http://schemas.microsoft.com/office/drawing/2014/main" id="{F4619DA9-C8C0-4DF0-B1C8-AE0D343E9DD2}"/>
              </a:ext>
            </a:extLst>
          </p:cNvPr>
          <p:cNvSpPr>
            <a:spLocks xmlns:a="http://schemas.openxmlformats.org/drawingml/2006/main" noGrp="1"/>
          </p:cNvSpPr>
          <p:nvPr/>
        </p:nvSpPr>
        <p:spPr>
          <a:xfrm xmlns:a="http://schemas.openxmlformats.org/drawingml/2006/main">
            <a:off x="6543675" y="1943100"/>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B95435"/>
                </a:solidFill>
                <a:latin typeface="Helvetica Neue"/>
                <a:ea typeface="Helvetica Neue"/>
                <a:cs typeface="Helvetica Neue"/>
              </a:defRPr>
            </a:defPPr>
          </a:lstStyle>
          <a:p xmlns:a="http://schemas.openxmlformats.org/drawingml/2006/main">
            <a:pPr>
              <a:defRPr sz="2100" b="1">
                <a:solidFill>
                  <a:srgbClr val="B95435"/>
                </a:solidFill>
                <a:latin typeface="Helvetica Neue"/>
                <a:ea typeface="Helvetica Neue"/>
                <a:cs typeface="Helvetica Neue"/>
              </a:defRPr>
            </a:pPr>
            <a:r>
              <a:rPr sz="2100" b="1">
                <a:solidFill>
                  <a:srgbClr val="B95435"/>
                </a:solidFill>
                <a:latin typeface="Helvetica Neue"/>
                <a:ea typeface="Helvetica Neue"/>
                <a:cs typeface="Helvetica Neue"/>
              </a:rPr>
              <a:t>SCM-FREE JOINT TABLE</a:t>
            </a:r>
          </a:p>
        </p:txBody>
      </p:sp>
      <p:sp>
        <p:nvSpPr>
          <p:cNvPr id="5" name="">
            <a:extLst xmlns:a="http://schemas.openxmlformats.org/drawingml/2006/main">
              <a:ext uri="{FF2B5EF4-FFF2-40B4-BE49-F238E27FC236}">
                <a16:creationId xmlns:a16="http://schemas.microsoft.com/office/drawing/2014/main" id="{0872D1D8-CF33-4BD5-8B33-1D38249A9CB1}"/>
              </a:ext>
            </a:extLst>
          </p:cNvPr>
          <p:cNvSpPr>
            <a:spLocks xmlns:a="http://schemas.openxmlformats.org/drawingml/2006/main" noGrp="1"/>
          </p:cNvSpPr>
          <p:nvPr/>
        </p:nvSpPr>
        <p:spPr>
          <a:xfrm xmlns:a="http://schemas.openxmlformats.org/drawingml/2006/main">
            <a:off x="6000750" y="1943100"/>
            <a:ext cx="0" cy="3962400"/>
          </a:xfrm>
          <a:prstGeom xmlns:a="http://schemas.openxmlformats.org/drawingml/2006/main" prst="line">
            <a:avLst/>
          </a:prstGeom>
          <a:ln xmlns:a="http://schemas.openxmlformats.org/drawingml/2006/main" w="19050">
            <a:solidFill>
              <a:srgbClr val="D3DDD9"/>
            </a:solidFill>
          </a:ln>
        </p:spPr>
      </p:sp>
      <p:sp>
        <p:nvSpPr>
          <p:cNvPr id="6" name="SCM node A">
            <a:extLst xmlns:a="http://schemas.openxmlformats.org/drawingml/2006/main">
              <a:ext uri="{FF2B5EF4-FFF2-40B4-BE49-F238E27FC236}">
                <a16:creationId xmlns:a16="http://schemas.microsoft.com/office/drawing/2014/main" id="{4C2585CD-7488-4CD6-89F7-FB6B3779DE57}"/>
              </a:ext>
            </a:extLst>
          </p:cNvPr>
          <p:cNvSpPr>
            <a:spLocks xmlns:a="http://schemas.openxmlformats.org/drawingml/2006/main" noGrp="1"/>
          </p:cNvSpPr>
          <p:nvPr/>
        </p:nvSpPr>
        <p:spPr>
          <a:xfrm xmlns:a="http://schemas.openxmlformats.org/drawingml/2006/main">
            <a:off x="990600" y="2466975"/>
            <a:ext cx="800100" cy="6096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a:t>
            </a:r>
          </a:p>
        </p:txBody>
      </p:sp>
      <p:sp>
        <p:nvSpPr>
          <p:cNvPr id="7" name="SCM node B">
            <a:extLst xmlns:a="http://schemas.openxmlformats.org/drawingml/2006/main">
              <a:ext uri="{FF2B5EF4-FFF2-40B4-BE49-F238E27FC236}">
                <a16:creationId xmlns:a16="http://schemas.microsoft.com/office/drawing/2014/main" id="{297E4B48-5C56-4935-B4DF-24217E4E18EF}"/>
              </a:ext>
            </a:extLst>
          </p:cNvPr>
          <p:cNvSpPr>
            <a:spLocks xmlns:a="http://schemas.openxmlformats.org/drawingml/2006/main" noGrp="1"/>
          </p:cNvSpPr>
          <p:nvPr/>
        </p:nvSpPr>
        <p:spPr>
          <a:xfrm xmlns:a="http://schemas.openxmlformats.org/drawingml/2006/main">
            <a:off x="4457700" y="2466975"/>
            <a:ext cx="800100" cy="6096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B</a:t>
            </a:r>
          </a:p>
        </p:txBody>
      </p:sp>
      <p:sp>
        <p:nvSpPr>
          <p:cNvPr id="8" name="SCM node M">
            <a:extLst xmlns:a="http://schemas.openxmlformats.org/drawingml/2006/main">
              <a:ext uri="{FF2B5EF4-FFF2-40B4-BE49-F238E27FC236}">
                <a16:creationId xmlns:a16="http://schemas.microsoft.com/office/drawing/2014/main" id="{4D6B7387-6249-42A5-AF4A-ABD43192ECAA}"/>
              </a:ext>
            </a:extLst>
          </p:cNvPr>
          <p:cNvSpPr>
            <a:spLocks xmlns:a="http://schemas.openxmlformats.org/drawingml/2006/main" noGrp="1"/>
          </p:cNvSpPr>
          <p:nvPr/>
        </p:nvSpPr>
        <p:spPr>
          <a:xfrm xmlns:a="http://schemas.openxmlformats.org/drawingml/2006/main">
            <a:off x="2686050" y="3248025"/>
            <a:ext cx="876300" cy="6477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pPr algn="ct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a:t>
            </a:r>
          </a:p>
        </p:txBody>
      </p:sp>
      <p:sp>
        <p:nvSpPr>
          <p:cNvPr id="11" name="All input settings together&#10;">
            <a:extLst xmlns:a="http://schemas.openxmlformats.org/drawingml/2006/main">
              <a:ext uri="{FF2B5EF4-FFF2-40B4-BE49-F238E27FC236}">
                <a16:creationId xmlns:a16="http://schemas.microsoft.com/office/drawing/2014/main" id="{F65654D9-FC12-4E2C-BCBB-AFA7279E44CC}"/>
              </a:ext>
            </a:extLst>
          </p:cNvPr>
          <p:cNvSpPr>
            <a:spLocks xmlns:a="http://schemas.openxmlformats.org/drawingml/2006/main" noGrp="1"/>
          </p:cNvSpPr>
          <p:nvPr/>
        </p:nvSpPr>
        <p:spPr>
          <a:xfrm xmlns:a="http://schemas.openxmlformats.org/drawingml/2006/main">
            <a:off x="6543675" y="2686050"/>
            <a:ext cx="49149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3666B"/>
                </a:solidFill>
                <a:latin typeface="Helvetica Neue"/>
                <a:ea typeface="Helvetica Neue"/>
                <a:cs typeface="Helvetica Neue"/>
              </a:defRPr>
            </a:defPPr>
          </a:lstStyle>
          <a:p xmlns:a="http://schemas.openxmlformats.org/drawingml/2006/main">
            <a:pPr>
              <a:defRPr sz="2175" b="0">
                <a:solidFill>
                  <a:srgbClr val="53666B"/>
                </a:solidFill>
                <a:latin typeface="Helvetica Neue"/>
                <a:ea typeface="Helvetica Neue"/>
                <a:cs typeface="Helvetica Neue"/>
              </a:defRPr>
            </a:pPr>
            <a:r>
              <a:rPr sz="2175" b="0">
                <a:solidFill>
                  <a:srgbClr val="53666B"/>
                </a:solidFill>
                <a:latin typeface="Helvetica Neue"/>
                <a:ea typeface="Helvetica Neue"/>
                <a:cs typeface="Helvetica Neue"/>
              </a:rPr>
              <a:t>All input settings together</a:t>
            </a:r>
          </a:p>
          <a:p xmlns:a="http://schemas.openxmlformats.org/drawingml/2006/main">
            <a:pPr>
              <a:defRPr sz="2175" b="0">
                <a:solidFill>
                  <a:srgbClr val="53666B"/>
                </a:solidFill>
                <a:latin typeface="Helvetica Neue"/>
                <a:ea typeface="Helvetica Neue"/>
                <a:cs typeface="Helvetica Neue"/>
              </a:defRPr>
            </a:pPr>
            <a:r>
              <a:rPr sz="2175" b="0">
                <a:solidFill>
                  <a:srgbClr val="53666B"/>
                </a:solidFill>
                <a:latin typeface="Helvetica Neue"/>
                <a:ea typeface="Helvetica Neue"/>
                <a:cs typeface="Helvetica Neue"/>
              </a:rPr>
              <a:t>determine the final output Y</a:t>
            </a:r>
          </a:p>
        </p:txBody>
      </p:sp>
      <p:graphicFrame>
        <p:nvGraphicFramePr>
          <p:cNvPr id="12" name="">
            <a:extLst xmlns:a="http://schemas.openxmlformats.org/drawingml/2006/main">
              <a:ext uri="{FF2B5EF4-FFF2-40B4-BE49-F238E27FC236}">
                <a16:creationId xmlns:a16="http://schemas.microsoft.com/office/drawing/2014/main" id="{90DB827A-8DDF-4A34-A1D1-9FAF9F0DC077}"/>
              </a:ext>
            </a:extLst>
          </p:cNvPr>
          <p:cNvGraphicFramePr/>
          <p:nvPr/>
        </p:nvGraphicFramePr>
        <p:xfrm>
          <a:off xmlns:a="http://schemas.openxmlformats.org/drawingml/2006/main" x="609600" y="4152900"/>
          <a:ext xmlns:a="http://schemas.openxmlformats.org/drawingml/2006/main" cx="5095875" cy="1666875"/>
        </p:xfrm>
        <a:graphic xmlns:a="http://schemas.openxmlformats.org/drawingml/2006/main">
          <a:graphicData uri="http://schemas.openxmlformats.org/drawingml/2006/table">
            <a:tbl>
              <a:tblPr firstRow="0" bandRow="0"/>
              <a:tblGrid>
                <a:gridCol w="1047750"/>
                <a:gridCol w="1047750"/>
                <a:gridCol w="3000375"/>
              </a:tblGrid>
              <a:tr h="333375">
                <a:tc>
                  <a:txBody>
                    <a:bodyPr lIns="76200" tIns="76200" rIns="76200" bIns="76200"/>
                    <a:lstStyle/>
                    <a:p>
                      <a:r>
                        <a:rPr sz="1650" b="1">
                          <a:solidFill>
                            <a:srgbClr val="087F83"/>
                          </a:solidFill>
                          <a:latin typeface="Helvetica Neue"/>
                          <a:ea typeface="Helvetica Neue"/>
                          <a:cs typeface="Helvetica Neue"/>
                        </a:rPr>
                        <a:t>A</a:t>
                      </a:r>
                    </a:p>
                  </a:txBody>
                  <a:tcPr marL="91440" marR="91440" marT="45720" marB="45720">
                    <a:solidFill>
                      <a:srgbClr val="F0F6F6"/>
                    </a:solidFill>
                  </a:tcPr>
                </a:tc>
                <a:tc>
                  <a:txBody>
                    <a:bodyPr lIns="76200" tIns="76200" rIns="76200" bIns="76200"/>
                    <a:lstStyle/>
                    <a:p>
                      <a:r>
                        <a:rPr sz="1650" b="1">
                          <a:solidFill>
                            <a:srgbClr val="087F83"/>
                          </a:solidFill>
                          <a:latin typeface="Helvetica Neue"/>
                          <a:ea typeface="Helvetica Neue"/>
                          <a:cs typeface="Helvetica Neue"/>
                        </a:rPr>
                        <a:t>B</a:t>
                      </a:r>
                    </a:p>
                  </a:txBody>
                  <a:tcPr marL="91440" marR="91440" marT="45720" marB="45720">
                    <a:solidFill>
                      <a:srgbClr val="F0F6F6"/>
                    </a:solidFill>
                  </a:tcPr>
                </a:tc>
                <a:tc>
                  <a:txBody>
                    <a:bodyPr lIns="76200" tIns="76200" rIns="76200" bIns="76200"/>
                    <a:lstStyle/>
                    <a:p>
                      <a:r>
                        <a:rPr sz="1650" b="1">
                          <a:solidFill>
                            <a:srgbClr val="087F83"/>
                          </a:solidFill>
                          <a:latin typeface="Helvetica Neue"/>
                          <a:ea typeface="Helvetica Neue"/>
                          <a:cs typeface="Helvetica Neue"/>
                        </a:rPr>
                        <a:t>M = f(A, B)</a:t>
                      </a:r>
                    </a:p>
                  </a:txBody>
                  <a:tcPr marL="91440" marR="91440" marT="45720" marB="45720">
                    <a:solidFill>
                      <a:srgbClr val="F0F6F6"/>
                    </a:solidFill>
                  </a:tcPr>
                </a:tc>
              </a:tr>
              <a:tr h="333375">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m₁</a:t>
                      </a:r>
                    </a:p>
                  </a:txBody>
                  <a:tcPr marL="91440" marR="91440" marT="45720" marB="45720">
                    <a:solidFill>
                      <a:srgbClr val="FFFFFF"/>
                    </a:solidFill>
                  </a:tcPr>
                </a:tc>
              </a:tr>
              <a:tr h="333375">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1</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m₂</a:t>
                      </a:r>
                    </a:p>
                  </a:txBody>
                  <a:tcPr marL="91440" marR="91440" marT="45720" marB="45720">
                    <a:solidFill>
                      <a:srgbClr val="FFFFFF"/>
                    </a:solidFill>
                  </a:tcPr>
                </a:tc>
              </a:tr>
              <a:tr h="333375">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r>
              <a:tr h="333375">
                <a:tc>
                  <a:txBody>
                    <a:bodyPr lIns="76200" tIns="76200" rIns="76200" bIns="76200"/>
                    <a:lstStyle/>
                    <a:p>
                      <a:r>
                        <a:rPr sz="1650" b="0">
                          <a:solidFill>
                            <a:srgbClr val="16313A"/>
                          </a:solidFill>
                          <a:latin typeface="Helvetica Neue"/>
                          <a:ea typeface="Helvetica Neue"/>
                          <a:cs typeface="Helvetica Neue"/>
                        </a:rPr>
                        <a:t>4</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4</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m₂₅</a:t>
                      </a:r>
                    </a:p>
                  </a:txBody>
                  <a:tcPr marL="91440" marR="91440" marT="45720" marB="45720">
                    <a:solidFill>
                      <a:srgbClr val="FFFFFF"/>
                    </a:solidFill>
                  </a:tcPr>
                </a:tc>
              </a:tr>
            </a:tbl>
          </a:graphicData>
        </a:graphic>
      </p:graphicFrame>
      <p:graphicFrame>
        <p:nvGraphicFramePr>
          <p:cNvPr id="13" name="">
            <a:extLst xmlns:a="http://schemas.openxmlformats.org/drawingml/2006/main">
              <a:ext uri="{FF2B5EF4-FFF2-40B4-BE49-F238E27FC236}">
                <a16:creationId xmlns:a16="http://schemas.microsoft.com/office/drawing/2014/main" id="{CDCAC511-D2D8-4E3F-9657-D9049CAA7B26}"/>
              </a:ext>
            </a:extLst>
          </p:cNvPr>
          <p:cNvGraphicFramePr/>
          <p:nvPr/>
        </p:nvGraphicFramePr>
        <p:xfrm>
          <a:off xmlns:a="http://schemas.openxmlformats.org/drawingml/2006/main" x="6543675" y="4152900"/>
          <a:ext xmlns:a="http://schemas.openxmlformats.org/drawingml/2006/main" cx="4991100" cy="1666875"/>
        </p:xfrm>
        <a:graphic xmlns:a="http://schemas.openxmlformats.org/drawingml/2006/main">
          <a:graphicData uri="http://schemas.openxmlformats.org/drawingml/2006/table">
            <a:tbl>
              <a:tblPr firstRow="0" bandRow="0"/>
              <a:tblGrid>
                <a:gridCol w="885825"/>
                <a:gridCol w="885825"/>
                <a:gridCol w="704850"/>
                <a:gridCol w="1104900"/>
                <a:gridCol w="1409700"/>
              </a:tblGrid>
              <a:tr h="333375">
                <a:tc>
                  <a:txBody>
                    <a:bodyPr lIns="76200" tIns="76200" rIns="76200" bIns="76200"/>
                    <a:lstStyle/>
                    <a:p>
                      <a:r>
                        <a:rPr sz="1650" b="1">
                          <a:solidFill>
                            <a:srgbClr val="087F83"/>
                          </a:solidFill>
                          <a:latin typeface="Helvetica Neue"/>
                          <a:ea typeface="Helvetica Neue"/>
                          <a:cs typeface="Helvetica Neue"/>
                        </a:rPr>
                        <a:t>X₁</a:t>
                      </a:r>
                    </a:p>
                  </a:txBody>
                  <a:tcPr marL="91440" marR="91440" marT="45720" marB="45720">
                    <a:solidFill>
                      <a:srgbClr val="F0F6F6"/>
                    </a:solidFill>
                  </a:tcPr>
                </a:tc>
                <a:tc>
                  <a:txBody>
                    <a:bodyPr lIns="76200" tIns="76200" rIns="76200" bIns="76200"/>
                    <a:lstStyle/>
                    <a:p>
                      <a:r>
                        <a:rPr sz="1650" b="1">
                          <a:solidFill>
                            <a:srgbClr val="087F83"/>
                          </a:solidFill>
                          <a:latin typeface="Helvetica Neue"/>
                          <a:ea typeface="Helvetica Neue"/>
                          <a:cs typeface="Helvetica Neue"/>
                        </a:rPr>
                        <a:t>X₂</a:t>
                      </a:r>
                    </a:p>
                  </a:txBody>
                  <a:tcPr marL="91440" marR="91440" marT="45720" marB="45720">
                    <a:solidFill>
                      <a:srgbClr val="F0F6F6"/>
                    </a:solidFill>
                  </a:tcPr>
                </a:tc>
                <a:tc>
                  <a:txBody>
                    <a:bodyPr lIns="76200" tIns="76200" rIns="76200" bIns="76200"/>
                    <a:lstStyle/>
                    <a:p>
                      <a:r>
                        <a:rPr sz="1650" b="1">
                          <a:solidFill>
                            <a:srgbClr val="087F83"/>
                          </a:solidFill>
                          <a:latin typeface="Helvetica Neue"/>
                          <a:ea typeface="Helvetica Neue"/>
                          <a:cs typeface="Helvetica Neue"/>
                        </a:rPr>
                        <a:t>…</a:t>
                      </a:r>
                    </a:p>
                  </a:txBody>
                  <a:tcPr marL="91440" marR="91440" marT="45720" marB="45720">
                    <a:solidFill>
                      <a:srgbClr val="F0F6F6"/>
                    </a:solidFill>
                  </a:tcPr>
                </a:tc>
                <a:tc>
                  <a:txBody>
                    <a:bodyPr lIns="76200" tIns="76200" rIns="76200" bIns="76200"/>
                    <a:lstStyle/>
                    <a:p>
                      <a:r>
                        <a:rPr sz="1650" b="1">
                          <a:solidFill>
                            <a:srgbClr val="087F83"/>
                          </a:solidFill>
                          <a:latin typeface="Helvetica Neue"/>
                          <a:ea typeface="Helvetica Neue"/>
                          <a:cs typeface="Helvetica Neue"/>
                        </a:rPr>
                        <a:t>X₁₀</a:t>
                      </a:r>
                    </a:p>
                  </a:txBody>
                  <a:tcPr marL="91440" marR="91440" marT="45720" marB="45720">
                    <a:solidFill>
                      <a:srgbClr val="F0F6F6"/>
                    </a:solidFill>
                  </a:tcPr>
                </a:tc>
                <a:tc>
                  <a:txBody>
                    <a:bodyPr lIns="76200" tIns="76200" rIns="76200" bIns="76200"/>
                    <a:lstStyle/>
                    <a:p>
                      <a:r>
                        <a:rPr sz="1650" b="1">
                          <a:solidFill>
                            <a:srgbClr val="087F83"/>
                          </a:solidFill>
                          <a:latin typeface="Helvetica Neue"/>
                          <a:ea typeface="Helvetica Neue"/>
                          <a:cs typeface="Helvetica Neue"/>
                        </a:rPr>
                        <a:t>Y</a:t>
                      </a:r>
                    </a:p>
                  </a:txBody>
                  <a:tcPr marL="91440" marR="91440" marT="45720" marB="45720">
                    <a:solidFill>
                      <a:srgbClr val="F0F6F6"/>
                    </a:solidFill>
                  </a:tcPr>
                </a:tc>
              </a:tr>
              <a:tr h="333375">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y₁</a:t>
                      </a:r>
                    </a:p>
                  </a:txBody>
                  <a:tcPr marL="91440" marR="91440" marT="45720" marB="45720">
                    <a:solidFill>
                      <a:srgbClr val="FFFFFF"/>
                    </a:solidFill>
                  </a:tcPr>
                </a:tc>
              </a:tr>
              <a:tr h="333375">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0</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1</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y₂</a:t>
                      </a:r>
                    </a:p>
                  </a:txBody>
                  <a:tcPr marL="91440" marR="91440" marT="45720" marB="45720">
                    <a:solidFill>
                      <a:srgbClr val="FFFFFF"/>
                    </a:solidFill>
                  </a:tcPr>
                </a:tc>
              </a:tr>
              <a:tr h="333375">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r>
              <a:tr h="333375">
                <a:tc>
                  <a:txBody>
                    <a:bodyPr lIns="76200" tIns="76200" rIns="76200" bIns="76200"/>
                    <a:lstStyle/>
                    <a:p>
                      <a:r>
                        <a:rPr sz="1650" b="0">
                          <a:solidFill>
                            <a:srgbClr val="16313A"/>
                          </a:solidFill>
                          <a:latin typeface="Helvetica Neue"/>
                          <a:ea typeface="Helvetica Neue"/>
                          <a:cs typeface="Helvetica Neue"/>
                        </a:rPr>
                        <a:t>4</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4</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4</a:t>
                      </a:r>
                    </a:p>
                  </a:txBody>
                  <a:tcPr marL="91440" marR="91440" marT="45720" marB="45720">
                    <a:solidFill>
                      <a:srgbClr val="FFFFFF"/>
                    </a:solidFill>
                  </a:tcPr>
                </a:tc>
                <a:tc>
                  <a:txBody>
                    <a:bodyPr lIns="76200" tIns="76200" rIns="76200" bIns="76200"/>
                    <a:lstStyle/>
                    <a:p>
                      <a:r>
                        <a:rPr sz="1650" b="0">
                          <a:solidFill>
                            <a:srgbClr val="16313A"/>
                          </a:solidFill>
                          <a:latin typeface="Helvetica Neue"/>
                          <a:ea typeface="Helvetica Neue"/>
                          <a:cs typeface="Helvetica Neue"/>
                        </a:rPr>
                        <a:t>yₙ</a:t>
                      </a:r>
                    </a:p>
                  </a:txBody>
                  <a:tcPr marL="91440" marR="91440" marT="45720" marB="45720">
                    <a:solidFill>
                      <a:srgbClr val="FFFFFF"/>
                    </a:solidFill>
                  </a:tcPr>
                </a:tc>
              </a:tr>
            </a:tbl>
          </a:graphicData>
        </a:graphic>
      </p:graphicFrame>
      <p:sp>
        <p:nvSpPr>
          <p:cNvPr id="14" name="25 rows per mechanism × 9 = ">
            <a:extLst xmlns:a="http://schemas.openxmlformats.org/drawingml/2006/main">
              <a:ext uri="{FF2B5EF4-FFF2-40B4-BE49-F238E27FC236}">
                <a16:creationId xmlns:a16="http://schemas.microsoft.com/office/drawing/2014/main" id="{577B9D06-5395-4B33-B6C9-0D14D85C39A1}"/>
              </a:ext>
            </a:extLst>
          </p:cNvPr>
          <p:cNvSpPr>
            <a:spLocks xmlns:a="http://schemas.openxmlformats.org/drawingml/2006/main" noGrp="1"/>
          </p:cNvSpPr>
          <p:nvPr/>
        </p:nvSpPr>
        <p:spPr>
          <a:xfrm xmlns:a="http://schemas.openxmlformats.org/drawingml/2006/main">
            <a:off x="609600" y="5962650"/>
            <a:ext cx="52101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087F83"/>
                </a:solidFill>
                <a:latin typeface="Helvetica Neue"/>
                <a:ea typeface="Helvetica Neue"/>
                <a:cs typeface="Helvetica Neue"/>
              </a:defRPr>
            </a:defPPr>
          </a:lstStyle>
          <a:p xmlns:a="http://schemas.openxmlformats.org/drawingml/2006/main">
            <a:pPr>
              <a:defRPr sz="2025" b="1">
                <a:solidFill>
                  <a:srgbClr val="087F83"/>
                </a:solidFill>
                <a:latin typeface="Helvetica Neue"/>
                <a:ea typeface="Helvetica Neue"/>
                <a:cs typeface="Helvetica Neue"/>
              </a:defRPr>
            </a:pPr>
            <a:r>
              <a:rPr sz="2025" b="1">
                <a:solidFill>
                  <a:srgbClr val="087F83"/>
                </a:solidFill>
                <a:latin typeface="Helvetica Neue"/>
                <a:ea typeface="Helvetica Neue"/>
                <a:cs typeface="Helvetica Neue"/>
              </a:rPr>
              <a:t>25 rows per mechanism × 9 = 225</a:t>
            </a:r>
          </a:p>
        </p:txBody>
      </p:sp>
      <p:sp>
        <p:nvSpPr>
          <p:cNvPr id="15" name="5¹⁰ = 9,765,625 joint rows">
            <a:extLst xmlns:a="http://schemas.openxmlformats.org/drawingml/2006/main">
              <a:ext uri="{FF2B5EF4-FFF2-40B4-BE49-F238E27FC236}">
                <a16:creationId xmlns:a16="http://schemas.microsoft.com/office/drawing/2014/main" id="{F956A342-C57E-453E-B6E5-4B3122EA4EBB}"/>
              </a:ext>
            </a:extLst>
          </p:cNvPr>
          <p:cNvSpPr>
            <a:spLocks xmlns:a="http://schemas.openxmlformats.org/drawingml/2006/main" noGrp="1"/>
          </p:cNvSpPr>
          <p:nvPr/>
        </p:nvSpPr>
        <p:spPr>
          <a:xfrm xmlns:a="http://schemas.openxmlformats.org/drawingml/2006/main">
            <a:off x="6543675" y="596265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95435"/>
                </a:solidFill>
                <a:latin typeface="Helvetica Neue"/>
                <a:ea typeface="Helvetica Neue"/>
                <a:cs typeface="Helvetica Neue"/>
              </a:defRPr>
            </a:defPPr>
          </a:lstStyle>
          <a:p xmlns:a="http://schemas.openxmlformats.org/drawingml/2006/main">
            <a:pPr>
              <a:defRPr sz="2025" b="1">
                <a:solidFill>
                  <a:srgbClr val="B95435"/>
                </a:solidFill>
                <a:latin typeface="Helvetica Neue"/>
                <a:ea typeface="Helvetica Neue"/>
                <a:cs typeface="Helvetica Neue"/>
              </a:defRPr>
            </a:pPr>
            <a:r>
              <a:rPr sz="2025" b="1">
                <a:solidFill>
                  <a:srgbClr val="B95435"/>
                </a:solidFill>
                <a:latin typeface="Helvetica Neue"/>
                <a:ea typeface="Helvetica Neue"/>
                <a:cs typeface="Helvetica Neue"/>
              </a:rPr>
              <a:t>5¹⁰ = 9,765,625 joint rows</a:t>
            </a:r>
          </a:p>
        </p:txBody>
      </p:sp>
      <p:sp>
        <p:nvSpPr>
          <p:cNvPr id="16" name="Discrete illustration. Local">
            <a:extLst xmlns:a="http://schemas.openxmlformats.org/drawingml/2006/main">
              <a:ext uri="{FF2B5EF4-FFF2-40B4-BE49-F238E27FC236}">
                <a16:creationId xmlns:a16="http://schemas.microsoft.com/office/drawing/2014/main" id="{446F4047-6FD5-4A04-B4A6-8D8BE8FF6421}"/>
              </a:ext>
            </a:extLst>
          </p:cNvPr>
          <p:cNvSpPr>
            <a:spLocks xmlns:a="http://schemas.openxmlformats.org/drawingml/2006/main" noGrp="1"/>
          </p:cNvSpPr>
          <p:nvPr/>
        </p:nvSpPr>
        <p:spPr>
          <a:xfrm xmlns:a="http://schemas.openxmlformats.org/drawingml/2006/main">
            <a:off x="609600" y="641985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66B"/>
                </a:solidFill>
                <a:latin typeface="Helvetica Neue"/>
                <a:ea typeface="Helvetica Neue"/>
                <a:cs typeface="Helvetica Neue"/>
              </a:defRPr>
            </a:defPPr>
          </a:lstStyle>
          <a:p xmlns:a="http://schemas.openxmlformats.org/drawingml/2006/main">
            <a:pPr>
              <a:defRPr sz="1350" b="0">
                <a:solidFill>
                  <a:srgbClr val="53666B"/>
                </a:solidFill>
                <a:latin typeface="Helvetica Neue"/>
                <a:ea typeface="Helvetica Neue"/>
                <a:cs typeface="Helvetica Neue"/>
              </a:defRPr>
            </a:pPr>
            <a:r>
              <a:rPr sz="1350" b="0">
                <a:solidFill>
                  <a:srgbClr val="53666B"/>
                </a:solidFill>
                <a:latin typeface="Helvetica Neue"/>
                <a:ea typeface="Helvetica Neue"/>
                <a:cs typeface="Helvetica Neue"/>
              </a:rPr>
              <a:t>Discrete illustration. Local maps compose through the graph. ACE fits functions instead of literal tables.</a:t>
            </a:r>
          </a:p>
        </p:txBody>
      </p:sp>
      <p:sp>
        <p:nvSpPr>
          <p:cNvPr id="17" name="page">
            <a:extLst xmlns:a="http://schemas.openxmlformats.org/drawingml/2006/main">
              <a:ext uri="{FF2B5EF4-FFF2-40B4-BE49-F238E27FC236}">
                <a16:creationId xmlns:a16="http://schemas.microsoft.com/office/drawing/2014/main" id="{D87E9085-89DC-43C1-A22B-14351C94A5C3}"/>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04</a:t>
            </a:r>
          </a:p>
        </p:txBody>
      </p:sp>
    </p:spTree>
    <p:extLst>
      <p:ext uri="{BB962C8B-B14F-4D97-AF65-F5344CB8AC3E}">
        <p14:creationId xmlns:p14="http://schemas.microsoft.com/office/powerpoint/2010/main" val="9764032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7E52D027-DC76-4269-BF0C-B944084AEED5}"/>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Exhaustive grids multiply the work</a:t>
            </a:r>
          </a:p>
        </p:txBody>
      </p:sp>
      <p:sp>
        <p:nvSpPr>
          <p:cNvPr id="2" name="page">
            <a:extLst xmlns:a="http://schemas.openxmlformats.org/drawingml/2006/main">
              <a:ext uri="{FF2B5EF4-FFF2-40B4-BE49-F238E27FC236}">
                <a16:creationId xmlns:a16="http://schemas.microsoft.com/office/drawing/2014/main" id="{DF8E1A4D-41ED-445C-90B3-FDB047E5A267}"/>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05</a:t>
            </a:r>
          </a:p>
        </p:txBody>
      </p:sp>
      <p:sp>
        <p:nvSpPr>
          <p:cNvPr id="3" name="10 inputs · 5 settings each ">
            <a:extLst xmlns:a="http://schemas.openxmlformats.org/drawingml/2006/main">
              <a:ext uri="{FF2B5EF4-FFF2-40B4-BE49-F238E27FC236}">
                <a16:creationId xmlns:a16="http://schemas.microsoft.com/office/drawing/2014/main" id="{1A294F44-E3A1-471F-BA30-65E374A448FB}"/>
              </a:ext>
            </a:extLst>
          </p:cNvPr>
          <p:cNvSpPr>
            <a:spLocks xmlns:a="http://schemas.openxmlformats.org/drawingml/2006/main" noGrp="1"/>
          </p:cNvSpPr>
          <p:nvPr/>
        </p:nvSpPr>
        <p:spPr>
          <a:xfrm xmlns:a="http://schemas.openxmlformats.org/drawingml/2006/main">
            <a:off x="609600" y="1447800"/>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66B"/>
                </a:solidFill>
                <a:latin typeface="Helvetica Neue"/>
                <a:ea typeface="Helvetica Neue"/>
                <a:cs typeface="Helvetica Neue"/>
              </a:defRPr>
            </a:defPPr>
          </a:lstStyle>
          <a:p xmlns:a="http://schemas.openxmlformats.org/drawingml/2006/main">
            <a:pPr>
              <a:buNone/>
              <a:defRPr sz="2100" b="0">
                <a:solidFill>
                  <a:srgbClr val="53666B"/>
                </a:solidFill>
                <a:latin typeface="Helvetica Neue"/>
                <a:ea typeface="Helvetica Neue"/>
                <a:cs typeface="Helvetica Neue"/>
              </a:defRPr>
            </a:pPr>
            <a:r>
              <a:rPr sz="2100" b="0">
                <a:solidFill>
                  <a:srgbClr val="53666B"/>
                </a:solidFill>
                <a:latin typeface="Helvetica Neue"/>
                <a:ea typeface="Helvetica Neue"/>
                <a:cs typeface="Helvetica Neue"/>
              </a:rPr>
              <a:t>10 inputs · 5 settings each · a deliberately naive joint-table baseline</a:t>
            </a:r>
          </a:p>
        </p:txBody>
      </p:sp>
      <p:sp>
        <p:nvSpPr>
          <p:cNvPr id="4" name="SCM-FREE JOINT TABLE">
            <a:extLst xmlns:a="http://schemas.openxmlformats.org/drawingml/2006/main">
              <a:ext uri="{FF2B5EF4-FFF2-40B4-BE49-F238E27FC236}">
                <a16:creationId xmlns:a16="http://schemas.microsoft.com/office/drawing/2014/main" id="{86266B4E-786C-4922-B133-D3BEF9C0CC12}"/>
              </a:ext>
            </a:extLst>
          </p:cNvPr>
          <p:cNvSpPr>
            <a:spLocks xmlns:a="http://schemas.openxmlformats.org/drawingml/2006/main" noGrp="1"/>
          </p:cNvSpPr>
          <p:nvPr/>
        </p:nvSpPr>
        <p:spPr>
          <a:xfrm xmlns:a="http://schemas.openxmlformats.org/drawingml/2006/main">
            <a:off x="609600" y="2247900"/>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B95435"/>
                </a:solidFill>
                <a:latin typeface="Helvetica Neue"/>
                <a:ea typeface="Helvetica Neue"/>
                <a:cs typeface="Helvetica Neue"/>
              </a:defRPr>
            </a:defPPr>
          </a:lstStyle>
          <a:p xmlns:a="http://schemas.openxmlformats.org/drawingml/2006/main">
            <a:pPr>
              <a:buNone/>
              <a:defRPr sz="1800" b="1">
                <a:solidFill>
                  <a:srgbClr val="B95435"/>
                </a:solidFill>
                <a:latin typeface="Helvetica Neue"/>
                <a:ea typeface="Helvetica Neue"/>
                <a:cs typeface="Helvetica Neue"/>
              </a:defRPr>
            </a:pPr>
            <a:r>
              <a:rPr sz="1800" b="1">
                <a:solidFill>
                  <a:srgbClr val="B95435"/>
                </a:solidFill>
                <a:latin typeface="Helvetica Neue"/>
                <a:ea typeface="Helvetica Neue"/>
                <a:cs typeface="Helvetica Neue"/>
              </a:rPr>
              <a:t>SCM-FREE JOINT TABLE</a:t>
            </a:r>
          </a:p>
        </p:txBody>
      </p:sp>
      <p:sp>
        <p:nvSpPr>
          <p:cNvPr id="5" name="9.77 million">
            <a:extLst xmlns:a="http://schemas.openxmlformats.org/drawingml/2006/main">
              <a:ext uri="{FF2B5EF4-FFF2-40B4-BE49-F238E27FC236}">
                <a16:creationId xmlns:a16="http://schemas.microsoft.com/office/drawing/2014/main" id="{5E49B6A7-A994-4BB1-9CA3-C7025347266C}"/>
              </a:ext>
            </a:extLst>
          </p:cNvPr>
          <p:cNvSpPr>
            <a:spLocks xmlns:a="http://schemas.openxmlformats.org/drawingml/2006/main" noGrp="1"/>
          </p:cNvSpPr>
          <p:nvPr/>
        </p:nvSpPr>
        <p:spPr>
          <a:xfrm xmlns:a="http://schemas.openxmlformats.org/drawingml/2006/main">
            <a:off x="609600" y="2752725"/>
            <a:ext cx="695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B95435"/>
                </a:solidFill>
                <a:latin typeface="Helvetica Neue"/>
                <a:ea typeface="Helvetica Neue"/>
                <a:cs typeface="Helvetica Neue"/>
              </a:defRPr>
            </a:defPPr>
          </a:lstStyle>
          <a:p xmlns:a="http://schemas.openxmlformats.org/drawingml/2006/main">
            <a:pPr>
              <a:buNone/>
              <a:defRPr sz="5550" b="1">
                <a:solidFill>
                  <a:srgbClr val="B95435"/>
                </a:solidFill>
                <a:latin typeface="Helvetica Neue"/>
                <a:ea typeface="Helvetica Neue"/>
                <a:cs typeface="Helvetica Neue"/>
              </a:defRPr>
            </a:pPr>
            <a:r>
              <a:rPr sz="5550" b="1">
                <a:solidFill>
                  <a:srgbClr val="B95435"/>
                </a:solidFill>
                <a:latin typeface="Helvetica Neue"/>
                <a:ea typeface="Helvetica Neue"/>
                <a:cs typeface="Helvetica Neue"/>
              </a:rPr>
              <a:t>9.77 million</a:t>
            </a:r>
          </a:p>
        </p:txBody>
      </p:sp>
      <p:sp>
        <p:nvSpPr>
          <p:cNvPr id="6" name="configurations for exhaustiv">
            <a:extLst xmlns:a="http://schemas.openxmlformats.org/drawingml/2006/main">
              <a:ext uri="{FF2B5EF4-FFF2-40B4-BE49-F238E27FC236}">
                <a16:creationId xmlns:a16="http://schemas.microsoft.com/office/drawing/2014/main" id="{1448CE5D-13CD-48D4-9B3C-E5A178D2AE3B}"/>
              </a:ext>
            </a:extLst>
          </p:cNvPr>
          <p:cNvSpPr>
            <a:spLocks xmlns:a="http://schemas.openxmlformats.org/drawingml/2006/main" noGrp="1"/>
          </p:cNvSpPr>
          <p:nvPr/>
        </p:nvSpPr>
        <p:spPr>
          <a:xfrm xmlns:a="http://schemas.openxmlformats.org/drawingml/2006/main">
            <a:off x="647700" y="37528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6313A"/>
                </a:solidFill>
                <a:latin typeface="Helvetica Neue"/>
                <a:ea typeface="Helvetica Neue"/>
                <a:cs typeface="Helvetica Neue"/>
              </a:defRPr>
            </a:defPPr>
          </a:lstStyle>
          <a:p xmlns:a="http://schemas.openxmlformats.org/drawingml/2006/main">
            <a:pPr>
              <a:buNone/>
              <a:defRPr sz="2100" b="0">
                <a:solidFill>
                  <a:srgbClr val="16313A"/>
                </a:solidFill>
                <a:latin typeface="Helvetica Neue"/>
                <a:ea typeface="Helvetica Neue"/>
                <a:cs typeface="Helvetica Neue"/>
              </a:defRPr>
            </a:pPr>
            <a:r>
              <a:rPr sz="2100" b="0">
                <a:solidFill>
                  <a:srgbClr val="16313A"/>
                </a:solidFill>
                <a:latin typeface="Helvetica Neue"/>
                <a:ea typeface="Helvetica Neue"/>
                <a:cs typeface="Helvetica Neue"/>
              </a:rPr>
              <a:t>configurations for exhaustive coverage</a:t>
            </a:r>
          </a:p>
        </p:txBody>
      </p:sp>
      <p:sp>
        <p:nvSpPr>
          <p:cNvPr id="7" name="29.26 million random draws">
            <a:extLst xmlns:a="http://schemas.openxmlformats.org/drawingml/2006/main">
              <a:ext uri="{FF2B5EF4-FFF2-40B4-BE49-F238E27FC236}">
                <a16:creationId xmlns:a16="http://schemas.microsoft.com/office/drawing/2014/main" id="{83457D64-6034-4CD2-B6A3-1F2776CB5647}"/>
              </a:ext>
            </a:extLst>
          </p:cNvPr>
          <p:cNvSpPr>
            <a:spLocks xmlns:a="http://schemas.openxmlformats.org/drawingml/2006/main" noGrp="1"/>
          </p:cNvSpPr>
          <p:nvPr/>
        </p:nvSpPr>
        <p:spPr>
          <a:xfrm xmlns:a="http://schemas.openxmlformats.org/drawingml/2006/main">
            <a:off x="638175" y="4514850"/>
            <a:ext cx="7239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B95435"/>
                </a:solidFill>
                <a:latin typeface="Helvetica Neue"/>
                <a:ea typeface="Helvetica Neue"/>
                <a:cs typeface="Helvetica Neue"/>
              </a:defRPr>
            </a:defPPr>
          </a:lstStyle>
          <a:p xmlns:a="http://schemas.openxmlformats.org/drawingml/2006/main">
            <a:pPr>
              <a:buNone/>
              <a:defRPr sz="2700" b="1">
                <a:solidFill>
                  <a:srgbClr val="B95435"/>
                </a:solidFill>
                <a:latin typeface="Helvetica Neue"/>
                <a:ea typeface="Helvetica Neue"/>
                <a:cs typeface="Helvetica Neue"/>
              </a:defRPr>
            </a:pPr>
            <a:r>
              <a:rPr sz="2700" b="1">
                <a:solidFill>
                  <a:srgbClr val="B95435"/>
                </a:solidFill>
                <a:latin typeface="Helvetica Neue"/>
                <a:ea typeface="Helvetica Neue"/>
                <a:cs typeface="Helvetica Neue"/>
              </a:rPr>
              <a:t>29.26 million random draws</a:t>
            </a:r>
          </a:p>
        </p:txBody>
      </p:sp>
      <p:sp>
        <p:nvSpPr>
          <p:cNvPr id="8" name="for 95% expected joint-grid ">
            <a:extLst xmlns:a="http://schemas.openxmlformats.org/drawingml/2006/main">
              <a:ext uri="{FF2B5EF4-FFF2-40B4-BE49-F238E27FC236}">
                <a16:creationId xmlns:a16="http://schemas.microsoft.com/office/drawing/2014/main" id="{4AFCF647-7E33-474C-A0A0-F975F228DAEF}"/>
              </a:ext>
            </a:extLst>
          </p:cNvPr>
          <p:cNvSpPr>
            <a:spLocks xmlns:a="http://schemas.openxmlformats.org/drawingml/2006/main" noGrp="1"/>
          </p:cNvSpPr>
          <p:nvPr/>
        </p:nvSpPr>
        <p:spPr>
          <a:xfrm xmlns:a="http://schemas.openxmlformats.org/drawingml/2006/main">
            <a:off x="647700" y="514350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6313A"/>
                </a:solidFill>
                <a:latin typeface="Helvetica Neue"/>
                <a:ea typeface="Helvetica Neue"/>
                <a:cs typeface="Helvetica Neue"/>
              </a:defRPr>
            </a:defPPr>
          </a:lstStyle>
          <a:p xmlns:a="http://schemas.openxmlformats.org/drawingml/2006/main">
            <a:pPr>
              <a:buNone/>
              <a:defRPr sz="2025" b="0">
                <a:solidFill>
                  <a:srgbClr val="16313A"/>
                </a:solidFill>
                <a:latin typeface="Helvetica Neue"/>
                <a:ea typeface="Helvetica Neue"/>
                <a:cs typeface="Helvetica Neue"/>
              </a:defRPr>
            </a:pPr>
            <a:r>
              <a:rPr sz="2025" b="0">
                <a:solidFill>
                  <a:srgbClr val="16313A"/>
                </a:solidFill>
                <a:latin typeface="Helvetica Neue"/>
                <a:ea typeface="Helvetica Neue"/>
                <a:cs typeface="Helvetica Neue"/>
              </a:rPr>
              <a:t>for 95% expected joint-grid coverage¹</a:t>
            </a:r>
          </a:p>
        </p:txBody>
      </p:sp>
      <p:sp>
        <p:nvSpPr>
          <p:cNvPr id="9" name="SCM LOCAL TABLES">
            <a:extLst xmlns:a="http://schemas.openxmlformats.org/drawingml/2006/main">
              <a:ext uri="{FF2B5EF4-FFF2-40B4-BE49-F238E27FC236}">
                <a16:creationId xmlns:a16="http://schemas.microsoft.com/office/drawing/2014/main" id="{6218F94A-CE78-4AE0-9A80-DC849E961852}"/>
              </a:ext>
            </a:extLst>
          </p:cNvPr>
          <p:cNvSpPr>
            <a:spLocks xmlns:a="http://schemas.openxmlformats.org/drawingml/2006/main" noGrp="1"/>
          </p:cNvSpPr>
          <p:nvPr/>
        </p:nvSpPr>
        <p:spPr>
          <a:xfrm xmlns:a="http://schemas.openxmlformats.org/drawingml/2006/main">
            <a:off x="8334375" y="2247900"/>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F83"/>
                </a:solidFill>
                <a:latin typeface="Helvetica Neue"/>
                <a:ea typeface="Helvetica Neue"/>
                <a:cs typeface="Helvetica Neue"/>
              </a:defRPr>
            </a:defPPr>
          </a:lstStyle>
          <a:p xmlns:a="http://schemas.openxmlformats.org/drawingml/2006/main">
            <a:pPr>
              <a:buNone/>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SCM LOCAL TABLES</a:t>
            </a:r>
          </a:p>
        </p:txBody>
      </p:sp>
      <p:sp>
        <p:nvSpPr>
          <p:cNvPr id="10" name="225">
            <a:extLst xmlns:a="http://schemas.openxmlformats.org/drawingml/2006/main">
              <a:ext uri="{FF2B5EF4-FFF2-40B4-BE49-F238E27FC236}">
                <a16:creationId xmlns:a16="http://schemas.microsoft.com/office/drawing/2014/main" id="{AD4BE916-DC94-4962-81BC-AF4F442E4641}"/>
              </a:ext>
            </a:extLst>
          </p:cNvPr>
          <p:cNvSpPr>
            <a:spLocks xmlns:a="http://schemas.openxmlformats.org/drawingml/2006/main" noGrp="1"/>
          </p:cNvSpPr>
          <p:nvPr/>
        </p:nvSpPr>
        <p:spPr>
          <a:xfrm xmlns:a="http://schemas.openxmlformats.org/drawingml/2006/main">
            <a:off x="8286750" y="2952750"/>
            <a:ext cx="3238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900" b="1">
                <a:solidFill>
                  <a:srgbClr val="087F83"/>
                </a:solidFill>
                <a:latin typeface="Helvetica Neue"/>
                <a:ea typeface="Helvetica Neue"/>
                <a:cs typeface="Helvetica Neue"/>
              </a:defRPr>
            </a:defPPr>
          </a:lstStyle>
          <a:p xmlns:a="http://schemas.openxmlformats.org/drawingml/2006/main">
            <a:pPr>
              <a:buNone/>
              <a:defRPr sz="6900" b="1">
                <a:solidFill>
                  <a:srgbClr val="087F83"/>
                </a:solidFill>
                <a:latin typeface="Helvetica Neue"/>
                <a:ea typeface="Helvetica Neue"/>
                <a:cs typeface="Helvetica Neue"/>
              </a:defRPr>
            </a:pPr>
            <a:r>
              <a:rPr sz="6900" b="1">
                <a:solidFill>
                  <a:srgbClr val="087F83"/>
                </a:solidFill>
                <a:latin typeface="Helvetica Neue"/>
                <a:ea typeface="Helvetica Neue"/>
                <a:cs typeface="Helvetica Neue"/>
              </a:rPr>
              <a:t>225</a:t>
            </a:r>
          </a:p>
        </p:txBody>
      </p:sp>
      <p:sp>
        <p:nvSpPr>
          <p:cNvPr id="11" name="local entries">
            <a:extLst xmlns:a="http://schemas.openxmlformats.org/drawingml/2006/main">
              <a:ext uri="{FF2B5EF4-FFF2-40B4-BE49-F238E27FC236}">
                <a16:creationId xmlns:a16="http://schemas.microsoft.com/office/drawing/2014/main" id="{1C14253F-A490-4CED-A88B-92EB392E93DF}"/>
              </a:ext>
            </a:extLst>
          </p:cNvPr>
          <p:cNvSpPr>
            <a:spLocks xmlns:a="http://schemas.openxmlformats.org/drawingml/2006/main" noGrp="1"/>
          </p:cNvSpPr>
          <p:nvPr/>
        </p:nvSpPr>
        <p:spPr>
          <a:xfrm xmlns:a="http://schemas.openxmlformats.org/drawingml/2006/main">
            <a:off x="8343900" y="42291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local entries</a:t>
            </a:r>
          </a:p>
        </p:txBody>
      </p:sp>
      <p:sp>
        <p:nvSpPr>
          <p:cNvPr id="12" name="9 mechanisms&#10;25 settings eac">
            <a:extLst xmlns:a="http://schemas.openxmlformats.org/drawingml/2006/main">
              <a:ext uri="{FF2B5EF4-FFF2-40B4-BE49-F238E27FC236}">
                <a16:creationId xmlns:a16="http://schemas.microsoft.com/office/drawing/2014/main" id="{BF6DDFA8-C5D4-40E3-A019-77B7B8DD3A4B}"/>
              </a:ext>
            </a:extLst>
          </p:cNvPr>
          <p:cNvSpPr>
            <a:spLocks xmlns:a="http://schemas.openxmlformats.org/drawingml/2006/main" noGrp="1"/>
          </p:cNvSpPr>
          <p:nvPr/>
        </p:nvSpPr>
        <p:spPr>
          <a:xfrm xmlns:a="http://schemas.openxmlformats.org/drawingml/2006/main">
            <a:off x="8343900" y="4819650"/>
            <a:ext cx="3190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666B"/>
                </a:solidFill>
                <a:latin typeface="Helvetica Neue"/>
                <a:ea typeface="Helvetica Neue"/>
                <a:cs typeface="Helvetica Neue"/>
              </a:defRPr>
            </a:defPPr>
          </a:lstStyle>
          <a:p xmlns:a="http://schemas.openxmlformats.org/drawingml/2006/main">
            <a:pPr>
              <a:buNone/>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9 mechanisms</a:t>
            </a:r>
          </a:p>
          <a:p xmlns:a="http://schemas.openxmlformats.org/drawingml/2006/main">
            <a:pPr>
              <a:buNone/>
              <a:defRPr sz="2025" b="0">
                <a:solidFill>
                  <a:srgbClr val="53666B"/>
                </a:solidFill>
                <a:latin typeface="Helvetica Neue"/>
                <a:ea typeface="Helvetica Neue"/>
                <a:cs typeface="Helvetica Neue"/>
              </a:defRPr>
            </a:pPr>
            <a:r>
              <a:rPr sz="2025" b="0">
                <a:solidFill>
                  <a:srgbClr val="53666B"/>
                </a:solidFill>
                <a:latin typeface="Helvetica Neue"/>
                <a:ea typeface="Helvetica Neue"/>
                <a:cs typeface="Helvetica Neue"/>
              </a:rPr>
              <a:t>25 settings each</a:t>
            </a:r>
          </a:p>
        </p:txBody>
      </p:sp>
      <p:sp>
        <p:nvSpPr>
          <p:cNvPr id="13" name="Analytic coverage / represen">
            <a:extLst xmlns:a="http://schemas.openxmlformats.org/drawingml/2006/main">
              <a:ext uri="{FF2B5EF4-FFF2-40B4-BE49-F238E27FC236}">
                <a16:creationId xmlns:a16="http://schemas.microsoft.com/office/drawing/2014/main" id="{1AC641F0-7E92-4E50-9D7C-A8658E3020F8}"/>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Analytic coverage / representation example, not a measured ACE speedup. ¹ Uniform draws with replacement.</a:t>
            </a:r>
          </a:p>
        </p:txBody>
      </p:sp>
    </p:spTree>
    <p:extLst>
      <p:ext uri="{BB962C8B-B14F-4D97-AF65-F5344CB8AC3E}">
        <p14:creationId xmlns:p14="http://schemas.microsoft.com/office/powerpoint/2010/main" val="1399645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BD965DA0-8203-45BB-A516-3052076FEFFC}"/>
              </a:ext>
            </a:extLst>
          </p:cNvPr>
          <p:cNvCxnSpPr>
            <a:stCxn xmlns:a="http://schemas.openxmlformats.org/drawingml/2006/main" id="11" idx="6"/>
            <a:endCxn xmlns:a="http://schemas.openxmlformats.org/drawingml/2006/main" id="13" idx="2"/>
          </p:cNvCxnSpPr>
          <p:nvPr/>
        </p:nvCxnSpPr>
        <p:spPr>
          <a:xfrm xmlns:a="http://schemas.openxmlformats.org/drawingml/2006/main">
            <a:off x="6905625" y="4381500"/>
            <a:ext cx="2238375" cy="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17" name="">
            <a:extLst xmlns:a="http://schemas.openxmlformats.org/drawingml/2006/main">
              <a:ext uri="{FF2B5EF4-FFF2-40B4-BE49-F238E27FC236}">
                <a16:creationId xmlns:a16="http://schemas.microsoft.com/office/drawing/2014/main" id="{B321C1B4-87EF-48B4-AE73-D079565B1D62}"/>
              </a:ext>
            </a:extLst>
          </p:cNvPr>
          <p:cNvCxnSpPr>
            <a:stCxn xmlns:a="http://schemas.openxmlformats.org/drawingml/2006/main" id="9" idx="6"/>
            <a:endCxn xmlns:a="http://schemas.openxmlformats.org/drawingml/2006/main" id="11" idx="2"/>
          </p:cNvCxnSpPr>
          <p:nvPr/>
        </p:nvCxnSpPr>
        <p:spPr>
          <a:xfrm xmlns:a="http://schemas.openxmlformats.org/drawingml/2006/main">
            <a:off x="2952750" y="4381500"/>
            <a:ext cx="2238375" cy="0"/>
          </a:xfrm>
          <a:prstGeom xmlns:a="http://schemas.openxmlformats.org/drawingml/2006/main" prst="straightConnector1">
            <a:avLst/>
          </a:prstGeom>
          <a:ln xmlns:a="http://schemas.openxmlformats.org/drawingml/2006/main" w="47625">
            <a:solidFill>
              <a:srgbClr val="087F83"/>
            </a:solidFill>
            <a:tailEnd type="triangle" w="lg" len="lg"/>
          </a:ln>
        </p:spPr>
      </p:cxnSp>
      <p:cxnSp>
        <p:nvCxnSpPr>
          <p:cNvPr id="15" name="">
            <a:extLst xmlns:a="http://schemas.openxmlformats.org/drawingml/2006/main">
              <a:ext uri="{FF2B5EF4-FFF2-40B4-BE49-F238E27FC236}">
                <a16:creationId xmlns:a16="http://schemas.microsoft.com/office/drawing/2014/main" id="{C5036EBA-98AD-4443-A90E-ED8B01F0FA8D}"/>
              </a:ext>
            </a:extLst>
          </p:cNvPr>
          <p:cNvCxnSpPr>
            <a:stCxn xmlns:a="http://schemas.openxmlformats.org/drawingml/2006/main" id="5" idx="4"/>
            <a:endCxn xmlns:a="http://schemas.openxmlformats.org/drawingml/2006/main" id="11" idx="0"/>
          </p:cNvCxnSpPr>
          <p:nvPr/>
        </p:nvCxnSpPr>
        <p:spPr>
          <a:xfrm xmlns:a="http://schemas.openxmlformats.org/drawingml/2006/main">
            <a:off x="6048375" y="2905125"/>
            <a:ext cx="0" cy="619125"/>
          </a:xfrm>
          <a:prstGeom xmlns:a="http://schemas.openxmlformats.org/drawingml/2006/main" prst="straightConnector1">
            <a:avLst/>
          </a:prstGeom>
          <a:ln xmlns:a="http://schemas.openxmlformats.org/drawingml/2006/main" w="47625">
            <a:solidFill>
              <a:srgbClr val="B95435"/>
            </a:solidFill>
            <a:tailEnd type="triangle" w="lg" len="lg"/>
          </a:ln>
        </p:spPr>
      </p:cxnSp>
      <p:sp>
        <p:nvSpPr>
          <p:cNvPr id="27" name="title">
            <a:extLst xmlns:a="http://schemas.openxmlformats.org/drawingml/2006/main">
              <a:ext uri="{FF2B5EF4-FFF2-40B4-BE49-F238E27FC236}">
                <a16:creationId xmlns:a16="http://schemas.microsoft.com/office/drawing/2014/main" id="{9C7690CC-3D02-4C5B-8D41-9C5E893A9C18}"/>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The ACE intervention loop</a:t>
            </a:r>
          </a:p>
        </p:txBody>
      </p:sp>
      <p:sp>
        <p:nvSpPr>
          <p:cNvPr id="2" name="page">
            <a:extLst xmlns:a="http://schemas.openxmlformats.org/drawingml/2006/main">
              <a:ext uri="{FF2B5EF4-FFF2-40B4-BE49-F238E27FC236}">
                <a16:creationId xmlns:a16="http://schemas.microsoft.com/office/drawing/2014/main" id="{1B065459-5300-4008-9D32-9AA6C8BCFED6}"/>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06</a:t>
            </a:r>
          </a:p>
        </p:txBody>
      </p:sp>
      <p:sp>
        <p:nvSpPr>
          <p:cNvPr id="3" name="How the LLM policy learns">
            <a:extLst xmlns:a="http://schemas.openxmlformats.org/drawingml/2006/main">
              <a:ext uri="{FF2B5EF4-FFF2-40B4-BE49-F238E27FC236}">
                <a16:creationId xmlns:a16="http://schemas.microsoft.com/office/drawing/2014/main" id="{4EF7927B-0B01-44D6-97B6-95DBD25C0B8F}"/>
              </a:ext>
            </a:extLst>
          </p:cNvPr>
          <p:cNvSpPr>
            <a:spLocks xmlns:a="http://schemas.openxmlformats.org/drawingml/2006/main" noGrp="1"/>
          </p:cNvSpPr>
          <p:nvPr/>
        </p:nvSpPr>
        <p:spPr>
          <a:xfrm xmlns:a="http://schemas.openxmlformats.org/drawingml/2006/main">
            <a:off x="609600" y="1419225"/>
            <a:ext cx="4343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95435"/>
                </a:solidFill>
                <a:latin typeface="Helvetica Neue"/>
                <a:ea typeface="Helvetica Neue"/>
                <a:cs typeface="Helvetica Neue"/>
              </a:defRPr>
            </a:defPPr>
          </a:lstStyle>
          <a:p xmlns:a="http://schemas.openxmlformats.org/drawingml/2006/main">
            <a:pPr>
              <a:defRPr sz="2025" b="1">
                <a:solidFill>
                  <a:srgbClr val="B95435"/>
                </a:solidFill>
                <a:latin typeface="Helvetica Neue"/>
                <a:ea typeface="Helvetica Neue"/>
                <a:cs typeface="Helvetica Neue"/>
              </a:defRPr>
            </a:pPr>
            <a:r>
              <a:rPr sz="2025" b="1">
                <a:solidFill>
                  <a:srgbClr val="B95435"/>
                </a:solidFill>
                <a:latin typeface="Helvetica Neue"/>
                <a:ea typeface="Helvetica Neue"/>
                <a:cs typeface="Helvetica Neue"/>
              </a:rPr>
              <a:t>How the LLM policy learns</a:t>
            </a:r>
          </a:p>
        </p:txBody>
      </p:sp>
      <p:sp>
        <p:nvSpPr>
          <p:cNvPr id="4" name="1. Start with a pretrained L">
            <a:extLst xmlns:a="http://schemas.openxmlformats.org/drawingml/2006/main">
              <a:ext uri="{FF2B5EF4-FFF2-40B4-BE49-F238E27FC236}">
                <a16:creationId xmlns:a16="http://schemas.microsoft.com/office/drawing/2014/main" id="{F4D14940-3394-45E6-8C6D-D99724B0DDFC}"/>
              </a:ext>
            </a:extLst>
          </p:cNvPr>
          <p:cNvSpPr>
            <a:spLocks xmlns:a="http://schemas.openxmlformats.org/drawingml/2006/main" noGrp="1"/>
          </p:cNvSpPr>
          <p:nvPr/>
        </p:nvSpPr>
        <p:spPr>
          <a:xfrm xmlns:a="http://schemas.openxmlformats.org/drawingml/2006/main">
            <a:off x="609600" y="1847850"/>
            <a:ext cx="4429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16313A"/>
                </a:solidFill>
                <a:latin typeface="Helvetica Neue"/>
                <a:ea typeface="Helvetica Neue"/>
                <a:cs typeface="Helvetica Neue"/>
              </a:defRPr>
            </a:defPPr>
          </a:lstStyle>
          <a:p xmlns:a="http://schemas.openxmlformats.org/drawingml/2006/main">
            <a:pPr>
              <a:defRPr sz="1725" b="0">
                <a:solidFill>
                  <a:srgbClr val="16313A"/>
                </a:solidFill>
                <a:latin typeface="Helvetica Neue"/>
                <a:ea typeface="Helvetica Neue"/>
                <a:cs typeface="Helvetica Neue"/>
              </a:defRPr>
            </a:pPr>
            <a:r>
              <a:rPr sz="1725" b="0">
                <a:solidFill>
                  <a:srgbClr val="16313A"/>
                </a:solidFill>
                <a:latin typeface="Helvetica Neue"/>
                <a:ea typeface="Helvetica Neue"/>
                <a:cs typeface="Helvetica Neue"/>
              </a:rPr>
              <a:t>1. Start with a pretrained LLM</a:t>
            </a:r>
          </a:p>
          <a:p xmlns:a="http://schemas.openxmlformats.org/drawingml/2006/main">
            <a:pPr>
              <a:defRPr sz="1725" b="0">
                <a:solidFill>
                  <a:srgbClr val="16313A"/>
                </a:solidFill>
                <a:latin typeface="Helvetica Neue"/>
                <a:ea typeface="Helvetica Neue"/>
                <a:cs typeface="Helvetica Neue"/>
              </a:defRPr>
            </a:pPr>
            <a:r>
              <a:rPr sz="1725" b="0">
                <a:solidFill>
                  <a:srgbClr val="16313A"/>
                </a:solidFill>
                <a:latin typeface="Helvetica Neue"/>
                <a:ea typeface="Helvetica Neue"/>
                <a:cs typeface="Helvetica Neue"/>
              </a:rPr>
              <a:t>2. Learn teacher intervention commands</a:t>
            </a:r>
          </a:p>
          <a:p xmlns:a="http://schemas.openxmlformats.org/drawingml/2006/main">
            <a:pPr>
              <a:defRPr sz="1725" b="0">
                <a:solidFill>
                  <a:srgbClr val="16313A"/>
                </a:solidFill>
                <a:latin typeface="Helvetica Neue"/>
                <a:ea typeface="Helvetica Neue"/>
                <a:cs typeface="Helvetica Neue"/>
              </a:defRPr>
            </a:pPr>
            <a:r>
              <a:rPr sz="1725" b="0">
                <a:solidFill>
                  <a:srgbClr val="16313A"/>
                </a:solidFill>
                <a:latin typeface="Helvetica Neue"/>
                <a:ea typeface="Helvetica Neue"/>
                <a:cs typeface="Helvetica Neue"/>
              </a:rPr>
              <a:t>3. Prefer higher-scoring candidates (DPO)</a:t>
            </a:r>
          </a:p>
        </p:txBody>
      </p:sp>
      <p:sp>
        <p:nvSpPr>
          <p:cNvPr id="5" name="SCM node ">
            <a:extLst xmlns:a="http://schemas.openxmlformats.org/drawingml/2006/main">
              <a:ext uri="{FF2B5EF4-FFF2-40B4-BE49-F238E27FC236}">
                <a16:creationId xmlns:a16="http://schemas.microsoft.com/office/drawing/2014/main" id="{16F05DE5-727D-478A-97DF-12CBC99456A0}"/>
              </a:ext>
            </a:extLst>
          </p:cNvPr>
          <p:cNvSpPr>
            <a:spLocks xmlns:a="http://schemas.openxmlformats.org/drawingml/2006/main" noGrp="1"/>
          </p:cNvSpPr>
          <p:nvPr/>
        </p:nvSpPr>
        <p:spPr>
          <a:xfrm xmlns:a="http://schemas.openxmlformats.org/drawingml/2006/main">
            <a:off x="5353050" y="1514475"/>
            <a:ext cx="1390650" cy="1390650"/>
          </a:xfrm>
          <a:prstGeom xmlns:a="http://schemas.openxmlformats.org/drawingml/2006/main" prst="ellipse">
            <a:avLst/>
          </a:prstGeom>
          <a:solidFill xmlns:a="http://schemas.openxmlformats.org/drawingml/2006/main">
            <a:srgbClr val="B95435"/>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r>
              <a:t/>
            </a:r>
          </a:p>
        </p:txBody>
      </p:sp>
      <p:sp>
        <p:nvSpPr>
          <p:cNvPr id="6" name="LLM&#10;policy">
            <a:extLst xmlns:a="http://schemas.openxmlformats.org/drawingml/2006/main">
              <a:ext uri="{FF2B5EF4-FFF2-40B4-BE49-F238E27FC236}">
                <a16:creationId xmlns:a16="http://schemas.microsoft.com/office/drawing/2014/main" id="{764AF208-2657-4C64-A595-D57CBBF9C9AD}"/>
              </a:ext>
            </a:extLst>
          </p:cNvPr>
          <p:cNvSpPr>
            <a:spLocks xmlns:a="http://schemas.openxmlformats.org/drawingml/2006/main" noGrp="1"/>
          </p:cNvSpPr>
          <p:nvPr/>
        </p:nvSpPr>
        <p:spPr>
          <a:xfrm xmlns:a="http://schemas.openxmlformats.org/drawingml/2006/main">
            <a:off x="5429250" y="1800225"/>
            <a:ext cx="1238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75" b="1">
                <a:solidFill>
                  <a:srgbClr val="FFFFFF"/>
                </a:solidFill>
                <a:latin typeface="Helvetica Neue"/>
                <a:ea typeface="Helvetica Neue"/>
                <a:cs typeface="Helvetica Neue"/>
              </a:defRPr>
            </a:defPPr>
          </a:lstStyle>
          <a:p xmlns:a="http://schemas.openxmlformats.org/drawingml/2006/main">
            <a:pPr algn="ct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LLM</a:t>
            </a:r>
          </a:p>
          <a:p xmlns:a="http://schemas.openxmlformats.org/drawingml/2006/main">
            <a:pPr algn="ct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policy</a:t>
            </a:r>
          </a:p>
        </p:txBody>
      </p:sp>
      <p:sp>
        <p:nvSpPr>
          <p:cNvPr id="7" name="Input: SCM state + history&#10;O">
            <a:extLst xmlns:a="http://schemas.openxmlformats.org/drawingml/2006/main">
              <a:ext uri="{FF2B5EF4-FFF2-40B4-BE49-F238E27FC236}">
                <a16:creationId xmlns:a16="http://schemas.microsoft.com/office/drawing/2014/main" id="{FD4EE3A6-51CC-432B-BBED-FC1BB4EB287F}"/>
              </a:ext>
            </a:extLst>
          </p:cNvPr>
          <p:cNvSpPr>
            <a:spLocks xmlns:a="http://schemas.openxmlformats.org/drawingml/2006/main" noGrp="1"/>
          </p:cNvSpPr>
          <p:nvPr/>
        </p:nvSpPr>
        <p:spPr>
          <a:xfrm xmlns:a="http://schemas.openxmlformats.org/drawingml/2006/main">
            <a:off x="7496175" y="1600200"/>
            <a:ext cx="4076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6313A"/>
                </a:solidFill>
                <a:latin typeface="Helvetica Neue"/>
                <a:ea typeface="Helvetica Neue"/>
                <a:cs typeface="Helvetica Neue"/>
              </a:defRPr>
            </a:defPPr>
          </a:lstStyle>
          <a:p xmlns:a="http://schemas.openxmlformats.org/drawingml/2006/main">
            <a:pPr>
              <a:defRPr sz="1950" b="0">
                <a:solidFill>
                  <a:srgbClr val="16313A"/>
                </a:solidFill>
                <a:latin typeface="Helvetica Neue"/>
                <a:ea typeface="Helvetica Neue"/>
                <a:cs typeface="Helvetica Neue"/>
              </a:defRPr>
            </a:pPr>
            <a:r>
              <a:rPr sz="1950" b="0">
                <a:solidFill>
                  <a:srgbClr val="16313A"/>
                </a:solidFill>
                <a:latin typeface="Helvetica Neue"/>
                <a:ea typeface="Helvetica Neue"/>
                <a:cs typeface="Helvetica Neue"/>
              </a:rPr>
              <a:t>Input: SCM state + history</a:t>
            </a:r>
          </a:p>
          <a:p xmlns:a="http://schemas.openxmlformats.org/drawingml/2006/main">
            <a:pPr>
              <a:defRPr sz="1950" b="0">
                <a:solidFill>
                  <a:srgbClr val="16313A"/>
                </a:solidFill>
                <a:latin typeface="Helvetica Neue"/>
                <a:ea typeface="Helvetica Neue"/>
                <a:cs typeface="Helvetica Neue"/>
              </a:defRPr>
            </a:pPr>
            <a:r>
              <a:rPr sz="1950" b="0">
                <a:solidFill>
                  <a:srgbClr val="16313A"/>
                </a:solidFill>
                <a:latin typeface="Helvetica Neue"/>
                <a:ea typeface="Helvetica Neue"/>
                <a:cs typeface="Helvetica Neue"/>
              </a:rPr>
              <a:t>Output: candidate interventions</a:t>
            </a:r>
          </a:p>
        </p:txBody>
      </p:sp>
      <p:sp>
        <p:nvSpPr>
          <p:cNvPr id="8" name="Separate LLM implementation">
            <a:extLst xmlns:a="http://schemas.openxmlformats.org/drawingml/2006/main">
              <a:ext uri="{FF2B5EF4-FFF2-40B4-BE49-F238E27FC236}">
                <a16:creationId xmlns:a16="http://schemas.microsoft.com/office/drawing/2014/main" id="{C00D4B0B-7C9F-4BA8-93A3-9ECEF4892F80}"/>
              </a:ext>
            </a:extLst>
          </p:cNvPr>
          <p:cNvSpPr>
            <a:spLocks xmlns:a="http://schemas.openxmlformats.org/drawingml/2006/main" noGrp="1"/>
          </p:cNvSpPr>
          <p:nvPr/>
        </p:nvSpPr>
        <p:spPr>
          <a:xfrm xmlns:a="http://schemas.openxmlformats.org/drawingml/2006/main">
            <a:off x="7496175" y="2571750"/>
            <a:ext cx="4038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B95435"/>
                </a:solidFill>
                <a:latin typeface="Helvetica Neue"/>
                <a:ea typeface="Helvetica Neue"/>
                <a:cs typeface="Helvetica Neue"/>
              </a:defRPr>
            </a:defPPr>
          </a:lstStyle>
          <a:p xmlns:a="http://schemas.openxmlformats.org/drawingml/2006/main">
            <a:pPr>
              <a:defRPr sz="1725" b="1">
                <a:solidFill>
                  <a:srgbClr val="B95435"/>
                </a:solidFill>
                <a:latin typeface="Helvetica Neue"/>
                <a:ea typeface="Helvetica Neue"/>
                <a:cs typeface="Helvetica Neue"/>
              </a:defRPr>
            </a:pPr>
            <a:r>
              <a:rPr sz="1725" b="1">
                <a:solidFill>
                  <a:srgbClr val="B95435"/>
                </a:solidFill>
                <a:latin typeface="Helvetica Neue"/>
                <a:ea typeface="Helvetica Neue"/>
                <a:cs typeface="Helvetica Neue"/>
              </a:rPr>
              <a:t>Separate LLM implementation</a:t>
            </a:r>
          </a:p>
        </p:txBody>
      </p:sp>
      <p:sp>
        <p:nvSpPr>
          <p:cNvPr id="9" name="SCM node ">
            <a:extLst xmlns:a="http://schemas.openxmlformats.org/drawingml/2006/main">
              <a:ext uri="{FF2B5EF4-FFF2-40B4-BE49-F238E27FC236}">
                <a16:creationId xmlns:a16="http://schemas.microsoft.com/office/drawing/2014/main" id="{D604A87F-3843-4F46-A46D-7A66C13E3D5F}"/>
              </a:ext>
            </a:extLst>
          </p:cNvPr>
          <p:cNvSpPr>
            <a:spLocks xmlns:a="http://schemas.openxmlformats.org/drawingml/2006/main" noGrp="1"/>
          </p:cNvSpPr>
          <p:nvPr/>
        </p:nvSpPr>
        <p:spPr>
          <a:xfrm xmlns:a="http://schemas.openxmlformats.org/drawingml/2006/main">
            <a:off x="1238250" y="3524250"/>
            <a:ext cx="1714500" cy="17145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r>
              <a:t/>
            </a:r>
          </a:p>
        </p:txBody>
      </p:sp>
      <p:sp>
        <p:nvSpPr>
          <p:cNvPr id="10" name="SCM&#10;Predict&#10;uncertainty">
            <a:extLst xmlns:a="http://schemas.openxmlformats.org/drawingml/2006/main">
              <a:ext uri="{FF2B5EF4-FFF2-40B4-BE49-F238E27FC236}">
                <a16:creationId xmlns:a16="http://schemas.microsoft.com/office/drawing/2014/main" id="{69CBE8BA-C278-4CD3-A371-DC4E1B02475D}"/>
              </a:ext>
            </a:extLst>
          </p:cNvPr>
          <p:cNvSpPr>
            <a:spLocks xmlns:a="http://schemas.openxmlformats.org/drawingml/2006/main" noGrp="1"/>
          </p:cNvSpPr>
          <p:nvPr/>
        </p:nvSpPr>
        <p:spPr>
          <a:xfrm xmlns:a="http://schemas.openxmlformats.org/drawingml/2006/main">
            <a:off x="1314450" y="3810000"/>
            <a:ext cx="15621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FFFFFF"/>
                </a:solidFill>
                <a:latin typeface="Helvetica Neue"/>
                <a:ea typeface="Helvetica Neue"/>
                <a:cs typeface="Helvetica Neue"/>
              </a:defRPr>
            </a:defPPr>
          </a:lstStyle>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SCM</a:t>
            </a:r>
          </a:p>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Predict</a:t>
            </a:r>
          </a:p>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uncertainty</a:t>
            </a:r>
          </a:p>
        </p:txBody>
      </p:sp>
      <p:sp>
        <p:nvSpPr>
          <p:cNvPr id="11" name="SCM node ">
            <a:extLst xmlns:a="http://schemas.openxmlformats.org/drawingml/2006/main">
              <a:ext uri="{FF2B5EF4-FFF2-40B4-BE49-F238E27FC236}">
                <a16:creationId xmlns:a16="http://schemas.microsoft.com/office/drawing/2014/main" id="{50413D3A-AEEF-4463-9661-B3263494EAA1}"/>
              </a:ext>
            </a:extLst>
          </p:cNvPr>
          <p:cNvSpPr>
            <a:spLocks xmlns:a="http://schemas.openxmlformats.org/drawingml/2006/main" noGrp="1"/>
          </p:cNvSpPr>
          <p:nvPr/>
        </p:nvSpPr>
        <p:spPr>
          <a:xfrm xmlns:a="http://schemas.openxmlformats.org/drawingml/2006/main">
            <a:off x="5191125" y="3524250"/>
            <a:ext cx="1714500" cy="17145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r>
              <a:t/>
            </a:r>
          </a:p>
        </p:txBody>
      </p:sp>
      <p:sp>
        <p:nvSpPr>
          <p:cNvPr id="12" name="Select an&#10;intervention">
            <a:extLst xmlns:a="http://schemas.openxmlformats.org/drawingml/2006/main">
              <a:ext uri="{FF2B5EF4-FFF2-40B4-BE49-F238E27FC236}">
                <a16:creationId xmlns:a16="http://schemas.microsoft.com/office/drawing/2014/main" id="{E2F5CB81-CF34-4946-9DAC-374BBC6E0492}"/>
              </a:ext>
            </a:extLst>
          </p:cNvPr>
          <p:cNvSpPr>
            <a:spLocks xmlns:a="http://schemas.openxmlformats.org/drawingml/2006/main" noGrp="1"/>
          </p:cNvSpPr>
          <p:nvPr/>
        </p:nvSpPr>
        <p:spPr>
          <a:xfrm xmlns:a="http://schemas.openxmlformats.org/drawingml/2006/main">
            <a:off x="5267325" y="3810000"/>
            <a:ext cx="15621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1">
                <a:solidFill>
                  <a:srgbClr val="FFFFFF"/>
                </a:solidFill>
                <a:latin typeface="Helvetica Neue"/>
                <a:ea typeface="Helvetica Neue"/>
                <a:cs typeface="Helvetica Neue"/>
              </a:defRPr>
            </a:defPPr>
          </a:lstStyle>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Select an</a:t>
            </a:r>
          </a:p>
          <a:p xmlns:a="http://schemas.openxmlformats.org/drawingml/2006/main">
            <a:pPr algn="ctr">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intervention</a:t>
            </a:r>
          </a:p>
        </p:txBody>
      </p:sp>
      <p:sp>
        <p:nvSpPr>
          <p:cNvPr id="13" name="SCM node ">
            <a:extLst xmlns:a="http://schemas.openxmlformats.org/drawingml/2006/main">
              <a:ext uri="{FF2B5EF4-FFF2-40B4-BE49-F238E27FC236}">
                <a16:creationId xmlns:a16="http://schemas.microsoft.com/office/drawing/2014/main" id="{26857562-0A19-45C3-A45B-1DCB98F6178D}"/>
              </a:ext>
            </a:extLst>
          </p:cNvPr>
          <p:cNvSpPr>
            <a:spLocks xmlns:a="http://schemas.openxmlformats.org/drawingml/2006/main" noGrp="1"/>
          </p:cNvSpPr>
          <p:nvPr/>
        </p:nvSpPr>
        <p:spPr>
          <a:xfrm xmlns:a="http://schemas.openxmlformats.org/drawingml/2006/main">
            <a:off x="9144000" y="3524250"/>
            <a:ext cx="1714500" cy="1714500"/>
          </a:xfrm>
          <a:prstGeom xmlns:a="http://schemas.openxmlformats.org/drawingml/2006/main" prst="ellipse">
            <a:avLst/>
          </a:prstGeom>
          <a:solidFill xmlns:a="http://schemas.openxmlformats.org/drawingml/2006/main">
            <a:srgbClr val="087F83"/>
          </a:solidFill>
          <a:ln xmlns:a="http://schemas.openxmlformats.org/drawingml/2006/main" w="0">
            <a:noFill/>
          </a:ln>
        </p:spPr>
        <p:txBody>
          <a:bodyPr xmlns:a="http://schemas.openxmlformats.org/drawingml/2006/main" lIns="0" tIns="0" rIns="0" bIns="0" anchor="ctr"/>
          <a:lstStyle xmlns:a="http://schemas.openxmlformats.org/drawingml/2006/main">
            <a:defPPr algn="ctr">
              <a:defRPr sz="2025" b="1">
                <a:solidFill>
                  <a:srgbClr val="FFFFFF"/>
                </a:solidFill>
                <a:latin typeface="Helvetica Neue"/>
                <a:ea typeface="Helvetica Neue"/>
                <a:cs typeface="Helvetica Neue"/>
              </a:defRPr>
            </a:defPPr>
          </a:lstStyle>
          <a:p xmlns:a="http://schemas.openxmlformats.org/drawingml/2006/main">
            <a:r>
              <a:t/>
            </a:r>
          </a:p>
        </p:txBody>
      </p:sp>
      <p:sp>
        <p:nvSpPr>
          <p:cNvPr id="14" name="Environment&#10;Apply +&#10;measure">
            <a:extLst xmlns:a="http://schemas.openxmlformats.org/drawingml/2006/main">
              <a:ext uri="{FF2B5EF4-FFF2-40B4-BE49-F238E27FC236}">
                <a16:creationId xmlns:a16="http://schemas.microsoft.com/office/drawing/2014/main" id="{DC474C15-1E7E-4AC1-B464-BB4BAB608BC9}"/>
              </a:ext>
            </a:extLst>
          </p:cNvPr>
          <p:cNvSpPr>
            <a:spLocks xmlns:a="http://schemas.openxmlformats.org/drawingml/2006/main" noGrp="1"/>
          </p:cNvSpPr>
          <p:nvPr/>
        </p:nvSpPr>
        <p:spPr>
          <a:xfrm xmlns:a="http://schemas.openxmlformats.org/drawingml/2006/main">
            <a:off x="9220200" y="3810000"/>
            <a:ext cx="15621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950" b="1">
                <a:solidFill>
                  <a:srgbClr val="FFFFFF"/>
                </a:solidFill>
                <a:latin typeface="Helvetica Neue"/>
                <a:ea typeface="Helvetica Neue"/>
                <a:cs typeface="Helvetica Neue"/>
              </a:defRPr>
            </a:defPPr>
          </a:lstStyle>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Environment</a:t>
            </a:r>
          </a:p>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Apply +</a:t>
            </a:r>
          </a:p>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measure</a:t>
            </a:r>
          </a:p>
        </p:txBody>
      </p:sp>
      <p:sp>
        <p:nvSpPr>
          <p:cNvPr id="16" name="Proposed interface">
            <a:extLst xmlns:a="http://schemas.openxmlformats.org/drawingml/2006/main">
              <a:ext uri="{FF2B5EF4-FFF2-40B4-BE49-F238E27FC236}">
                <a16:creationId xmlns:a16="http://schemas.microsoft.com/office/drawing/2014/main" id="{D55AA5D9-90BF-4868-854D-DBFC7D52F55E}"/>
              </a:ext>
            </a:extLst>
          </p:cNvPr>
          <p:cNvSpPr>
            <a:spLocks xmlns:a="http://schemas.openxmlformats.org/drawingml/2006/main" noGrp="1"/>
          </p:cNvSpPr>
          <p:nvPr/>
        </p:nvSpPr>
        <p:spPr>
          <a:xfrm xmlns:a="http://schemas.openxmlformats.org/drawingml/2006/main">
            <a:off x="6219825" y="308610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95435"/>
                </a:solidFill>
                <a:latin typeface="Helvetica Neue"/>
                <a:ea typeface="Helvetica Neue"/>
                <a:cs typeface="Helvetica Neue"/>
              </a:defRPr>
            </a:defPPr>
          </a:lstStyle>
          <a:p xmlns:a="http://schemas.openxmlformats.org/drawingml/2006/main">
            <a:pPr>
              <a:defRPr sz="1575" b="0">
                <a:solidFill>
                  <a:srgbClr val="B95435"/>
                </a:solidFill>
                <a:latin typeface="Helvetica Neue"/>
                <a:ea typeface="Helvetica Neue"/>
                <a:cs typeface="Helvetica Neue"/>
              </a:defRPr>
            </a:pPr>
            <a:r>
              <a:rPr sz="1575" b="0">
                <a:solidFill>
                  <a:srgbClr val="B95435"/>
                </a:solidFill>
                <a:latin typeface="Helvetica Neue"/>
                <a:ea typeface="Helvetica Neue"/>
                <a:cs typeface="Helvetica Neue"/>
              </a:rPr>
              <a:t>Proposed interface</a:t>
            </a:r>
          </a:p>
        </p:txBody>
      </p:sp>
      <p:sp>
        <p:nvSpPr>
          <p:cNvPr id="19" name="Compare allowed&#10;intervention">
            <a:extLst xmlns:a="http://schemas.openxmlformats.org/drawingml/2006/main">
              <a:ext uri="{FF2B5EF4-FFF2-40B4-BE49-F238E27FC236}">
                <a16:creationId xmlns:a16="http://schemas.microsoft.com/office/drawing/2014/main" id="{298E7A3F-646B-4391-BC7F-8FB9F103CB2E}"/>
              </a:ext>
            </a:extLst>
          </p:cNvPr>
          <p:cNvSpPr>
            <a:spLocks xmlns:a="http://schemas.openxmlformats.org/drawingml/2006/main" noGrp="1"/>
          </p:cNvSpPr>
          <p:nvPr/>
        </p:nvSpPr>
        <p:spPr>
          <a:xfrm xmlns:a="http://schemas.openxmlformats.org/drawingml/2006/main">
            <a:off x="3162300" y="3752850"/>
            <a:ext cx="19716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Compare allowed</a:t>
            </a:r>
          </a:p>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interventions</a:t>
            </a:r>
          </a:p>
        </p:txBody>
      </p:sp>
      <p:sp>
        <p:nvSpPr>
          <p:cNvPr id="20" name="Chosen&#10;intervention">
            <a:extLst xmlns:a="http://schemas.openxmlformats.org/drawingml/2006/main">
              <a:ext uri="{FF2B5EF4-FFF2-40B4-BE49-F238E27FC236}">
                <a16:creationId xmlns:a16="http://schemas.microsoft.com/office/drawing/2014/main" id="{231E49A7-02A0-4491-BAFB-5D63C8A9357E}"/>
              </a:ext>
            </a:extLst>
          </p:cNvPr>
          <p:cNvSpPr>
            <a:spLocks xmlns:a="http://schemas.openxmlformats.org/drawingml/2006/main" noGrp="1"/>
          </p:cNvSpPr>
          <p:nvPr/>
        </p:nvSpPr>
        <p:spPr>
          <a:xfrm xmlns:a="http://schemas.openxmlformats.org/drawingml/2006/main">
            <a:off x="7200900" y="3752850"/>
            <a:ext cx="1866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Chosen</a:t>
            </a:r>
          </a:p>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intervention</a:t>
            </a:r>
          </a:p>
        </p:txBody>
      </p:sp>
      <p:cxnSp>
        <p:nvCxnSpPr>
          <p:cNvPr id="21" name="">
            <a:extLst xmlns:a="http://schemas.openxmlformats.org/drawingml/2006/main">
              <a:ext uri="{FF2B5EF4-FFF2-40B4-BE49-F238E27FC236}">
                <a16:creationId xmlns:a16="http://schemas.microsoft.com/office/drawing/2014/main" id="{2B1F7757-78F0-4340-90A6-63D2FDDBAE66}"/>
              </a:ext>
            </a:extLst>
          </p:cNvPr>
          <p:cNvCxnSpPr/>
          <p:nvPr/>
        </p:nvCxnSpPr>
        <p:spPr>
          <a:xfrm xmlns:a="http://schemas.openxmlformats.org/drawingml/2006/main">
            <a:off x="10001250" y="5238750"/>
            <a:ext cx="0" cy="609600"/>
          </a:xfrm>
          <a:prstGeom xmlns:a="http://schemas.openxmlformats.org/drawingml/2006/main" prst="straightConnector1">
            <a:avLst/>
          </a:prstGeom>
          <a:ln xmlns:a="http://schemas.openxmlformats.org/drawingml/2006/main" w="47625">
            <a:solidFill>
              <a:srgbClr val="087F83"/>
            </a:solidFill>
            <a:headEnd type="none" w="lg" len="lg"/>
            <a:tailEnd type="none" w="med" len="med"/>
          </a:ln>
        </p:spPr>
      </p:cxnSp>
      <p:cxnSp>
        <p:nvCxnSpPr>
          <p:cNvPr id="22" name="">
            <a:extLst xmlns:a="http://schemas.openxmlformats.org/drawingml/2006/main">
              <a:ext uri="{FF2B5EF4-FFF2-40B4-BE49-F238E27FC236}">
                <a16:creationId xmlns:a16="http://schemas.microsoft.com/office/drawing/2014/main" id="{0E330ECA-A48C-4ADC-90B4-015409D31D27}"/>
              </a:ext>
            </a:extLst>
          </p:cNvPr>
          <p:cNvCxnSpPr/>
          <p:nvPr/>
        </p:nvCxnSpPr>
        <p:spPr>
          <a:xfrm xmlns:a="http://schemas.openxmlformats.org/drawingml/2006/main">
            <a:off x="2095500" y="5848350"/>
            <a:ext cx="7905750" cy="0"/>
          </a:xfrm>
          <a:prstGeom xmlns:a="http://schemas.openxmlformats.org/drawingml/2006/main" prst="straightConnector1">
            <a:avLst/>
          </a:prstGeom>
          <a:ln xmlns:a="http://schemas.openxmlformats.org/drawingml/2006/main" w="47625">
            <a:solidFill>
              <a:srgbClr val="087F83"/>
            </a:solidFill>
            <a:headEnd type="none" w="lg" len="lg"/>
            <a:tailEnd type="none" w="med" len="med"/>
          </a:ln>
        </p:spPr>
      </p:cxnSp>
      <p:cxnSp>
        <p:nvCxnSpPr>
          <p:cNvPr id="23" name="">
            <a:extLst xmlns:a="http://schemas.openxmlformats.org/drawingml/2006/main">
              <a:ext uri="{FF2B5EF4-FFF2-40B4-BE49-F238E27FC236}">
                <a16:creationId xmlns:a16="http://schemas.microsoft.com/office/drawing/2014/main" id="{E8455213-0E6B-45D0-8A4B-FD7CA2C7BCDC}"/>
              </a:ext>
            </a:extLst>
          </p:cNvPr>
          <p:cNvCxnSpPr/>
          <p:nvPr/>
        </p:nvCxnSpPr>
        <p:spPr>
          <a:xfrm xmlns:a="http://schemas.openxmlformats.org/drawingml/2006/main">
            <a:off x="2095500" y="5238750"/>
            <a:ext cx="0" cy="609600"/>
          </a:xfrm>
          <a:prstGeom xmlns:a="http://schemas.openxmlformats.org/drawingml/2006/main" prst="straightConnector1">
            <a:avLst/>
          </a:prstGeom>
          <a:ln xmlns:a="http://schemas.openxmlformats.org/drawingml/2006/main" w="47625">
            <a:solidFill>
              <a:srgbClr val="087F83"/>
            </a:solidFill>
            <a:headEnd type="triangle" w="lg" len="lg"/>
            <a:tailEnd type="none" w="med" len="med"/>
          </a:ln>
        </p:spPr>
      </p:cxnSp>
      <p:sp>
        <p:nvSpPr>
          <p:cNvPr id="24" name="Measured response updates th">
            <a:extLst xmlns:a="http://schemas.openxmlformats.org/drawingml/2006/main">
              <a:ext uri="{FF2B5EF4-FFF2-40B4-BE49-F238E27FC236}">
                <a16:creationId xmlns:a16="http://schemas.microsoft.com/office/drawing/2014/main" id="{FBEB4D33-379F-4107-9B9B-D91C54AAE827}"/>
              </a:ext>
            </a:extLst>
          </p:cNvPr>
          <p:cNvSpPr>
            <a:spLocks xmlns:a="http://schemas.openxmlformats.org/drawingml/2006/main" noGrp="1"/>
          </p:cNvSpPr>
          <p:nvPr/>
        </p:nvSpPr>
        <p:spPr>
          <a:xfrm xmlns:a="http://schemas.openxmlformats.org/drawingml/2006/main">
            <a:off x="3257550" y="5467350"/>
            <a:ext cx="6400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F83"/>
                </a:solidFill>
                <a:latin typeface="Helvetica Neue"/>
                <a:ea typeface="Helvetica Neue"/>
                <a:cs typeface="Helvetica Neue"/>
              </a:defRPr>
            </a:defPPr>
          </a:lstStyle>
          <a:p xmlns:a="http://schemas.openxmlformats.org/drawingml/2006/main">
            <a:pPr>
              <a:defRPr sz="1800" b="1">
                <a:solidFill>
                  <a:srgbClr val="087F83"/>
                </a:solidFill>
                <a:latin typeface="Helvetica Neue"/>
                <a:ea typeface="Helvetica Neue"/>
                <a:cs typeface="Helvetica Neue"/>
              </a:defRPr>
            </a:pPr>
            <a:r>
              <a:rPr sz="1800" b="1">
                <a:solidFill>
                  <a:srgbClr val="087F83"/>
                </a:solidFill>
                <a:latin typeface="Helvetica Neue"/>
                <a:ea typeface="Helvetica Neue"/>
                <a:cs typeface="Helvetica Neue"/>
              </a:rPr>
              <a:t>Measured response updates the natural mechanisms</a:t>
            </a:r>
          </a:p>
        </p:txBody>
      </p:sp>
      <p:sp>
        <p:nvSpPr>
          <p:cNvPr id="25" name="Allowed interventions: drive">
            <a:extLst xmlns:a="http://schemas.openxmlformats.org/drawingml/2006/main">
              <a:ext uri="{FF2B5EF4-FFF2-40B4-BE49-F238E27FC236}">
                <a16:creationId xmlns:a16="http://schemas.microsoft.com/office/drawing/2014/main" id="{04FF8696-577D-4D27-9C9B-038E424CBEC0}"/>
              </a:ext>
            </a:extLst>
          </p:cNvPr>
          <p:cNvSpPr>
            <a:spLocks xmlns:a="http://schemas.openxmlformats.org/drawingml/2006/main" noGrp="1"/>
          </p:cNvSpPr>
          <p:nvPr/>
        </p:nvSpPr>
        <p:spPr>
          <a:xfrm xmlns:a="http://schemas.openxmlformats.org/drawingml/2006/main">
            <a:off x="609600" y="6096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16313A"/>
                </a:solidFill>
                <a:latin typeface="Helvetica Neue"/>
                <a:ea typeface="Helvetica Neue"/>
                <a:cs typeface="Helvetica Neue"/>
              </a:defRPr>
            </a:defPPr>
          </a:lstStyle>
          <a:p xmlns:a="http://schemas.openxmlformats.org/drawingml/2006/main">
            <a:pPr>
              <a:defRPr sz="1650" b="0">
                <a:solidFill>
                  <a:srgbClr val="16313A"/>
                </a:solidFill>
                <a:latin typeface="Helvetica Neue"/>
                <a:ea typeface="Helvetica Neue"/>
                <a:cs typeface="Helvetica Neue"/>
              </a:defRPr>
            </a:pPr>
            <a:r>
              <a:rPr sz="1650" b="0">
                <a:solidFill>
                  <a:srgbClr val="16313A"/>
                </a:solidFill>
                <a:latin typeface="Helvetica Neue"/>
                <a:ea typeface="Helvetica Neue"/>
                <a:cs typeface="Helvetica Neue"/>
              </a:rPr>
              <a:t>Allowed interventions: drive X or speed M at −1, 0, +1. Stop when the budget ends.</a:t>
            </a:r>
          </a:p>
        </p:txBody>
      </p:sp>
      <p:sp>
        <p:nvSpPr>
          <p:cNvPr id="26" name="The plotted results use dire">
            <a:extLst xmlns:a="http://schemas.openxmlformats.org/drawingml/2006/main">
              <a:ext uri="{FF2B5EF4-FFF2-40B4-BE49-F238E27FC236}">
                <a16:creationId xmlns:a16="http://schemas.microsoft.com/office/drawing/2014/main" id="{80BB9876-56A7-42B5-A12E-9320AB702A0A}"/>
              </a:ext>
            </a:extLst>
          </p:cNvPr>
          <p:cNvSpPr>
            <a:spLocks xmlns:a="http://schemas.openxmlformats.org/drawingml/2006/main" noGrp="1"/>
          </p:cNvSpPr>
          <p:nvPr/>
        </p:nvSpPr>
        <p:spPr>
          <a:xfrm xmlns:a="http://schemas.openxmlformats.org/drawingml/2006/main">
            <a:off x="609600" y="647700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66B"/>
                </a:solidFill>
                <a:latin typeface="Helvetica Neue"/>
                <a:ea typeface="Helvetica Neue"/>
                <a:cs typeface="Helvetica Neue"/>
              </a:defRPr>
            </a:defPPr>
          </a:lstStyle>
          <a:p xmlns:a="http://schemas.openxmlformats.org/drawingml/2006/main">
            <a:pPr>
              <a:defRPr sz="1350" b="0">
                <a:solidFill>
                  <a:srgbClr val="53666B"/>
                </a:solidFill>
                <a:latin typeface="Helvetica Neue"/>
                <a:ea typeface="Helvetica Neue"/>
                <a:cs typeface="Helvetica Neue"/>
              </a:defRPr>
            </a:pPr>
            <a:r>
              <a:rPr sz="1350" b="0">
                <a:solidFill>
                  <a:srgbClr val="53666B"/>
                </a:solidFill>
                <a:latin typeface="Helvetica Neue"/>
                <a:ea typeface="Helvetica Neue"/>
                <a:cs typeface="Helvetica Neue"/>
              </a:rPr>
              <a:t>The plotted results use direct SCM scoring (PEV), without the LLM policy.</a:t>
            </a:r>
          </a:p>
        </p:txBody>
      </p:sp>
    </p:spTree>
    <p:extLst>
      <p:ext uri="{BB962C8B-B14F-4D97-AF65-F5344CB8AC3E}">
        <p14:creationId xmlns:p14="http://schemas.microsoft.com/office/powerpoint/2010/main" val="6408553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A627B93-918D-4368-AE22-C3E676291A95}"/>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Exact inputs for the compressor example</a:t>
            </a:r>
          </a:p>
        </p:txBody>
      </p:sp>
      <p:sp>
        <p:nvSpPr>
          <p:cNvPr id="2" name="page">
            <a:extLst xmlns:a="http://schemas.openxmlformats.org/drawingml/2006/main">
              <a:ext uri="{FF2B5EF4-FFF2-40B4-BE49-F238E27FC236}">
                <a16:creationId xmlns:a16="http://schemas.microsoft.com/office/drawing/2014/main" id="{4DCDD56B-8C9A-4CA3-A13D-9F13F6A41FCA}"/>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07</a:t>
            </a:r>
          </a:p>
        </p:txBody>
      </p:sp>
      <p:graphicFrame>
        <p:nvGraphicFramePr>
          <p:cNvPr id="3" name="">
            <a:extLst xmlns:a="http://schemas.openxmlformats.org/drawingml/2006/main">
              <a:ext uri="{FF2B5EF4-FFF2-40B4-BE49-F238E27FC236}">
                <a16:creationId xmlns:a16="http://schemas.microsoft.com/office/drawing/2014/main" id="{3F17A712-CDF0-4AAC-B95C-CD364E4A3918}"/>
              </a:ext>
            </a:extLst>
          </p:cNvPr>
          <p:cNvGraphicFramePr/>
          <p:nvPr/>
        </p:nvGraphicFramePr>
        <p:xfrm>
          <a:off xmlns:a="http://schemas.openxmlformats.org/drawingml/2006/main" x="609600" y="1552575"/>
          <a:ext xmlns:a="http://schemas.openxmlformats.org/drawingml/2006/main" cx="10820400" cy="2057400"/>
        </p:xfrm>
        <a:graphic xmlns:a="http://schemas.openxmlformats.org/drawingml/2006/main">
          <a:graphicData uri="http://schemas.openxmlformats.org/drawingml/2006/table">
            <a:tbl>
              <a:tblPr firstRow="0" bandRow="0"/>
              <a:tblGrid>
                <a:gridCol w="3286125"/>
                <a:gridCol w="3190875"/>
                <a:gridCol w="4343400"/>
              </a:tblGrid>
              <a:tr h="685800">
                <a:tc>
                  <a:txBody>
                    <a:bodyPr lIns="95250" tIns="95250" rIns="95250" bIns="95250"/>
                    <a:lstStyle/>
                    <a:p>
                      <a:r>
                        <a:rPr sz="2025" b="1">
                          <a:solidFill>
                            <a:srgbClr val="087F83"/>
                          </a:solidFill>
                          <a:latin typeface="Helvetica Neue"/>
                          <a:ea typeface="Helvetica Neue"/>
                          <a:cs typeface="Helvetica Neue"/>
                        </a:rPr>
                        <a:t>Mechanism</a:t>
                      </a:r>
                    </a:p>
                  </a:txBody>
                  <a:tcPr marL="91440" marR="91440" marT="45720" marB="45720">
                    <a:solidFill>
                      <a:srgbClr val="F0F6F6"/>
                    </a:solidFill>
                  </a:tcPr>
                </a:tc>
                <a:tc>
                  <a:txBody>
                    <a:bodyPr lIns="95250" tIns="95250" rIns="95250" bIns="95250"/>
                    <a:lstStyle/>
                    <a:p>
                      <a:r>
                        <a:rPr sz="2025" b="1">
                          <a:solidFill>
                            <a:srgbClr val="087F83"/>
                          </a:solidFill>
                          <a:latin typeface="Helvetica Neue"/>
                          <a:ea typeface="Helvetica Neue"/>
                          <a:cs typeface="Helvetica Neue"/>
                        </a:rPr>
                        <a:t>Member slopes</a:t>
                      </a:r>
                    </a:p>
                  </a:txBody>
                  <a:tcPr marL="91440" marR="91440" marT="45720" marB="45720">
                    <a:solidFill>
                      <a:srgbClr val="F0F6F6"/>
                    </a:solidFill>
                  </a:tcPr>
                </a:tc>
                <a:tc>
                  <a:txBody>
                    <a:bodyPr lIns="95250" tIns="95250" rIns="95250" bIns="95250"/>
                    <a:lstStyle/>
                    <a:p>
                      <a:r>
                        <a:rPr sz="2025" b="1">
                          <a:solidFill>
                            <a:srgbClr val="087F83"/>
                          </a:solidFill>
                          <a:latin typeface="Helvetica Neue"/>
                          <a:ea typeface="Helvetica Neue"/>
                          <a:cs typeface="Helvetica Neue"/>
                        </a:rPr>
                        <a:t>Mean prediction</a:t>
                      </a:r>
                    </a:p>
                  </a:txBody>
                  <a:tcPr marL="91440" marR="91440" marT="45720" marB="45720">
                    <a:solidFill>
                      <a:srgbClr val="F0F6F6"/>
                    </a:solidFill>
                  </a:tcPr>
                </a:tc>
              </a:tr>
              <a:tr h="685800">
                <a:tc>
                  <a:txBody>
                    <a:bodyPr lIns="95250" tIns="95250" rIns="95250" bIns="95250"/>
                    <a:lstStyle/>
                    <a:p>
                      <a:r>
                        <a:rPr sz="2175" b="0">
                          <a:solidFill>
                            <a:srgbClr val="16313A"/>
                          </a:solidFill>
                          <a:latin typeface="Helvetica Neue"/>
                          <a:ea typeface="Helvetica Neue"/>
                          <a:cs typeface="Helvetica Neue"/>
                        </a:rPr>
                        <a:t>M from X</a:t>
                      </a:r>
                    </a:p>
                  </a:txBody>
                  <a:tcPr marL="91440" marR="91440" marT="45720" marB="45720">
                    <a:solidFill>
                      <a:srgbClr val="FFFFFF"/>
                    </a:solidFill>
                  </a:tcPr>
                </a:tc>
                <a:tc>
                  <a:txBody>
                    <a:bodyPr lIns="95250" tIns="95250" rIns="95250" bIns="95250"/>
                    <a:lstStyle/>
                    <a:p>
                      <a:r>
                        <a:rPr sz="2175" b="0">
                          <a:solidFill>
                            <a:srgbClr val="16313A"/>
                          </a:solidFill>
                          <a:latin typeface="Helvetica Neue"/>
                          <a:ea typeface="Helvetica Neue"/>
                          <a:cs typeface="Helvetica Neue"/>
                        </a:rPr>
                        <a:t>1, 2, 3</a:t>
                      </a:r>
                    </a:p>
                  </a:txBody>
                  <a:tcPr marL="91440" marR="91440" marT="45720" marB="45720">
                    <a:solidFill>
                      <a:srgbClr val="FFFFFF"/>
                    </a:solidFill>
                  </a:tcPr>
                </a:tc>
                <a:tc>
                  <a:txBody>
                    <a:bodyPr lIns="95250" tIns="95250" rIns="95250" bIns="95250"/>
                    <a:lstStyle/>
                    <a:p>
                      <a:r>
                        <a:rPr sz="2175" b="0">
                          <a:solidFill>
                            <a:srgbClr val="16313A"/>
                          </a:solidFill>
                          <a:latin typeface="Helvetica Neue"/>
                          <a:ea typeface="Helvetica Neue"/>
                          <a:cs typeface="Helvetica Neue"/>
                        </a:rPr>
                        <a:t>M̂ = 2X</a:t>
                      </a:r>
                    </a:p>
                  </a:txBody>
                  <a:tcPr marL="91440" marR="91440" marT="45720" marB="45720">
                    <a:solidFill>
                      <a:srgbClr val="FFFFFF"/>
                    </a:solidFill>
                  </a:tcPr>
                </a:tc>
              </a:tr>
              <a:tr h="685800">
                <a:tc>
                  <a:txBody>
                    <a:bodyPr lIns="95250" tIns="95250" rIns="95250" bIns="95250"/>
                    <a:lstStyle/>
                    <a:p>
                      <a:r>
                        <a:rPr sz="2175" b="0">
                          <a:solidFill>
                            <a:srgbClr val="16313A"/>
                          </a:solidFill>
                          <a:latin typeface="Helvetica Neue"/>
                          <a:ea typeface="Helvetica Neue"/>
                          <a:cs typeface="Helvetica Neue"/>
                        </a:rPr>
                        <a:t>Y from M</a:t>
                      </a:r>
                    </a:p>
                  </a:txBody>
                  <a:tcPr marL="91440" marR="91440" marT="45720" marB="45720">
                    <a:solidFill>
                      <a:srgbClr val="FFFFFF"/>
                    </a:solidFill>
                  </a:tcPr>
                </a:tc>
                <a:tc>
                  <a:txBody>
                    <a:bodyPr lIns="95250" tIns="95250" rIns="95250" bIns="95250"/>
                    <a:lstStyle/>
                    <a:p>
                      <a:r>
                        <a:rPr sz="2175" b="0">
                          <a:solidFill>
                            <a:srgbClr val="16313A"/>
                          </a:solidFill>
                          <a:latin typeface="Helvetica Neue"/>
                          <a:ea typeface="Helvetica Neue"/>
                          <a:cs typeface="Helvetica Neue"/>
                        </a:rPr>
                        <a:t>2, 3, 4</a:t>
                      </a:r>
                    </a:p>
                  </a:txBody>
                  <a:tcPr marL="91440" marR="91440" marT="45720" marB="45720">
                    <a:solidFill>
                      <a:srgbClr val="FFFFFF"/>
                    </a:solidFill>
                  </a:tcPr>
                </a:tc>
                <a:tc>
                  <a:txBody>
                    <a:bodyPr lIns="95250" tIns="95250" rIns="95250" bIns="95250"/>
                    <a:lstStyle/>
                    <a:p>
                      <a:r>
                        <a:rPr sz="2175" b="0">
                          <a:solidFill>
                            <a:srgbClr val="16313A"/>
                          </a:solidFill>
                          <a:latin typeface="Helvetica Neue"/>
                          <a:ea typeface="Helvetica Neue"/>
                          <a:cs typeface="Helvetica Neue"/>
                        </a:rPr>
                        <a:t>Ŷ = 3M</a:t>
                      </a:r>
                    </a:p>
                  </a:txBody>
                  <a:tcPr marL="91440" marR="91440" marT="45720" marB="45720">
                    <a:solidFill>
                      <a:srgbClr val="FFFFFF"/>
                    </a:solidFill>
                  </a:tcPr>
                </a:tc>
              </a:tr>
            </a:tbl>
          </a:graphicData>
        </a:graphic>
      </p:graphicFrame>
      <p:sp>
        <p:nvSpPr>
          <p:cNvPr id="4" name="Actions: clamp X or M to −1,">
            <a:extLst xmlns:a="http://schemas.openxmlformats.org/drawingml/2006/main">
              <a:ext uri="{FF2B5EF4-FFF2-40B4-BE49-F238E27FC236}">
                <a16:creationId xmlns:a16="http://schemas.microsoft.com/office/drawing/2014/main" id="{F1A90D83-1C7B-4D11-B5E7-66E73A2E44CE}"/>
              </a:ext>
            </a:extLst>
          </p:cNvPr>
          <p:cNvSpPr>
            <a:spLocks xmlns:a="http://schemas.openxmlformats.org/drawingml/2006/main" noGrp="1"/>
          </p:cNvSpPr>
          <p:nvPr/>
        </p:nvSpPr>
        <p:spPr>
          <a:xfrm xmlns:a="http://schemas.openxmlformats.org/drawingml/2006/main">
            <a:off x="609600" y="40767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F83"/>
                </a:solidFill>
                <a:latin typeface="Helvetica Neue"/>
                <a:ea typeface="Helvetica Neue"/>
                <a:cs typeface="Helvetica Neue"/>
              </a:defRPr>
            </a:defPPr>
          </a:lstStyle>
          <a:p xmlns:a="http://schemas.openxmlformats.org/drawingml/2006/main">
            <a:pPr>
              <a:buNone/>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Interventions: drive X or shaft speed M at −1, 0 or +1</a:t>
            </a:r>
          </a:p>
        </p:txBody>
      </p:sp>
      <p:sp>
        <p:nvSpPr>
          <p:cNvPr id="5" name="References: −1, 0, +1     No">
            <a:extLst xmlns:a="http://schemas.openxmlformats.org/drawingml/2006/main">
              <a:ext uri="{FF2B5EF4-FFF2-40B4-BE49-F238E27FC236}">
                <a16:creationId xmlns:a16="http://schemas.microsoft.com/office/drawing/2014/main" id="{5A595FF1-3549-4521-A103-FD2DC66F99E6}"/>
              </a:ext>
            </a:extLst>
          </p:cNvPr>
          <p:cNvSpPr>
            <a:spLocks xmlns:a="http://schemas.openxmlformats.org/drawingml/2006/main" noGrp="1"/>
          </p:cNvSpPr>
          <p:nvPr/>
        </p:nvSpPr>
        <p:spPr>
          <a:xfrm xmlns:a="http://schemas.openxmlformats.org/drawingml/2006/main">
            <a:off x="609600" y="48577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13A"/>
                </a:solidFill>
                <a:latin typeface="Helvetica Neue"/>
                <a:ea typeface="Helvetica Neue"/>
                <a:cs typeface="Helvetica Neue"/>
              </a:defRPr>
            </a:defPPr>
          </a:lstStyle>
          <a:p xmlns:a="http://schemas.openxmlformats.org/drawingml/2006/main">
            <a:pPr>
              <a:buNone/>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References: −1, 0, +1     Noise proxy: 0.05</a:t>
            </a:r>
          </a:p>
          <a:p xmlns:a="http://schemas.openxmlformats.org/drawingml/2006/main">
            <a:pPr>
              <a:buNone/>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Budget: one response     Ties: first intervention in the list</a:t>
            </a:r>
          </a:p>
        </p:txBody>
      </p:sp>
      <p:sp>
        <p:nvSpPr>
          <p:cNvPr id="6" name="Simplified linear ensemble ·">
            <a:extLst xmlns:a="http://schemas.openxmlformats.org/drawingml/2006/main">
              <a:ext uri="{FF2B5EF4-FFF2-40B4-BE49-F238E27FC236}">
                <a16:creationId xmlns:a16="http://schemas.microsoft.com/office/drawing/2014/main" id="{BF7E5487-AC87-493D-BA1D-BBC9298EA17F}"/>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Normalized deviations: low −1, reference 0, high +1. Y is pressure rise.</a:t>
            </a:r>
          </a:p>
        </p:txBody>
      </p:sp>
    </p:spTree>
    <p:extLst>
      <p:ext uri="{BB962C8B-B14F-4D97-AF65-F5344CB8AC3E}">
        <p14:creationId xmlns:p14="http://schemas.microsoft.com/office/powerpoint/2010/main" val="9067131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5C50A4C-5E4A-43BC-B348-E3DDE480929C}"/>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One intervention can inform two mechanisms</a:t>
            </a:r>
          </a:p>
        </p:txBody>
      </p:sp>
      <p:sp>
        <p:nvSpPr>
          <p:cNvPr id="2" name="page">
            <a:extLst xmlns:a="http://schemas.openxmlformats.org/drawingml/2006/main">
              <a:ext uri="{FF2B5EF4-FFF2-40B4-BE49-F238E27FC236}">
                <a16:creationId xmlns:a16="http://schemas.microsoft.com/office/drawing/2014/main" id="{9A395380-286F-4858-9B9F-8C152ED6FF20}"/>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08</a:t>
            </a:r>
          </a:p>
        </p:txBody>
      </p:sp>
      <p:graphicFrame>
        <p:nvGraphicFramePr>
          <p:cNvPr id="3" name="">
            <a:extLst xmlns:a="http://schemas.openxmlformats.org/drawingml/2006/main">
              <a:ext uri="{FF2B5EF4-FFF2-40B4-BE49-F238E27FC236}">
                <a16:creationId xmlns:a16="http://schemas.microsoft.com/office/drawing/2014/main" id="{9ECBE828-B475-4793-BDBC-BA2DF08C7939}"/>
              </a:ext>
            </a:extLst>
          </p:cNvPr>
          <p:cNvGraphicFramePr/>
          <p:nvPr/>
        </p:nvGraphicFramePr>
        <p:xfrm>
          <a:off xmlns:a="http://schemas.openxmlformats.org/drawingml/2006/main" x="609600" y="1552575"/>
          <a:ext xmlns:a="http://schemas.openxmlformats.org/drawingml/2006/main" cx="10820400" cy="3600450"/>
        </p:xfrm>
        <a:graphic xmlns:a="http://schemas.openxmlformats.org/drawingml/2006/main">
          <a:graphicData uri="http://schemas.openxmlformats.org/drawingml/2006/table">
            <a:tbl>
              <a:tblPr firstRow="0" bandRow="0"/>
              <a:tblGrid>
                <a:gridCol w="3238500"/>
                <a:gridCol w="2533650"/>
                <a:gridCol w="2533650"/>
                <a:gridCol w="2514600"/>
              </a:tblGrid>
              <a:tr h="514350">
                <a:tc>
                  <a:txBody>
                    <a:bodyPr lIns="95250" tIns="95250" rIns="95250" bIns="95250"/>
                    <a:lstStyle/>
                    <a:p>
                      <a:r>
                        <a:rPr sz="1725" b="1">
                          <a:solidFill>
                            <a:srgbClr val="087F83"/>
                          </a:solidFill>
                          <a:latin typeface="Helvetica Neue"/>
                          <a:ea typeface="Helvetica Neue"/>
                          <a:cs typeface="Helvetica Neue"/>
                        </a:rPr>
                        <a:t>Intervention</a:t>
                      </a:r>
                    </a:p>
                  </a:txBody>
                  <a:tcPr marL="91440" marR="91440" marT="45720" marB="45720">
                    <a:solidFill>
                      <a:srgbClr val="F0F6F6"/>
                    </a:solidFill>
                  </a:tcPr>
                </a:tc>
                <a:tc>
                  <a:txBody>
                    <a:bodyPr lIns="95250" tIns="95250" rIns="95250" bIns="95250"/>
                    <a:lstStyle/>
                    <a:p>
                      <a:r>
                        <a:rPr sz="1725" b="1">
                          <a:solidFill>
                            <a:srgbClr val="087F83"/>
                          </a:solidFill>
                          <a:latin typeface="Helvetica Neue"/>
                          <a:ea typeface="Helvetica Neue"/>
                          <a:cs typeface="Helvetica Neue"/>
                        </a:rPr>
                        <a:t>M contribution</a:t>
                      </a:r>
                    </a:p>
                  </a:txBody>
                  <a:tcPr marL="91440" marR="91440" marT="45720" marB="45720">
                    <a:solidFill>
                      <a:srgbClr val="F0F6F6"/>
                    </a:solidFill>
                  </a:tcPr>
                </a:tc>
                <a:tc>
                  <a:txBody>
                    <a:bodyPr lIns="95250" tIns="95250" rIns="95250" bIns="95250"/>
                    <a:lstStyle/>
                    <a:p>
                      <a:r>
                        <a:rPr sz="1725" b="1">
                          <a:solidFill>
                            <a:srgbClr val="087F83"/>
                          </a:solidFill>
                          <a:latin typeface="Helvetica Neue"/>
                          <a:ea typeface="Helvetica Neue"/>
                          <a:cs typeface="Helvetica Neue"/>
                        </a:rPr>
                        <a:t>Y contribution</a:t>
                      </a:r>
                    </a:p>
                  </a:txBody>
                  <a:tcPr marL="91440" marR="91440" marT="45720" marB="45720">
                    <a:solidFill>
                      <a:srgbClr val="F0F6F6"/>
                    </a:solidFill>
                  </a:tcPr>
                </a:tc>
                <a:tc>
                  <a:txBody>
                    <a:bodyPr lIns="95250" tIns="95250" rIns="95250" bIns="95250"/>
                    <a:lstStyle/>
                    <a:p>
                      <a:r>
                        <a:rPr sz="1725" b="1">
                          <a:solidFill>
                            <a:srgbClr val="087F83"/>
                          </a:solidFill>
                          <a:latin typeface="Helvetica Neue"/>
                          <a:ea typeface="Helvetica Neue"/>
                          <a:cs typeface="Helvetica Neue"/>
                        </a:rPr>
                        <a:t>Total</a:t>
                      </a:r>
                    </a:p>
                  </a:txBody>
                  <a:tcPr marL="91440" marR="91440" marT="45720" marB="45720">
                    <a:solidFill>
                      <a:srgbClr val="F0F6F6"/>
                    </a:solidFill>
                  </a:tcPr>
                </a:tc>
              </a:tr>
              <a:tr h="514350">
                <a:tc>
                  <a:txBody>
                    <a:bodyPr lIns="95250" tIns="95250" rIns="95250" bIns="95250"/>
                    <a:lstStyle/>
                    <a:p>
                      <a:r>
                        <a:rPr sz="1875" b="0">
                          <a:solidFill>
                            <a:srgbClr val="16313A"/>
                          </a:solidFill>
                          <a:latin typeface="Helvetica Neue"/>
                          <a:ea typeface="Helvetica Neue"/>
                          <a:cs typeface="Helvetica Neue"/>
                        </a:rPr>
                        <a:t>do(X = -1)</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0.436264</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0.849701</a:t>
                      </a:r>
                    </a:p>
                  </a:txBody>
                  <a:tcPr marL="91440" marR="91440" marT="45720" marB="45720">
                    <a:solidFill>
                      <a:srgbClr val="FFFFFF"/>
                    </a:solidFill>
                  </a:tcPr>
                </a:tc>
              </a:tr>
              <a:tr h="514350">
                <a:tc>
                  <a:txBody>
                    <a:bodyPr lIns="95250" tIns="95250" rIns="95250" bIns="95250"/>
                    <a:lstStyle/>
                    <a:p>
                      <a:r>
                        <a:rPr sz="1875" b="0">
                          <a:solidFill>
                            <a:srgbClr val="16313A"/>
                          </a:solidFill>
                          <a:latin typeface="Helvetica Neue"/>
                          <a:ea typeface="Helvetica Neue"/>
                          <a:cs typeface="Helvetica Neue"/>
                        </a:rPr>
                        <a:t>do(X = 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r>
              <a:tr h="514350">
                <a:tc>
                  <a:txBody>
                    <a:bodyPr lIns="95250" tIns="95250" rIns="95250" bIns="95250"/>
                    <a:lstStyle/>
                    <a:p>
                      <a:r>
                        <a:rPr sz="1875" b="0">
                          <a:solidFill>
                            <a:srgbClr val="16313A"/>
                          </a:solidFill>
                          <a:latin typeface="Helvetica Neue"/>
                          <a:ea typeface="Helvetica Neue"/>
                          <a:cs typeface="Helvetica Neue"/>
                        </a:rPr>
                        <a:t>do(X = 1)</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0.436264</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0.849701</a:t>
                      </a:r>
                    </a:p>
                  </a:txBody>
                  <a:tcPr marL="91440" marR="91440" marT="45720" marB="45720">
                    <a:solidFill>
                      <a:srgbClr val="FFFFFF"/>
                    </a:solidFill>
                  </a:tcPr>
                </a:tc>
              </a:tr>
              <a:tr h="514350">
                <a:tc>
                  <a:txBody>
                    <a:bodyPr lIns="95250" tIns="95250" rIns="95250" bIns="95250"/>
                    <a:lstStyle/>
                    <a:p>
                      <a:r>
                        <a:rPr sz="1875" b="0">
                          <a:solidFill>
                            <a:srgbClr val="16313A"/>
                          </a:solidFill>
                          <a:latin typeface="Helvetica Neue"/>
                          <a:ea typeface="Helvetica Neue"/>
                          <a:cs typeface="Helvetica Neue"/>
                        </a:rPr>
                        <a:t>do(M = -1)</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r>
              <a:tr h="514350">
                <a:tc>
                  <a:txBody>
                    <a:bodyPr lIns="95250" tIns="95250" rIns="95250" bIns="95250"/>
                    <a:lstStyle/>
                    <a:p>
                      <a:r>
                        <a:rPr sz="1875" b="0">
                          <a:solidFill>
                            <a:srgbClr val="16313A"/>
                          </a:solidFill>
                          <a:latin typeface="Helvetica Neue"/>
                          <a:ea typeface="Helvetica Neue"/>
                          <a:cs typeface="Helvetica Neue"/>
                        </a:rPr>
                        <a:t>do(M = 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r>
              <a:tr h="514350">
                <a:tc>
                  <a:txBody>
                    <a:bodyPr lIns="95250" tIns="95250" rIns="95250" bIns="95250"/>
                    <a:lstStyle/>
                    <a:p>
                      <a:r>
                        <a:rPr sz="1875" b="0">
                          <a:solidFill>
                            <a:srgbClr val="16313A"/>
                          </a:solidFill>
                          <a:latin typeface="Helvetica Neue"/>
                          <a:ea typeface="Helvetica Neue"/>
                          <a:cs typeface="Helvetica Neue"/>
                        </a:rPr>
                        <a:t>do(M = 1)</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FFFFF"/>
                    </a:solidFill>
                  </a:tcPr>
                </a:tc>
              </a:tr>
            </a:tbl>
          </a:graphicData>
        </a:graphic>
      </p:graphicFrame>
      <p:sp>
        <p:nvSpPr>
          <p:cNvPr id="4" name="Selected prediction: M̂ = −2">
            <a:extLst xmlns:a="http://schemas.openxmlformats.org/drawingml/2006/main">
              <a:ext uri="{FF2B5EF4-FFF2-40B4-BE49-F238E27FC236}">
                <a16:creationId xmlns:a16="http://schemas.microsoft.com/office/drawing/2014/main" id="{51351594-E107-497E-AC21-C5DF7F2442F1}"/>
              </a:ext>
            </a:extLst>
          </p:cNvPr>
          <p:cNvSpPr>
            <a:spLocks xmlns:a="http://schemas.openxmlformats.org/drawingml/2006/main" noGrp="1"/>
          </p:cNvSpPr>
          <p:nvPr/>
        </p:nvSpPr>
        <p:spPr>
          <a:xfrm xmlns:a="http://schemas.openxmlformats.org/drawingml/2006/main">
            <a:off x="609600" y="5324475"/>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Choose drive X = −1. Forecast: M̂ = −2, Ŷ = −6</a:t>
            </a:r>
          </a:p>
        </p:txBody>
      </p:sp>
      <p:sp>
        <p:nvSpPr>
          <p:cNvPr id="5" name="Score contribution: mean Cov">
            <a:extLst xmlns:a="http://schemas.openxmlformats.org/drawingml/2006/main">
              <a:ext uri="{FF2B5EF4-FFF2-40B4-BE49-F238E27FC236}">
                <a16:creationId xmlns:a16="http://schemas.microsoft.com/office/drawing/2014/main" id="{2DA0E289-BA82-4A28-9BBB-C3999A89D68E}"/>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Score contribution: mean Cov² / (Variance + noise proxy) · tied interventions follow the declared order</a:t>
            </a:r>
          </a:p>
        </p:txBody>
      </p:sp>
    </p:spTree>
    <p:extLst>
      <p:ext uri="{BB962C8B-B14F-4D97-AF65-F5344CB8AC3E}">
        <p14:creationId xmlns:p14="http://schemas.microsoft.com/office/powerpoint/2010/main" val="20425376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0B0D20CA-C66A-4307-AF27-7E3AA2DB2125}"/>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One measured response improves both predictions</a:t>
            </a:r>
          </a:p>
        </p:txBody>
      </p:sp>
      <p:sp>
        <p:nvSpPr>
          <p:cNvPr id="2" name="page">
            <a:extLst xmlns:a="http://schemas.openxmlformats.org/drawingml/2006/main">
              <a:ext uri="{FF2B5EF4-FFF2-40B4-BE49-F238E27FC236}">
                <a16:creationId xmlns:a16="http://schemas.microsoft.com/office/drawing/2014/main" id="{1B704EDA-3B72-42A2-A6B7-3A9B94D6F316}"/>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09</a:t>
            </a:r>
          </a:p>
        </p:txBody>
      </p:sp>
      <p:sp>
        <p:nvSpPr>
          <p:cNvPr id="3" name="Observed row: X = −1, M = −2">
            <a:extLst xmlns:a="http://schemas.openxmlformats.org/drawingml/2006/main">
              <a:ext uri="{FF2B5EF4-FFF2-40B4-BE49-F238E27FC236}">
                <a16:creationId xmlns:a16="http://schemas.microsoft.com/office/drawing/2014/main" id="{021F85B7-16ED-497C-B015-9DC3D8C64556}"/>
              </a:ext>
            </a:extLst>
          </p:cNvPr>
          <p:cNvSpPr>
            <a:spLocks xmlns:a="http://schemas.openxmlformats.org/drawingml/2006/main" noGrp="1"/>
          </p:cNvSpPr>
          <p:nvPr/>
        </p:nvSpPr>
        <p:spPr>
          <a:xfrm xmlns:a="http://schemas.openxmlformats.org/drawingml/2006/main">
            <a:off x="609600" y="15430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087F83"/>
                </a:solidFill>
                <a:latin typeface="Helvetica Neue"/>
                <a:ea typeface="Helvetica Neue"/>
                <a:cs typeface="Helvetica Neue"/>
              </a:defRPr>
            </a:defPPr>
          </a:lstStyle>
          <a:p xmlns:a="http://schemas.openxmlformats.org/drawingml/2006/main">
            <a:pPr>
              <a:buNone/>
              <a:defRPr sz="2775" b="1">
                <a:solidFill>
                  <a:srgbClr val="087F83"/>
                </a:solidFill>
                <a:latin typeface="Helvetica Neue"/>
                <a:ea typeface="Helvetica Neue"/>
                <a:cs typeface="Helvetica Neue"/>
              </a:defRPr>
            </a:pPr>
            <a:r>
              <a:rPr sz="2775" b="1">
                <a:solidFill>
                  <a:srgbClr val="087F83"/>
                </a:solidFill>
                <a:latin typeface="Helvetica Neue"/>
                <a:ea typeface="Helvetica Neue"/>
                <a:cs typeface="Helvetica Neue"/>
              </a:rPr>
              <a:t>Observed row: X = −1, M = −2.5, Y = −7.5</a:t>
            </a:r>
          </a:p>
        </p:txBody>
      </p:sp>
      <p:graphicFrame>
        <p:nvGraphicFramePr>
          <p:cNvPr id="4" name="">
            <a:extLst xmlns:a="http://schemas.openxmlformats.org/drawingml/2006/main">
              <a:ext uri="{FF2B5EF4-FFF2-40B4-BE49-F238E27FC236}">
                <a16:creationId xmlns:a16="http://schemas.microsoft.com/office/drawing/2014/main" id="{DBC143AA-9B71-4A4E-B393-BE3507A95518}"/>
              </a:ext>
            </a:extLst>
          </p:cNvPr>
          <p:cNvGraphicFramePr/>
          <p:nvPr/>
        </p:nvGraphicFramePr>
        <p:xfrm>
          <a:off xmlns:a="http://schemas.openxmlformats.org/drawingml/2006/main" x="609600" y="2419350"/>
          <a:ext xmlns:a="http://schemas.openxmlformats.org/drawingml/2006/main" cx="10820400" cy="1943100"/>
        </p:xfrm>
        <a:graphic xmlns:a="http://schemas.openxmlformats.org/drawingml/2006/main">
          <a:graphicData uri="http://schemas.openxmlformats.org/drawingml/2006/table">
            <a:tbl>
              <a:tblPr firstRow="0" bandRow="0"/>
              <a:tblGrid>
                <a:gridCol w="3333750"/>
                <a:gridCol w="3771900"/>
                <a:gridCol w="3714750"/>
              </a:tblGrid>
              <a:tr h="647700">
                <a:tc>
                  <a:txBody>
                    <a:bodyPr lIns="95250" tIns="95250" rIns="95250" bIns="95250"/>
                    <a:lstStyle/>
                    <a:p>
                      <a:r>
                        <a:rPr sz="1950" b="1">
                          <a:solidFill>
                            <a:srgbClr val="087F83"/>
                          </a:solidFill>
                          <a:latin typeface="Helvetica Neue"/>
                          <a:ea typeface="Helvetica Neue"/>
                          <a:cs typeface="Helvetica Neue"/>
                        </a:rPr>
                        <a:t>Natural mechanism</a:t>
                      </a:r>
                    </a:p>
                  </a:txBody>
                  <a:tcPr marL="91440" marR="91440" marT="45720" marB="45720">
                    <a:solidFill>
                      <a:srgbClr val="F0F6F6"/>
                    </a:solidFill>
                  </a:tcPr>
                </a:tc>
                <a:tc>
                  <a:txBody>
                    <a:bodyPr lIns="95250" tIns="95250" rIns="95250" bIns="95250"/>
                    <a:lstStyle/>
                    <a:p>
                      <a:r>
                        <a:rPr sz="1950" b="1">
                          <a:solidFill>
                            <a:srgbClr val="087F83"/>
                          </a:solidFill>
                          <a:latin typeface="Helvetica Neue"/>
                          <a:ea typeface="Helvetica Neue"/>
                          <a:cs typeface="Helvetica Neue"/>
                        </a:rPr>
                        <a:t>Training input</a:t>
                      </a:r>
                    </a:p>
                  </a:txBody>
                  <a:tcPr marL="91440" marR="91440" marT="45720" marB="45720">
                    <a:solidFill>
                      <a:srgbClr val="F0F6F6"/>
                    </a:solidFill>
                  </a:tcPr>
                </a:tc>
                <a:tc>
                  <a:txBody>
                    <a:bodyPr lIns="95250" tIns="95250" rIns="95250" bIns="95250"/>
                    <a:lstStyle/>
                    <a:p>
                      <a:r>
                        <a:rPr sz="1950" b="1">
                          <a:solidFill>
                            <a:srgbClr val="087F83"/>
                          </a:solidFill>
                          <a:latin typeface="Helvetica Neue"/>
                          <a:ea typeface="Helvetica Neue"/>
                          <a:cs typeface="Helvetica Neue"/>
                        </a:rPr>
                        <a:t>Training label</a:t>
                      </a:r>
                    </a:p>
                  </a:txBody>
                  <a:tcPr marL="91440" marR="91440" marT="45720" marB="45720">
                    <a:solidFill>
                      <a:srgbClr val="F0F6F6"/>
                    </a:solidFill>
                  </a:tcPr>
                </a:tc>
              </a:tr>
              <a:tr h="647700">
                <a:tc>
                  <a:txBody>
                    <a:bodyPr lIns="95250" tIns="95250" rIns="95250" bIns="95250"/>
                    <a:lstStyle/>
                    <a:p>
                      <a:r>
                        <a:rPr sz="2100" b="0">
                          <a:solidFill>
                            <a:srgbClr val="16313A"/>
                          </a:solidFill>
                          <a:latin typeface="Helvetica Neue"/>
                          <a:ea typeface="Helvetica Neue"/>
                          <a:cs typeface="Helvetica Neue"/>
                        </a:rPr>
                        <a:t>M</a:t>
                      </a:r>
                    </a:p>
                  </a:txBody>
                  <a:tcPr marL="91440" marR="91440" marT="45720" marB="45720">
                    <a:solidFill>
                      <a:srgbClr val="FFFFFF"/>
                    </a:solidFill>
                  </a:tcPr>
                </a:tc>
                <a:tc>
                  <a:txBody>
                    <a:bodyPr lIns="95250" tIns="95250" rIns="95250" bIns="95250"/>
                    <a:lstStyle/>
                    <a:p>
                      <a:r>
                        <a:rPr sz="2100" b="0">
                          <a:solidFill>
                            <a:srgbClr val="16313A"/>
                          </a:solidFill>
                          <a:latin typeface="Helvetica Neue"/>
                          <a:ea typeface="Helvetica Neue"/>
                          <a:cs typeface="Helvetica Neue"/>
                        </a:rPr>
                        <a:t>Measured X = −1</a:t>
                      </a:r>
                    </a:p>
                  </a:txBody>
                  <a:tcPr marL="91440" marR="91440" marT="45720" marB="45720">
                    <a:solidFill>
                      <a:srgbClr val="FFFFFF"/>
                    </a:solidFill>
                  </a:tcPr>
                </a:tc>
                <a:tc>
                  <a:txBody>
                    <a:bodyPr lIns="95250" tIns="95250" rIns="95250" bIns="95250"/>
                    <a:lstStyle/>
                    <a:p>
                      <a:r>
                        <a:rPr sz="2100" b="0">
                          <a:solidFill>
                            <a:srgbClr val="16313A"/>
                          </a:solidFill>
                          <a:latin typeface="Helvetica Neue"/>
                          <a:ea typeface="Helvetica Neue"/>
                          <a:cs typeface="Helvetica Neue"/>
                        </a:rPr>
                        <a:t>M = −2.5</a:t>
                      </a:r>
                    </a:p>
                  </a:txBody>
                  <a:tcPr marL="91440" marR="91440" marT="45720" marB="45720">
                    <a:solidFill>
                      <a:srgbClr val="FFFFFF"/>
                    </a:solidFill>
                  </a:tcPr>
                </a:tc>
              </a:tr>
              <a:tr h="647700">
                <a:tc>
                  <a:txBody>
                    <a:bodyPr lIns="95250" tIns="95250" rIns="95250" bIns="95250"/>
                    <a:lstStyle/>
                    <a:p>
                      <a:r>
                        <a:rPr sz="2100" b="0">
                          <a:solidFill>
                            <a:srgbClr val="16313A"/>
                          </a:solidFill>
                          <a:latin typeface="Helvetica Neue"/>
                          <a:ea typeface="Helvetica Neue"/>
                          <a:cs typeface="Helvetica Neue"/>
                        </a:rPr>
                        <a:t>Y</a:t>
                      </a:r>
                    </a:p>
                  </a:txBody>
                  <a:tcPr marL="91440" marR="91440" marT="45720" marB="45720">
                    <a:solidFill>
                      <a:srgbClr val="FFFFFF"/>
                    </a:solidFill>
                  </a:tcPr>
                </a:tc>
                <a:tc>
                  <a:txBody>
                    <a:bodyPr lIns="95250" tIns="95250" rIns="95250" bIns="95250"/>
                    <a:lstStyle/>
                    <a:p>
                      <a:r>
                        <a:rPr sz="2100" b="0">
                          <a:solidFill>
                            <a:srgbClr val="16313A"/>
                          </a:solidFill>
                          <a:latin typeface="Helvetica Neue"/>
                          <a:ea typeface="Helvetica Neue"/>
                          <a:cs typeface="Helvetica Neue"/>
                        </a:rPr>
                        <a:t>Measured M = −2.5</a:t>
                      </a:r>
                    </a:p>
                  </a:txBody>
                  <a:tcPr marL="91440" marR="91440" marT="45720" marB="45720">
                    <a:solidFill>
                      <a:srgbClr val="FFFFFF"/>
                    </a:solidFill>
                  </a:tcPr>
                </a:tc>
                <a:tc>
                  <a:txBody>
                    <a:bodyPr lIns="95250" tIns="95250" rIns="95250" bIns="95250"/>
                    <a:lstStyle/>
                    <a:p>
                      <a:r>
                        <a:rPr sz="2100" b="0">
                          <a:solidFill>
                            <a:srgbClr val="16313A"/>
                          </a:solidFill>
                          <a:latin typeface="Helvetica Neue"/>
                          <a:ea typeface="Helvetica Neue"/>
                          <a:cs typeface="Helvetica Neue"/>
                        </a:rPr>
                        <a:t>Y = −7.5</a:t>
                      </a:r>
                    </a:p>
                  </a:txBody>
                  <a:tcPr marL="91440" marR="91440" marT="45720" marB="45720">
                    <a:solidFill>
                      <a:srgbClr val="FFFFFF"/>
                    </a:solidFill>
                  </a:tcPr>
                </a:tc>
              </a:tr>
            </a:tbl>
          </a:graphicData>
        </a:graphic>
      </p:graphicFrame>
      <p:sp>
        <p:nvSpPr>
          <p:cNvPr id="5" name="After one illustrative gradi">
            <a:extLst xmlns:a="http://schemas.openxmlformats.org/drawingml/2006/main">
              <a:ext uri="{FF2B5EF4-FFF2-40B4-BE49-F238E27FC236}">
                <a16:creationId xmlns:a16="http://schemas.microsoft.com/office/drawing/2014/main" id="{2ECBFE91-AE06-4B2C-B862-F546B08533F8}"/>
              </a:ext>
            </a:extLst>
          </p:cNvPr>
          <p:cNvSpPr>
            <a:spLocks xmlns:a="http://schemas.openxmlformats.org/drawingml/2006/main" noGrp="1"/>
          </p:cNvSpPr>
          <p:nvPr/>
        </p:nvSpPr>
        <p:spPr>
          <a:xfrm xmlns:a="http://schemas.openxmlformats.org/drawingml/2006/main">
            <a:off x="609600" y="4676775"/>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3666B"/>
                </a:solidFill>
                <a:latin typeface="Helvetica Neue"/>
                <a:ea typeface="Helvetica Neue"/>
                <a:cs typeface="Helvetica Neue"/>
              </a:defRPr>
            </a:defPPr>
          </a:lstStyle>
          <a:p xmlns:a="http://schemas.openxmlformats.org/drawingml/2006/main">
            <a:pPr>
              <a:buNone/>
              <a:defRPr sz="2175" b="0">
                <a:solidFill>
                  <a:srgbClr val="53666B"/>
                </a:solidFill>
                <a:latin typeface="Helvetica Neue"/>
                <a:ea typeface="Helvetica Neue"/>
                <a:cs typeface="Helvetica Neue"/>
              </a:defRPr>
            </a:pPr>
            <a:r>
              <a:rPr sz="2175" b="0">
                <a:solidFill>
                  <a:srgbClr val="53666B"/>
                </a:solidFill>
                <a:latin typeface="Helvetica Neue"/>
                <a:ea typeface="Helvetica Neue"/>
                <a:cs typeface="Helvetica Neue"/>
              </a:rPr>
              <a:t>Learn drive → speed and measured speed → pressure</a:t>
            </a:r>
          </a:p>
        </p:txBody>
      </p:sp>
      <p:sp>
        <p:nvSpPr>
          <p:cNvPr id="6" name="M̂ = −2.25       Ŷ = −6.75  ">
            <a:extLst xmlns:a="http://schemas.openxmlformats.org/drawingml/2006/main">
              <a:ext uri="{FF2B5EF4-FFF2-40B4-BE49-F238E27FC236}">
                <a16:creationId xmlns:a16="http://schemas.microsoft.com/office/drawing/2014/main" id="{68FCEA35-9884-409D-BD37-FDAD1F309CE3}"/>
              </a:ext>
            </a:extLst>
          </p:cNvPr>
          <p:cNvSpPr>
            <a:spLocks xmlns:a="http://schemas.openxmlformats.org/drawingml/2006/main" noGrp="1"/>
          </p:cNvSpPr>
          <p:nvPr/>
        </p:nvSpPr>
        <p:spPr>
          <a:xfrm xmlns:a="http://schemas.openxmlformats.org/drawingml/2006/main">
            <a:off x="609600" y="52482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87F83"/>
                </a:solidFill>
                <a:latin typeface="Helvetica Neue"/>
                <a:ea typeface="Helvetica Neue"/>
                <a:cs typeface="Helvetica Neue"/>
              </a:defRPr>
            </a:defPPr>
          </a:lstStyle>
          <a:p xmlns:a="http://schemas.openxmlformats.org/drawingml/2006/main">
            <a:pPr>
              <a:buNone/>
              <a:defRPr sz="2625" b="1">
                <a:solidFill>
                  <a:srgbClr val="087F83"/>
                </a:solidFill>
                <a:latin typeface="Helvetica Neue"/>
                <a:ea typeface="Helvetica Neue"/>
                <a:cs typeface="Helvetica Neue"/>
              </a:defRPr>
            </a:pPr>
            <a:r>
              <a:rPr sz="2625" b="1">
                <a:solidFill>
                  <a:srgbClr val="087F83"/>
                </a:solidFill>
                <a:latin typeface="Helvetica Neue"/>
                <a:ea typeface="Helvetica Neue"/>
                <a:cs typeface="Helvetica Neue"/>
              </a:rPr>
              <a:t>M̂ = −2.25       Ŷ = −6.75       Budget left: 0</a:t>
            </a:r>
          </a:p>
        </p:txBody>
      </p:sp>
      <p:sp>
        <p:nvSpPr>
          <p:cNvPr id="7" name="Illustrative linear update ·">
            <a:extLst xmlns:a="http://schemas.openxmlformats.org/drawingml/2006/main">
              <a:ext uri="{FF2B5EF4-FFF2-40B4-BE49-F238E27FC236}">
                <a16:creationId xmlns:a16="http://schemas.microsoft.com/office/drawing/2014/main" id="{782F7D6C-256F-44E8-AC87-8269352CA712}"/>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Both mechanisms stayed natural, so the same intervention response teaches both.</a:t>
            </a:r>
          </a:p>
        </p:txBody>
      </p:sp>
    </p:spTree>
    <p:extLst>
      <p:ext uri="{BB962C8B-B14F-4D97-AF65-F5344CB8AC3E}">
        <p14:creationId xmlns:p14="http://schemas.microsoft.com/office/powerpoint/2010/main" val="5519794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2" name="">
            <a:extLst xmlns:a="http://schemas.openxmlformats.org/drawingml/2006/main">
              <a:ext uri="{FF2B5EF4-FFF2-40B4-BE49-F238E27FC236}">
                <a16:creationId xmlns:a16="http://schemas.microsoft.com/office/drawing/2014/main" id="{11D33011-F6DD-405B-B0F3-F0E9F35AD803}"/>
              </a:ext>
            </a:extLst>
          </p:cNvPr>
          <p:cNvCxnSpPr>
            <a:stCxn xmlns:a="http://schemas.openxmlformats.org/drawingml/2006/main" id="4" idx="6"/>
            <a:endCxn xmlns:a="http://schemas.openxmlformats.org/drawingml/2006/main" id="11" idx="2"/>
          </p:cNvCxnSpPr>
          <p:nvPr/>
        </p:nvCxnSpPr>
        <p:spPr>
          <a:xfrm xmlns:a="http://schemas.openxmlformats.org/drawingml/2006/main">
            <a:off x="1428750" y="301942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71" name="">
            <a:extLst xmlns:a="http://schemas.openxmlformats.org/drawingml/2006/main">
              <a:ext uri="{FF2B5EF4-FFF2-40B4-BE49-F238E27FC236}">
                <a16:creationId xmlns:a16="http://schemas.microsoft.com/office/drawing/2014/main" id="{61E6B588-CB73-449B-87D3-6C4EA9219D33}"/>
              </a:ext>
            </a:extLst>
          </p:cNvPr>
          <p:cNvCxnSpPr>
            <a:stCxn xmlns:a="http://schemas.openxmlformats.org/drawingml/2006/main" id="5" idx="6"/>
            <a:endCxn xmlns:a="http://schemas.openxmlformats.org/drawingml/2006/main" id="11" idx="2"/>
          </p:cNvCxnSpPr>
          <p:nvPr/>
        </p:nvCxnSpPr>
        <p:spPr>
          <a:xfrm xmlns:a="http://schemas.openxmlformats.org/drawingml/2006/main">
            <a:off x="1428750" y="372427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70" name="">
            <a:extLst xmlns:a="http://schemas.openxmlformats.org/drawingml/2006/main">
              <a:ext uri="{FF2B5EF4-FFF2-40B4-BE49-F238E27FC236}">
                <a16:creationId xmlns:a16="http://schemas.microsoft.com/office/drawing/2014/main" id="{C1CC977E-9A58-44EF-A97A-3EDC9BFEB43A}"/>
              </a:ext>
            </a:extLst>
          </p:cNvPr>
          <p:cNvCxnSpPr>
            <a:stCxn xmlns:a="http://schemas.openxmlformats.org/drawingml/2006/main" id="3" idx="6"/>
            <a:endCxn xmlns:a="http://schemas.openxmlformats.org/drawingml/2006/main" id="10" idx="2"/>
          </p:cNvCxnSpPr>
          <p:nvPr/>
        </p:nvCxnSpPr>
        <p:spPr>
          <a:xfrm xmlns:a="http://schemas.openxmlformats.org/drawingml/2006/main">
            <a:off x="1428750" y="231457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9" name="">
            <a:extLst xmlns:a="http://schemas.openxmlformats.org/drawingml/2006/main">
              <a:ext uri="{FF2B5EF4-FFF2-40B4-BE49-F238E27FC236}">
                <a16:creationId xmlns:a16="http://schemas.microsoft.com/office/drawing/2014/main" id="{8CBFB8CD-B1E0-4B39-9345-49FD73A11797}"/>
              </a:ext>
            </a:extLst>
          </p:cNvPr>
          <p:cNvCxnSpPr>
            <a:stCxn xmlns:a="http://schemas.openxmlformats.org/drawingml/2006/main" id="7" idx="6"/>
            <a:endCxn xmlns:a="http://schemas.openxmlformats.org/drawingml/2006/main" id="10" idx="2"/>
          </p:cNvCxnSpPr>
          <p:nvPr/>
        </p:nvCxnSpPr>
        <p:spPr>
          <a:xfrm xmlns:a="http://schemas.openxmlformats.org/drawingml/2006/main" flipV="1">
            <a:off x="1428750" y="372427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8" name="">
            <a:extLst xmlns:a="http://schemas.openxmlformats.org/drawingml/2006/main">
              <a:ext uri="{FF2B5EF4-FFF2-40B4-BE49-F238E27FC236}">
                <a16:creationId xmlns:a16="http://schemas.microsoft.com/office/drawing/2014/main" id="{92EE1778-4919-41A3-BEF8-22D4DDEB08CC}"/>
              </a:ext>
            </a:extLst>
          </p:cNvPr>
          <p:cNvCxnSpPr>
            <a:stCxn xmlns:a="http://schemas.openxmlformats.org/drawingml/2006/main" id="5" idx="6"/>
            <a:endCxn xmlns:a="http://schemas.openxmlformats.org/drawingml/2006/main" id="9" idx="2"/>
          </p:cNvCxnSpPr>
          <p:nvPr/>
        </p:nvCxnSpPr>
        <p:spPr>
          <a:xfrm xmlns:a="http://schemas.openxmlformats.org/drawingml/2006/main" flipV="1">
            <a:off x="1428750" y="301942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7" name="">
            <a:extLst xmlns:a="http://schemas.openxmlformats.org/drawingml/2006/main">
              <a:ext uri="{FF2B5EF4-FFF2-40B4-BE49-F238E27FC236}">
                <a16:creationId xmlns:a16="http://schemas.microsoft.com/office/drawing/2014/main" id="{D25AC2D3-2E30-4FF3-AA72-7F21E2BDE408}"/>
              </a:ext>
            </a:extLst>
          </p:cNvPr>
          <p:cNvCxnSpPr>
            <a:stCxn xmlns:a="http://schemas.openxmlformats.org/drawingml/2006/main" id="7" idx="6"/>
            <a:endCxn xmlns:a="http://schemas.openxmlformats.org/drawingml/2006/main" id="8" idx="2"/>
          </p:cNvCxnSpPr>
          <p:nvPr/>
        </p:nvCxnSpPr>
        <p:spPr>
          <a:xfrm xmlns:a="http://schemas.openxmlformats.org/drawingml/2006/main" flipV="1">
            <a:off x="1428750" y="2314575"/>
            <a:ext cx="1381125" cy="28194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6" name="">
            <a:extLst xmlns:a="http://schemas.openxmlformats.org/drawingml/2006/main">
              <a:ext uri="{FF2B5EF4-FFF2-40B4-BE49-F238E27FC236}">
                <a16:creationId xmlns:a16="http://schemas.microsoft.com/office/drawing/2014/main" id="{90BF4A1A-FFCB-4F34-B738-1B2CFF39EB8C}"/>
              </a:ext>
            </a:extLst>
          </p:cNvPr>
          <p:cNvCxnSpPr>
            <a:stCxn xmlns:a="http://schemas.openxmlformats.org/drawingml/2006/main" id="3" idx="6"/>
            <a:endCxn xmlns:a="http://schemas.openxmlformats.org/drawingml/2006/main" id="8" idx="2"/>
          </p:cNvCxnSpPr>
          <p:nvPr/>
        </p:nvCxnSpPr>
        <p:spPr>
          <a:xfrm xmlns:a="http://schemas.openxmlformats.org/drawingml/2006/main">
            <a:off x="1428750" y="2314575"/>
            <a:ext cx="1381125" cy="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5" name="">
            <a:extLst xmlns:a="http://schemas.openxmlformats.org/drawingml/2006/main">
              <a:ext uri="{FF2B5EF4-FFF2-40B4-BE49-F238E27FC236}">
                <a16:creationId xmlns:a16="http://schemas.microsoft.com/office/drawing/2014/main" id="{08361E9F-2F7B-44F5-BBBA-87AB26429FC3}"/>
              </a:ext>
            </a:extLst>
          </p:cNvPr>
          <p:cNvCxnSpPr>
            <a:stCxn xmlns:a="http://schemas.openxmlformats.org/drawingml/2006/main" id="27" idx="6"/>
            <a:endCxn xmlns:a="http://schemas.openxmlformats.org/drawingml/2006/main" id="32" idx="2"/>
          </p:cNvCxnSpPr>
          <p:nvPr/>
        </p:nvCxnSpPr>
        <p:spPr>
          <a:xfrm xmlns:a="http://schemas.openxmlformats.org/drawingml/2006/main">
            <a:off x="7286625" y="5133975"/>
            <a:ext cx="1381125" cy="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4" name="">
            <a:extLst xmlns:a="http://schemas.openxmlformats.org/drawingml/2006/main">
              <a:ext uri="{FF2B5EF4-FFF2-40B4-BE49-F238E27FC236}">
                <a16:creationId xmlns:a16="http://schemas.microsoft.com/office/drawing/2014/main" id="{2DB7B360-99C2-4E49-B567-04B3A7950C80}"/>
              </a:ext>
            </a:extLst>
          </p:cNvPr>
          <p:cNvCxnSpPr>
            <a:stCxn xmlns:a="http://schemas.openxmlformats.org/drawingml/2006/main" id="23" idx="6"/>
            <a:endCxn xmlns:a="http://schemas.openxmlformats.org/drawingml/2006/main" id="31" idx="2"/>
          </p:cNvCxnSpPr>
          <p:nvPr/>
        </p:nvCxnSpPr>
        <p:spPr>
          <a:xfrm xmlns:a="http://schemas.openxmlformats.org/drawingml/2006/main">
            <a:off x="7286625" y="2314575"/>
            <a:ext cx="1381125" cy="21145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3" name="">
            <a:extLst xmlns:a="http://schemas.openxmlformats.org/drawingml/2006/main">
              <a:ext uri="{FF2B5EF4-FFF2-40B4-BE49-F238E27FC236}">
                <a16:creationId xmlns:a16="http://schemas.microsoft.com/office/drawing/2014/main" id="{094111CF-1FC4-4898-B45F-DCF8835035F8}"/>
              </a:ext>
            </a:extLst>
          </p:cNvPr>
          <p:cNvCxnSpPr>
            <a:stCxn xmlns:a="http://schemas.openxmlformats.org/drawingml/2006/main" id="27" idx="6"/>
            <a:endCxn xmlns:a="http://schemas.openxmlformats.org/drawingml/2006/main" id="30" idx="2"/>
          </p:cNvCxnSpPr>
          <p:nvPr/>
        </p:nvCxnSpPr>
        <p:spPr>
          <a:xfrm xmlns:a="http://schemas.openxmlformats.org/drawingml/2006/main" flipV="1">
            <a:off x="7286625" y="3724275"/>
            <a:ext cx="1381125" cy="140970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2" name="">
            <a:extLst xmlns:a="http://schemas.openxmlformats.org/drawingml/2006/main">
              <a:ext uri="{FF2B5EF4-FFF2-40B4-BE49-F238E27FC236}">
                <a16:creationId xmlns:a16="http://schemas.microsoft.com/office/drawing/2014/main" id="{7076A249-B24C-48AC-BD0C-E823A5E99255}"/>
              </a:ext>
            </a:extLst>
          </p:cNvPr>
          <p:cNvCxnSpPr>
            <a:stCxn xmlns:a="http://schemas.openxmlformats.org/drawingml/2006/main" id="23" idx="6"/>
            <a:endCxn xmlns:a="http://schemas.openxmlformats.org/drawingml/2006/main" id="29" idx="2"/>
          </p:cNvCxnSpPr>
          <p:nvPr/>
        </p:nvCxnSpPr>
        <p:spPr>
          <a:xfrm xmlns:a="http://schemas.openxmlformats.org/drawingml/2006/main">
            <a:off x="7286625" y="231457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61" name="">
            <a:extLst xmlns:a="http://schemas.openxmlformats.org/drawingml/2006/main">
              <a:ext uri="{FF2B5EF4-FFF2-40B4-BE49-F238E27FC236}">
                <a16:creationId xmlns:a16="http://schemas.microsoft.com/office/drawing/2014/main" id="{E053D240-2410-4B83-806F-F889F6BF9BE3}"/>
              </a:ext>
            </a:extLst>
          </p:cNvPr>
          <p:cNvCxnSpPr>
            <a:stCxn xmlns:a="http://schemas.openxmlformats.org/drawingml/2006/main" id="24" idx="6"/>
            <a:endCxn xmlns:a="http://schemas.openxmlformats.org/drawingml/2006/main" id="28" idx="2"/>
          </p:cNvCxnSpPr>
          <p:nvPr/>
        </p:nvCxnSpPr>
        <p:spPr>
          <a:xfrm xmlns:a="http://schemas.openxmlformats.org/drawingml/2006/main" flipV="1">
            <a:off x="7286625" y="2314575"/>
            <a:ext cx="1381125" cy="704850"/>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60" name="">
            <a:extLst xmlns:a="http://schemas.openxmlformats.org/drawingml/2006/main">
              <a:ext uri="{FF2B5EF4-FFF2-40B4-BE49-F238E27FC236}">
                <a16:creationId xmlns:a16="http://schemas.microsoft.com/office/drawing/2014/main" id="{BDF6432B-D0D3-411A-B30E-D4C0469E833E}"/>
              </a:ext>
            </a:extLst>
          </p:cNvPr>
          <p:cNvCxnSpPr>
            <a:stCxn xmlns:a="http://schemas.openxmlformats.org/drawingml/2006/main" id="18" idx="6"/>
            <a:endCxn xmlns:a="http://schemas.openxmlformats.org/drawingml/2006/main" id="27" idx="2"/>
          </p:cNvCxnSpPr>
          <p:nvPr/>
        </p:nvCxnSpPr>
        <p:spPr>
          <a:xfrm xmlns:a="http://schemas.openxmlformats.org/drawingml/2006/main">
            <a:off x="5334000" y="3900488"/>
            <a:ext cx="1381125" cy="123348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9" name="">
            <a:extLst xmlns:a="http://schemas.openxmlformats.org/drawingml/2006/main">
              <a:ext uri="{FF2B5EF4-FFF2-40B4-BE49-F238E27FC236}">
                <a16:creationId xmlns:a16="http://schemas.microsoft.com/office/drawing/2014/main" id="{91AEACA8-279A-433B-A7D2-D05A50B6769A}"/>
              </a:ext>
            </a:extLst>
          </p:cNvPr>
          <p:cNvCxnSpPr>
            <a:stCxn xmlns:a="http://schemas.openxmlformats.org/drawingml/2006/main" id="20" idx="6"/>
            <a:endCxn xmlns:a="http://schemas.openxmlformats.org/drawingml/2006/main" id="27" idx="2"/>
          </p:cNvCxnSpPr>
          <p:nvPr/>
        </p:nvCxnSpPr>
        <p:spPr>
          <a:xfrm xmlns:a="http://schemas.openxmlformats.org/drawingml/2006/main">
            <a:off x="5334000" y="4605338"/>
            <a:ext cx="1381125" cy="5286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8" name="">
            <a:extLst xmlns:a="http://schemas.openxmlformats.org/drawingml/2006/main">
              <a:ext uri="{FF2B5EF4-FFF2-40B4-BE49-F238E27FC236}">
                <a16:creationId xmlns:a16="http://schemas.microsoft.com/office/drawing/2014/main" id="{3D5648F9-E047-48D8-9DD9-262204781CC2}"/>
              </a:ext>
            </a:extLst>
          </p:cNvPr>
          <p:cNvCxnSpPr>
            <a:stCxn xmlns:a="http://schemas.openxmlformats.org/drawingml/2006/main" id="19" idx="6"/>
            <a:endCxn xmlns:a="http://schemas.openxmlformats.org/drawingml/2006/main" id="26" idx="2"/>
          </p:cNvCxnSpPr>
          <p:nvPr/>
        </p:nvCxnSpPr>
        <p:spPr>
          <a:xfrm xmlns:a="http://schemas.openxmlformats.org/drawingml/2006/main">
            <a:off x="5334000" y="4252913"/>
            <a:ext cx="1381125" cy="17621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7" name="">
            <a:extLst xmlns:a="http://schemas.openxmlformats.org/drawingml/2006/main">
              <a:ext uri="{FF2B5EF4-FFF2-40B4-BE49-F238E27FC236}">
                <a16:creationId xmlns:a16="http://schemas.microsoft.com/office/drawing/2014/main" id="{CEBAB947-1EBA-4791-8021-11A8107B7228}"/>
              </a:ext>
            </a:extLst>
          </p:cNvPr>
          <p:cNvCxnSpPr>
            <a:stCxn xmlns:a="http://schemas.openxmlformats.org/drawingml/2006/main" id="14" idx="6"/>
            <a:endCxn xmlns:a="http://schemas.openxmlformats.org/drawingml/2006/main" id="26" idx="2"/>
          </p:cNvCxnSpPr>
          <p:nvPr/>
        </p:nvCxnSpPr>
        <p:spPr>
          <a:xfrm xmlns:a="http://schemas.openxmlformats.org/drawingml/2006/main">
            <a:off x="5334000" y="2490788"/>
            <a:ext cx="1381125" cy="1938337"/>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6" name="">
            <a:extLst xmlns:a="http://schemas.openxmlformats.org/drawingml/2006/main">
              <a:ext uri="{FF2B5EF4-FFF2-40B4-BE49-F238E27FC236}">
                <a16:creationId xmlns:a16="http://schemas.microsoft.com/office/drawing/2014/main" id="{F4C8F6DE-0281-4B76-A7B4-6E1C88FE6BBC}"/>
              </a:ext>
            </a:extLst>
          </p:cNvPr>
          <p:cNvCxnSpPr>
            <a:stCxn xmlns:a="http://schemas.openxmlformats.org/drawingml/2006/main" id="17" idx="6"/>
            <a:endCxn xmlns:a="http://schemas.openxmlformats.org/drawingml/2006/main" id="26" idx="2"/>
          </p:cNvCxnSpPr>
          <p:nvPr/>
        </p:nvCxnSpPr>
        <p:spPr>
          <a:xfrm xmlns:a="http://schemas.openxmlformats.org/drawingml/2006/main">
            <a:off x="5334000" y="3548063"/>
            <a:ext cx="1381125" cy="88106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5" name="">
            <a:extLst xmlns:a="http://schemas.openxmlformats.org/drawingml/2006/main">
              <a:ext uri="{FF2B5EF4-FFF2-40B4-BE49-F238E27FC236}">
                <a16:creationId xmlns:a16="http://schemas.microsoft.com/office/drawing/2014/main" id="{9C015FD7-C639-43DA-B7B9-C63D70FDC813}"/>
              </a:ext>
            </a:extLst>
          </p:cNvPr>
          <p:cNvCxnSpPr>
            <a:stCxn xmlns:a="http://schemas.openxmlformats.org/drawingml/2006/main" id="22" idx="6"/>
            <a:endCxn xmlns:a="http://schemas.openxmlformats.org/drawingml/2006/main" id="25" idx="2"/>
          </p:cNvCxnSpPr>
          <p:nvPr/>
        </p:nvCxnSpPr>
        <p:spPr>
          <a:xfrm xmlns:a="http://schemas.openxmlformats.org/drawingml/2006/main" flipV="1">
            <a:off x="5334000" y="3724275"/>
            <a:ext cx="1381125" cy="1585913"/>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4" name="">
            <a:extLst xmlns:a="http://schemas.openxmlformats.org/drawingml/2006/main">
              <a:ext uri="{FF2B5EF4-FFF2-40B4-BE49-F238E27FC236}">
                <a16:creationId xmlns:a16="http://schemas.microsoft.com/office/drawing/2014/main" id="{A27BE06B-6B49-423D-B312-4EA24EFC8560}"/>
              </a:ext>
            </a:extLst>
          </p:cNvPr>
          <p:cNvCxnSpPr>
            <a:stCxn xmlns:a="http://schemas.openxmlformats.org/drawingml/2006/main" id="13" idx="6"/>
            <a:endCxn xmlns:a="http://schemas.openxmlformats.org/drawingml/2006/main" id="25" idx="2"/>
          </p:cNvCxnSpPr>
          <p:nvPr/>
        </p:nvCxnSpPr>
        <p:spPr>
          <a:xfrm xmlns:a="http://schemas.openxmlformats.org/drawingml/2006/main">
            <a:off x="5334000" y="2138363"/>
            <a:ext cx="1381125" cy="1585912"/>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3" name="">
            <a:extLst xmlns:a="http://schemas.openxmlformats.org/drawingml/2006/main">
              <a:ext uri="{FF2B5EF4-FFF2-40B4-BE49-F238E27FC236}">
                <a16:creationId xmlns:a16="http://schemas.microsoft.com/office/drawing/2014/main" id="{3CE2C43C-1FDF-48DE-9894-9AB4ADF3C05F}"/>
              </a:ext>
            </a:extLst>
          </p:cNvPr>
          <p:cNvCxnSpPr>
            <a:stCxn xmlns:a="http://schemas.openxmlformats.org/drawingml/2006/main" id="19" idx="6"/>
            <a:endCxn xmlns:a="http://schemas.openxmlformats.org/drawingml/2006/main" id="24" idx="2"/>
          </p:cNvCxnSpPr>
          <p:nvPr/>
        </p:nvCxnSpPr>
        <p:spPr>
          <a:xfrm xmlns:a="http://schemas.openxmlformats.org/drawingml/2006/main" flipV="1">
            <a:off x="5334000" y="3019425"/>
            <a:ext cx="1381125" cy="123348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2" name="">
            <a:extLst xmlns:a="http://schemas.openxmlformats.org/drawingml/2006/main">
              <a:ext uri="{FF2B5EF4-FFF2-40B4-BE49-F238E27FC236}">
                <a16:creationId xmlns:a16="http://schemas.microsoft.com/office/drawing/2014/main" id="{7DB52D30-098A-4498-AF86-516843B09CA0}"/>
              </a:ext>
            </a:extLst>
          </p:cNvPr>
          <p:cNvCxnSpPr>
            <a:stCxn xmlns:a="http://schemas.openxmlformats.org/drawingml/2006/main" id="18" idx="6"/>
            <a:endCxn xmlns:a="http://schemas.openxmlformats.org/drawingml/2006/main" id="24" idx="2"/>
          </p:cNvCxnSpPr>
          <p:nvPr/>
        </p:nvCxnSpPr>
        <p:spPr>
          <a:xfrm xmlns:a="http://schemas.openxmlformats.org/drawingml/2006/main" flipV="1">
            <a:off x="5334000" y="3019425"/>
            <a:ext cx="1381125" cy="88106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51" name="">
            <a:extLst xmlns:a="http://schemas.openxmlformats.org/drawingml/2006/main">
              <a:ext uri="{FF2B5EF4-FFF2-40B4-BE49-F238E27FC236}">
                <a16:creationId xmlns:a16="http://schemas.microsoft.com/office/drawing/2014/main" id="{49881A7F-8431-438A-BA76-A98B0536C7D0}"/>
              </a:ext>
            </a:extLst>
          </p:cNvPr>
          <p:cNvCxnSpPr>
            <a:stCxn xmlns:a="http://schemas.openxmlformats.org/drawingml/2006/main" id="14" idx="6"/>
            <a:endCxn xmlns:a="http://schemas.openxmlformats.org/drawingml/2006/main" id="24" idx="2"/>
          </p:cNvCxnSpPr>
          <p:nvPr/>
        </p:nvCxnSpPr>
        <p:spPr>
          <a:xfrm xmlns:a="http://schemas.openxmlformats.org/drawingml/2006/main">
            <a:off x="5334000" y="2490788"/>
            <a:ext cx="1381125" cy="528637"/>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50" name="">
            <a:extLst xmlns:a="http://schemas.openxmlformats.org/drawingml/2006/main">
              <a:ext uri="{FF2B5EF4-FFF2-40B4-BE49-F238E27FC236}">
                <a16:creationId xmlns:a16="http://schemas.microsoft.com/office/drawing/2014/main" id="{C073229E-A97E-498F-B399-C684CF4F92F1}"/>
              </a:ext>
            </a:extLst>
          </p:cNvPr>
          <p:cNvCxnSpPr>
            <a:stCxn xmlns:a="http://schemas.openxmlformats.org/drawingml/2006/main" id="16" idx="6"/>
            <a:endCxn xmlns:a="http://schemas.openxmlformats.org/drawingml/2006/main" id="23" idx="2"/>
          </p:cNvCxnSpPr>
          <p:nvPr/>
        </p:nvCxnSpPr>
        <p:spPr>
          <a:xfrm xmlns:a="http://schemas.openxmlformats.org/drawingml/2006/main" flipV="1">
            <a:off x="5334000" y="2314575"/>
            <a:ext cx="1381125" cy="88106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9" name="">
            <a:extLst xmlns:a="http://schemas.openxmlformats.org/drawingml/2006/main">
              <a:ext uri="{FF2B5EF4-FFF2-40B4-BE49-F238E27FC236}">
                <a16:creationId xmlns:a16="http://schemas.microsoft.com/office/drawing/2014/main" id="{9F0F1023-E2B8-4805-9316-262B75AF3982}"/>
              </a:ext>
            </a:extLst>
          </p:cNvPr>
          <p:cNvCxnSpPr>
            <a:stCxn xmlns:a="http://schemas.openxmlformats.org/drawingml/2006/main" id="18" idx="6"/>
            <a:endCxn xmlns:a="http://schemas.openxmlformats.org/drawingml/2006/main" id="23" idx="2"/>
          </p:cNvCxnSpPr>
          <p:nvPr/>
        </p:nvCxnSpPr>
        <p:spPr>
          <a:xfrm xmlns:a="http://schemas.openxmlformats.org/drawingml/2006/main" flipV="1">
            <a:off x="5334000" y="2314575"/>
            <a:ext cx="1381125" cy="158591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8" name="">
            <a:extLst xmlns:a="http://schemas.openxmlformats.org/drawingml/2006/main">
              <a:ext uri="{FF2B5EF4-FFF2-40B4-BE49-F238E27FC236}">
                <a16:creationId xmlns:a16="http://schemas.microsoft.com/office/drawing/2014/main" id="{E3784A73-4773-4166-8566-26E2A5633670}"/>
              </a:ext>
            </a:extLst>
          </p:cNvPr>
          <p:cNvCxnSpPr>
            <a:stCxn xmlns:a="http://schemas.openxmlformats.org/drawingml/2006/main" id="17" idx="6"/>
            <a:endCxn xmlns:a="http://schemas.openxmlformats.org/drawingml/2006/main" id="23" idx="2"/>
          </p:cNvCxnSpPr>
          <p:nvPr/>
        </p:nvCxnSpPr>
        <p:spPr>
          <a:xfrm xmlns:a="http://schemas.openxmlformats.org/drawingml/2006/main" flipV="1">
            <a:off x="5334000" y="2314575"/>
            <a:ext cx="1381125" cy="123348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7" name="">
            <a:extLst xmlns:a="http://schemas.openxmlformats.org/drawingml/2006/main">
              <a:ext uri="{FF2B5EF4-FFF2-40B4-BE49-F238E27FC236}">
                <a16:creationId xmlns:a16="http://schemas.microsoft.com/office/drawing/2014/main" id="{075C898E-437B-4FA1-850C-E3AF36B7980B}"/>
              </a:ext>
            </a:extLst>
          </p:cNvPr>
          <p:cNvCxnSpPr>
            <a:stCxn xmlns:a="http://schemas.openxmlformats.org/drawingml/2006/main" id="9" idx="6"/>
            <a:endCxn xmlns:a="http://schemas.openxmlformats.org/drawingml/2006/main" id="22" idx="2"/>
          </p:cNvCxnSpPr>
          <p:nvPr/>
        </p:nvCxnSpPr>
        <p:spPr>
          <a:xfrm xmlns:a="http://schemas.openxmlformats.org/drawingml/2006/main">
            <a:off x="3381375" y="3019425"/>
            <a:ext cx="1381125" cy="2290763"/>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46" name="">
            <a:extLst xmlns:a="http://schemas.openxmlformats.org/drawingml/2006/main">
              <a:ext uri="{FF2B5EF4-FFF2-40B4-BE49-F238E27FC236}">
                <a16:creationId xmlns:a16="http://schemas.microsoft.com/office/drawing/2014/main" id="{167D2696-7D68-490F-9AA3-A3A1461CCC19}"/>
              </a:ext>
            </a:extLst>
          </p:cNvPr>
          <p:cNvCxnSpPr>
            <a:stCxn xmlns:a="http://schemas.openxmlformats.org/drawingml/2006/main" id="11" idx="6"/>
            <a:endCxn xmlns:a="http://schemas.openxmlformats.org/drawingml/2006/main" id="21" idx="2"/>
          </p:cNvCxnSpPr>
          <p:nvPr/>
        </p:nvCxnSpPr>
        <p:spPr>
          <a:xfrm xmlns:a="http://schemas.openxmlformats.org/drawingml/2006/main">
            <a:off x="3381375" y="4429125"/>
            <a:ext cx="1381125" cy="52863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5" name="">
            <a:extLst xmlns:a="http://schemas.openxmlformats.org/drawingml/2006/main">
              <a:ext uri="{FF2B5EF4-FFF2-40B4-BE49-F238E27FC236}">
                <a16:creationId xmlns:a16="http://schemas.microsoft.com/office/drawing/2014/main" id="{D0126281-F965-4FDF-9D37-7255DE5AB36C}"/>
              </a:ext>
            </a:extLst>
          </p:cNvPr>
          <p:cNvCxnSpPr>
            <a:stCxn xmlns:a="http://schemas.openxmlformats.org/drawingml/2006/main" id="8" idx="6"/>
            <a:endCxn xmlns:a="http://schemas.openxmlformats.org/drawingml/2006/main" id="20" idx="2"/>
          </p:cNvCxnSpPr>
          <p:nvPr/>
        </p:nvCxnSpPr>
        <p:spPr>
          <a:xfrm xmlns:a="http://schemas.openxmlformats.org/drawingml/2006/main">
            <a:off x="3381375" y="2314575"/>
            <a:ext cx="1381125" cy="229076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4" name="">
            <a:extLst xmlns:a="http://schemas.openxmlformats.org/drawingml/2006/main">
              <a:ext uri="{FF2B5EF4-FFF2-40B4-BE49-F238E27FC236}">
                <a16:creationId xmlns:a16="http://schemas.microsoft.com/office/drawing/2014/main" id="{AF02ED05-94E4-4402-BC6A-B511240A9142}"/>
              </a:ext>
            </a:extLst>
          </p:cNvPr>
          <p:cNvCxnSpPr>
            <a:stCxn xmlns:a="http://schemas.openxmlformats.org/drawingml/2006/main" id="12" idx="6"/>
            <a:endCxn xmlns:a="http://schemas.openxmlformats.org/drawingml/2006/main" id="20" idx="2"/>
          </p:cNvCxnSpPr>
          <p:nvPr/>
        </p:nvCxnSpPr>
        <p:spPr>
          <a:xfrm xmlns:a="http://schemas.openxmlformats.org/drawingml/2006/main" flipV="1">
            <a:off x="3381375" y="4605338"/>
            <a:ext cx="1381125" cy="5286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3" name="">
            <a:extLst xmlns:a="http://schemas.openxmlformats.org/drawingml/2006/main">
              <a:ext uri="{FF2B5EF4-FFF2-40B4-BE49-F238E27FC236}">
                <a16:creationId xmlns:a16="http://schemas.microsoft.com/office/drawing/2014/main" id="{212A5108-9946-4F68-8D5A-9A7DA53F8DB0}"/>
              </a:ext>
            </a:extLst>
          </p:cNvPr>
          <p:cNvCxnSpPr>
            <a:stCxn xmlns:a="http://schemas.openxmlformats.org/drawingml/2006/main" id="11" idx="6"/>
            <a:endCxn xmlns:a="http://schemas.openxmlformats.org/drawingml/2006/main" id="19" idx="2"/>
          </p:cNvCxnSpPr>
          <p:nvPr/>
        </p:nvCxnSpPr>
        <p:spPr>
          <a:xfrm xmlns:a="http://schemas.openxmlformats.org/drawingml/2006/main" flipV="1">
            <a:off x="3381375" y="4252913"/>
            <a:ext cx="1381125" cy="17621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2" name="">
            <a:extLst xmlns:a="http://schemas.openxmlformats.org/drawingml/2006/main">
              <a:ext uri="{FF2B5EF4-FFF2-40B4-BE49-F238E27FC236}">
                <a16:creationId xmlns:a16="http://schemas.microsoft.com/office/drawing/2014/main" id="{6CEE76F5-6D54-4D6F-891E-7852A14D1419}"/>
              </a:ext>
            </a:extLst>
          </p:cNvPr>
          <p:cNvCxnSpPr>
            <a:stCxn xmlns:a="http://schemas.openxmlformats.org/drawingml/2006/main" id="8" idx="6"/>
            <a:endCxn xmlns:a="http://schemas.openxmlformats.org/drawingml/2006/main" id="18" idx="2"/>
          </p:cNvCxnSpPr>
          <p:nvPr/>
        </p:nvCxnSpPr>
        <p:spPr>
          <a:xfrm xmlns:a="http://schemas.openxmlformats.org/drawingml/2006/main">
            <a:off x="3381375" y="2314575"/>
            <a:ext cx="1381125" cy="1585913"/>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1" name="">
            <a:extLst xmlns:a="http://schemas.openxmlformats.org/drawingml/2006/main">
              <a:ext uri="{FF2B5EF4-FFF2-40B4-BE49-F238E27FC236}">
                <a16:creationId xmlns:a16="http://schemas.microsoft.com/office/drawing/2014/main" id="{6E422977-AF39-46F8-8D7C-6CCB7FDB76E9}"/>
              </a:ext>
            </a:extLst>
          </p:cNvPr>
          <p:cNvCxnSpPr>
            <a:stCxn xmlns:a="http://schemas.openxmlformats.org/drawingml/2006/main" id="11" idx="6"/>
            <a:endCxn xmlns:a="http://schemas.openxmlformats.org/drawingml/2006/main" id="17" idx="2"/>
          </p:cNvCxnSpPr>
          <p:nvPr/>
        </p:nvCxnSpPr>
        <p:spPr>
          <a:xfrm xmlns:a="http://schemas.openxmlformats.org/drawingml/2006/main" flipV="1">
            <a:off x="3381375" y="3548063"/>
            <a:ext cx="1381125" cy="88106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40" name="">
            <a:extLst xmlns:a="http://schemas.openxmlformats.org/drawingml/2006/main">
              <a:ext uri="{FF2B5EF4-FFF2-40B4-BE49-F238E27FC236}">
                <a16:creationId xmlns:a16="http://schemas.microsoft.com/office/drawing/2014/main" id="{9B4EF49C-2E27-496C-BD55-5B54AA8BD383}"/>
              </a:ext>
            </a:extLst>
          </p:cNvPr>
          <p:cNvCxnSpPr>
            <a:stCxn xmlns:a="http://schemas.openxmlformats.org/drawingml/2006/main" id="10" idx="6"/>
            <a:endCxn xmlns:a="http://schemas.openxmlformats.org/drawingml/2006/main" id="17" idx="2"/>
          </p:cNvCxnSpPr>
          <p:nvPr/>
        </p:nvCxnSpPr>
        <p:spPr>
          <a:xfrm xmlns:a="http://schemas.openxmlformats.org/drawingml/2006/main" flipV="1">
            <a:off x="3381375" y="3548063"/>
            <a:ext cx="1381125" cy="176212"/>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9" name="">
            <a:extLst xmlns:a="http://schemas.openxmlformats.org/drawingml/2006/main">
              <a:ext uri="{FF2B5EF4-FFF2-40B4-BE49-F238E27FC236}">
                <a16:creationId xmlns:a16="http://schemas.microsoft.com/office/drawing/2014/main" id="{885E9D1D-8B75-4BAB-9FAB-41FEF0C873F8}"/>
              </a:ext>
            </a:extLst>
          </p:cNvPr>
          <p:cNvCxnSpPr>
            <a:stCxn xmlns:a="http://schemas.openxmlformats.org/drawingml/2006/main" id="12" idx="6"/>
            <a:endCxn xmlns:a="http://schemas.openxmlformats.org/drawingml/2006/main" id="16" idx="2"/>
          </p:cNvCxnSpPr>
          <p:nvPr/>
        </p:nvCxnSpPr>
        <p:spPr>
          <a:xfrm xmlns:a="http://schemas.openxmlformats.org/drawingml/2006/main" flipV="1">
            <a:off x="3381375" y="3195638"/>
            <a:ext cx="1381125" cy="19383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8" name="">
            <a:extLst xmlns:a="http://schemas.openxmlformats.org/drawingml/2006/main">
              <a:ext uri="{FF2B5EF4-FFF2-40B4-BE49-F238E27FC236}">
                <a16:creationId xmlns:a16="http://schemas.microsoft.com/office/drawing/2014/main" id="{6603782B-880A-4A91-8B0C-992E821FD8C6}"/>
              </a:ext>
            </a:extLst>
          </p:cNvPr>
          <p:cNvCxnSpPr>
            <a:stCxn xmlns:a="http://schemas.openxmlformats.org/drawingml/2006/main" id="8" idx="6"/>
            <a:endCxn xmlns:a="http://schemas.openxmlformats.org/drawingml/2006/main" id="15" idx="2"/>
          </p:cNvCxnSpPr>
          <p:nvPr/>
        </p:nvCxnSpPr>
        <p:spPr>
          <a:xfrm xmlns:a="http://schemas.openxmlformats.org/drawingml/2006/main">
            <a:off x="3381375" y="2314575"/>
            <a:ext cx="1381125" cy="528638"/>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7" name="">
            <a:extLst xmlns:a="http://schemas.openxmlformats.org/drawingml/2006/main">
              <a:ext uri="{FF2B5EF4-FFF2-40B4-BE49-F238E27FC236}">
                <a16:creationId xmlns:a16="http://schemas.microsoft.com/office/drawing/2014/main" id="{39B0554F-F35D-4350-86A2-DBC541121809}"/>
              </a:ext>
            </a:extLst>
          </p:cNvPr>
          <p:cNvCxnSpPr>
            <a:stCxn xmlns:a="http://schemas.openxmlformats.org/drawingml/2006/main" id="9" idx="6"/>
            <a:endCxn xmlns:a="http://schemas.openxmlformats.org/drawingml/2006/main" id="14" idx="2"/>
          </p:cNvCxnSpPr>
          <p:nvPr/>
        </p:nvCxnSpPr>
        <p:spPr>
          <a:xfrm xmlns:a="http://schemas.openxmlformats.org/drawingml/2006/main" flipV="1">
            <a:off x="3381375" y="2490788"/>
            <a:ext cx="1381125" cy="528637"/>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36" name="">
            <a:extLst xmlns:a="http://schemas.openxmlformats.org/drawingml/2006/main">
              <a:ext uri="{FF2B5EF4-FFF2-40B4-BE49-F238E27FC236}">
                <a16:creationId xmlns:a16="http://schemas.microsoft.com/office/drawing/2014/main" id="{B84C4D4C-7DEC-48E3-9FC0-ED6D9BE64212}"/>
              </a:ext>
            </a:extLst>
          </p:cNvPr>
          <p:cNvCxnSpPr>
            <a:stCxn xmlns:a="http://schemas.openxmlformats.org/drawingml/2006/main" id="11" idx="6"/>
            <a:endCxn xmlns:a="http://schemas.openxmlformats.org/drawingml/2006/main" id="14" idx="2"/>
          </p:cNvCxnSpPr>
          <p:nvPr/>
        </p:nvCxnSpPr>
        <p:spPr>
          <a:xfrm xmlns:a="http://schemas.openxmlformats.org/drawingml/2006/main" flipV="1">
            <a:off x="3381375" y="2490788"/>
            <a:ext cx="1381125" cy="1938337"/>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5" name="">
            <a:extLst xmlns:a="http://schemas.openxmlformats.org/drawingml/2006/main">
              <a:ext uri="{FF2B5EF4-FFF2-40B4-BE49-F238E27FC236}">
                <a16:creationId xmlns:a16="http://schemas.microsoft.com/office/drawing/2014/main" id="{46F6E558-1C23-49B2-A191-CAA9675EDCB7}"/>
              </a:ext>
            </a:extLst>
          </p:cNvPr>
          <p:cNvCxnSpPr>
            <a:stCxn xmlns:a="http://schemas.openxmlformats.org/drawingml/2006/main" id="9" idx="6"/>
            <a:endCxn xmlns:a="http://schemas.openxmlformats.org/drawingml/2006/main" id="13" idx="2"/>
          </p:cNvCxnSpPr>
          <p:nvPr/>
        </p:nvCxnSpPr>
        <p:spPr>
          <a:xfrm xmlns:a="http://schemas.openxmlformats.org/drawingml/2006/main" flipV="1">
            <a:off x="3381375" y="2138363"/>
            <a:ext cx="1381125" cy="881062"/>
          </a:xfrm>
          <a:prstGeom xmlns:a="http://schemas.openxmlformats.org/drawingml/2006/main" prst="straightConnector1">
            <a:avLst/>
          </a:prstGeom>
          <a:ln xmlns:a="http://schemas.openxmlformats.org/drawingml/2006/main" w="42863">
            <a:solidFill>
              <a:srgbClr val="B95435"/>
            </a:solidFill>
            <a:tailEnd type="triangle" w="lg" len="lg"/>
          </a:ln>
        </p:spPr>
      </p:cxnSp>
      <p:cxnSp>
        <p:nvCxnSpPr>
          <p:cNvPr id="34" name="">
            <a:extLst xmlns:a="http://schemas.openxmlformats.org/drawingml/2006/main">
              <a:ext uri="{FF2B5EF4-FFF2-40B4-BE49-F238E27FC236}">
                <a16:creationId xmlns:a16="http://schemas.microsoft.com/office/drawing/2014/main" id="{1C0BCB69-219D-479C-8B57-650DEA46C4DD}"/>
              </a:ext>
            </a:extLst>
          </p:cNvPr>
          <p:cNvCxnSpPr>
            <a:stCxn xmlns:a="http://schemas.openxmlformats.org/drawingml/2006/main" id="6" idx="6"/>
            <a:endCxn xmlns:a="http://schemas.openxmlformats.org/drawingml/2006/main" id="12" idx="2"/>
          </p:cNvCxnSpPr>
          <p:nvPr/>
        </p:nvCxnSpPr>
        <p:spPr>
          <a:xfrm xmlns:a="http://schemas.openxmlformats.org/drawingml/2006/main">
            <a:off x="1428750" y="4429125"/>
            <a:ext cx="1381125" cy="704850"/>
          </a:xfrm>
          <a:prstGeom xmlns:a="http://schemas.openxmlformats.org/drawingml/2006/main" prst="straightConnector1">
            <a:avLst/>
          </a:prstGeom>
          <a:ln xmlns:a="http://schemas.openxmlformats.org/drawingml/2006/main" w="28575">
            <a:solidFill>
              <a:srgbClr val="8BA8AE"/>
            </a:solidFill>
            <a:tailEnd type="triangle" w="lg" len="lg"/>
          </a:ln>
        </p:spPr>
      </p:cxnSp>
      <p:cxnSp>
        <p:nvCxnSpPr>
          <p:cNvPr id="33" name="">
            <a:extLst xmlns:a="http://schemas.openxmlformats.org/drawingml/2006/main">
              <a:ext uri="{FF2B5EF4-FFF2-40B4-BE49-F238E27FC236}">
                <a16:creationId xmlns:a16="http://schemas.microsoft.com/office/drawing/2014/main" id="{EEF51061-3D65-4F25-AF40-5B76BE044EC1}"/>
              </a:ext>
            </a:extLst>
          </p:cNvPr>
          <p:cNvCxnSpPr>
            <a:stCxn xmlns:a="http://schemas.openxmlformats.org/drawingml/2006/main" id="7" idx="6"/>
            <a:endCxn xmlns:a="http://schemas.openxmlformats.org/drawingml/2006/main" id="12" idx="2"/>
          </p:cNvCxnSpPr>
          <p:nvPr/>
        </p:nvCxnSpPr>
        <p:spPr>
          <a:xfrm xmlns:a="http://schemas.openxmlformats.org/drawingml/2006/main">
            <a:off x="1428750" y="5133975"/>
            <a:ext cx="1381125" cy="0"/>
          </a:xfrm>
          <a:prstGeom xmlns:a="http://schemas.openxmlformats.org/drawingml/2006/main" prst="straightConnector1">
            <a:avLst/>
          </a:prstGeom>
          <a:ln xmlns:a="http://schemas.openxmlformats.org/drawingml/2006/main" w="28575">
            <a:solidFill>
              <a:srgbClr val="8BA8AE"/>
            </a:solidFill>
            <a:tailEnd type="triangle" w="lg" len="lg"/>
          </a:ln>
        </p:spPr>
      </p:cxnSp>
      <p:sp>
        <p:nvSpPr>
          <p:cNvPr id="75" name="title">
            <a:extLst xmlns:a="http://schemas.openxmlformats.org/drawingml/2006/main">
              <a:ext uri="{FF2B5EF4-FFF2-40B4-BE49-F238E27FC236}">
                <a16:creationId xmlns:a16="http://schemas.microsoft.com/office/drawing/2014/main" id="{0D2641F2-AB26-4E7C-B15D-208B5A87C432}"/>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A recorded synthetic system: 30 mechanisms</a:t>
            </a:r>
          </a:p>
        </p:txBody>
      </p:sp>
      <p:sp>
        <p:nvSpPr>
          <p:cNvPr id="2" name="page">
            <a:extLst xmlns:a="http://schemas.openxmlformats.org/drawingml/2006/main">
              <a:ext uri="{FF2B5EF4-FFF2-40B4-BE49-F238E27FC236}">
                <a16:creationId xmlns:a16="http://schemas.microsoft.com/office/drawing/2014/main" id="{91BF9899-6F6D-4404-807C-7CE9646F22B4}"/>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10</a:t>
            </a:r>
          </a:p>
        </p:txBody>
      </p:sp>
      <p:sp>
        <p:nvSpPr>
          <p:cNvPr id="3" name="SCM node X1">
            <a:extLst xmlns:a="http://schemas.openxmlformats.org/drawingml/2006/main">
              <a:ext uri="{FF2B5EF4-FFF2-40B4-BE49-F238E27FC236}">
                <a16:creationId xmlns:a16="http://schemas.microsoft.com/office/drawing/2014/main" id="{EDE1270E-E54B-4D45-83D8-A75FBD438AA8}"/>
              </a:ext>
            </a:extLst>
          </p:cNvPr>
          <p:cNvSpPr>
            <a:spLocks xmlns:a="http://schemas.openxmlformats.org/drawingml/2006/main" noGrp="1"/>
          </p:cNvSpPr>
          <p:nvPr/>
        </p:nvSpPr>
        <p:spPr>
          <a:xfrm xmlns:a="http://schemas.openxmlformats.org/drawingml/2006/main">
            <a:off x="857250"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a:t>
            </a:r>
          </a:p>
        </p:txBody>
      </p:sp>
      <p:sp>
        <p:nvSpPr>
          <p:cNvPr id="4" name="SCM node X2">
            <a:extLst xmlns:a="http://schemas.openxmlformats.org/drawingml/2006/main">
              <a:ext uri="{FF2B5EF4-FFF2-40B4-BE49-F238E27FC236}">
                <a16:creationId xmlns:a16="http://schemas.microsoft.com/office/drawing/2014/main" id="{E2A26913-85B0-4998-AD04-5F605C9F2441}"/>
              </a:ext>
            </a:extLst>
          </p:cNvPr>
          <p:cNvSpPr>
            <a:spLocks xmlns:a="http://schemas.openxmlformats.org/drawingml/2006/main" noGrp="1"/>
          </p:cNvSpPr>
          <p:nvPr/>
        </p:nvSpPr>
        <p:spPr>
          <a:xfrm xmlns:a="http://schemas.openxmlformats.org/drawingml/2006/main">
            <a:off x="857250" y="28670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a:t>
            </a:r>
          </a:p>
        </p:txBody>
      </p:sp>
      <p:sp>
        <p:nvSpPr>
          <p:cNvPr id="5" name="SCM node X3">
            <a:extLst xmlns:a="http://schemas.openxmlformats.org/drawingml/2006/main">
              <a:ext uri="{FF2B5EF4-FFF2-40B4-BE49-F238E27FC236}">
                <a16:creationId xmlns:a16="http://schemas.microsoft.com/office/drawing/2014/main" id="{95A6F1AC-B82C-4E74-8DDA-C19B3C667A19}"/>
              </a:ext>
            </a:extLst>
          </p:cNvPr>
          <p:cNvSpPr>
            <a:spLocks xmlns:a="http://schemas.openxmlformats.org/drawingml/2006/main" noGrp="1"/>
          </p:cNvSpPr>
          <p:nvPr/>
        </p:nvSpPr>
        <p:spPr>
          <a:xfrm xmlns:a="http://schemas.openxmlformats.org/drawingml/2006/main">
            <a:off x="857250"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X3</a:t>
            </a:r>
          </a:p>
        </p:txBody>
      </p:sp>
      <p:sp>
        <p:nvSpPr>
          <p:cNvPr id="6" name="SCM node X4">
            <a:extLst xmlns:a="http://schemas.openxmlformats.org/drawingml/2006/main">
              <a:ext uri="{FF2B5EF4-FFF2-40B4-BE49-F238E27FC236}">
                <a16:creationId xmlns:a16="http://schemas.microsoft.com/office/drawing/2014/main" id="{3995FDBF-3AF1-4D51-868B-DAEA160770E6}"/>
              </a:ext>
            </a:extLst>
          </p:cNvPr>
          <p:cNvSpPr>
            <a:spLocks xmlns:a="http://schemas.openxmlformats.org/drawingml/2006/main" noGrp="1"/>
          </p:cNvSpPr>
          <p:nvPr/>
        </p:nvSpPr>
        <p:spPr>
          <a:xfrm xmlns:a="http://schemas.openxmlformats.org/drawingml/2006/main">
            <a:off x="857250"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X4</a:t>
            </a:r>
          </a:p>
        </p:txBody>
      </p:sp>
      <p:sp>
        <p:nvSpPr>
          <p:cNvPr id="7" name="SCM node X5">
            <a:extLst xmlns:a="http://schemas.openxmlformats.org/drawingml/2006/main">
              <a:ext uri="{FF2B5EF4-FFF2-40B4-BE49-F238E27FC236}">
                <a16:creationId xmlns:a16="http://schemas.microsoft.com/office/drawing/2014/main" id="{CA4F4A95-D33E-438C-A439-D85E4F38EAE9}"/>
              </a:ext>
            </a:extLst>
          </p:cNvPr>
          <p:cNvSpPr>
            <a:spLocks xmlns:a="http://schemas.openxmlformats.org/drawingml/2006/main" noGrp="1"/>
          </p:cNvSpPr>
          <p:nvPr/>
        </p:nvSpPr>
        <p:spPr>
          <a:xfrm xmlns:a="http://schemas.openxmlformats.org/drawingml/2006/main">
            <a:off x="857250"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X5</a:t>
            </a:r>
          </a:p>
        </p:txBody>
      </p:sp>
      <p:sp>
        <p:nvSpPr>
          <p:cNvPr id="8" name="SCM node X6">
            <a:extLst xmlns:a="http://schemas.openxmlformats.org/drawingml/2006/main">
              <a:ext uri="{FF2B5EF4-FFF2-40B4-BE49-F238E27FC236}">
                <a16:creationId xmlns:a16="http://schemas.microsoft.com/office/drawing/2014/main" id="{613489C6-F96D-42E3-954F-45F0DB9832B9}"/>
              </a:ext>
            </a:extLst>
          </p:cNvPr>
          <p:cNvSpPr>
            <a:spLocks xmlns:a="http://schemas.openxmlformats.org/drawingml/2006/main" noGrp="1"/>
          </p:cNvSpPr>
          <p:nvPr/>
        </p:nvSpPr>
        <p:spPr>
          <a:xfrm xmlns:a="http://schemas.openxmlformats.org/drawingml/2006/main">
            <a:off x="2809875"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X6</a:t>
            </a:r>
          </a:p>
        </p:txBody>
      </p:sp>
      <p:sp>
        <p:nvSpPr>
          <p:cNvPr id="9" name="SCM node X7">
            <a:extLst xmlns:a="http://schemas.openxmlformats.org/drawingml/2006/main">
              <a:ext uri="{FF2B5EF4-FFF2-40B4-BE49-F238E27FC236}">
                <a16:creationId xmlns:a16="http://schemas.microsoft.com/office/drawing/2014/main" id="{377DE729-4BAF-436E-9389-C4EB4178C82A}"/>
              </a:ext>
            </a:extLst>
          </p:cNvPr>
          <p:cNvSpPr>
            <a:spLocks xmlns:a="http://schemas.openxmlformats.org/drawingml/2006/main" noGrp="1"/>
          </p:cNvSpPr>
          <p:nvPr/>
        </p:nvSpPr>
        <p:spPr>
          <a:xfrm xmlns:a="http://schemas.openxmlformats.org/drawingml/2006/main">
            <a:off x="2809875" y="2867025"/>
            <a:ext cx="571500" cy="304800"/>
          </a:xfrm>
          <a:prstGeom xmlns:a="http://schemas.openxmlformats.org/drawingml/2006/main" prst="ellipse">
            <a:avLst/>
          </a:prstGeom>
          <a:solidFill xmlns:a="http://schemas.openxmlformats.org/drawingml/2006/main">
            <a:srgbClr val="B95435"/>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X7</a:t>
            </a:r>
          </a:p>
        </p:txBody>
      </p:sp>
      <p:sp>
        <p:nvSpPr>
          <p:cNvPr id="10" name="SCM node X8">
            <a:extLst xmlns:a="http://schemas.openxmlformats.org/drawingml/2006/main">
              <a:ext uri="{FF2B5EF4-FFF2-40B4-BE49-F238E27FC236}">
                <a16:creationId xmlns:a16="http://schemas.microsoft.com/office/drawing/2014/main" id="{0431DACD-F0C5-4E9C-8F46-AC3E2D903A73}"/>
              </a:ext>
            </a:extLst>
          </p:cNvPr>
          <p:cNvSpPr>
            <a:spLocks xmlns:a="http://schemas.openxmlformats.org/drawingml/2006/main" noGrp="1"/>
          </p:cNvSpPr>
          <p:nvPr/>
        </p:nvSpPr>
        <p:spPr>
          <a:xfrm xmlns:a="http://schemas.openxmlformats.org/drawingml/2006/main">
            <a:off x="2809875"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X8</a:t>
            </a:r>
          </a:p>
        </p:txBody>
      </p:sp>
      <p:sp>
        <p:nvSpPr>
          <p:cNvPr id="11" name="SCM node X9">
            <a:extLst xmlns:a="http://schemas.openxmlformats.org/drawingml/2006/main">
              <a:ext uri="{FF2B5EF4-FFF2-40B4-BE49-F238E27FC236}">
                <a16:creationId xmlns:a16="http://schemas.microsoft.com/office/drawing/2014/main" id="{27F3CF54-1701-43B5-BAAC-14B5D95B57E6}"/>
              </a:ext>
            </a:extLst>
          </p:cNvPr>
          <p:cNvSpPr>
            <a:spLocks xmlns:a="http://schemas.openxmlformats.org/drawingml/2006/main" noGrp="1"/>
          </p:cNvSpPr>
          <p:nvPr/>
        </p:nvSpPr>
        <p:spPr>
          <a:xfrm xmlns:a="http://schemas.openxmlformats.org/drawingml/2006/main">
            <a:off x="2809875"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X9</a:t>
            </a:r>
          </a:p>
        </p:txBody>
      </p:sp>
      <p:sp>
        <p:nvSpPr>
          <p:cNvPr id="12" name="SCM node X10">
            <a:extLst xmlns:a="http://schemas.openxmlformats.org/drawingml/2006/main">
              <a:ext uri="{FF2B5EF4-FFF2-40B4-BE49-F238E27FC236}">
                <a16:creationId xmlns:a16="http://schemas.microsoft.com/office/drawing/2014/main" id="{23634AB5-D904-4549-8C72-068883401F8C}"/>
              </a:ext>
            </a:extLst>
          </p:cNvPr>
          <p:cNvSpPr>
            <a:spLocks xmlns:a="http://schemas.openxmlformats.org/drawingml/2006/main" noGrp="1"/>
          </p:cNvSpPr>
          <p:nvPr/>
        </p:nvSpPr>
        <p:spPr>
          <a:xfrm xmlns:a="http://schemas.openxmlformats.org/drawingml/2006/main">
            <a:off x="2809875"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X10</a:t>
            </a:r>
          </a:p>
        </p:txBody>
      </p:sp>
      <p:sp>
        <p:nvSpPr>
          <p:cNvPr id="13" name="SCM node X11">
            <a:extLst xmlns:a="http://schemas.openxmlformats.org/drawingml/2006/main">
              <a:ext uri="{FF2B5EF4-FFF2-40B4-BE49-F238E27FC236}">
                <a16:creationId xmlns:a16="http://schemas.microsoft.com/office/drawing/2014/main" id="{4B7B2745-7C6D-4094-9E23-0E5865EB92F8}"/>
              </a:ext>
            </a:extLst>
          </p:cNvPr>
          <p:cNvSpPr>
            <a:spLocks xmlns:a="http://schemas.openxmlformats.org/drawingml/2006/main" noGrp="1"/>
          </p:cNvSpPr>
          <p:nvPr/>
        </p:nvSpPr>
        <p:spPr>
          <a:xfrm xmlns:a="http://schemas.openxmlformats.org/drawingml/2006/main">
            <a:off x="4762500" y="198596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X11</a:t>
            </a:r>
          </a:p>
        </p:txBody>
      </p:sp>
      <p:sp>
        <p:nvSpPr>
          <p:cNvPr id="14" name="SCM node X12">
            <a:extLst xmlns:a="http://schemas.openxmlformats.org/drawingml/2006/main">
              <a:ext uri="{FF2B5EF4-FFF2-40B4-BE49-F238E27FC236}">
                <a16:creationId xmlns:a16="http://schemas.microsoft.com/office/drawing/2014/main" id="{D12AD5B0-DE42-41E9-8D5D-D7520E041B0D}"/>
              </a:ext>
            </a:extLst>
          </p:cNvPr>
          <p:cNvSpPr>
            <a:spLocks xmlns:a="http://schemas.openxmlformats.org/drawingml/2006/main" noGrp="1"/>
          </p:cNvSpPr>
          <p:nvPr/>
        </p:nvSpPr>
        <p:spPr>
          <a:xfrm xmlns:a="http://schemas.openxmlformats.org/drawingml/2006/main">
            <a:off x="4762500" y="233838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X12</a:t>
            </a:r>
          </a:p>
        </p:txBody>
      </p:sp>
      <p:sp>
        <p:nvSpPr>
          <p:cNvPr id="15" name="SCM node X13">
            <a:extLst xmlns:a="http://schemas.openxmlformats.org/drawingml/2006/main">
              <a:ext uri="{FF2B5EF4-FFF2-40B4-BE49-F238E27FC236}">
                <a16:creationId xmlns:a16="http://schemas.microsoft.com/office/drawing/2014/main" id="{05DDED23-6027-4CAB-88DB-8BA549EEA975}"/>
              </a:ext>
            </a:extLst>
          </p:cNvPr>
          <p:cNvSpPr>
            <a:spLocks xmlns:a="http://schemas.openxmlformats.org/drawingml/2006/main" noGrp="1"/>
          </p:cNvSpPr>
          <p:nvPr/>
        </p:nvSpPr>
        <p:spPr>
          <a:xfrm xmlns:a="http://schemas.openxmlformats.org/drawingml/2006/main">
            <a:off x="4762500" y="269081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X13</a:t>
            </a:r>
          </a:p>
        </p:txBody>
      </p:sp>
      <p:sp>
        <p:nvSpPr>
          <p:cNvPr id="16" name="SCM node X14">
            <a:extLst xmlns:a="http://schemas.openxmlformats.org/drawingml/2006/main">
              <a:ext uri="{FF2B5EF4-FFF2-40B4-BE49-F238E27FC236}">
                <a16:creationId xmlns:a16="http://schemas.microsoft.com/office/drawing/2014/main" id="{7E23D59A-FB34-4C57-874E-525EE5766F54}"/>
              </a:ext>
            </a:extLst>
          </p:cNvPr>
          <p:cNvSpPr>
            <a:spLocks xmlns:a="http://schemas.openxmlformats.org/drawingml/2006/main" noGrp="1"/>
          </p:cNvSpPr>
          <p:nvPr/>
        </p:nvSpPr>
        <p:spPr>
          <a:xfrm xmlns:a="http://schemas.openxmlformats.org/drawingml/2006/main">
            <a:off x="4762500" y="304323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X14</a:t>
            </a:r>
          </a:p>
        </p:txBody>
      </p:sp>
      <p:sp>
        <p:nvSpPr>
          <p:cNvPr id="17" name="SCM node X15">
            <a:extLst xmlns:a="http://schemas.openxmlformats.org/drawingml/2006/main">
              <a:ext uri="{FF2B5EF4-FFF2-40B4-BE49-F238E27FC236}">
                <a16:creationId xmlns:a16="http://schemas.microsoft.com/office/drawing/2014/main" id="{B6B43BEE-7A3D-4813-9759-621219C39936}"/>
              </a:ext>
            </a:extLst>
          </p:cNvPr>
          <p:cNvSpPr>
            <a:spLocks xmlns:a="http://schemas.openxmlformats.org/drawingml/2006/main" noGrp="1"/>
          </p:cNvSpPr>
          <p:nvPr/>
        </p:nvSpPr>
        <p:spPr>
          <a:xfrm xmlns:a="http://schemas.openxmlformats.org/drawingml/2006/main">
            <a:off x="4762500" y="339566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X15</a:t>
            </a:r>
          </a:p>
        </p:txBody>
      </p:sp>
      <p:sp>
        <p:nvSpPr>
          <p:cNvPr id="18" name="SCM node X16">
            <a:extLst xmlns:a="http://schemas.openxmlformats.org/drawingml/2006/main">
              <a:ext uri="{FF2B5EF4-FFF2-40B4-BE49-F238E27FC236}">
                <a16:creationId xmlns:a16="http://schemas.microsoft.com/office/drawing/2014/main" id="{2FAEFE0F-84FA-4367-8BE6-9C8E0479776B}"/>
              </a:ext>
            </a:extLst>
          </p:cNvPr>
          <p:cNvSpPr>
            <a:spLocks xmlns:a="http://schemas.openxmlformats.org/drawingml/2006/main" noGrp="1"/>
          </p:cNvSpPr>
          <p:nvPr/>
        </p:nvSpPr>
        <p:spPr>
          <a:xfrm xmlns:a="http://schemas.openxmlformats.org/drawingml/2006/main">
            <a:off x="4762500" y="374808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X16</a:t>
            </a:r>
          </a:p>
        </p:txBody>
      </p:sp>
      <p:sp>
        <p:nvSpPr>
          <p:cNvPr id="19" name="SCM node X17">
            <a:extLst xmlns:a="http://schemas.openxmlformats.org/drawingml/2006/main">
              <a:ext uri="{FF2B5EF4-FFF2-40B4-BE49-F238E27FC236}">
                <a16:creationId xmlns:a16="http://schemas.microsoft.com/office/drawing/2014/main" id="{DECDFBEA-9BA4-4EA9-9D7C-F1A98BDCF460}"/>
              </a:ext>
            </a:extLst>
          </p:cNvPr>
          <p:cNvSpPr>
            <a:spLocks xmlns:a="http://schemas.openxmlformats.org/drawingml/2006/main" noGrp="1"/>
          </p:cNvSpPr>
          <p:nvPr/>
        </p:nvSpPr>
        <p:spPr>
          <a:xfrm xmlns:a="http://schemas.openxmlformats.org/drawingml/2006/main">
            <a:off x="4762500" y="410051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X17</a:t>
            </a:r>
          </a:p>
        </p:txBody>
      </p:sp>
      <p:sp>
        <p:nvSpPr>
          <p:cNvPr id="20" name="SCM node X18">
            <a:extLst xmlns:a="http://schemas.openxmlformats.org/drawingml/2006/main">
              <a:ext uri="{FF2B5EF4-FFF2-40B4-BE49-F238E27FC236}">
                <a16:creationId xmlns:a16="http://schemas.microsoft.com/office/drawing/2014/main" id="{9DEEB74F-E3EF-466C-B9D8-A287B49B1518}"/>
              </a:ext>
            </a:extLst>
          </p:cNvPr>
          <p:cNvSpPr>
            <a:spLocks xmlns:a="http://schemas.openxmlformats.org/drawingml/2006/main" noGrp="1"/>
          </p:cNvSpPr>
          <p:nvPr/>
        </p:nvSpPr>
        <p:spPr>
          <a:xfrm xmlns:a="http://schemas.openxmlformats.org/drawingml/2006/main">
            <a:off x="4762500" y="445293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X18</a:t>
            </a:r>
          </a:p>
        </p:txBody>
      </p:sp>
      <p:sp>
        <p:nvSpPr>
          <p:cNvPr id="21" name="SCM node X19">
            <a:extLst xmlns:a="http://schemas.openxmlformats.org/drawingml/2006/main">
              <a:ext uri="{FF2B5EF4-FFF2-40B4-BE49-F238E27FC236}">
                <a16:creationId xmlns:a16="http://schemas.microsoft.com/office/drawing/2014/main" id="{19736E61-5589-442B-89F8-51B6FEAA0499}"/>
              </a:ext>
            </a:extLst>
          </p:cNvPr>
          <p:cNvSpPr>
            <a:spLocks xmlns:a="http://schemas.openxmlformats.org/drawingml/2006/main" noGrp="1"/>
          </p:cNvSpPr>
          <p:nvPr/>
        </p:nvSpPr>
        <p:spPr>
          <a:xfrm xmlns:a="http://schemas.openxmlformats.org/drawingml/2006/main">
            <a:off x="4762500" y="4805363"/>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X19</a:t>
            </a:r>
          </a:p>
        </p:txBody>
      </p:sp>
      <p:sp>
        <p:nvSpPr>
          <p:cNvPr id="22" name="SCM node X20">
            <a:extLst xmlns:a="http://schemas.openxmlformats.org/drawingml/2006/main">
              <a:ext uri="{FF2B5EF4-FFF2-40B4-BE49-F238E27FC236}">
                <a16:creationId xmlns:a16="http://schemas.microsoft.com/office/drawing/2014/main" id="{2244BD4E-4D39-4919-B76B-49F19FEFFB39}"/>
              </a:ext>
            </a:extLst>
          </p:cNvPr>
          <p:cNvSpPr>
            <a:spLocks xmlns:a="http://schemas.openxmlformats.org/drawingml/2006/main" noGrp="1"/>
          </p:cNvSpPr>
          <p:nvPr/>
        </p:nvSpPr>
        <p:spPr>
          <a:xfrm xmlns:a="http://schemas.openxmlformats.org/drawingml/2006/main">
            <a:off x="4762500" y="5157788"/>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X20</a:t>
            </a:r>
          </a:p>
        </p:txBody>
      </p:sp>
      <p:sp>
        <p:nvSpPr>
          <p:cNvPr id="23" name="SCM node X21">
            <a:extLst xmlns:a="http://schemas.openxmlformats.org/drawingml/2006/main">
              <a:ext uri="{FF2B5EF4-FFF2-40B4-BE49-F238E27FC236}">
                <a16:creationId xmlns:a16="http://schemas.microsoft.com/office/drawing/2014/main" id="{A933F78D-6A2E-474F-89E2-DB7666596A28}"/>
              </a:ext>
            </a:extLst>
          </p:cNvPr>
          <p:cNvSpPr>
            <a:spLocks xmlns:a="http://schemas.openxmlformats.org/drawingml/2006/main" noGrp="1"/>
          </p:cNvSpPr>
          <p:nvPr/>
        </p:nvSpPr>
        <p:spPr>
          <a:xfrm xmlns:a="http://schemas.openxmlformats.org/drawingml/2006/main">
            <a:off x="6715125"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X21</a:t>
            </a:r>
          </a:p>
        </p:txBody>
      </p:sp>
      <p:sp>
        <p:nvSpPr>
          <p:cNvPr id="24" name="SCM node X22">
            <a:extLst xmlns:a="http://schemas.openxmlformats.org/drawingml/2006/main">
              <a:ext uri="{FF2B5EF4-FFF2-40B4-BE49-F238E27FC236}">
                <a16:creationId xmlns:a16="http://schemas.microsoft.com/office/drawing/2014/main" id="{A582E7BA-8F90-4944-AD7F-E05A11A5CFD5}"/>
              </a:ext>
            </a:extLst>
          </p:cNvPr>
          <p:cNvSpPr>
            <a:spLocks xmlns:a="http://schemas.openxmlformats.org/drawingml/2006/main" noGrp="1"/>
          </p:cNvSpPr>
          <p:nvPr/>
        </p:nvSpPr>
        <p:spPr>
          <a:xfrm xmlns:a="http://schemas.openxmlformats.org/drawingml/2006/main">
            <a:off x="6715125" y="28670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X22</a:t>
            </a:r>
          </a:p>
        </p:txBody>
      </p:sp>
      <p:sp>
        <p:nvSpPr>
          <p:cNvPr id="25" name="SCM node X23">
            <a:extLst xmlns:a="http://schemas.openxmlformats.org/drawingml/2006/main">
              <a:ext uri="{FF2B5EF4-FFF2-40B4-BE49-F238E27FC236}">
                <a16:creationId xmlns:a16="http://schemas.microsoft.com/office/drawing/2014/main" id="{916D0B68-87B6-4631-A7DB-72E393E156D5}"/>
              </a:ext>
            </a:extLst>
          </p:cNvPr>
          <p:cNvSpPr>
            <a:spLocks xmlns:a="http://schemas.openxmlformats.org/drawingml/2006/main" noGrp="1"/>
          </p:cNvSpPr>
          <p:nvPr/>
        </p:nvSpPr>
        <p:spPr>
          <a:xfrm xmlns:a="http://schemas.openxmlformats.org/drawingml/2006/main">
            <a:off x="6715125"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X23</a:t>
            </a:r>
          </a:p>
        </p:txBody>
      </p:sp>
      <p:sp>
        <p:nvSpPr>
          <p:cNvPr id="26" name="SCM node X24">
            <a:extLst xmlns:a="http://schemas.openxmlformats.org/drawingml/2006/main">
              <a:ext uri="{FF2B5EF4-FFF2-40B4-BE49-F238E27FC236}">
                <a16:creationId xmlns:a16="http://schemas.microsoft.com/office/drawing/2014/main" id="{1C76702E-37F2-44A8-B900-D6E307DEF48F}"/>
              </a:ext>
            </a:extLst>
          </p:cNvPr>
          <p:cNvSpPr>
            <a:spLocks xmlns:a="http://schemas.openxmlformats.org/drawingml/2006/main" noGrp="1"/>
          </p:cNvSpPr>
          <p:nvPr/>
        </p:nvSpPr>
        <p:spPr>
          <a:xfrm xmlns:a="http://schemas.openxmlformats.org/drawingml/2006/main">
            <a:off x="6715125"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X24</a:t>
            </a:r>
          </a:p>
        </p:txBody>
      </p:sp>
      <p:sp>
        <p:nvSpPr>
          <p:cNvPr id="27" name="SCM node X25">
            <a:extLst xmlns:a="http://schemas.openxmlformats.org/drawingml/2006/main">
              <a:ext uri="{FF2B5EF4-FFF2-40B4-BE49-F238E27FC236}">
                <a16:creationId xmlns:a16="http://schemas.microsoft.com/office/drawing/2014/main" id="{8EA605AE-B4D0-4C5A-971F-4B7168FADF17}"/>
              </a:ext>
            </a:extLst>
          </p:cNvPr>
          <p:cNvSpPr>
            <a:spLocks xmlns:a="http://schemas.openxmlformats.org/drawingml/2006/main" noGrp="1"/>
          </p:cNvSpPr>
          <p:nvPr/>
        </p:nvSpPr>
        <p:spPr>
          <a:xfrm xmlns:a="http://schemas.openxmlformats.org/drawingml/2006/main">
            <a:off x="6715125"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X25</a:t>
            </a:r>
          </a:p>
        </p:txBody>
      </p:sp>
      <p:sp>
        <p:nvSpPr>
          <p:cNvPr id="28" name="SCM node X26">
            <a:extLst xmlns:a="http://schemas.openxmlformats.org/drawingml/2006/main">
              <a:ext uri="{FF2B5EF4-FFF2-40B4-BE49-F238E27FC236}">
                <a16:creationId xmlns:a16="http://schemas.microsoft.com/office/drawing/2014/main" id="{84CE7069-C03B-4787-86B6-D8C34480AD6B}"/>
              </a:ext>
            </a:extLst>
          </p:cNvPr>
          <p:cNvSpPr>
            <a:spLocks xmlns:a="http://schemas.openxmlformats.org/drawingml/2006/main" noGrp="1"/>
          </p:cNvSpPr>
          <p:nvPr/>
        </p:nvSpPr>
        <p:spPr>
          <a:xfrm xmlns:a="http://schemas.openxmlformats.org/drawingml/2006/main">
            <a:off x="8667750" y="21621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X26</a:t>
            </a:r>
          </a:p>
        </p:txBody>
      </p:sp>
      <p:sp>
        <p:nvSpPr>
          <p:cNvPr id="29" name="SCM node X27">
            <a:extLst xmlns:a="http://schemas.openxmlformats.org/drawingml/2006/main">
              <a:ext uri="{FF2B5EF4-FFF2-40B4-BE49-F238E27FC236}">
                <a16:creationId xmlns:a16="http://schemas.microsoft.com/office/drawing/2014/main" id="{AEE9990D-FA20-42AB-82DC-CC70B25B7A81}"/>
              </a:ext>
            </a:extLst>
          </p:cNvPr>
          <p:cNvSpPr>
            <a:spLocks xmlns:a="http://schemas.openxmlformats.org/drawingml/2006/main" noGrp="1"/>
          </p:cNvSpPr>
          <p:nvPr/>
        </p:nvSpPr>
        <p:spPr>
          <a:xfrm xmlns:a="http://schemas.openxmlformats.org/drawingml/2006/main">
            <a:off x="8667750" y="28670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X27</a:t>
            </a:r>
          </a:p>
        </p:txBody>
      </p:sp>
      <p:sp>
        <p:nvSpPr>
          <p:cNvPr id="30" name="SCM node X28">
            <a:extLst xmlns:a="http://schemas.openxmlformats.org/drawingml/2006/main">
              <a:ext uri="{FF2B5EF4-FFF2-40B4-BE49-F238E27FC236}">
                <a16:creationId xmlns:a16="http://schemas.microsoft.com/office/drawing/2014/main" id="{F7ACA518-DDEA-4D2E-964A-5DA933AC1F1E}"/>
              </a:ext>
            </a:extLst>
          </p:cNvPr>
          <p:cNvSpPr>
            <a:spLocks xmlns:a="http://schemas.openxmlformats.org/drawingml/2006/main" noGrp="1"/>
          </p:cNvSpPr>
          <p:nvPr/>
        </p:nvSpPr>
        <p:spPr>
          <a:xfrm xmlns:a="http://schemas.openxmlformats.org/drawingml/2006/main">
            <a:off x="8667750" y="35718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X28</a:t>
            </a:r>
          </a:p>
        </p:txBody>
      </p:sp>
      <p:sp>
        <p:nvSpPr>
          <p:cNvPr id="31" name="SCM node X29">
            <a:extLst xmlns:a="http://schemas.openxmlformats.org/drawingml/2006/main">
              <a:ext uri="{FF2B5EF4-FFF2-40B4-BE49-F238E27FC236}">
                <a16:creationId xmlns:a16="http://schemas.microsoft.com/office/drawing/2014/main" id="{BC51657B-7619-45A9-9A0D-599EEB262DDE}"/>
              </a:ext>
            </a:extLst>
          </p:cNvPr>
          <p:cNvSpPr>
            <a:spLocks xmlns:a="http://schemas.openxmlformats.org/drawingml/2006/main" noGrp="1"/>
          </p:cNvSpPr>
          <p:nvPr/>
        </p:nvSpPr>
        <p:spPr>
          <a:xfrm xmlns:a="http://schemas.openxmlformats.org/drawingml/2006/main">
            <a:off x="8667750" y="427672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X29</a:t>
            </a:r>
          </a:p>
        </p:txBody>
      </p:sp>
      <p:sp>
        <p:nvSpPr>
          <p:cNvPr id="32" name="SCM node X30">
            <a:extLst xmlns:a="http://schemas.openxmlformats.org/drawingml/2006/main">
              <a:ext uri="{FF2B5EF4-FFF2-40B4-BE49-F238E27FC236}">
                <a16:creationId xmlns:a16="http://schemas.microsoft.com/office/drawing/2014/main" id="{B65B8AE7-7EF4-4F5F-9A9F-091D981136FB}"/>
              </a:ext>
            </a:extLst>
          </p:cNvPr>
          <p:cNvSpPr>
            <a:spLocks xmlns:a="http://schemas.openxmlformats.org/drawingml/2006/main" noGrp="1"/>
          </p:cNvSpPr>
          <p:nvPr/>
        </p:nvSpPr>
        <p:spPr>
          <a:xfrm xmlns:a="http://schemas.openxmlformats.org/drawingml/2006/main">
            <a:off x="8667750" y="4981575"/>
            <a:ext cx="571500" cy="304800"/>
          </a:xfrm>
          <a:prstGeom xmlns:a="http://schemas.openxmlformats.org/drawingml/2006/main" prst="ellipse">
            <a:avLst/>
          </a:prstGeom>
          <a:solidFill xmlns:a="http://schemas.openxmlformats.org/drawingml/2006/main">
            <a:srgbClr val="087F83"/>
          </a:solidFill>
          <a:ln xmlns:a="http://schemas.openxmlformats.org/drawingml/2006/main" w="9525">
            <a:solidFill>
              <a:srgbClr val="D3DDD9"/>
            </a:solidFill>
          </a:ln>
        </p:spPr>
        <p:txBody>
          <a:bodyPr xmlns:a="http://schemas.openxmlformats.org/drawingml/2006/main" lIns="0" tIns="0" rIns="0" bIns="0" anchor="ctr"/>
          <a:lstStyle xmlns:a="http://schemas.openxmlformats.org/drawingml/2006/main">
            <a:defPPr algn="ctr">
              <a:defRPr sz="1350" b="1">
                <a:solidFill>
                  <a:srgbClr val="FFFFFF"/>
                </a:solidFill>
                <a:latin typeface="Helvetica Neue"/>
                <a:ea typeface="Helvetica Neue"/>
                <a:cs typeface="Helvetica Neue"/>
              </a:defRPr>
            </a:defPPr>
          </a:lstStyle>
          <a:p xmlns:a="http://schemas.openxmlformats.org/drawingml/2006/main">
            <a:pPr algn="ctr">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X30</a:t>
            </a:r>
          </a:p>
        </p:txBody>
      </p:sp>
      <p:sp>
        <p:nvSpPr>
          <p:cNvPr id="73" name="First selected action: do(X7">
            <a:extLst xmlns:a="http://schemas.openxmlformats.org/drawingml/2006/main">
              <a:ext uri="{FF2B5EF4-FFF2-40B4-BE49-F238E27FC236}">
                <a16:creationId xmlns:a16="http://schemas.microsoft.com/office/drawing/2014/main" id="{D925E843-F1AA-469E-9742-CA8A52D6C531}"/>
              </a:ext>
            </a:extLst>
          </p:cNvPr>
          <p:cNvSpPr>
            <a:spLocks xmlns:a="http://schemas.openxmlformats.org/drawingml/2006/main" noGrp="1"/>
          </p:cNvSpPr>
          <p:nvPr/>
        </p:nvSpPr>
        <p:spPr>
          <a:xfrm xmlns:a="http://schemas.openxmlformats.org/drawingml/2006/main">
            <a:off x="609600" y="54102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First selected intervention: do(X7 = 3.8571)  →  50 responses</a:t>
            </a:r>
          </a:p>
        </p:txBody>
      </p:sp>
      <p:sp>
        <p:nvSpPr>
          <p:cNvPr id="74" name="Arrows point from cause to e">
            <a:extLst xmlns:a="http://schemas.openxmlformats.org/drawingml/2006/main">
              <a:ext uri="{FF2B5EF4-FFF2-40B4-BE49-F238E27FC236}">
                <a16:creationId xmlns:a16="http://schemas.microsoft.com/office/drawing/2014/main" id="{71184435-56D8-49AD-BCE5-191C630D5C96}"/>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Arrows point from cause to effect. Coral follows the X7 intervention downstream · archived seed 5000.</a:t>
            </a:r>
          </a:p>
        </p:txBody>
      </p:sp>
    </p:spTree>
    <p:extLst>
      <p:ext uri="{BB962C8B-B14F-4D97-AF65-F5344CB8AC3E}">
        <p14:creationId xmlns:p14="http://schemas.microsoft.com/office/powerpoint/2010/main" val="13977226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971E6861-A758-4115-977B-DC64D1A6EF38}"/>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buNone/>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65% lower final prediction error</a:t>
            </a:r>
          </a:p>
        </p:txBody>
      </p:sp>
      <p:sp>
        <p:nvSpPr>
          <p:cNvPr id="2" name="page">
            <a:extLst xmlns:a="http://schemas.openxmlformats.org/drawingml/2006/main">
              <a:ext uri="{FF2B5EF4-FFF2-40B4-BE49-F238E27FC236}">
                <a16:creationId xmlns:a16="http://schemas.microsoft.com/office/drawing/2014/main" id="{A365967A-7949-4DF4-BCBC-887969CC1D5C}"/>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buNone/>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11</a:t>
            </a:r>
          </a:p>
        </p:txBody>
      </p:sp>
      <p:sp>
        <p:nvSpPr>
          <p:cNvPr id="3" name="19 of 20 systems won · equal">
            <a:extLst xmlns:a="http://schemas.openxmlformats.org/drawingml/2006/main">
              <a:ext uri="{FF2B5EF4-FFF2-40B4-BE49-F238E27FC236}">
                <a16:creationId xmlns:a16="http://schemas.microsoft.com/office/drawing/2014/main" id="{043778FA-9411-4593-9525-BD819AC80017}"/>
              </a:ext>
            </a:extLst>
          </p:cNvPr>
          <p:cNvSpPr>
            <a:spLocks xmlns:a="http://schemas.openxmlformats.org/drawingml/2006/main" noGrp="1"/>
          </p:cNvSpPr>
          <p:nvPr/>
        </p:nvSpPr>
        <p:spPr>
          <a:xfrm xmlns:a="http://schemas.openxmlformats.org/drawingml/2006/main">
            <a:off x="609600" y="1476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3666B"/>
                </a:solidFill>
                <a:latin typeface="Helvetica Neue"/>
                <a:ea typeface="Helvetica Neue"/>
                <a:cs typeface="Helvetica Neue"/>
              </a:defRPr>
            </a:defPPr>
          </a:lstStyle>
          <a:p xmlns:a="http://schemas.openxmlformats.org/drawingml/2006/main">
            <a:pPr>
              <a:buNone/>
              <a:defRPr sz="2100" b="0">
                <a:solidFill>
                  <a:srgbClr val="53666B"/>
                </a:solidFill>
                <a:latin typeface="Helvetica Neue"/>
                <a:ea typeface="Helvetica Neue"/>
                <a:cs typeface="Helvetica Neue"/>
              </a:defRPr>
            </a:pPr>
            <a:r>
              <a:rPr sz="2100" b="0">
                <a:solidFill>
                  <a:srgbClr val="53666B"/>
                </a:solidFill>
                <a:latin typeface="Helvetica Neue"/>
                <a:ea typeface="Helvetica Neue"/>
                <a:cs typeface="Helvetica Neue"/>
              </a:rPr>
              <a:t>ACE wins on 19 of 20 systems at equal budgets</a:t>
            </a:r>
          </a:p>
        </p:txBody>
      </p:sp>
      <p:sp>
        <p:nvSpPr>
          <p:cNvPr id="4" name="Full recorded curve">
            <a:extLst xmlns:a="http://schemas.openxmlformats.org/drawingml/2006/main">
              <a:ext uri="{FF2B5EF4-FFF2-40B4-BE49-F238E27FC236}">
                <a16:creationId xmlns:a16="http://schemas.microsoft.com/office/drawing/2014/main" id="{D03864F6-EA53-43B5-8033-C7E2EED8240E}"/>
              </a:ext>
            </a:extLst>
          </p:cNvPr>
          <p:cNvSpPr>
            <a:spLocks xmlns:a="http://schemas.openxmlformats.org/drawingml/2006/main" noGrp="1"/>
          </p:cNvSpPr>
          <p:nvPr/>
        </p:nvSpPr>
        <p:spPr>
          <a:xfrm xmlns:a="http://schemas.openxmlformats.org/drawingml/2006/main">
            <a:off x="609600" y="2085975"/>
            <a:ext cx="3667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313A"/>
                </a:solidFill>
                <a:latin typeface="Helvetica Neue"/>
                <a:ea typeface="Helvetica Neue"/>
                <a:cs typeface="Helvetica Neue"/>
              </a:defRPr>
            </a:defPPr>
          </a:lstStyle>
          <a:p xmlns:a="http://schemas.openxmlformats.org/drawingml/2006/main">
            <a:pPr>
              <a:buNone/>
              <a:defRPr sz="1875" b="1">
                <a:solidFill>
                  <a:srgbClr val="16313A"/>
                </a:solidFill>
                <a:latin typeface="Helvetica Neue"/>
                <a:ea typeface="Helvetica Neue"/>
                <a:cs typeface="Helvetica Neue"/>
              </a:defRPr>
            </a:pPr>
            <a:r>
              <a:rPr sz="1875" b="1">
                <a:solidFill>
                  <a:srgbClr val="16313A"/>
                </a:solidFill>
                <a:latin typeface="Helvetica Neue"/>
                <a:ea typeface="Helvetica Neue"/>
                <a:cs typeface="Helvetica Neue"/>
              </a:rPr>
              <a:t>Full recorded curve</a:t>
            </a:r>
          </a:p>
        </p:txBody>
      </p:sp>
      <p:sp>
        <p:nvSpPr>
          <p:cNvPr id="5" name="Detail: batches 4–32">
            <a:extLst xmlns:a="http://schemas.openxmlformats.org/drawingml/2006/main">
              <a:ext uri="{FF2B5EF4-FFF2-40B4-BE49-F238E27FC236}">
                <a16:creationId xmlns:a16="http://schemas.microsoft.com/office/drawing/2014/main" id="{A25E205F-83B9-4AED-9ACC-39658B911F38}"/>
              </a:ext>
            </a:extLst>
          </p:cNvPr>
          <p:cNvSpPr>
            <a:spLocks xmlns:a="http://schemas.openxmlformats.org/drawingml/2006/main" noGrp="1"/>
          </p:cNvSpPr>
          <p:nvPr/>
        </p:nvSpPr>
        <p:spPr>
          <a:xfrm xmlns:a="http://schemas.openxmlformats.org/drawingml/2006/main">
            <a:off x="4600575" y="208597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313A"/>
                </a:solidFill>
                <a:latin typeface="Helvetica Neue"/>
                <a:ea typeface="Helvetica Neue"/>
                <a:cs typeface="Helvetica Neue"/>
              </a:defRPr>
            </a:defPPr>
          </a:lstStyle>
          <a:p xmlns:a="http://schemas.openxmlformats.org/drawingml/2006/main">
            <a:pPr>
              <a:buNone/>
              <a:defRPr sz="1875" b="1">
                <a:solidFill>
                  <a:srgbClr val="16313A"/>
                </a:solidFill>
                <a:latin typeface="Helvetica Neue"/>
                <a:ea typeface="Helvetica Neue"/>
                <a:cs typeface="Helvetica Neue"/>
              </a:defRPr>
            </a:pPr>
            <a:r>
              <a:rPr sz="1875" b="1">
                <a:solidFill>
                  <a:srgbClr val="16313A"/>
                </a:solidFill>
                <a:latin typeface="Helvetica Neue"/>
                <a:ea typeface="Helvetica Neue"/>
                <a:cs typeface="Helvetica Neue"/>
              </a:rPr>
              <a:t>Detail: batches 4–32</a:t>
            </a:r>
          </a:p>
        </p:txBody>
      </p:sp>
      <p:graphicFrame>
        <p:nvGraphicFramePr>
          <p:cNvPr id="6" name="Chart">
            <a:extLst xmlns:a="http://schemas.openxmlformats.org/drawingml/2006/main">
              <a:ext uri="{FF2B5EF4-FFF2-40B4-BE49-F238E27FC236}">
                <a16:creationId xmlns:a16="http://schemas.microsoft.com/office/drawing/2014/main" id="{E1F5BEB3-DE07-4DBC-AC2B-A0A96DA9E7BC}"/>
              </a:ext>
            </a:extLst>
          </p:cNvPr>
          <p:cNvGraphicFramePr/>
          <p:nvPr/>
        </p:nvGraphicFramePr>
        <p:xfrm>
          <a:off xmlns:a="http://schemas.openxmlformats.org/drawingml/2006/main" x="609600" y="2524125"/>
          <a:ext xmlns:a="http://schemas.openxmlformats.org/drawingml/2006/main" cx="3429000" cy="2638425"/>
        </p:xfrm>
        <a:graphic xmlns:a="http://schemas.openxmlformats.org/drawingml/2006/main">
          <a:graphicData uri="http://schemas.openxmlformats.org/drawingml/2006/chart">
            <c:chart xmlns:r="http://schemas.openxmlformats.org/officeDocument/2006/relationships" xmlns:c="http://schemas.openxmlformats.org/drawingml/2006/chart" r:id="Rae86db918b3f4e66"/>
          </a:graphicData>
        </a:graphic>
      </p:graphicFrame>
      <p:graphicFrame>
        <p:nvGraphicFramePr>
          <p:cNvPr id="7" name="Chart">
            <a:extLst xmlns:a="http://schemas.openxmlformats.org/drawingml/2006/main">
              <a:ext uri="{FF2B5EF4-FFF2-40B4-BE49-F238E27FC236}">
                <a16:creationId xmlns:a16="http://schemas.microsoft.com/office/drawing/2014/main" id="{9F9A2055-ED10-4CED-A136-F4A40379F241}"/>
              </a:ext>
            </a:extLst>
          </p:cNvPr>
          <p:cNvGraphicFramePr/>
          <p:nvPr/>
        </p:nvGraphicFramePr>
        <p:xfrm>
          <a:off xmlns:a="http://schemas.openxmlformats.org/drawingml/2006/main" x="4419600" y="2524125"/>
          <a:ext xmlns:a="http://schemas.openxmlformats.org/drawingml/2006/main" cx="7048500" cy="2638425"/>
        </p:xfrm>
        <a:graphic xmlns:a="http://schemas.openxmlformats.org/drawingml/2006/main">
          <a:graphicData uri="http://schemas.openxmlformats.org/drawingml/2006/chart">
            <c:chart xmlns:r="http://schemas.openxmlformats.org/officeDocument/2006/relationships" xmlns:c="http://schemas.openxmlformats.org/drawingml/2006/chart" r:id="Ree3d74efa7654dbe"/>
          </a:graphicData>
        </a:graphic>
      </p:graphicFrame>
      <p:sp>
        <p:nvSpPr>
          <p:cNvPr id="8" name="Final MSE: 0.01543 ACE vs 0.">
            <a:extLst xmlns:a="http://schemas.openxmlformats.org/drawingml/2006/main">
              <a:ext uri="{FF2B5EF4-FFF2-40B4-BE49-F238E27FC236}">
                <a16:creationId xmlns:a16="http://schemas.microsoft.com/office/drawing/2014/main" id="{F79EC544-11BE-48CF-A57B-E1424AC88484}"/>
              </a:ext>
            </a:extLst>
          </p:cNvPr>
          <p:cNvSpPr>
            <a:spLocks xmlns:a="http://schemas.openxmlformats.org/drawingml/2006/main" noGrp="1"/>
          </p:cNvSpPr>
          <p:nvPr/>
        </p:nvSpPr>
        <p:spPr>
          <a:xfrm xmlns:a="http://schemas.openxmlformats.org/drawingml/2006/main">
            <a:off x="609600" y="53435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F83"/>
                </a:solidFill>
                <a:latin typeface="Helvetica Neue"/>
                <a:ea typeface="Helvetica Neue"/>
                <a:cs typeface="Helvetica Neue"/>
              </a:defRPr>
            </a:defPPr>
          </a:lstStyle>
          <a:p xmlns:a="http://schemas.openxmlformats.org/drawingml/2006/main">
            <a:pPr>
              <a:buNone/>
              <a:defRPr sz="2325" b="1">
                <a:solidFill>
                  <a:srgbClr val="087F83"/>
                </a:solidFill>
                <a:latin typeface="Helvetica Neue"/>
                <a:ea typeface="Helvetica Neue"/>
                <a:cs typeface="Helvetica Neue"/>
              </a:defRPr>
            </a:pPr>
            <a:r>
              <a:rPr sz="2325" b="1">
                <a:solidFill>
                  <a:srgbClr val="087F83"/>
                </a:solidFill>
                <a:latin typeface="Helvetica Neue"/>
                <a:ea typeface="Helvetica Neue"/>
                <a:cs typeface="Helvetica Neue"/>
              </a:rPr>
              <a:t>Final MSE: 0.01543 ACE vs 0.04390 random</a:t>
            </a:r>
          </a:p>
        </p:txBody>
      </p:sp>
      <p:sp>
        <p:nvSpPr>
          <p:cNvPr id="9" name="20 synthetic systems · 2,000">
            <a:extLst xmlns:a="http://schemas.openxmlformats.org/drawingml/2006/main">
              <a:ext uri="{FF2B5EF4-FFF2-40B4-BE49-F238E27FC236}">
                <a16:creationId xmlns:a16="http://schemas.microsoft.com/office/drawing/2014/main" id="{4AC7A210-596B-466E-8DA5-83B41669B023}"/>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buNone/>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20 synthetic systems. 2,000 responses per arm. Both use the same SCM learner.</a:t>
            </a:r>
          </a:p>
        </p:txBody>
      </p:sp>
    </p:spTree>
    <p:extLst>
      <p:ext uri="{BB962C8B-B14F-4D97-AF65-F5344CB8AC3E}">
        <p14:creationId xmlns:p14="http://schemas.microsoft.com/office/powerpoint/2010/main" val="182234732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88E0016E-F51D-49F9-B54D-ACD7D0013D39}"/>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313A"/>
                </a:solidFill>
                <a:latin typeface="Helvetica Neue"/>
                <a:ea typeface="Helvetica Neue"/>
                <a:cs typeface="Helvetica Neue"/>
              </a:defRPr>
            </a:defPPr>
          </a:lstStyle>
          <a:p xmlns:a="http://schemas.openxmlformats.org/drawingml/2006/main">
            <a:pPr>
              <a:defRPr sz="3300" b="1">
                <a:solidFill>
                  <a:srgbClr val="16313A"/>
                </a:solidFill>
                <a:latin typeface="Helvetica Neue"/>
                <a:ea typeface="Helvetica Neue"/>
                <a:cs typeface="Helvetica Neue"/>
              </a:defRPr>
            </a:pPr>
            <a:r>
              <a:rPr sz="3300" b="1">
                <a:solidFill>
                  <a:srgbClr val="16313A"/>
                </a:solidFill>
                <a:latin typeface="Helvetica Neue"/>
                <a:ea typeface="Helvetica Neue"/>
                <a:cs typeface="Helvetica Neue"/>
              </a:rPr>
              <a:t>64% fewer batches in the measured comparison</a:t>
            </a:r>
          </a:p>
        </p:txBody>
      </p:sp>
      <p:sp>
        <p:nvSpPr>
          <p:cNvPr id="2" name="page">
            <a:extLst xmlns:a="http://schemas.openxmlformats.org/drawingml/2006/main">
              <a:ext uri="{FF2B5EF4-FFF2-40B4-BE49-F238E27FC236}">
                <a16:creationId xmlns:a16="http://schemas.microsoft.com/office/drawing/2014/main" id="{14EF6C33-B1E0-4A8C-A109-00579D63E90E}"/>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12</a:t>
            </a:r>
          </a:p>
        </p:txBody>
      </p:sp>
      <p:sp>
        <p:nvSpPr>
          <p:cNvPr id="3" name="Two measured intervention po">
            <a:extLst xmlns:a="http://schemas.openxmlformats.org/drawingml/2006/main">
              <a:ext uri="{FF2B5EF4-FFF2-40B4-BE49-F238E27FC236}">
                <a16:creationId xmlns:a16="http://schemas.microsoft.com/office/drawing/2014/main" id="{C1787607-7922-4764-9888-DF5E20329F21}"/>
              </a:ext>
            </a:extLst>
          </p:cNvPr>
          <p:cNvSpPr>
            <a:spLocks xmlns:a="http://schemas.openxmlformats.org/drawingml/2006/main" noGrp="1"/>
          </p:cNvSpPr>
          <p:nvPr/>
        </p:nvSpPr>
        <p:spPr>
          <a:xfrm xmlns:a="http://schemas.openxmlformats.org/drawingml/2006/main">
            <a:off x="609600" y="1438275"/>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66B"/>
                </a:solidFill>
                <a:latin typeface="Helvetica Neue"/>
                <a:ea typeface="Helvetica Neue"/>
                <a:cs typeface="Helvetica Neue"/>
              </a:defRPr>
            </a:defPPr>
          </a:lstStyle>
          <a:p xmlns:a="http://schemas.openxmlformats.org/drawingml/2006/main">
            <a:pPr>
              <a:defRPr sz="1950" b="0">
                <a:solidFill>
                  <a:srgbClr val="53666B"/>
                </a:solidFill>
                <a:latin typeface="Helvetica Neue"/>
                <a:ea typeface="Helvetica Neue"/>
                <a:cs typeface="Helvetica Neue"/>
              </a:defRPr>
            </a:pPr>
            <a:r>
              <a:rPr sz="1950" b="0">
                <a:solidFill>
                  <a:srgbClr val="53666B"/>
                </a:solidFill>
                <a:latin typeface="Helvetica Neue"/>
                <a:ea typeface="Helvetica Neue"/>
                <a:cs typeface="Helvetica Neue"/>
              </a:rPr>
              <a:t>Two measured intervention policies alongside an analytic grid-coverage example</a:t>
            </a:r>
          </a:p>
        </p:txBody>
      </p:sp>
      <p:sp>
        <p:nvSpPr>
          <p:cNvPr id="4" name="Recorded: matched prediction">
            <a:extLst xmlns:a="http://schemas.openxmlformats.org/drawingml/2006/main">
              <a:ext uri="{FF2B5EF4-FFF2-40B4-BE49-F238E27FC236}">
                <a16:creationId xmlns:a16="http://schemas.microsoft.com/office/drawing/2014/main" id="{D7BD4B70-97F0-411F-AD59-73CECD1288C3}"/>
              </a:ext>
            </a:extLst>
          </p:cNvPr>
          <p:cNvSpPr>
            <a:spLocks xmlns:a="http://schemas.openxmlformats.org/drawingml/2006/main" noGrp="1"/>
          </p:cNvSpPr>
          <p:nvPr/>
        </p:nvSpPr>
        <p:spPr>
          <a:xfrm xmlns:a="http://schemas.openxmlformats.org/drawingml/2006/main">
            <a:off x="1285875" y="2000250"/>
            <a:ext cx="6543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087F83"/>
                </a:solidFill>
                <a:latin typeface="Helvetica Neue"/>
                <a:ea typeface="Helvetica Neue"/>
                <a:cs typeface="Helvetica Neue"/>
              </a:defRPr>
            </a:defPPr>
          </a:lstStyle>
          <a:p xmlns:a="http://schemas.openxmlformats.org/drawingml/2006/main">
            <a:pPr>
              <a:defRPr sz="1875" b="1">
                <a:solidFill>
                  <a:srgbClr val="087F83"/>
                </a:solidFill>
                <a:latin typeface="Helvetica Neue"/>
                <a:ea typeface="Helvetica Neue"/>
                <a:cs typeface="Helvetica Neue"/>
              </a:defRPr>
            </a:pPr>
            <a:r>
              <a:rPr sz="1875" b="1">
                <a:solidFill>
                  <a:srgbClr val="087F83"/>
                </a:solidFill>
                <a:latin typeface="Helvetica Neue"/>
                <a:ea typeface="Helvetica Neue"/>
                <a:cs typeface="Helvetica Neue"/>
              </a:rPr>
              <a:t>Recorded: matched prediction error</a:t>
            </a:r>
          </a:p>
        </p:txBody>
      </p:sp>
      <p:sp>
        <p:nvSpPr>
          <p:cNvPr id="5" name="Analytic: 95% grid coverage">
            <a:extLst xmlns:a="http://schemas.openxmlformats.org/drawingml/2006/main">
              <a:ext uri="{FF2B5EF4-FFF2-40B4-BE49-F238E27FC236}">
                <a16:creationId xmlns:a16="http://schemas.microsoft.com/office/drawing/2014/main" id="{DC650AF8-D9F9-4674-B58E-5B076433746B}"/>
              </a:ext>
            </a:extLst>
          </p:cNvPr>
          <p:cNvSpPr>
            <a:spLocks xmlns:a="http://schemas.openxmlformats.org/drawingml/2006/main" noGrp="1"/>
          </p:cNvSpPr>
          <p:nvPr/>
        </p:nvSpPr>
        <p:spPr>
          <a:xfrm xmlns:a="http://schemas.openxmlformats.org/drawingml/2006/main">
            <a:off x="8372475" y="2000250"/>
            <a:ext cx="31718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B95435"/>
                </a:solidFill>
                <a:latin typeface="Helvetica Neue"/>
                <a:ea typeface="Helvetica Neue"/>
                <a:cs typeface="Helvetica Neue"/>
              </a:defRPr>
            </a:defPPr>
          </a:lstStyle>
          <a:p xmlns:a="http://schemas.openxmlformats.org/drawingml/2006/main">
            <a:pPr>
              <a:defRPr sz="1800" b="1">
                <a:solidFill>
                  <a:srgbClr val="B95435"/>
                </a:solidFill>
                <a:latin typeface="Helvetica Neue"/>
                <a:ea typeface="Helvetica Neue"/>
                <a:cs typeface="Helvetica Neue"/>
              </a:defRPr>
            </a:pPr>
            <a:r>
              <a:rPr sz="1800" b="1">
                <a:solidFill>
                  <a:srgbClr val="B95435"/>
                </a:solidFill>
                <a:latin typeface="Helvetica Neue"/>
                <a:ea typeface="Helvetica Neue"/>
                <a:cs typeface="Helvetica Neue"/>
              </a:rPr>
              <a:t>Analytic: 95% grid coverage</a:t>
            </a:r>
          </a:p>
        </p:txBody>
      </p:sp>
      <p:graphicFrame>
        <p:nvGraphicFramePr>
          <p:cNvPr id="6" name="Chart">
            <a:extLst xmlns:a="http://schemas.openxmlformats.org/drawingml/2006/main">
              <a:ext uri="{FF2B5EF4-FFF2-40B4-BE49-F238E27FC236}">
                <a16:creationId xmlns:a16="http://schemas.microsoft.com/office/drawing/2014/main" id="{A226BD46-CE11-4F0F-AA9E-2B3A2DEC941D}"/>
              </a:ext>
            </a:extLst>
          </p:cNvPr>
          <p:cNvGraphicFramePr/>
          <p:nvPr/>
        </p:nvGraphicFramePr>
        <p:xfrm>
          <a:off xmlns:a="http://schemas.openxmlformats.org/drawingml/2006/main" x="609600" y="2581275"/>
          <a:ext xmlns:a="http://schemas.openxmlformats.org/drawingml/2006/main" cx="10858500" cy="2943225"/>
        </p:xfrm>
        <a:graphic xmlns:a="http://schemas.openxmlformats.org/drawingml/2006/main">
          <a:graphicData uri="http://schemas.openxmlformats.org/drawingml/2006/chart">
            <c:chart xmlns:r="http://schemas.openxmlformats.org/officeDocument/2006/relationships" xmlns:c="http://schemas.openxmlformats.org/drawingml/2006/chart" r:id="R6f90919995434c78"/>
          </a:graphicData>
        </a:graphic>
      </p:graphicFrame>
      <p:sp>
        <p:nvSpPr>
          <p:cNvPr id="7" name="Counts of queries (linear sc">
            <a:extLst xmlns:a="http://schemas.openxmlformats.org/drawingml/2006/main">
              <a:ext uri="{FF2B5EF4-FFF2-40B4-BE49-F238E27FC236}">
                <a16:creationId xmlns:a16="http://schemas.microsoft.com/office/drawing/2014/main" id="{36B613C0-676C-4F44-8B85-0CB6D619D59E}"/>
              </a:ext>
            </a:extLst>
          </p:cNvPr>
          <p:cNvSpPr>
            <a:spLocks xmlns:a="http://schemas.openxmlformats.org/drawingml/2006/main" noGrp="1"/>
          </p:cNvSpPr>
          <p:nvPr/>
        </p:nvSpPr>
        <p:spPr>
          <a:xfrm xmlns:a="http://schemas.openxmlformats.org/drawingml/2006/main">
            <a:off x="609600" y="2390775"/>
            <a:ext cx="617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Counts of queries (linear scale)</a:t>
            </a:r>
          </a:p>
        </p:txBody>
      </p:sp>
      <p:sp>
        <p:nvSpPr>
          <p:cNvPr id="8" name="500 vs 1,400 intervention re">
            <a:extLst xmlns:a="http://schemas.openxmlformats.org/drawingml/2006/main">
              <a:ext uri="{FF2B5EF4-FFF2-40B4-BE49-F238E27FC236}">
                <a16:creationId xmlns:a16="http://schemas.microsoft.com/office/drawing/2014/main" id="{7CE780F2-3109-426A-8A2B-006909E0C1A9}"/>
              </a:ext>
            </a:extLst>
          </p:cNvPr>
          <p:cNvSpPr>
            <a:spLocks xmlns:a="http://schemas.openxmlformats.org/drawingml/2006/main" noGrp="1"/>
          </p:cNvSpPr>
          <p:nvPr/>
        </p:nvSpPr>
        <p:spPr>
          <a:xfrm xmlns:a="http://schemas.openxmlformats.org/drawingml/2006/main">
            <a:off x="609600" y="5743575"/>
            <a:ext cx="73056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F83"/>
                </a:solidFill>
                <a:latin typeface="Helvetica Neue"/>
                <a:ea typeface="Helvetica Neue"/>
                <a:cs typeface="Helvetica Neue"/>
              </a:defRPr>
            </a:defPPr>
          </a:lstStyle>
          <a:p xmlns:a="http://schemas.openxmlformats.org/drawingml/2006/main">
            <a:pPr>
              <a:defRPr sz="2250" b="1">
                <a:solidFill>
                  <a:srgbClr val="087F83"/>
                </a:solidFill>
                <a:latin typeface="Helvetica Neue"/>
                <a:ea typeface="Helvetica Neue"/>
                <a:cs typeface="Helvetica Neue"/>
              </a:defRPr>
            </a:pPr>
            <a:r>
              <a:rPr sz="2250" b="1">
                <a:solidFill>
                  <a:srgbClr val="087F83"/>
                </a:solidFill>
                <a:latin typeface="Helvetica Neue"/>
                <a:ea typeface="Helvetica Neue"/>
                <a:cs typeface="Helvetica Neue"/>
              </a:rPr>
              <a:t>500 vs 1,400 intervention responses</a:t>
            </a:r>
          </a:p>
        </p:txBody>
      </p:sp>
      <p:sp>
        <p:nvSpPr>
          <p:cNvPr id="9" name="29.26 million grid draws">
            <a:extLst xmlns:a="http://schemas.openxmlformats.org/drawingml/2006/main">
              <a:ext uri="{FF2B5EF4-FFF2-40B4-BE49-F238E27FC236}">
                <a16:creationId xmlns:a16="http://schemas.microsoft.com/office/drawing/2014/main" id="{B5A287E8-4BDC-49E6-82DC-950BBE0BCF6E}"/>
              </a:ext>
            </a:extLst>
          </p:cNvPr>
          <p:cNvSpPr>
            <a:spLocks xmlns:a="http://schemas.openxmlformats.org/drawingml/2006/main" noGrp="1"/>
          </p:cNvSpPr>
          <p:nvPr/>
        </p:nvSpPr>
        <p:spPr>
          <a:xfrm xmlns:a="http://schemas.openxmlformats.org/drawingml/2006/main">
            <a:off x="8372475" y="5743575"/>
            <a:ext cx="323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B95435"/>
                </a:solidFill>
                <a:latin typeface="Helvetica Neue"/>
                <a:ea typeface="Helvetica Neue"/>
                <a:cs typeface="Helvetica Neue"/>
              </a:defRPr>
            </a:defPPr>
          </a:lstStyle>
          <a:p xmlns:a="http://schemas.openxmlformats.org/drawingml/2006/main">
            <a:pPr>
              <a:defRPr sz="2025" b="1">
                <a:solidFill>
                  <a:srgbClr val="B95435"/>
                </a:solidFill>
                <a:latin typeface="Helvetica Neue"/>
                <a:ea typeface="Helvetica Neue"/>
                <a:cs typeface="Helvetica Neue"/>
              </a:defRPr>
            </a:pPr>
            <a:r>
              <a:rPr sz="2025" b="1">
                <a:solidFill>
                  <a:srgbClr val="B95435"/>
                </a:solidFill>
                <a:latin typeface="Helvetica Neue"/>
                <a:ea typeface="Helvetica Neue"/>
                <a:cs typeface="Helvetica Neue"/>
              </a:rPr>
              <a:t>29.26 million grid draws</a:t>
            </a:r>
          </a:p>
        </p:txBody>
      </p:sp>
      <p:sp>
        <p:nvSpPr>
          <p:cNvPr id="10" name="First two: 10 vs 28 batches ">
            <a:extLst xmlns:a="http://schemas.openxmlformats.org/drawingml/2006/main">
              <a:ext uri="{FF2B5EF4-FFF2-40B4-BE49-F238E27FC236}">
                <a16:creationId xmlns:a16="http://schemas.microsoft.com/office/drawing/2014/main" id="{DC94749E-9D8C-4144-BA21-6668FE22F720}"/>
              </a:ext>
            </a:extLst>
          </p:cNvPr>
          <p:cNvSpPr>
            <a:spLocks xmlns:a="http://schemas.openxmlformats.org/drawingml/2006/main" noGrp="1"/>
          </p:cNvSpPr>
          <p:nvPr/>
        </p:nvSpPr>
        <p:spPr>
          <a:xfrm xmlns:a="http://schemas.openxmlformats.org/drawingml/2006/main">
            <a:off x="609600" y="6391275"/>
            <a:ext cx="104489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First two: 10 vs 28 batches at MSE ≤ 0.04390. Third: a different task, not a measured ACE speedup.</a:t>
            </a:r>
          </a:p>
        </p:txBody>
      </p:sp>
    </p:spTree>
    <p:extLst>
      <p:ext uri="{BB962C8B-B14F-4D97-AF65-F5344CB8AC3E}">
        <p14:creationId xmlns:p14="http://schemas.microsoft.com/office/powerpoint/2010/main" val="466899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2026-10-10T16:11:46.5170000Z</dcterms:created>
  <dcterms:modified xsi:type="dcterms:W3CDTF">2026-10-10T16:11:46.5170000Z</dcterms:modified>
</coreProperties>
</file>