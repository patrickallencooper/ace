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001069c2d85404b" /><Relationship Type="http://schemas.openxmlformats.org/officeDocument/2006/relationships/extended-properties" Target="/docProps/app.xml" Id="R3525419ebb24456c" /><Relationship Type="http://schemas.openxmlformats.org/officeDocument/2006/relationships/officeDocument" Target="/ppt/presentation.xml" Id="Rbc629d5999114c24" /></Relationships>
</file>

<file path=ppt/presentation.xml><?xml version="1.0" encoding="utf-8"?>
<p:presentation xmlns:p="http://schemas.openxmlformats.org/presentationml/2006/main">
  <p:sldMasterIdLst>
    <p:sldMasterId xmlns:r="http://schemas.openxmlformats.org/officeDocument/2006/relationships" id="2147483648" r:id="R2f512f16c8544ed5"/>
  </p:sldMasterIdLst>
  <p:notesMasterIdLst>
    <p:notesMasterId xmlns:r="http://schemas.openxmlformats.org/officeDocument/2006/relationships" r:id="Ra302bf1a7b3d4edb"/>
  </p:notesMasterIdLst>
  <p:sldIdLst>
    <p:sldId xmlns:r="http://schemas.openxmlformats.org/officeDocument/2006/relationships" id="256" r:id="Rd036d5e98fe94ba1"/>
    <p:sldId xmlns:r="http://schemas.openxmlformats.org/officeDocument/2006/relationships" id="257" r:id="R077979b911ff478b"/>
    <p:sldId xmlns:r="http://schemas.openxmlformats.org/officeDocument/2006/relationships" id="258" r:id="R5835dff1e5634070"/>
    <p:sldId xmlns:r="http://schemas.openxmlformats.org/officeDocument/2006/relationships" id="259" r:id="Rbcb80c375b3b41a2"/>
    <p:sldId xmlns:r="http://schemas.openxmlformats.org/officeDocument/2006/relationships" id="260" r:id="R7d2fdcf76f5745b0"/>
    <p:sldId xmlns:r="http://schemas.openxmlformats.org/officeDocument/2006/relationships" id="261" r:id="R395f172d36214770"/>
    <p:sldId xmlns:r="http://schemas.openxmlformats.org/officeDocument/2006/relationships" id="262" r:id="Rb2918aeb81d94e39"/>
    <p:sldId xmlns:r="http://schemas.openxmlformats.org/officeDocument/2006/relationships" id="263" r:id="R289c42f0064c4d17"/>
    <p:sldId xmlns:r="http://schemas.openxmlformats.org/officeDocument/2006/relationships" id="264" r:id="R97567a5c2b884db8"/>
    <p:sldId xmlns:r="http://schemas.openxmlformats.org/officeDocument/2006/relationships" id="265" r:id="Rcb2e21be0a3243b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0e014b776b34857" /><Relationship Type="http://schemas.openxmlformats.org/officeDocument/2006/relationships/slideMaster" Target="/ppt/slideMasters/slideMaster1.xml" Id="R2f512f16c8544ed5" /><Relationship Type="http://schemas.openxmlformats.org/officeDocument/2006/relationships/notesMaster" Target="/ppt/notesMasters/notesMaster1.xml" Id="Ra302bf1a7b3d4edb" /><Relationship Type="http://schemas.openxmlformats.org/officeDocument/2006/relationships/presProps" Target="/ppt/presProps.xml" Id="R0576cb1853664e4d" /><Relationship Type="http://schemas.openxmlformats.org/officeDocument/2006/relationships/tableStyles" Target="/ppt/tableStyles.xml" Id="Rd9014ad68ba64f4b" /><Relationship Type="http://schemas.openxmlformats.org/officeDocument/2006/relationships/slide" Target="/ppt/slides/slide1.xml" Id="Rd036d5e98fe94ba1" /><Relationship Type="http://schemas.openxmlformats.org/officeDocument/2006/relationships/slide" Target="/ppt/slides/slide2.xml" Id="R077979b911ff478b" /><Relationship Type="http://schemas.openxmlformats.org/officeDocument/2006/relationships/slide" Target="/ppt/slides/slide3.xml" Id="R5835dff1e5634070" /><Relationship Type="http://schemas.openxmlformats.org/officeDocument/2006/relationships/slide" Target="/ppt/slides/slide4.xml" Id="Rbcb80c375b3b41a2" /><Relationship Type="http://schemas.openxmlformats.org/officeDocument/2006/relationships/slide" Target="/ppt/slides/slide5.xml" Id="R7d2fdcf76f5745b0" /><Relationship Type="http://schemas.openxmlformats.org/officeDocument/2006/relationships/slide" Target="/ppt/slides/slide6.xml" Id="R395f172d36214770" /><Relationship Type="http://schemas.openxmlformats.org/officeDocument/2006/relationships/slide" Target="/ppt/slides/slide7.xml" Id="Rb2918aeb81d94e39" /><Relationship Type="http://schemas.openxmlformats.org/officeDocument/2006/relationships/slide" Target="/ppt/slides/slide8.xml" Id="R289c42f0064c4d17" /><Relationship Type="http://schemas.openxmlformats.org/officeDocument/2006/relationships/slide" Target="/ppt/slides/slide9.xml" Id="R97567a5c2b884db8" /><Relationship Type="http://schemas.openxmlformats.org/officeDocument/2006/relationships/slide" Target="/ppt/slides/slide10.xml" Id="Rcb2e21be0a3243b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8c1c916aa1b46e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Helvetica Neue"/>
        <a:ea typeface=""/>
        <a:cs typeface=""/>
      </a:majorFont>
      <a:minorFont>
        <a:latin typeface="Helvetica Neue"/>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e01ecc5ff9840d2" /><Relationship Type="http://schemas.openxmlformats.org/officeDocument/2006/relationships/notesMaster" Target="/ppt/notesMasters/notesMaster1.xml" Id="Rb976094c622e4aff" /></Relationships>
</file>

<file path=ppt/notesSlides/_rels/notesSlide2.xml.rels>&#65279;<?xml version="1.0" encoding="utf-8"?><Relationships xmlns="http://schemas.openxmlformats.org/package/2006/relationships"><Relationship Type="http://schemas.openxmlformats.org/officeDocument/2006/relationships/slide" Target="/ppt/slides/slide2.xml" Id="R66072dc1f4584dac" /><Relationship Type="http://schemas.openxmlformats.org/officeDocument/2006/relationships/notesMaster" Target="/ppt/notesMasters/notesMaster1.xml" Id="R1e5fd55f86874f3d" /></Relationships>
</file>

<file path=ppt/notesSlides/_rels/notesSlide3.xml.rels>&#65279;<?xml version="1.0" encoding="utf-8"?><Relationships xmlns="http://schemas.openxmlformats.org/package/2006/relationships"><Relationship Type="http://schemas.openxmlformats.org/officeDocument/2006/relationships/slide" Target="/ppt/slides/slide3.xml" Id="R92a7ecb4935644cc" /><Relationship Type="http://schemas.openxmlformats.org/officeDocument/2006/relationships/notesMaster" Target="/ppt/notesMasters/notesMaster1.xml" Id="R450b97df363b4e2b" /></Relationships>
</file>

<file path=ppt/notesSlides/_rels/notesSlide4.xml.rels>&#65279;<?xml version="1.0" encoding="utf-8"?><Relationships xmlns="http://schemas.openxmlformats.org/package/2006/relationships"><Relationship Type="http://schemas.openxmlformats.org/officeDocument/2006/relationships/slide" Target="/ppt/slides/slide4.xml" Id="R22cc544224f84483" /><Relationship Type="http://schemas.openxmlformats.org/officeDocument/2006/relationships/notesMaster" Target="/ppt/notesMasters/notesMaster1.xml" Id="Rbdbdce8d0a4244ce" /></Relationships>
</file>

<file path=ppt/notesSlides/_rels/notesSlide5.xml.rels>&#65279;<?xml version="1.0" encoding="utf-8"?><Relationships xmlns="http://schemas.openxmlformats.org/package/2006/relationships"><Relationship Type="http://schemas.openxmlformats.org/officeDocument/2006/relationships/slide" Target="/ppt/slides/slide5.xml" Id="R660df4b6c2a84e31" /><Relationship Type="http://schemas.openxmlformats.org/officeDocument/2006/relationships/notesMaster" Target="/ppt/notesMasters/notesMaster1.xml" Id="Rea36ffed252146af" /></Relationships>
</file>

<file path=ppt/notesSlides/_rels/notesSlide6.xml.rels>&#65279;<?xml version="1.0" encoding="utf-8"?><Relationships xmlns="http://schemas.openxmlformats.org/package/2006/relationships"><Relationship Type="http://schemas.openxmlformats.org/officeDocument/2006/relationships/slide" Target="/ppt/slides/slide6.xml" Id="R18370c793520499e" /><Relationship Type="http://schemas.openxmlformats.org/officeDocument/2006/relationships/notesMaster" Target="/ppt/notesMasters/notesMaster1.xml" Id="R5a18c7b684a5418f" /></Relationships>
</file>

<file path=ppt/notesSlides/_rels/notesSlide7.xml.rels>&#65279;<?xml version="1.0" encoding="utf-8"?><Relationships xmlns="http://schemas.openxmlformats.org/package/2006/relationships"><Relationship Type="http://schemas.openxmlformats.org/officeDocument/2006/relationships/slide" Target="/ppt/slides/slide7.xml" Id="Rf26ed3c5ed894e44" /><Relationship Type="http://schemas.openxmlformats.org/officeDocument/2006/relationships/notesMaster" Target="/ppt/notesMasters/notesMaster1.xml" Id="Rce2f51306d5d4a7b" /></Relationships>
</file>

<file path=ppt/notesSlides/_rels/notesSlide8.xml.rels>&#65279;<?xml version="1.0" encoding="utf-8"?><Relationships xmlns="http://schemas.openxmlformats.org/package/2006/relationships"><Relationship Type="http://schemas.openxmlformats.org/officeDocument/2006/relationships/slide" Target="/ppt/slides/slide8.xml" Id="R44bcab95e6c24a12" /><Relationship Type="http://schemas.openxmlformats.org/officeDocument/2006/relationships/notesMaster" Target="/ppt/notesMasters/notesMaster1.xml" Id="R8d522d583555463d" /></Relationships>
</file>

<file path=ppt/notesSlides/_rels/notesSlide9.xml.rels>&#65279;<?xml version="1.0" encoding="utf-8"?><Relationships xmlns="http://schemas.openxmlformats.org/package/2006/relationships"><Relationship Type="http://schemas.openxmlformats.org/officeDocument/2006/relationships/slide" Target="/ppt/slides/slide9.xml" Id="R3b784ae8aa0148c0" /><Relationship Type="http://schemas.openxmlformats.org/officeDocument/2006/relationships/notesMaster" Target="/ppt/notesMasters/notesMaster1.xml" Id="R03f703f04678459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f40c56eb4c143d1" /><Relationship Type="http://schemas.openxmlformats.org/officeDocument/2006/relationships/notesMaster" Target="/ppt/notesMasters/notesMaster1.xml" Id="Rce578e0ae6cc4f6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Slides1–4 introduce SCMs and experiment selection. Slides5–7 are an illustrative three-node calculation, with the same covariance-score structure but simplified fixed candidates and linear heads. Slide8 is an archived action selected without performance screening. Slide9 distinguishes separate historical studies. Slide10 is a research proposal. Implementation: baselines.py, EnsembleStudentSCM / EnsembleLearner / PropagatedVariancePolicy, and scripts/research/persistent_scm.py. Historical PEV uses known graphs, independently initialized neural heads, model-only candidate contexts and covariance-based integrated variance reduction summed over descendant mechanisms. It does not identify the graph or optimize the proposed terminal-risk objective. Noise proxy is residual error, not a certified aleatoric estimate.</a:t>
            </a:r>
          </a:p>
          <a:p xmlns:a="http://schemas.openxmlformats.org/drawingml/2006/main">
            <a:r>
              <a:t/>
            </a:r>
          </a:p>
          <a:p xmlns:a="http://schemas.openxmlformats.org/drawingml/2006/main">
            <a:r>
              <a:t>Sources</a:t>
            </a:r>
          </a:p>
          <a:p xmlns:a="http://schemas.openxmlformats.org/drawingml/2006/main">
            <a:r>
              <a:t>/Users/pat/code/ACE/docs/development/guidance/ace_theoretical_ideation_2026-10-08.md</a:t>
            </a:r>
          </a:p>
          <a:p xmlns:a="http://schemas.openxmlformats.org/drawingml/2006/main">
            <a:r>
              <a:t>/Users/pat/code/ACE/docs/ACE_evidence_and_public_claims_2026-10-08.md</a:t>
            </a:r>
          </a:p>
          <a:p xmlns:a="http://schemas.openxmlformats.org/drawingml/2006/main">
            <a:r>
              <a:t>/Users/pat/code/ACE/presentations/ACE_theory_and_evidence/mechanistic_demonstration_2026-10-09.json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SCM definition: Xi=fi(Pa_i,Ui). Edges specify direct causes in the assumed graph, f describes the mechanism, U describes external disturbances. The toy is a fully observed, deterministic chain with dimensionless values. Its true rules are M=2.5X and Y=3M, with U=0. These truth equations explain the example to the audience; the policy receives only its candidate models and allowed actions, not oracle truth. Known graph does not imply known mechanisms. General SCMs may have dependent disturbances; identification and fitting require explicit assumptions.</a:t>
            </a:r>
          </a:p>
          <a:p xmlns:a="http://schemas.openxmlformats.org/drawingml/2006/main">
            <a:r>
              <a:t/>
            </a:r>
          </a:p>
          <a:p xmlns:a="http://schemas.openxmlformats.org/drawingml/2006/main">
            <a:r>
              <a:t>Sources</a:t>
            </a:r>
          </a:p>
          <a:p xmlns:a="http://schemas.openxmlformats.org/drawingml/2006/main">
            <a:r>
              <a:t>/Users/pat/code/ACE/docs/development/guidance/ace_theoretical_ideation_2026-10-08.md</a:t>
            </a:r>
          </a:p>
          <a:p xmlns:a="http://schemas.openxmlformats.org/drawingml/2006/main">
            <a:r>
              <a:t>/Users/pat/code/ACE/presentations/ACE_theory_and_evidence/mechanistic_demonstration_2026-10-09.json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do(M=m) fixes M independently of its usual parents and replaces M=fM(X,UM) with M=m. X→M is removed for this experiment, while M→Y remains. Row X=x,M=m,Y=y supplies a natural Y label with measured parent m, but is not a natural M=fM(X) label. Under do(X=x), both M and Y remain naturally generated and eligible under the stated retention/noise assumptions. The implementation excludes the intervened head and uses observed parents for eligible training. Candidate simulation propagates ensemble-mean parents. Historical acquisition-study evaluation instead predicts each mechanism from observed parents; the toy composed target forecast and delivery studies have different evaluation semantics.</a:t>
            </a:r>
          </a:p>
          <a:p xmlns:a="http://schemas.openxmlformats.org/drawingml/2006/main">
            <a:r>
              <a:t/>
            </a:r>
          </a:p>
          <a:p xmlns:a="http://schemas.openxmlformats.org/drawingml/2006/main">
            <a:r>
              <a:t>Sources</a:t>
            </a:r>
          </a:p>
          <a:p xmlns:a="http://schemas.openxmlformats.org/drawingml/2006/main">
            <a:r>
              <a:t>/Users/pat/code/ACE/docs/development/guidance/ace_theoretical_ideation_2026-10-08.md</a:t>
            </a:r>
          </a:p>
          <a:p xmlns:a="http://schemas.openxmlformats.org/drawingml/2006/main">
            <a:r>
              <a:t>/Users/pat/code/ACE/presentations/ACE_theory_and_evidence/mechanistic_demonstration_2026-10-09.json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baselines.py, EnsembleStudentSCM / EnsembleLearner / PropagatedVariancePolicy, and scripts/research/persistent_scm.py. Historical PEV uses known graphs, independently initialized neural heads, model-only candidate contexts and covariance-based integrated variance reduction summed over descendant mechanisms. It does not identify the graph or optimize the proposed terminal-risk objective. Noise proxy is residual error, not a certified aleatoric estimate. For descendant head j and simulated parent context x, the implemented contribution averages Cov_k(f_k(x),f_k(r))²/[Var_k(f_k(x))+noise_proxy_j] across reference contexts r and simulated contexts. Scores sum over descendants, not necessarily the final target alone. Candidates can be jittered and epsilon exploration can select a random candidate. Linear Gaussian conditioning motivates the covariance formula but does not certify neural ensemble calibration or optimal experimental design. A target-specific version and protection from wrong transferred priors are proposed work.</a:t>
            </a:r>
          </a:p>
          <a:p xmlns:a="http://schemas.openxmlformats.org/drawingml/2006/main">
            <a:r>
              <a:t/>
            </a:r>
          </a:p>
          <a:p xmlns:a="http://schemas.openxmlformats.org/drawingml/2006/main">
            <a:r>
              <a:t>Sources</a:t>
            </a:r>
          </a:p>
          <a:p xmlns:a="http://schemas.openxmlformats.org/drawingml/2006/main">
            <a:r>
              <a:t>/Users/pat/code/ACE/docs/development/guidance/ace_theoretical_ideation_2026-10-08.md</a:t>
            </a:r>
          </a:p>
          <a:p xmlns:a="http://schemas.openxmlformats.org/drawingml/2006/main">
            <a:r>
              <a:t>/Users/pat/code/ACE/presentations/ACE_theory_and_evidence/mechanistic_demonstration_2026-10-09.json</a:t>
            </a:r>
          </a:p>
          <a:p xmlns:a="http://schemas.openxmlformats.org/drawingml/2006/main">
            <a:r>
              <a:t>https://papers.nips.cc/paper/1011-active-learning-with-statistical-models.pdf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configuration only. Three linear ensemble members: M slopes1,2,3, Y slopes2,3,4; ensemble means2X and3M. Candidates ordered X−1,X0,X1,M−1,M0,M1. Reference parent values−1,0,1. Population covariance denominator3, residual noise proxy1/20, deterministic mean-propagated parent contexts, no jitter or epsilon exploration. Preintervention observation history empty for this hand-constructed initial state. One response remaining. Oracle truth hidden from score: M=2.5X,Y=3M. Production historical confirmation uses neural heads and different grids/batches. All numbers are generated by explain_ace_mechanics.py with exact rational arithmetic.</a:t>
            </a:r>
          </a:p>
          <a:p xmlns:a="http://schemas.openxmlformats.org/drawingml/2006/main">
            <a:r>
              <a:t/>
            </a:r>
          </a:p>
          <a:p xmlns:a="http://schemas.openxmlformats.org/drawingml/2006/main">
            <a:r>
              <a:t>Sources</a:t>
            </a:r>
          </a:p>
          <a:p xmlns:a="http://schemas.openxmlformats.org/drawingml/2006/main">
            <a:r>
              <a:t>/Users/pat/code/ACE/presentations/ACE_theory_and_evidence/mechanistic_demonstration_2026-10-09.json</a:t>
            </a:r>
          </a:p>
          <a:p xmlns:a="http://schemas.openxmlformats.org/drawingml/2006/main">
            <a:r>
              <a:t>/Users/pat/code/ACE/scripts/research/explain_ace_mechanics.py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Exact score for M context±1 is160/387≈0.413436693. Y context±2 is640/1467≈0.436264485. Their sum is≈0.849701178. Under do(M=±1) the clamped M mechanism contributes zero, leaving only Y≈0.413436693. Zero contexts give zero covariance and zero score. X+1 tiesX−1; first-maximum tie rule choosesX−1. At that action the ensemble mean predictsM−2,Y−6. No oracle outcome is queried during scoring. The Y slope ensemble is evaluated at the simulated mean parent; it is not a member-paired composed posterior.</a:t>
            </a:r>
          </a:p>
          <a:p xmlns:a="http://schemas.openxmlformats.org/drawingml/2006/main">
            <a:r>
              <a:t/>
            </a:r>
          </a:p>
          <a:p xmlns:a="http://schemas.openxmlformats.org/drawingml/2006/main">
            <a:r>
              <a:t>Sources</a:t>
            </a:r>
          </a:p>
          <a:p xmlns:a="http://schemas.openxmlformats.org/drawingml/2006/main">
            <a:r>
              <a:t>/Users/pat/code/ACE/presentations/ACE_theory_and_evidence/mechanistic_demonstration_2026-10-09.json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oracle row isX−1,M−2.5,Y−7.5. Eligible pairs M:(−1,−2.5),Y:(−2.5,−7.5); clamped X supplies no natural root-distribution update. For transparent arithmetic use one gradient step on half squared error, with etaM1/2 and etaY2/25. M slopes1,2,3 become1.75,2.25,2.75. Y slopes2,3,4 become2.5,3,3.5. At X−1, updated mean predictsM−2.25 andY−6.75. Signed final error drops from1.5 to.75 on this same illustrative row. This is not held-out improvement or production training: production uses neural heads, Adam and member-specific masks. Response budget becomes0. Do not associate this made-up row with the real archived trace.</a:t>
            </a:r>
          </a:p>
          <a:p xmlns:a="http://schemas.openxmlformats.org/drawingml/2006/main">
            <a:r>
              <a:t/>
            </a:r>
          </a:p>
          <a:p xmlns:a="http://schemas.openxmlformats.org/drawingml/2006/main">
            <a:r>
              <a:t>Sources</a:t>
            </a:r>
          </a:p>
          <a:p xmlns:a="http://schemas.openxmlformats.org/drawingml/2006/main">
            <a:r>
              <a:t>/Users/pat/code/ACE/presentations/ACE_theory_and_evidence/mechanistic_demonstration_2026-10-09.json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Historical shifted-mechanism study, PEV arm, seed5000, first chronological row; selected by smallest study seed, not outcome. First targetX7,value3.857086181640625,cumulative samples50. Next rowX9,value5,cumulative100. Complete journal32interventioncalls1600responses plus10observationalcalls400responses,total42calls2000responses. Archived system.json supplies graph identity. Per-step raw response rows, candidate scores and ensembleweights are absent from this trace, so this slide does not fabricate them. This is a historical action illustration, not a new run or the toy state on slides5–7.</a:t>
            </a:r>
          </a:p>
          <a:p xmlns:a="http://schemas.openxmlformats.org/drawingml/2006/main">
            <a:r>
              <a:t/>
            </a:r>
          </a:p>
          <a:p xmlns:a="http://schemas.openxmlformats.org/drawingml/2006/main">
            <a:r>
              <a:t>Sources</a:t>
            </a:r>
          </a:p>
          <a:p xmlns:a="http://schemas.openxmlformats.org/drawingml/2006/main">
            <a:r>
              <a:t>results/research_pev_shift30_mean_confirmation/shift30/pev/seed_5000/trajectory.csv</a:t>
            </a:r>
          </a:p>
          <a:p xmlns:a="http://schemas.openxmlformats.org/drawingml/2006/main">
            <a:r>
              <a:t>results/research_pev_shift30_mean_confirmation/shift30/pev/seed_5000/query_budget.json</a:t>
            </a:r>
          </a:p>
          <a:p xmlns:a="http://schemas.openxmlformats.org/drawingml/2006/main">
            <a:r>
              <a:t>/Users/pat/code/ACE/docs/development/guidance/protocol_pev_shift30_mean_confirmation.json</a:t>
            </a:r>
          </a:p>
          <a:p xmlns:a="http://schemas.openxmlformats.org/drawingml/2006/main">
            <a:r>
              <a:t>/Users/pat/code/ACE/docs/development/guidance/erratum_shift_graph_provenance_2026-09-27.md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separate studies separate. Primary persistent confirmation:40 systems20eachhomogeneous/heterogeneous,PEV vscoverage paired differences−.01360 CI[−.02151,−.00569] Holm.00384 and−.10919 CI[−.18856,−.02981] Holm.00961.20/20 and16/20 wins. Shift30:20systems,PEVarithmeticmean.0154302049vsrandom.0438980071,19/20wins,descriptive64.85%lowergroupmean,secondaryp.00750;primarycoveragep.05108fails,scoringablationp.62176unresolved. Delivery12historiesoneemulatorgeometricexactlevelratio.183CI[.102,.327],11/12wins;exposedgrid,median3scoredinitializations,unequalfittingcompute. Retainedworsening124753321ratio2.015177. Physical7/11rolling3/11physics0/11Fourier,conditionsoneapparatus. No Stage B performance pending supplemental qualification. Numbers are historical accepted summaries, no recomputation of tests.</a:t>
            </a:r>
          </a:p>
          <a:p xmlns:a="http://schemas.openxmlformats.org/drawingml/2006/main">
            <a:r>
              <a:t/>
            </a:r>
          </a:p>
          <a:p xmlns:a="http://schemas.openxmlformats.org/drawingml/2006/main">
            <a:r>
              <a:t>Sources</a:t>
            </a:r>
          </a:p>
          <a:p xmlns:a="http://schemas.openxmlformats.org/drawingml/2006/main">
            <a:r>
              <a:t>/Users/pat/code/ACE/docs/ACE_evidence_and_public_claims_2026-10-08.md</a:t>
            </a:r>
          </a:p>
          <a:p xmlns:a="http://schemas.openxmlformats.org/drawingml/2006/main">
            <a:r>
              <a:t>/Users/pat/code/ACE/paper/aistats_ace_2027/claim_index.json</a:t>
            </a:r>
          </a:p>
          <a:p xmlns:a="http://schemas.openxmlformats.org/drawingml/2006/main">
            <a:r>
              <a:t>/Users/pat/code/ACE/results/research_pev_shift30_mean_confirmation/README.md</a:t>
            </a:r>
          </a:p>
          <a:p xmlns:a="http://schemas.openxmlformats.org/drawingml/2006/main">
            <a:r>
              <a:t>/Users/pat/code/ACE/results/research_persistent_confirmation_v1/README.md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Research proposal, not current demonstrated ACE advantage. Numerical foundation model such asTabPFNv2 provides reusable prediction priors. Language model proposes typed mechanism forms or constraints, whose parameters and plausibility trustednumericalcode evaluates. SCM enforces interventionsemantics/eligibleupdates, numerical experimentselector evaluates candidatevalue/cost. Retain broad data-onlyalternative andtestwrongpriorrecovery/protection ofunchangedmechanisms. MDA alreadycombines LLMproposals,numericalBayesianinferenceanddesign,includingtask-awareVoI discussion. LLM-SR providesprogramstructureproposalswithnumericalparametersearch. Neither genericcomposition nortarget-riskformulaalone establishes novelty. Proposedclaimtest must isolatefoundationcomponent from estimator/acquisition/finalfitchanges. No universaladvantage or causalidentificationfrompredictionalone.</a:t>
            </a:r>
          </a:p>
          <a:p xmlns:a="http://schemas.openxmlformats.org/drawingml/2006/main">
            <a:r>
              <a:t/>
            </a:r>
          </a:p>
          <a:p xmlns:a="http://schemas.openxmlformats.org/drawingml/2006/main">
            <a:r>
              <a:t>Sources</a:t>
            </a:r>
          </a:p>
          <a:p xmlns:a="http://schemas.openxmlformats.org/drawingml/2006/main">
            <a:r>
              <a:t>/Users/pat/code/ACE/docs/development/guidance/ace_theoretical_ideation_2026-10-08.md</a:t>
            </a:r>
          </a:p>
          <a:p xmlns:a="http://schemas.openxmlformats.org/drawingml/2006/main">
            <a:r>
              <a:t>https://arxiv.org/html/2608.09696</a:t>
            </a:r>
          </a:p>
          <a:p xmlns:a="http://schemas.openxmlformats.org/drawingml/2006/main">
            <a:r>
              <a:t>https://github.com/deep-symbolic-mathematics/LLM-SR</a:t>
            </a:r>
          </a:p>
          <a:p xmlns:a="http://schemas.openxmlformats.org/drawingml/2006/main">
            <a:r>
              <a:t>https://www.nature.com/articles/s41586-024-08328-6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3445f8bef9c460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966ce6cee7d43a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73a8b21d73e49e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861d0c46ca34ac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9386ff7d3f7493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322028414cd406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6DFF189-FCC6-4E8F-B019-22A7F948AD0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0DEE63D-9D7F-4A9F-B688-F5AB02B5B91B}"/>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81250DD-870C-46E1-A137-46547E4F3692}"/>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ED70B15-C471-43CA-8940-378ED79EE8B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F3875BF-A06E-430F-80FE-874AAF8F1821}"/>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ABD3574-C6A8-4EDD-A1CF-14EC98AB814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752DD71-C6D8-4556-A127-176E1F30220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A8B8BF0-5A44-4D49-B7AE-71B8314451A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BAD87A5-6767-42AE-8320-0D50DD8856A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C5986E3-57E1-40E5-AA80-8D0406E5DD7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cd73d4071e4462a" /><Relationship Type="http://schemas.openxmlformats.org/officeDocument/2006/relationships/slideLayout" Target="/ppt/slideLayouts/slideLayout1.xml" Id="Redb3885d98ff4cdf" /><Relationship Type="http://schemas.openxmlformats.org/officeDocument/2006/relationships/slideLayout" Target="/ppt/slideLayouts/slideLayout2.xml" Id="Ra1064e7f2fb14a35" /><Relationship Type="http://schemas.openxmlformats.org/officeDocument/2006/relationships/slideLayout" Target="/ppt/slideLayouts/slideLayout3.xml" Id="R1cf9c19a645a41ec" /><Relationship Type="http://schemas.openxmlformats.org/officeDocument/2006/relationships/slideLayout" Target="/ppt/slideLayouts/slideLayout4.xml" Id="Rfc58c1a4d2e849ed" /><Relationship Type="http://schemas.openxmlformats.org/officeDocument/2006/relationships/slideLayout" Target="/ppt/slideLayouts/slideLayout5.xml" Id="Rcc5e58a35154441c" /><Relationship Type="http://schemas.openxmlformats.org/officeDocument/2006/relationships/slideLayout" Target="/ppt/slideLayouts/slideLayout6.xml" Id="R66ab6b72f4a24e2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db3885d98ff4cdf"/>
    <p:sldLayoutId xmlns:r="http://schemas.openxmlformats.org/officeDocument/2006/relationships" id="2147483650" r:id="Ra1064e7f2fb14a35"/>
    <p:sldLayoutId xmlns:r="http://schemas.openxmlformats.org/officeDocument/2006/relationships" id="2147483651" r:id="R1cf9c19a645a41ec"/>
    <p:sldLayoutId xmlns:r="http://schemas.openxmlformats.org/officeDocument/2006/relationships" id="2147483652" r:id="Rfc58c1a4d2e849ed"/>
    <p:sldLayoutId xmlns:r="http://schemas.openxmlformats.org/officeDocument/2006/relationships" id="2147483653" r:id="Rcc5e58a35154441c"/>
    <p:sldLayoutId xmlns:r="http://schemas.openxmlformats.org/officeDocument/2006/relationships" id="2147483654" r:id="R66ab6b72f4a24e2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Helvetica Neue"/>
        <a:ea typeface=""/>
        <a:cs typeface=""/>
      </a:majorFont>
      <a:minorFont>
        <a:latin typeface="Helvetica Neue"/>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5a34ba5e1da43ab" /><Relationship Type="http://schemas.openxmlformats.org/officeDocument/2006/relationships/notesSlide" Target="/ppt/notesSlides/notesSlide1.xml" Id="Rb3aeda5d79f04db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a70b1bc3c4e4dd1" /><Relationship Type="http://schemas.openxmlformats.org/officeDocument/2006/relationships/notesSlide" Target="/ppt/notesSlides/notesSlide2.xml" Id="R0690aacb48354d86"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01fac20a31f4f87" /><Relationship Type="http://schemas.openxmlformats.org/officeDocument/2006/relationships/notesSlide" Target="/ppt/notesSlides/notesSlide3.xml" Id="R0e0bb52922c74e2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b8d1e985a924dc3" /><Relationship Type="http://schemas.openxmlformats.org/officeDocument/2006/relationships/notesSlide" Target="/ppt/notesSlides/notesSlide4.xml" Id="R0e0e691a0eda4d83"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7c7e1205efa44c7" /><Relationship Type="http://schemas.openxmlformats.org/officeDocument/2006/relationships/notesSlide" Target="/ppt/notesSlides/notesSlide5.xml" Id="Rbc497335c66e4a2c"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9ca0d95e481349d6" /><Relationship Type="http://schemas.openxmlformats.org/officeDocument/2006/relationships/notesSlide" Target="/ppt/notesSlides/notesSlide6.xml" Id="Rbdaca99149e4433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a5be18c31505458c" /><Relationship Type="http://schemas.openxmlformats.org/officeDocument/2006/relationships/notesSlide" Target="/ppt/notesSlides/notesSlide7.xml" Id="R601a37852cec4a1e"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fbb3c609855f4a73" /><Relationship Type="http://schemas.openxmlformats.org/officeDocument/2006/relationships/notesSlide" Target="/ppt/notesSlides/notesSlide8.xml" Id="R8f265d57c7b4446d"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47b5e00b84e24d83" /><Relationship Type="http://schemas.openxmlformats.org/officeDocument/2006/relationships/notesSlide" Target="/ppt/notesSlides/notesSlide9.xml" Id="R3a3c3054e2c84d0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cd27ae4727d84ca8" /><Relationship Type="http://schemas.openxmlformats.org/officeDocument/2006/relationships/notesSlide" Target="/ppt/notesSlides/notesSlide10.xml" Id="R029c0d64c2d040eb" /></Relationships>
</file>

<file path=ppt/slides/slide1.xml><?xml version="1.0" encoding="utf-8"?>
<p:sld xmlns:p="http://schemas.openxmlformats.org/presentationml/2006/main">
  <p:cSld>
    <p:bg>
      <p:bgPr>
        <a:solidFill xmlns:a="http://schemas.openxmlformats.org/drawingml/2006/main">
          <a:srgbClr val="112B36"/>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A89033B7-D441-4258-88FF-1D0C289ACF6B}"/>
              </a:ext>
            </a:extLst>
          </p:cNvPr>
          <p:cNvSpPr>
            <a:spLocks xmlns:a="http://schemas.openxmlformats.org/drawingml/2006/main" noGrp="1"/>
          </p:cNvSpPr>
          <p:nvPr/>
        </p:nvSpPr>
        <p:spPr>
          <a:xfrm xmlns:a="http://schemas.openxmlformats.org/drawingml/2006/main">
            <a:off x="609600" y="495300"/>
            <a:ext cx="1085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FFFFFF"/>
                </a:solidFill>
                <a:latin typeface="Helvetica Neue"/>
                <a:ea typeface="Helvetica Neue"/>
                <a:cs typeface="Helvetica Neue"/>
              </a:defRPr>
            </a:defPPr>
          </a:lstStyle>
          <a:p xmlns:a="http://schemas.openxmlformats.org/drawingml/2006/main">
            <a:pPr>
              <a:defRPr sz="3450" b="1">
                <a:solidFill>
                  <a:srgbClr val="FFFFFF"/>
                </a:solidFill>
                <a:latin typeface="Helvetica Neue"/>
                <a:ea typeface="Helvetica Neue"/>
                <a:cs typeface="Helvetica Neue"/>
              </a:defRPr>
            </a:pPr>
            <a:r>
              <a:rPr sz="3450" b="1">
                <a:solidFill>
                  <a:srgbClr val="FFFFFF"/>
                </a:solidFill>
                <a:latin typeface="Helvetica Neue"/>
                <a:ea typeface="Helvetica Neue"/>
                <a:cs typeface="Helvetica Neue"/>
              </a:rPr>
              <a:t>ACE uses causal mechanisms to choose experiments</a:t>
            </a:r>
          </a:p>
        </p:txBody>
      </p:sp>
      <p:sp>
        <p:nvSpPr>
          <p:cNvPr id="2" name="page">
            <a:extLst xmlns:a="http://schemas.openxmlformats.org/drawingml/2006/main">
              <a:ext uri="{FF2B5EF4-FFF2-40B4-BE49-F238E27FC236}">
                <a16:creationId xmlns:a16="http://schemas.microsoft.com/office/drawing/2014/main" id="{191C2CA7-A824-4EDD-A64E-C37A34407228}"/>
              </a:ext>
            </a:extLst>
          </p:cNvPr>
          <p:cNvSpPr>
            <a:spLocks xmlns:a="http://schemas.openxmlformats.org/drawingml/2006/main" noGrp="1"/>
          </p:cNvSpPr>
          <p:nvPr/>
        </p:nvSpPr>
        <p:spPr>
          <a:xfrm xmlns:a="http://schemas.openxmlformats.org/drawingml/2006/main">
            <a:off x="11182350" y="632460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9DD4CD"/>
                </a:solidFill>
                <a:latin typeface="Helvetica Neue"/>
                <a:ea typeface="Helvetica Neue"/>
                <a:cs typeface="Helvetica Neue"/>
              </a:defRPr>
            </a:defPPr>
          </a:lstStyle>
          <a:p xmlns:a="http://schemas.openxmlformats.org/drawingml/2006/main">
            <a:pPr>
              <a:defRPr sz="1500" b="0">
                <a:solidFill>
                  <a:srgbClr val="9DD4CD"/>
                </a:solidFill>
                <a:latin typeface="Helvetica Neue"/>
                <a:ea typeface="Helvetica Neue"/>
                <a:cs typeface="Helvetica Neue"/>
              </a:defRPr>
            </a:pPr>
            <a:r>
              <a:rPr sz="1500" b="0">
                <a:solidFill>
                  <a:srgbClr val="9DD4CD"/>
                </a:solidFill>
                <a:latin typeface="Helvetica Neue"/>
                <a:ea typeface="Helvetica Neue"/>
                <a:cs typeface="Helvetica Neue"/>
              </a:rPr>
              <a:t>01</a:t>
            </a:r>
          </a:p>
        </p:txBody>
      </p:sp>
      <p:sp>
        <p:nvSpPr>
          <p:cNvPr id="3" name="Structural causal model (SCM">
            <a:extLst xmlns:a="http://schemas.openxmlformats.org/drawingml/2006/main">
              <a:ext uri="{FF2B5EF4-FFF2-40B4-BE49-F238E27FC236}">
                <a16:creationId xmlns:a16="http://schemas.microsoft.com/office/drawing/2014/main" id="{A713D08F-EDF4-463B-AEB7-2BD262E512DD}"/>
              </a:ext>
            </a:extLst>
          </p:cNvPr>
          <p:cNvSpPr>
            <a:spLocks xmlns:a="http://schemas.openxmlformats.org/drawingml/2006/main" noGrp="1"/>
          </p:cNvSpPr>
          <p:nvPr/>
        </p:nvSpPr>
        <p:spPr>
          <a:xfrm xmlns:a="http://schemas.openxmlformats.org/drawingml/2006/main">
            <a:off x="609600" y="161925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9DD4CD"/>
                </a:solidFill>
                <a:latin typeface="Helvetica Neue"/>
                <a:ea typeface="Helvetica Neue"/>
                <a:cs typeface="Helvetica Neue"/>
              </a:defRPr>
            </a:defPPr>
          </a:lstStyle>
          <a:p xmlns:a="http://schemas.openxmlformats.org/drawingml/2006/main">
            <a:pPr>
              <a:defRPr sz="3150" b="1">
                <a:solidFill>
                  <a:srgbClr val="9DD4CD"/>
                </a:solidFill>
                <a:latin typeface="Helvetica Neue"/>
                <a:ea typeface="Helvetica Neue"/>
                <a:cs typeface="Helvetica Neue"/>
              </a:defRPr>
            </a:pPr>
            <a:r>
              <a:rPr sz="3150" b="1">
                <a:solidFill>
                  <a:srgbClr val="9DD4CD"/>
                </a:solidFill>
                <a:latin typeface="Helvetica Neue"/>
                <a:ea typeface="Helvetica Neue"/>
                <a:cs typeface="Helvetica Neue"/>
              </a:rPr>
              <a:t>Structural causal model (SCM)</a:t>
            </a:r>
          </a:p>
        </p:txBody>
      </p:sp>
      <p:sp>
        <p:nvSpPr>
          <p:cNvPr id="4" name="X  →  M  →  Y">
            <a:extLst xmlns:a="http://schemas.openxmlformats.org/drawingml/2006/main">
              <a:ext uri="{FF2B5EF4-FFF2-40B4-BE49-F238E27FC236}">
                <a16:creationId xmlns:a16="http://schemas.microsoft.com/office/drawing/2014/main" id="{B6AC8F8A-D25F-425D-9EF6-DBDA08DE5499}"/>
              </a:ext>
            </a:extLst>
          </p:cNvPr>
          <p:cNvSpPr>
            <a:spLocks xmlns:a="http://schemas.openxmlformats.org/drawingml/2006/main" noGrp="1"/>
          </p:cNvSpPr>
          <p:nvPr/>
        </p:nvSpPr>
        <p:spPr>
          <a:xfrm xmlns:a="http://schemas.openxmlformats.org/drawingml/2006/main">
            <a:off x="609600" y="2543175"/>
            <a:ext cx="1047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700" b="1">
                <a:solidFill>
                  <a:srgbClr val="FFFFFF"/>
                </a:solidFill>
                <a:latin typeface="Helvetica Neue"/>
                <a:ea typeface="Helvetica Neue"/>
                <a:cs typeface="Helvetica Neue"/>
              </a:defRPr>
            </a:defPPr>
          </a:lstStyle>
          <a:p xmlns:a="http://schemas.openxmlformats.org/drawingml/2006/main">
            <a:pPr>
              <a:defRPr sz="5700" b="1">
                <a:solidFill>
                  <a:srgbClr val="FFFFFF"/>
                </a:solidFill>
                <a:latin typeface="Helvetica Neue"/>
                <a:ea typeface="Helvetica Neue"/>
                <a:cs typeface="Helvetica Neue"/>
              </a:defRPr>
            </a:pPr>
            <a:r>
              <a:rPr sz="5700" b="1">
                <a:solidFill>
                  <a:srgbClr val="FFFFFF"/>
                </a:solidFill>
                <a:latin typeface="Helvetica Neue"/>
                <a:ea typeface="Helvetica Neue"/>
                <a:cs typeface="Helvetica Neue"/>
              </a:rPr>
              <a:t>X  →  M  →  Y</a:t>
            </a:r>
          </a:p>
        </p:txBody>
      </p:sp>
      <p:sp>
        <p:nvSpPr>
          <p:cNvPr id="5" name="Inputs">
            <a:extLst xmlns:a="http://schemas.openxmlformats.org/drawingml/2006/main">
              <a:ext uri="{FF2B5EF4-FFF2-40B4-BE49-F238E27FC236}">
                <a16:creationId xmlns:a16="http://schemas.microsoft.com/office/drawing/2014/main" id="{45EF2C04-ED6A-4F96-A034-DA39135C7640}"/>
              </a:ext>
            </a:extLst>
          </p:cNvPr>
          <p:cNvSpPr>
            <a:spLocks xmlns:a="http://schemas.openxmlformats.org/drawingml/2006/main" noGrp="1"/>
          </p:cNvSpPr>
          <p:nvPr/>
        </p:nvSpPr>
        <p:spPr>
          <a:xfrm xmlns:a="http://schemas.openxmlformats.org/drawingml/2006/main">
            <a:off x="609600" y="3952875"/>
            <a:ext cx="428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9DD4CD"/>
                </a:solidFill>
                <a:latin typeface="Helvetica Neue"/>
                <a:ea typeface="Helvetica Neue"/>
                <a:cs typeface="Helvetica Neue"/>
              </a:defRPr>
            </a:defPPr>
          </a:lstStyle>
          <a:p xmlns:a="http://schemas.openxmlformats.org/drawingml/2006/main">
            <a:pPr>
              <a:defRPr sz="2175" b="1">
                <a:solidFill>
                  <a:srgbClr val="9DD4CD"/>
                </a:solidFill>
                <a:latin typeface="Helvetica Neue"/>
                <a:ea typeface="Helvetica Neue"/>
                <a:cs typeface="Helvetica Neue"/>
              </a:defRPr>
            </a:pPr>
            <a:r>
              <a:rPr sz="2175" b="1">
                <a:solidFill>
                  <a:srgbClr val="9DD4CD"/>
                </a:solidFill>
                <a:latin typeface="Helvetica Neue"/>
                <a:ea typeface="Helvetica Neue"/>
                <a:cs typeface="Helvetica Neue"/>
              </a:rPr>
              <a:t>Inputs</a:t>
            </a:r>
          </a:p>
        </p:txBody>
      </p:sp>
      <p:sp>
        <p:nvSpPr>
          <p:cNvPr id="6" name="Observed responses&#10;Known gra">
            <a:extLst xmlns:a="http://schemas.openxmlformats.org/drawingml/2006/main">
              <a:ext uri="{FF2B5EF4-FFF2-40B4-BE49-F238E27FC236}">
                <a16:creationId xmlns:a16="http://schemas.microsoft.com/office/drawing/2014/main" id="{2A19C64A-6C82-4E6C-A710-5943420C613B}"/>
              </a:ext>
            </a:extLst>
          </p:cNvPr>
          <p:cNvSpPr>
            <a:spLocks xmlns:a="http://schemas.openxmlformats.org/drawingml/2006/main" noGrp="1"/>
          </p:cNvSpPr>
          <p:nvPr/>
        </p:nvSpPr>
        <p:spPr>
          <a:xfrm xmlns:a="http://schemas.openxmlformats.org/drawingml/2006/main">
            <a:off x="609600" y="4543425"/>
            <a:ext cx="4905375" cy="1304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FFFFFF"/>
                </a:solidFill>
                <a:latin typeface="Helvetica Neue"/>
                <a:ea typeface="Helvetica Neue"/>
                <a:cs typeface="Helvetica Neue"/>
              </a:defRPr>
            </a:defPPr>
          </a:lstStyle>
          <a:p xmlns:a="http://schemas.openxmlformats.org/drawingml/2006/main">
            <a:pPr>
              <a:defRPr sz="2250" b="0">
                <a:solidFill>
                  <a:srgbClr val="FFFFFF"/>
                </a:solidFill>
                <a:latin typeface="Helvetica Neue"/>
                <a:ea typeface="Helvetica Neue"/>
                <a:cs typeface="Helvetica Neue"/>
              </a:defRPr>
            </a:pPr>
            <a:r>
              <a:rPr sz="2250" b="0">
                <a:solidFill>
                  <a:srgbClr val="FFFFFF"/>
                </a:solidFill>
                <a:latin typeface="Helvetica Neue"/>
                <a:ea typeface="Helvetica Neue"/>
                <a:cs typeface="Helvetica Neue"/>
              </a:rPr>
              <a:t>Observed responses</a:t>
            </a:r>
          </a:p>
          <a:p xmlns:a="http://schemas.openxmlformats.org/drawingml/2006/main">
            <a:pPr>
              <a:defRPr sz="2250" b="0">
                <a:solidFill>
                  <a:srgbClr val="FFFFFF"/>
                </a:solidFill>
                <a:latin typeface="Helvetica Neue"/>
                <a:ea typeface="Helvetica Neue"/>
                <a:cs typeface="Helvetica Neue"/>
              </a:defRPr>
            </a:pPr>
            <a:r>
              <a:rPr sz="2250" b="0">
                <a:solidFill>
                  <a:srgbClr val="FFFFFF"/>
                </a:solidFill>
                <a:latin typeface="Helvetica Neue"/>
                <a:ea typeface="Helvetica Neue"/>
                <a:cs typeface="Helvetica Neue"/>
              </a:rPr>
              <a:t>Known graph and legal actions</a:t>
            </a:r>
          </a:p>
          <a:p xmlns:a="http://schemas.openxmlformats.org/drawingml/2006/main">
            <a:pPr>
              <a:defRPr sz="2250" b="0">
                <a:solidFill>
                  <a:srgbClr val="FFFFFF"/>
                </a:solidFill>
                <a:latin typeface="Helvetica Neue"/>
                <a:ea typeface="Helvetica Neue"/>
                <a:cs typeface="Helvetica Neue"/>
              </a:defRPr>
            </a:pPr>
            <a:r>
              <a:rPr sz="2250" b="0">
                <a:solidFill>
                  <a:srgbClr val="FFFFFF"/>
                </a:solidFill>
                <a:latin typeface="Helvetica Neue"/>
                <a:ea typeface="Helvetica Neue"/>
                <a:cs typeface="Helvetica Neue"/>
              </a:rPr>
              <a:t>Experiment budget</a:t>
            </a:r>
          </a:p>
        </p:txBody>
      </p:sp>
      <p:sp>
        <p:nvSpPr>
          <p:cNvPr id="7" name="Outputs">
            <a:extLst xmlns:a="http://schemas.openxmlformats.org/drawingml/2006/main">
              <a:ext uri="{FF2B5EF4-FFF2-40B4-BE49-F238E27FC236}">
                <a16:creationId xmlns:a16="http://schemas.microsoft.com/office/drawing/2014/main" id="{A618BEFE-F0AE-465B-9F7E-89C43C3D4110}"/>
              </a:ext>
            </a:extLst>
          </p:cNvPr>
          <p:cNvSpPr>
            <a:spLocks xmlns:a="http://schemas.openxmlformats.org/drawingml/2006/main" noGrp="1"/>
          </p:cNvSpPr>
          <p:nvPr/>
        </p:nvSpPr>
        <p:spPr>
          <a:xfrm xmlns:a="http://schemas.openxmlformats.org/drawingml/2006/main">
            <a:off x="6667500" y="3952875"/>
            <a:ext cx="4667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9DD4CD"/>
                </a:solidFill>
                <a:latin typeface="Helvetica Neue"/>
                <a:ea typeface="Helvetica Neue"/>
                <a:cs typeface="Helvetica Neue"/>
              </a:defRPr>
            </a:defPPr>
          </a:lstStyle>
          <a:p xmlns:a="http://schemas.openxmlformats.org/drawingml/2006/main">
            <a:pPr>
              <a:defRPr sz="2175" b="1">
                <a:solidFill>
                  <a:srgbClr val="9DD4CD"/>
                </a:solidFill>
                <a:latin typeface="Helvetica Neue"/>
                <a:ea typeface="Helvetica Neue"/>
                <a:cs typeface="Helvetica Neue"/>
              </a:defRPr>
            </a:pPr>
            <a:r>
              <a:rPr sz="2175" b="1">
                <a:solidFill>
                  <a:srgbClr val="9DD4CD"/>
                </a:solidFill>
                <a:latin typeface="Helvetica Neue"/>
                <a:ea typeface="Helvetica Neue"/>
                <a:cs typeface="Helvetica Neue"/>
              </a:rPr>
              <a:t>Outputs</a:t>
            </a:r>
          </a:p>
        </p:txBody>
      </p:sp>
      <p:sp>
        <p:nvSpPr>
          <p:cNvPr id="8" name="The next intervention&#10;Update">
            <a:extLst xmlns:a="http://schemas.openxmlformats.org/drawingml/2006/main">
              <a:ext uri="{FF2B5EF4-FFF2-40B4-BE49-F238E27FC236}">
                <a16:creationId xmlns:a16="http://schemas.microsoft.com/office/drawing/2014/main" id="{20B220D6-7477-42D2-8756-E485111B4636}"/>
              </a:ext>
            </a:extLst>
          </p:cNvPr>
          <p:cNvSpPr>
            <a:spLocks xmlns:a="http://schemas.openxmlformats.org/drawingml/2006/main" noGrp="1"/>
          </p:cNvSpPr>
          <p:nvPr/>
        </p:nvSpPr>
        <p:spPr>
          <a:xfrm xmlns:a="http://schemas.openxmlformats.org/drawingml/2006/main">
            <a:off x="6667500" y="4543425"/>
            <a:ext cx="4810125" cy="1304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FFFFFF"/>
                </a:solidFill>
                <a:latin typeface="Helvetica Neue"/>
                <a:ea typeface="Helvetica Neue"/>
                <a:cs typeface="Helvetica Neue"/>
              </a:defRPr>
            </a:defPPr>
          </a:lstStyle>
          <a:p xmlns:a="http://schemas.openxmlformats.org/drawingml/2006/main">
            <a:pPr>
              <a:defRPr sz="2250" b="0">
                <a:solidFill>
                  <a:srgbClr val="FFFFFF"/>
                </a:solidFill>
                <a:latin typeface="Helvetica Neue"/>
                <a:ea typeface="Helvetica Neue"/>
                <a:cs typeface="Helvetica Neue"/>
              </a:defRPr>
            </a:pPr>
            <a:r>
              <a:rPr sz="2250" b="0">
                <a:solidFill>
                  <a:srgbClr val="FFFFFF"/>
                </a:solidFill>
                <a:latin typeface="Helvetica Neue"/>
                <a:ea typeface="Helvetica Neue"/>
                <a:cs typeface="Helvetica Neue"/>
              </a:rPr>
              <a:t>The next intervention</a:t>
            </a:r>
          </a:p>
          <a:p xmlns:a="http://schemas.openxmlformats.org/drawingml/2006/main">
            <a:pPr>
              <a:defRPr sz="2250" b="0">
                <a:solidFill>
                  <a:srgbClr val="FFFFFF"/>
                </a:solidFill>
                <a:latin typeface="Helvetica Neue"/>
                <a:ea typeface="Helvetica Neue"/>
                <a:cs typeface="Helvetica Neue"/>
              </a:defRPr>
            </a:pPr>
            <a:r>
              <a:rPr sz="2250" b="0">
                <a:solidFill>
                  <a:srgbClr val="FFFFFF"/>
                </a:solidFill>
                <a:latin typeface="Helvetica Neue"/>
                <a:ea typeface="Helvetica Neue"/>
                <a:cs typeface="Helvetica Neue"/>
              </a:rPr>
              <a:t>Updated mechanism models</a:t>
            </a:r>
          </a:p>
          <a:p xmlns:a="http://schemas.openxmlformats.org/drawingml/2006/main">
            <a:pPr>
              <a:defRPr sz="2250" b="0">
                <a:solidFill>
                  <a:srgbClr val="FFFFFF"/>
                </a:solidFill>
                <a:latin typeface="Helvetica Neue"/>
                <a:ea typeface="Helvetica Neue"/>
                <a:cs typeface="Helvetica Neue"/>
              </a:defRPr>
            </a:pPr>
            <a:r>
              <a:rPr sz="2250" b="0">
                <a:solidFill>
                  <a:srgbClr val="FFFFFF"/>
                </a:solidFill>
                <a:latin typeface="Helvetica Neue"/>
                <a:ea typeface="Helvetica Neue"/>
                <a:cs typeface="Helvetica Neue"/>
              </a:rPr>
              <a:t>Predictions for new actions</a:t>
            </a:r>
          </a:p>
        </p:txBody>
      </p:sp>
    </p:spTree>
    <p:extLst>
      <p:ext uri="{BB962C8B-B14F-4D97-AF65-F5344CB8AC3E}">
        <p14:creationId xmlns:p14="http://schemas.microsoft.com/office/powerpoint/2010/main" val="733768487"/>
      </p:ext>
    </p:extLst>
  </p:cSld>
</p:sld>
</file>

<file path=ppt/slides/slide2.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D8A2E027-2468-4091-9D95-4AD9CE776623}"/>
              </a:ext>
            </a:extLst>
          </p:cNvPr>
          <p:cNvSpPr>
            <a:spLocks xmlns:a="http://schemas.openxmlformats.org/drawingml/2006/main" noGrp="1"/>
          </p:cNvSpPr>
          <p:nvPr/>
        </p:nvSpPr>
        <p:spPr>
          <a:xfrm xmlns:a="http://schemas.openxmlformats.org/drawingml/2006/main">
            <a:off x="609600" y="495300"/>
            <a:ext cx="1085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6313A"/>
                </a:solidFill>
                <a:latin typeface="Helvetica Neue"/>
                <a:ea typeface="Helvetica Neue"/>
                <a:cs typeface="Helvetica Neue"/>
              </a:defRPr>
            </a:defPPr>
          </a:lstStyle>
          <a:p xmlns:a="http://schemas.openxmlformats.org/drawingml/2006/main">
            <a:pPr>
              <a:defRPr sz="3450" b="1">
                <a:solidFill>
                  <a:srgbClr val="16313A"/>
                </a:solidFill>
                <a:latin typeface="Helvetica Neue"/>
                <a:ea typeface="Helvetica Neue"/>
                <a:cs typeface="Helvetica Neue"/>
              </a:defRPr>
            </a:pPr>
            <a:r>
              <a:rPr sz="3450" b="1">
                <a:solidFill>
                  <a:srgbClr val="16313A"/>
                </a:solidFill>
                <a:latin typeface="Helvetica Neue"/>
                <a:ea typeface="Helvetica Neue"/>
                <a:cs typeface="Helvetica Neue"/>
              </a:rPr>
              <a:t>Each SCM equation describes one mechanism</a:t>
            </a:r>
          </a:p>
        </p:txBody>
      </p:sp>
      <p:sp>
        <p:nvSpPr>
          <p:cNvPr id="2" name="page">
            <a:extLst xmlns:a="http://schemas.openxmlformats.org/drawingml/2006/main">
              <a:ext uri="{FF2B5EF4-FFF2-40B4-BE49-F238E27FC236}">
                <a16:creationId xmlns:a16="http://schemas.microsoft.com/office/drawing/2014/main" id="{4A1DE5B9-5C68-4EA3-970A-212D5CDF34BF}"/>
              </a:ext>
            </a:extLst>
          </p:cNvPr>
          <p:cNvSpPr>
            <a:spLocks xmlns:a="http://schemas.openxmlformats.org/drawingml/2006/main" noGrp="1"/>
          </p:cNvSpPr>
          <p:nvPr/>
        </p:nvSpPr>
        <p:spPr>
          <a:xfrm xmlns:a="http://schemas.openxmlformats.org/drawingml/2006/main">
            <a:off x="11182350" y="632460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66B"/>
                </a:solidFill>
                <a:latin typeface="Helvetica Neue"/>
                <a:ea typeface="Helvetica Neue"/>
                <a:cs typeface="Helvetica Neue"/>
              </a:defRPr>
            </a:defPPr>
          </a:lstStyle>
          <a:p xmlns:a="http://schemas.openxmlformats.org/drawingml/2006/main">
            <a:pPr>
              <a:defRPr sz="1500" b="0">
                <a:solidFill>
                  <a:srgbClr val="53666B"/>
                </a:solidFill>
                <a:latin typeface="Helvetica Neue"/>
                <a:ea typeface="Helvetica Neue"/>
                <a:cs typeface="Helvetica Neue"/>
              </a:defRPr>
            </a:pPr>
            <a:r>
              <a:rPr sz="1500" b="0">
                <a:solidFill>
                  <a:srgbClr val="53666B"/>
                </a:solidFill>
                <a:latin typeface="Helvetica Neue"/>
                <a:ea typeface="Helvetica Neue"/>
                <a:cs typeface="Helvetica Neue"/>
              </a:rPr>
              <a:t>02</a:t>
            </a:r>
          </a:p>
        </p:txBody>
      </p:sp>
      <p:sp>
        <p:nvSpPr>
          <p:cNvPr id="3" name="Xᵢ = fᵢ(Paᵢ, Uᵢ)">
            <a:extLst xmlns:a="http://schemas.openxmlformats.org/drawingml/2006/main">
              <a:ext uri="{FF2B5EF4-FFF2-40B4-BE49-F238E27FC236}">
                <a16:creationId xmlns:a16="http://schemas.microsoft.com/office/drawing/2014/main" id="{8FDE30A5-775E-4B5E-A9A6-270CB05A7AF5}"/>
              </a:ext>
            </a:extLst>
          </p:cNvPr>
          <p:cNvSpPr>
            <a:spLocks xmlns:a="http://schemas.openxmlformats.org/drawingml/2006/main" noGrp="1"/>
          </p:cNvSpPr>
          <p:nvPr/>
        </p:nvSpPr>
        <p:spPr>
          <a:xfrm xmlns:a="http://schemas.openxmlformats.org/drawingml/2006/main">
            <a:off x="609600" y="1628775"/>
            <a:ext cx="10477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950" b="1">
                <a:solidFill>
                  <a:srgbClr val="087F83"/>
                </a:solidFill>
                <a:latin typeface="Helvetica Neue"/>
                <a:ea typeface="Helvetica Neue"/>
                <a:cs typeface="Helvetica Neue"/>
              </a:defRPr>
            </a:defPPr>
          </a:lstStyle>
          <a:p xmlns:a="http://schemas.openxmlformats.org/drawingml/2006/main">
            <a:pPr>
              <a:defRPr sz="4950" b="1">
                <a:solidFill>
                  <a:srgbClr val="087F83"/>
                </a:solidFill>
                <a:latin typeface="Helvetica Neue"/>
                <a:ea typeface="Helvetica Neue"/>
                <a:cs typeface="Helvetica Neue"/>
              </a:defRPr>
            </a:pPr>
            <a:r>
              <a:rPr sz="4950" b="1">
                <a:solidFill>
                  <a:srgbClr val="087F83"/>
                </a:solidFill>
                <a:latin typeface="Helvetica Neue"/>
                <a:ea typeface="Helvetica Neue"/>
                <a:cs typeface="Helvetica Neue"/>
              </a:rPr>
              <a:t>Xᵢ = fᵢ(Paᵢ, Uᵢ)</a:t>
            </a:r>
          </a:p>
        </p:txBody>
      </p:sp>
      <p:sp>
        <p:nvSpPr>
          <p:cNvPr id="4" name="Parents Paᵢ supply inputs. U">
            <a:extLst xmlns:a="http://schemas.openxmlformats.org/drawingml/2006/main">
              <a:ext uri="{FF2B5EF4-FFF2-40B4-BE49-F238E27FC236}">
                <a16:creationId xmlns:a16="http://schemas.microsoft.com/office/drawing/2014/main" id="{8337D130-769E-445C-B04D-9A7B02CFFE4E}"/>
              </a:ext>
            </a:extLst>
          </p:cNvPr>
          <p:cNvSpPr>
            <a:spLocks xmlns:a="http://schemas.openxmlformats.org/drawingml/2006/main" noGrp="1"/>
          </p:cNvSpPr>
          <p:nvPr/>
        </p:nvSpPr>
        <p:spPr>
          <a:xfrm xmlns:a="http://schemas.openxmlformats.org/drawingml/2006/main">
            <a:off x="609600" y="2752725"/>
            <a:ext cx="10477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16313A"/>
                </a:solidFill>
                <a:latin typeface="Helvetica Neue"/>
                <a:ea typeface="Helvetica Neue"/>
                <a:cs typeface="Helvetica Neue"/>
              </a:defRPr>
            </a:defPPr>
          </a:lstStyle>
          <a:p xmlns:a="http://schemas.openxmlformats.org/drawingml/2006/main">
            <a:pPr>
              <a:defRPr sz="2325" b="0">
                <a:solidFill>
                  <a:srgbClr val="16313A"/>
                </a:solidFill>
                <a:latin typeface="Helvetica Neue"/>
                <a:ea typeface="Helvetica Neue"/>
                <a:cs typeface="Helvetica Neue"/>
              </a:defRPr>
            </a:pPr>
            <a:r>
              <a:rPr sz="2325" b="0">
                <a:solidFill>
                  <a:srgbClr val="16313A"/>
                </a:solidFill>
                <a:latin typeface="Helvetica Neue"/>
                <a:ea typeface="Helvetica Neue"/>
                <a:cs typeface="Helvetica Neue"/>
              </a:rPr>
              <a:t>Parents Paᵢ supply inputs. Uᵢ represents outside influences.</a:t>
            </a:r>
          </a:p>
        </p:txBody>
      </p:sp>
      <p:sp>
        <p:nvSpPr>
          <p:cNvPr id="5" name="X  →  M  →  Y">
            <a:extLst xmlns:a="http://schemas.openxmlformats.org/drawingml/2006/main">
              <a:ext uri="{FF2B5EF4-FFF2-40B4-BE49-F238E27FC236}">
                <a16:creationId xmlns:a16="http://schemas.microsoft.com/office/drawing/2014/main" id="{C1EE1D8A-0270-40C7-AF14-F7ACCBC57FCE}"/>
              </a:ext>
            </a:extLst>
          </p:cNvPr>
          <p:cNvSpPr>
            <a:spLocks xmlns:a="http://schemas.openxmlformats.org/drawingml/2006/main" noGrp="1"/>
          </p:cNvSpPr>
          <p:nvPr/>
        </p:nvSpPr>
        <p:spPr>
          <a:xfrm xmlns:a="http://schemas.openxmlformats.org/drawingml/2006/main">
            <a:off x="609600" y="3876675"/>
            <a:ext cx="5715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500" b="1">
                <a:solidFill>
                  <a:srgbClr val="16313A"/>
                </a:solidFill>
                <a:latin typeface="Helvetica Neue"/>
                <a:ea typeface="Helvetica Neue"/>
                <a:cs typeface="Helvetica Neue"/>
              </a:defRPr>
            </a:defPPr>
          </a:lstStyle>
          <a:p xmlns:a="http://schemas.openxmlformats.org/drawingml/2006/main">
            <a:pPr>
              <a:defRPr sz="4500" b="1">
                <a:solidFill>
                  <a:srgbClr val="16313A"/>
                </a:solidFill>
                <a:latin typeface="Helvetica Neue"/>
                <a:ea typeface="Helvetica Neue"/>
                <a:cs typeface="Helvetica Neue"/>
              </a:defRPr>
            </a:pPr>
            <a:r>
              <a:rPr sz="4500" b="1">
                <a:solidFill>
                  <a:srgbClr val="16313A"/>
                </a:solidFill>
                <a:latin typeface="Helvetica Neue"/>
                <a:ea typeface="Helvetica Neue"/>
                <a:cs typeface="Helvetica Neue"/>
              </a:rPr>
              <a:t>X  →  M  →  Y</a:t>
            </a:r>
          </a:p>
        </p:txBody>
      </p:sp>
      <p:sp>
        <p:nvSpPr>
          <p:cNvPr id="6" name="M = 2.5X&#10;Y = 3M">
            <a:extLst xmlns:a="http://schemas.openxmlformats.org/drawingml/2006/main">
              <a:ext uri="{FF2B5EF4-FFF2-40B4-BE49-F238E27FC236}">
                <a16:creationId xmlns:a16="http://schemas.microsoft.com/office/drawing/2014/main" id="{23769870-27FA-4FF6-A02C-875668133A17}"/>
              </a:ext>
            </a:extLst>
          </p:cNvPr>
          <p:cNvSpPr>
            <a:spLocks xmlns:a="http://schemas.openxmlformats.org/drawingml/2006/main" noGrp="1"/>
          </p:cNvSpPr>
          <p:nvPr/>
        </p:nvSpPr>
        <p:spPr>
          <a:xfrm xmlns:a="http://schemas.openxmlformats.org/drawingml/2006/main">
            <a:off x="7829550" y="3714750"/>
            <a:ext cx="3476625" cy="1314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150" b="1">
                <a:solidFill>
                  <a:srgbClr val="087F83"/>
                </a:solidFill>
                <a:latin typeface="Helvetica Neue"/>
                <a:ea typeface="Helvetica Neue"/>
                <a:cs typeface="Helvetica Neue"/>
              </a:defRPr>
            </a:defPPr>
          </a:lstStyle>
          <a:p xmlns:a="http://schemas.openxmlformats.org/drawingml/2006/main">
            <a:pPr>
              <a:defRPr sz="3150" b="1">
                <a:solidFill>
                  <a:srgbClr val="087F83"/>
                </a:solidFill>
                <a:latin typeface="Helvetica Neue"/>
                <a:ea typeface="Helvetica Neue"/>
                <a:cs typeface="Helvetica Neue"/>
              </a:defRPr>
            </a:pPr>
            <a:r>
              <a:rPr sz="3150" b="1">
                <a:solidFill>
                  <a:srgbClr val="087F83"/>
                </a:solidFill>
                <a:latin typeface="Helvetica Neue"/>
                <a:ea typeface="Helvetica Neue"/>
                <a:cs typeface="Helvetica Neue"/>
              </a:rPr>
              <a:t>M = 2.5X</a:t>
            </a:r>
          </a:p>
          <a:p xmlns:a="http://schemas.openxmlformats.org/drawingml/2006/main">
            <a:pPr>
              <a:defRPr sz="3150" b="1">
                <a:solidFill>
                  <a:srgbClr val="087F83"/>
                </a:solidFill>
                <a:latin typeface="Helvetica Neue"/>
                <a:ea typeface="Helvetica Neue"/>
                <a:cs typeface="Helvetica Neue"/>
              </a:defRPr>
            </a:pPr>
            <a:r>
              <a:rPr sz="3150" b="1">
                <a:solidFill>
                  <a:srgbClr val="087F83"/>
                </a:solidFill>
                <a:latin typeface="Helvetica Neue"/>
                <a:ea typeface="Helvetica Neue"/>
                <a:cs typeface="Helvetica Neue"/>
              </a:rPr>
              <a:t>Y = 3M</a:t>
            </a:r>
          </a:p>
        </p:txBody>
      </p:sp>
      <p:sp>
        <p:nvSpPr>
          <p:cNvPr id="7" name="Worked example: known graph,">
            <a:extLst xmlns:a="http://schemas.openxmlformats.org/drawingml/2006/main">
              <a:ext uri="{FF2B5EF4-FFF2-40B4-BE49-F238E27FC236}">
                <a16:creationId xmlns:a16="http://schemas.microsoft.com/office/drawing/2014/main" id="{73E5F528-9148-46A3-9D07-51B2F24966CE}"/>
              </a:ext>
            </a:extLst>
          </p:cNvPr>
          <p:cNvSpPr>
            <a:spLocks xmlns:a="http://schemas.openxmlformats.org/drawingml/2006/main" noGrp="1"/>
          </p:cNvSpPr>
          <p:nvPr/>
        </p:nvSpPr>
        <p:spPr>
          <a:xfrm xmlns:a="http://schemas.openxmlformats.org/drawingml/2006/main">
            <a:off x="609600" y="5905500"/>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3666B"/>
                </a:solidFill>
                <a:latin typeface="Helvetica Neue"/>
                <a:ea typeface="Helvetica Neue"/>
                <a:cs typeface="Helvetica Neue"/>
              </a:defRPr>
            </a:defPPr>
          </a:lstStyle>
          <a:p xmlns:a="http://schemas.openxmlformats.org/drawingml/2006/main">
            <a:pPr>
              <a:defRPr sz="1650" b="0">
                <a:solidFill>
                  <a:srgbClr val="53666B"/>
                </a:solidFill>
                <a:latin typeface="Helvetica Neue"/>
                <a:ea typeface="Helvetica Neue"/>
                <a:cs typeface="Helvetica Neue"/>
              </a:defRPr>
            </a:pPr>
            <a:r>
              <a:rPr sz="1650" b="0">
                <a:solidFill>
                  <a:srgbClr val="53666B"/>
                </a:solidFill>
                <a:latin typeface="Helvetica Neue"/>
                <a:ea typeface="Helvetica Neue"/>
                <a:cs typeface="Helvetica Neue"/>
              </a:rPr>
              <a:t>Worked example: known graph, unknown slopes, zero disturbances and dimensionless values.</a:t>
            </a:r>
          </a:p>
        </p:txBody>
      </p:sp>
    </p:spTree>
    <p:extLst>
      <p:ext uri="{BB962C8B-B14F-4D97-AF65-F5344CB8AC3E}">
        <p14:creationId xmlns:p14="http://schemas.microsoft.com/office/powerpoint/2010/main" val="13224273"/>
      </p:ext>
    </p:extLst>
  </p:cSld>
</p:sld>
</file>

<file path=ppt/slides/slide3.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B0D3BF7B-3B99-44A2-B870-E740FD802099}"/>
              </a:ext>
            </a:extLst>
          </p:cNvPr>
          <p:cNvSpPr>
            <a:spLocks xmlns:a="http://schemas.openxmlformats.org/drawingml/2006/main" noGrp="1"/>
          </p:cNvSpPr>
          <p:nvPr/>
        </p:nvSpPr>
        <p:spPr>
          <a:xfrm xmlns:a="http://schemas.openxmlformats.org/drawingml/2006/main">
            <a:off x="609600" y="495300"/>
            <a:ext cx="1085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6313A"/>
                </a:solidFill>
                <a:latin typeface="Helvetica Neue"/>
                <a:ea typeface="Helvetica Neue"/>
                <a:cs typeface="Helvetica Neue"/>
              </a:defRPr>
            </a:defPPr>
          </a:lstStyle>
          <a:p xmlns:a="http://schemas.openxmlformats.org/drawingml/2006/main">
            <a:pPr>
              <a:defRPr sz="3450" b="1">
                <a:solidFill>
                  <a:srgbClr val="16313A"/>
                </a:solidFill>
                <a:latin typeface="Helvetica Neue"/>
                <a:ea typeface="Helvetica Neue"/>
                <a:cs typeface="Helvetica Neue"/>
              </a:defRPr>
            </a:pPr>
            <a:r>
              <a:rPr sz="3450" b="1">
                <a:solidFill>
                  <a:srgbClr val="16313A"/>
                </a:solidFill>
                <a:latin typeface="Helvetica Neue"/>
                <a:ea typeface="Helvetica Neue"/>
                <a:cs typeface="Helvetica Neue"/>
              </a:rPr>
              <a:t>An intervention replaces one mechanism</a:t>
            </a:r>
          </a:p>
        </p:txBody>
      </p:sp>
      <p:sp>
        <p:nvSpPr>
          <p:cNvPr id="2" name="page">
            <a:extLst xmlns:a="http://schemas.openxmlformats.org/drawingml/2006/main">
              <a:ext uri="{FF2B5EF4-FFF2-40B4-BE49-F238E27FC236}">
                <a16:creationId xmlns:a16="http://schemas.microsoft.com/office/drawing/2014/main" id="{E43F818E-DC9D-4FEE-8ACF-495E0BDB6AE9}"/>
              </a:ext>
            </a:extLst>
          </p:cNvPr>
          <p:cNvSpPr>
            <a:spLocks xmlns:a="http://schemas.openxmlformats.org/drawingml/2006/main" noGrp="1"/>
          </p:cNvSpPr>
          <p:nvPr/>
        </p:nvSpPr>
        <p:spPr>
          <a:xfrm xmlns:a="http://schemas.openxmlformats.org/drawingml/2006/main">
            <a:off x="11182350" y="632460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66B"/>
                </a:solidFill>
                <a:latin typeface="Helvetica Neue"/>
                <a:ea typeface="Helvetica Neue"/>
                <a:cs typeface="Helvetica Neue"/>
              </a:defRPr>
            </a:defPPr>
          </a:lstStyle>
          <a:p xmlns:a="http://schemas.openxmlformats.org/drawingml/2006/main">
            <a:pPr>
              <a:defRPr sz="1500" b="0">
                <a:solidFill>
                  <a:srgbClr val="53666B"/>
                </a:solidFill>
                <a:latin typeface="Helvetica Neue"/>
                <a:ea typeface="Helvetica Neue"/>
                <a:cs typeface="Helvetica Neue"/>
              </a:defRPr>
            </a:pPr>
            <a:r>
              <a:rPr sz="1500" b="0">
                <a:solidFill>
                  <a:srgbClr val="53666B"/>
                </a:solidFill>
                <a:latin typeface="Helvetica Neue"/>
                <a:ea typeface="Helvetica Neue"/>
                <a:cs typeface="Helvetica Neue"/>
              </a:rPr>
              <a:t>03</a:t>
            </a:r>
          </a:p>
        </p:txBody>
      </p:sp>
      <p:sp>
        <p:nvSpPr>
          <p:cNvPr id="3" name="Ordinary system">
            <a:extLst xmlns:a="http://schemas.openxmlformats.org/drawingml/2006/main">
              <a:ext uri="{FF2B5EF4-FFF2-40B4-BE49-F238E27FC236}">
                <a16:creationId xmlns:a16="http://schemas.microsoft.com/office/drawing/2014/main" id="{94CE31A5-5DDA-40C7-94DE-42E24424E419}"/>
              </a:ext>
            </a:extLst>
          </p:cNvPr>
          <p:cNvSpPr>
            <a:spLocks xmlns:a="http://schemas.openxmlformats.org/drawingml/2006/main" noGrp="1"/>
          </p:cNvSpPr>
          <p:nvPr/>
        </p:nvSpPr>
        <p:spPr>
          <a:xfrm xmlns:a="http://schemas.openxmlformats.org/drawingml/2006/main">
            <a:off x="609600" y="1609725"/>
            <a:ext cx="5238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0">
                <a:solidFill>
                  <a:srgbClr val="53666B"/>
                </a:solidFill>
                <a:latin typeface="Helvetica Neue"/>
                <a:ea typeface="Helvetica Neue"/>
                <a:cs typeface="Helvetica Neue"/>
              </a:defRPr>
            </a:defPPr>
          </a:lstStyle>
          <a:p xmlns:a="http://schemas.openxmlformats.org/drawingml/2006/main">
            <a:pPr>
              <a:defRPr sz="2325" b="0">
                <a:solidFill>
                  <a:srgbClr val="53666B"/>
                </a:solidFill>
                <a:latin typeface="Helvetica Neue"/>
                <a:ea typeface="Helvetica Neue"/>
                <a:cs typeface="Helvetica Neue"/>
              </a:defRPr>
            </a:pPr>
            <a:r>
              <a:rPr sz="2325" b="0">
                <a:solidFill>
                  <a:srgbClr val="53666B"/>
                </a:solidFill>
                <a:latin typeface="Helvetica Neue"/>
                <a:ea typeface="Helvetica Neue"/>
                <a:cs typeface="Helvetica Neue"/>
              </a:rPr>
              <a:t>Ordinary system</a:t>
            </a:r>
          </a:p>
        </p:txBody>
      </p:sp>
      <p:sp>
        <p:nvSpPr>
          <p:cNvPr id="4" name="X  →  M  →  Y">
            <a:extLst xmlns:a="http://schemas.openxmlformats.org/drawingml/2006/main">
              <a:ext uri="{FF2B5EF4-FFF2-40B4-BE49-F238E27FC236}">
                <a16:creationId xmlns:a16="http://schemas.microsoft.com/office/drawing/2014/main" id="{8EEF581E-2645-43A2-93C6-B739F479478A}"/>
              </a:ext>
            </a:extLst>
          </p:cNvPr>
          <p:cNvSpPr>
            <a:spLocks xmlns:a="http://schemas.openxmlformats.org/drawingml/2006/main" noGrp="1"/>
          </p:cNvSpPr>
          <p:nvPr/>
        </p:nvSpPr>
        <p:spPr>
          <a:xfrm xmlns:a="http://schemas.openxmlformats.org/drawingml/2006/main">
            <a:off x="609600" y="2400300"/>
            <a:ext cx="6286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200" b="1">
                <a:solidFill>
                  <a:srgbClr val="16313A"/>
                </a:solidFill>
                <a:latin typeface="Helvetica Neue"/>
                <a:ea typeface="Helvetica Neue"/>
                <a:cs typeface="Helvetica Neue"/>
              </a:defRPr>
            </a:defPPr>
          </a:lstStyle>
          <a:p xmlns:a="http://schemas.openxmlformats.org/drawingml/2006/main">
            <a:pPr>
              <a:defRPr sz="4200" b="1">
                <a:solidFill>
                  <a:srgbClr val="16313A"/>
                </a:solidFill>
                <a:latin typeface="Helvetica Neue"/>
                <a:ea typeface="Helvetica Neue"/>
                <a:cs typeface="Helvetica Neue"/>
              </a:defRPr>
            </a:pPr>
            <a:r>
              <a:rPr sz="4200" b="1">
                <a:solidFill>
                  <a:srgbClr val="16313A"/>
                </a:solidFill>
                <a:latin typeface="Helvetica Neue"/>
                <a:ea typeface="Helvetica Neue"/>
                <a:cs typeface="Helvetica Neue"/>
              </a:rPr>
              <a:t>X  →  M  →  Y</a:t>
            </a:r>
          </a:p>
        </p:txBody>
      </p:sp>
      <p:sp>
        <p:nvSpPr>
          <p:cNvPr id="5" name="Experiment: do(M = 1)">
            <a:extLst xmlns:a="http://schemas.openxmlformats.org/drawingml/2006/main">
              <a:ext uri="{FF2B5EF4-FFF2-40B4-BE49-F238E27FC236}">
                <a16:creationId xmlns:a16="http://schemas.microsoft.com/office/drawing/2014/main" id="{F404B10D-687A-49F6-B8ED-B522DD0CA366}"/>
              </a:ext>
            </a:extLst>
          </p:cNvPr>
          <p:cNvSpPr>
            <a:spLocks xmlns:a="http://schemas.openxmlformats.org/drawingml/2006/main" noGrp="1"/>
          </p:cNvSpPr>
          <p:nvPr/>
        </p:nvSpPr>
        <p:spPr>
          <a:xfrm xmlns:a="http://schemas.openxmlformats.org/drawingml/2006/main">
            <a:off x="609600" y="3705225"/>
            <a:ext cx="61912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087F83"/>
                </a:solidFill>
                <a:latin typeface="Helvetica Neue"/>
                <a:ea typeface="Helvetica Neue"/>
                <a:cs typeface="Helvetica Neue"/>
              </a:defRPr>
            </a:defPPr>
          </a:lstStyle>
          <a:p xmlns:a="http://schemas.openxmlformats.org/drawingml/2006/main">
            <a:pPr>
              <a:defRPr sz="2700" b="1">
                <a:solidFill>
                  <a:srgbClr val="087F83"/>
                </a:solidFill>
                <a:latin typeface="Helvetica Neue"/>
                <a:ea typeface="Helvetica Neue"/>
                <a:cs typeface="Helvetica Neue"/>
              </a:defRPr>
            </a:pPr>
            <a:r>
              <a:rPr sz="2700" b="1">
                <a:solidFill>
                  <a:srgbClr val="087F83"/>
                </a:solidFill>
                <a:latin typeface="Helvetica Neue"/>
                <a:ea typeface="Helvetica Neue"/>
                <a:cs typeface="Helvetica Neue"/>
              </a:rPr>
              <a:t>Experiment: do(M = 1)</a:t>
            </a:r>
          </a:p>
        </p:txBody>
      </p:sp>
      <p:sp>
        <p:nvSpPr>
          <p:cNvPr id="6" name="X       M = 1  →  Y">
            <a:extLst xmlns:a="http://schemas.openxmlformats.org/drawingml/2006/main">
              <a:ext uri="{FF2B5EF4-FFF2-40B4-BE49-F238E27FC236}">
                <a16:creationId xmlns:a16="http://schemas.microsoft.com/office/drawing/2014/main" id="{16BF56FC-3458-4A94-A37E-D3830553B986}"/>
              </a:ext>
            </a:extLst>
          </p:cNvPr>
          <p:cNvSpPr>
            <a:spLocks xmlns:a="http://schemas.openxmlformats.org/drawingml/2006/main" noGrp="1"/>
          </p:cNvSpPr>
          <p:nvPr/>
        </p:nvSpPr>
        <p:spPr>
          <a:xfrm xmlns:a="http://schemas.openxmlformats.org/drawingml/2006/main">
            <a:off x="609600" y="4552950"/>
            <a:ext cx="67437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750" b="1">
                <a:solidFill>
                  <a:srgbClr val="087F83"/>
                </a:solidFill>
                <a:latin typeface="Helvetica Neue"/>
                <a:ea typeface="Helvetica Neue"/>
                <a:cs typeface="Helvetica Neue"/>
              </a:defRPr>
            </a:defPPr>
          </a:lstStyle>
          <a:p xmlns:a="http://schemas.openxmlformats.org/drawingml/2006/main">
            <a:pPr>
              <a:defRPr sz="3750" b="1">
                <a:solidFill>
                  <a:srgbClr val="087F83"/>
                </a:solidFill>
                <a:latin typeface="Helvetica Neue"/>
                <a:ea typeface="Helvetica Neue"/>
                <a:cs typeface="Helvetica Neue"/>
              </a:defRPr>
            </a:pPr>
            <a:r>
              <a:rPr sz="3750" b="1">
                <a:solidFill>
                  <a:srgbClr val="087F83"/>
                </a:solidFill>
                <a:latin typeface="Helvetica Neue"/>
                <a:ea typeface="Helvetica Neue"/>
                <a:cs typeface="Helvetica Neue"/>
              </a:rPr>
              <a:t>X       M = 1  →  Y</a:t>
            </a:r>
          </a:p>
        </p:txBody>
      </p:sp>
      <p:sp>
        <p:nvSpPr>
          <p:cNvPr id="7" name="Learn Y from measured M&#10;&#10;Exc">
            <a:extLst xmlns:a="http://schemas.openxmlformats.org/drawingml/2006/main">
              <a:ext uri="{FF2B5EF4-FFF2-40B4-BE49-F238E27FC236}">
                <a16:creationId xmlns:a16="http://schemas.microsoft.com/office/drawing/2014/main" id="{CD71FC66-C2F0-42BB-8881-2FA690088B84}"/>
              </a:ext>
            </a:extLst>
          </p:cNvPr>
          <p:cNvSpPr>
            <a:spLocks xmlns:a="http://schemas.openxmlformats.org/drawingml/2006/main" noGrp="1"/>
          </p:cNvSpPr>
          <p:nvPr/>
        </p:nvSpPr>
        <p:spPr>
          <a:xfrm xmlns:a="http://schemas.openxmlformats.org/drawingml/2006/main">
            <a:off x="7858125" y="2428875"/>
            <a:ext cx="3609975" cy="2152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6313A"/>
                </a:solidFill>
                <a:latin typeface="Helvetica Neue"/>
                <a:ea typeface="Helvetica Neue"/>
                <a:cs typeface="Helvetica Neue"/>
              </a:defRPr>
            </a:defPPr>
          </a:lstStyle>
          <a:p xmlns:a="http://schemas.openxmlformats.org/drawingml/2006/main">
            <a:pPr>
              <a:defRPr sz="2250" b="0">
                <a:solidFill>
                  <a:srgbClr val="16313A"/>
                </a:solidFill>
                <a:latin typeface="Helvetica Neue"/>
                <a:ea typeface="Helvetica Neue"/>
                <a:cs typeface="Helvetica Neue"/>
              </a:defRPr>
            </a:pPr>
            <a:r>
              <a:rPr sz="2250" b="0">
                <a:solidFill>
                  <a:srgbClr val="16313A"/>
                </a:solidFill>
                <a:latin typeface="Helvetica Neue"/>
                <a:ea typeface="Helvetica Neue"/>
                <a:cs typeface="Helvetica Neue"/>
              </a:rPr>
              <a:t>Learn Y from measured M</a:t>
            </a:r>
          </a:p>
          <a:p xmlns:a="http://schemas.openxmlformats.org/drawingml/2006/main">
            <a:r>
              <a:t/>
            </a:r>
          </a:p>
          <a:p xmlns:a="http://schemas.openxmlformats.org/drawingml/2006/main">
            <a:pPr>
              <a:defRPr sz="2250" b="0">
                <a:solidFill>
                  <a:srgbClr val="16313A"/>
                </a:solidFill>
                <a:latin typeface="Helvetica Neue"/>
                <a:ea typeface="Helvetica Neue"/>
                <a:cs typeface="Helvetica Neue"/>
              </a:defRPr>
            </a:pPr>
            <a:r>
              <a:rPr sz="2250" b="0">
                <a:solidFill>
                  <a:srgbClr val="16313A"/>
                </a:solidFill>
                <a:latin typeface="Helvetica Neue"/>
                <a:ea typeface="Helvetica Neue"/>
                <a:cs typeface="Helvetica Neue"/>
              </a:rPr>
              <a:t>Exclude the clamped M label</a:t>
            </a:r>
          </a:p>
        </p:txBody>
      </p:sp>
      <p:sp>
        <p:nvSpPr>
          <p:cNvPr id="8" name="One paid response can train ">
            <a:extLst xmlns:a="http://schemas.openxmlformats.org/drawingml/2006/main">
              <a:ext uri="{FF2B5EF4-FFF2-40B4-BE49-F238E27FC236}">
                <a16:creationId xmlns:a16="http://schemas.microsoft.com/office/drawing/2014/main" id="{68235F17-B736-4B38-B679-F215DB999FE7}"/>
              </a:ext>
            </a:extLst>
          </p:cNvPr>
          <p:cNvSpPr>
            <a:spLocks xmlns:a="http://schemas.openxmlformats.org/drawingml/2006/main" noGrp="1"/>
          </p:cNvSpPr>
          <p:nvPr/>
        </p:nvSpPr>
        <p:spPr>
          <a:xfrm xmlns:a="http://schemas.openxmlformats.org/drawingml/2006/main">
            <a:off x="609600" y="5905500"/>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3666B"/>
                </a:solidFill>
                <a:latin typeface="Helvetica Neue"/>
                <a:ea typeface="Helvetica Neue"/>
                <a:cs typeface="Helvetica Neue"/>
              </a:defRPr>
            </a:defPPr>
          </a:lstStyle>
          <a:p xmlns:a="http://schemas.openxmlformats.org/drawingml/2006/main">
            <a:pPr>
              <a:defRPr sz="1650" b="0">
                <a:solidFill>
                  <a:srgbClr val="53666B"/>
                </a:solidFill>
                <a:latin typeface="Helvetica Neue"/>
                <a:ea typeface="Helvetica Neue"/>
                <a:cs typeface="Helvetica Neue"/>
              </a:defRPr>
            </a:pPr>
            <a:r>
              <a:rPr sz="1650" b="0">
                <a:solidFill>
                  <a:srgbClr val="53666B"/>
                </a:solidFill>
                <a:latin typeface="Helvetica Neue"/>
                <a:ea typeface="Helvetica Neue"/>
                <a:cs typeface="Helvetica Neue"/>
              </a:rPr>
              <a:t>One paid response can train several natural mechanisms. It is still one paid response.</a:t>
            </a:r>
          </a:p>
        </p:txBody>
      </p:sp>
    </p:spTree>
    <p:extLst>
      <p:ext uri="{BB962C8B-B14F-4D97-AF65-F5344CB8AC3E}">
        <p14:creationId xmlns:p14="http://schemas.microsoft.com/office/powerpoint/2010/main" val="518063978"/>
      </p:ext>
    </p:extLst>
  </p:cSld>
</p:sld>
</file>

<file path=ppt/slides/slide4.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3C7097EE-798B-4849-BF03-E0500867D792}"/>
              </a:ext>
            </a:extLst>
          </p:cNvPr>
          <p:cNvSpPr>
            <a:spLocks xmlns:a="http://schemas.openxmlformats.org/drawingml/2006/main" noGrp="1"/>
          </p:cNvSpPr>
          <p:nvPr/>
        </p:nvSpPr>
        <p:spPr>
          <a:xfrm xmlns:a="http://schemas.openxmlformats.org/drawingml/2006/main">
            <a:off x="609600" y="495300"/>
            <a:ext cx="1085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6313A"/>
                </a:solidFill>
                <a:latin typeface="Helvetica Neue"/>
                <a:ea typeface="Helvetica Neue"/>
                <a:cs typeface="Helvetica Neue"/>
              </a:defRPr>
            </a:defPPr>
          </a:lstStyle>
          <a:p xmlns:a="http://schemas.openxmlformats.org/drawingml/2006/main">
            <a:pPr>
              <a:defRPr sz="3450" b="1">
                <a:solidFill>
                  <a:srgbClr val="16313A"/>
                </a:solidFill>
                <a:latin typeface="Helvetica Neue"/>
                <a:ea typeface="Helvetica Neue"/>
                <a:cs typeface="Helvetica Neue"/>
              </a:defRPr>
            </a:pPr>
            <a:r>
              <a:rPr sz="3450" b="1">
                <a:solidFill>
                  <a:srgbClr val="16313A"/>
                </a:solidFill>
                <a:latin typeface="Helvetica Neue"/>
                <a:ea typeface="Helvetica Neue"/>
                <a:cs typeface="Helvetica Neue"/>
              </a:rPr>
              <a:t>Candidate experiments receive numerical scores</a:t>
            </a:r>
          </a:p>
        </p:txBody>
      </p:sp>
      <p:sp>
        <p:nvSpPr>
          <p:cNvPr id="2" name="page">
            <a:extLst xmlns:a="http://schemas.openxmlformats.org/drawingml/2006/main">
              <a:ext uri="{FF2B5EF4-FFF2-40B4-BE49-F238E27FC236}">
                <a16:creationId xmlns:a16="http://schemas.microsoft.com/office/drawing/2014/main" id="{8779BF32-4E0B-4981-AD0F-BBC856B8D8A3}"/>
              </a:ext>
            </a:extLst>
          </p:cNvPr>
          <p:cNvSpPr>
            <a:spLocks xmlns:a="http://schemas.openxmlformats.org/drawingml/2006/main" noGrp="1"/>
          </p:cNvSpPr>
          <p:nvPr/>
        </p:nvSpPr>
        <p:spPr>
          <a:xfrm xmlns:a="http://schemas.openxmlformats.org/drawingml/2006/main">
            <a:off x="11182350" y="632460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66B"/>
                </a:solidFill>
                <a:latin typeface="Helvetica Neue"/>
                <a:ea typeface="Helvetica Neue"/>
                <a:cs typeface="Helvetica Neue"/>
              </a:defRPr>
            </a:defPPr>
          </a:lstStyle>
          <a:p xmlns:a="http://schemas.openxmlformats.org/drawingml/2006/main">
            <a:pPr>
              <a:defRPr sz="1500" b="0">
                <a:solidFill>
                  <a:srgbClr val="53666B"/>
                </a:solidFill>
                <a:latin typeface="Helvetica Neue"/>
                <a:ea typeface="Helvetica Neue"/>
                <a:cs typeface="Helvetica Neue"/>
              </a:defRPr>
            </a:pPr>
            <a:r>
              <a:rPr sz="1500" b="0">
                <a:solidFill>
                  <a:srgbClr val="53666B"/>
                </a:solidFill>
                <a:latin typeface="Helvetica Neue"/>
                <a:ea typeface="Helvetica Neue"/>
                <a:cs typeface="Helvetica Neue"/>
              </a:rPr>
              <a:t>04</a:t>
            </a:r>
          </a:p>
        </p:txBody>
      </p:sp>
      <p:sp>
        <p:nvSpPr>
          <p:cNvPr id="3" name="1  Simulate each legal inter">
            <a:extLst xmlns:a="http://schemas.openxmlformats.org/drawingml/2006/main">
              <a:ext uri="{FF2B5EF4-FFF2-40B4-BE49-F238E27FC236}">
                <a16:creationId xmlns:a16="http://schemas.microsoft.com/office/drawing/2014/main" id="{687B4C17-8929-42CF-BD45-DC2980EBF9A6}"/>
              </a:ext>
            </a:extLst>
          </p:cNvPr>
          <p:cNvSpPr>
            <a:spLocks xmlns:a="http://schemas.openxmlformats.org/drawingml/2006/main" noGrp="1"/>
          </p:cNvSpPr>
          <p:nvPr/>
        </p:nvSpPr>
        <p:spPr>
          <a:xfrm xmlns:a="http://schemas.openxmlformats.org/drawingml/2006/main">
            <a:off x="609600" y="1581150"/>
            <a:ext cx="10572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16313A"/>
                </a:solidFill>
                <a:latin typeface="Helvetica Neue"/>
                <a:ea typeface="Helvetica Neue"/>
                <a:cs typeface="Helvetica Neue"/>
              </a:defRPr>
            </a:defPPr>
          </a:lstStyle>
          <a:p xmlns:a="http://schemas.openxmlformats.org/drawingml/2006/main">
            <a:pPr>
              <a:defRPr sz="2400" b="0">
                <a:solidFill>
                  <a:srgbClr val="16313A"/>
                </a:solidFill>
                <a:latin typeface="Helvetica Neue"/>
                <a:ea typeface="Helvetica Neue"/>
                <a:cs typeface="Helvetica Neue"/>
              </a:defRPr>
            </a:pPr>
            <a:r>
              <a:rPr sz="2400" b="0">
                <a:solidFill>
                  <a:srgbClr val="16313A"/>
                </a:solidFill>
                <a:latin typeface="Helvetica Neue"/>
                <a:ea typeface="Helvetica Neue"/>
                <a:cs typeface="Helvetica Neue"/>
              </a:rPr>
              <a:t>1  Simulate each legal intervention with the ensemble</a:t>
            </a:r>
          </a:p>
        </p:txBody>
      </p:sp>
      <p:sp>
        <p:nvSpPr>
          <p:cNvPr id="4" name="2  Estimate how much it can ">
            <a:extLst xmlns:a="http://schemas.openxmlformats.org/drawingml/2006/main">
              <a:ext uri="{FF2B5EF4-FFF2-40B4-BE49-F238E27FC236}">
                <a16:creationId xmlns:a16="http://schemas.microsoft.com/office/drawing/2014/main" id="{22F9BD71-D7A0-4F1B-A66F-F9E093F5137D}"/>
              </a:ext>
            </a:extLst>
          </p:cNvPr>
          <p:cNvSpPr>
            <a:spLocks xmlns:a="http://schemas.openxmlformats.org/drawingml/2006/main" noGrp="1"/>
          </p:cNvSpPr>
          <p:nvPr/>
        </p:nvSpPr>
        <p:spPr>
          <a:xfrm xmlns:a="http://schemas.openxmlformats.org/drawingml/2006/main">
            <a:off x="609600" y="2428875"/>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16313A"/>
                </a:solidFill>
                <a:latin typeface="Helvetica Neue"/>
                <a:ea typeface="Helvetica Neue"/>
                <a:cs typeface="Helvetica Neue"/>
              </a:defRPr>
            </a:defPPr>
          </a:lstStyle>
          <a:p xmlns:a="http://schemas.openxmlformats.org/drawingml/2006/main">
            <a:pPr>
              <a:defRPr sz="2400" b="0">
                <a:solidFill>
                  <a:srgbClr val="16313A"/>
                </a:solidFill>
                <a:latin typeface="Helvetica Neue"/>
                <a:ea typeface="Helvetica Neue"/>
                <a:cs typeface="Helvetica Neue"/>
              </a:defRPr>
            </a:pPr>
            <a:r>
              <a:rPr sz="2400" b="0">
                <a:solidFill>
                  <a:srgbClr val="16313A"/>
                </a:solidFill>
                <a:latin typeface="Helvetica Neue"/>
                <a:ea typeface="Helvetica Neue"/>
                <a:cs typeface="Helvetica Neue"/>
              </a:rPr>
              <a:t>2  Estimate how much it can reduce mechanism uncertainty</a:t>
            </a:r>
          </a:p>
        </p:txBody>
      </p:sp>
      <p:sp>
        <p:nvSpPr>
          <p:cNvPr id="5" name="3  Select an action, then pa">
            <a:extLst xmlns:a="http://schemas.openxmlformats.org/drawingml/2006/main">
              <a:ext uri="{FF2B5EF4-FFF2-40B4-BE49-F238E27FC236}">
                <a16:creationId xmlns:a16="http://schemas.microsoft.com/office/drawing/2014/main" id="{8F57C03F-C046-42F5-A08D-E66BFB59276C}"/>
              </a:ext>
            </a:extLst>
          </p:cNvPr>
          <p:cNvSpPr>
            <a:spLocks xmlns:a="http://schemas.openxmlformats.org/drawingml/2006/main" noGrp="1"/>
          </p:cNvSpPr>
          <p:nvPr/>
        </p:nvSpPr>
        <p:spPr>
          <a:xfrm xmlns:a="http://schemas.openxmlformats.org/drawingml/2006/main">
            <a:off x="609600" y="3286125"/>
            <a:ext cx="10572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16313A"/>
                </a:solidFill>
                <a:latin typeface="Helvetica Neue"/>
                <a:ea typeface="Helvetica Neue"/>
                <a:cs typeface="Helvetica Neue"/>
              </a:defRPr>
            </a:defPPr>
          </a:lstStyle>
          <a:p xmlns:a="http://schemas.openxmlformats.org/drawingml/2006/main">
            <a:pPr>
              <a:defRPr sz="2400" b="0">
                <a:solidFill>
                  <a:srgbClr val="16313A"/>
                </a:solidFill>
                <a:latin typeface="Helvetica Neue"/>
                <a:ea typeface="Helvetica Neue"/>
                <a:cs typeface="Helvetica Neue"/>
              </a:defRPr>
            </a:pPr>
            <a:r>
              <a:rPr sz="2400" b="0">
                <a:solidFill>
                  <a:srgbClr val="16313A"/>
                </a:solidFill>
                <a:latin typeface="Helvetica Neue"/>
                <a:ea typeface="Helvetica Neue"/>
                <a:cs typeface="Helvetica Neue"/>
              </a:rPr>
              <a:t>3  Select an action, then pay for its observed response</a:t>
            </a:r>
          </a:p>
        </p:txBody>
      </p:sp>
      <p:sp>
        <p:nvSpPr>
          <p:cNvPr id="6" name="Score contribution = mean Co">
            <a:extLst xmlns:a="http://schemas.openxmlformats.org/drawingml/2006/main">
              <a:ext uri="{FF2B5EF4-FFF2-40B4-BE49-F238E27FC236}">
                <a16:creationId xmlns:a16="http://schemas.microsoft.com/office/drawing/2014/main" id="{4D01B22E-8B25-4243-A654-38D9D52E35A5}"/>
              </a:ext>
            </a:extLst>
          </p:cNvPr>
          <p:cNvSpPr>
            <a:spLocks xmlns:a="http://schemas.openxmlformats.org/drawingml/2006/main" noGrp="1"/>
          </p:cNvSpPr>
          <p:nvPr/>
        </p:nvSpPr>
        <p:spPr>
          <a:xfrm xmlns:a="http://schemas.openxmlformats.org/drawingml/2006/main">
            <a:off x="609600" y="4381500"/>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087F83"/>
                </a:solidFill>
                <a:latin typeface="Helvetica Neue"/>
                <a:ea typeface="Helvetica Neue"/>
                <a:cs typeface="Helvetica Neue"/>
              </a:defRPr>
            </a:defPPr>
          </a:lstStyle>
          <a:p xmlns:a="http://schemas.openxmlformats.org/drawingml/2006/main">
            <a:pPr>
              <a:defRPr sz="2850" b="1">
                <a:solidFill>
                  <a:srgbClr val="087F83"/>
                </a:solidFill>
                <a:latin typeface="Helvetica Neue"/>
                <a:ea typeface="Helvetica Neue"/>
                <a:cs typeface="Helvetica Neue"/>
              </a:defRPr>
            </a:pPr>
            <a:r>
              <a:rPr sz="2850" b="1">
                <a:solidFill>
                  <a:srgbClr val="087F83"/>
                </a:solidFill>
                <a:latin typeface="Helvetica Neue"/>
                <a:ea typeface="Helvetica Neue"/>
                <a:cs typeface="Helvetica Neue"/>
              </a:rPr>
              <a:t>Score contribution = mean Cov² / (Variance + noise proxy)</a:t>
            </a:r>
          </a:p>
        </p:txBody>
      </p:sp>
      <p:sp>
        <p:nvSpPr>
          <p:cNvPr id="7" name="Current PEV sums descendant ">
            <a:extLst xmlns:a="http://schemas.openxmlformats.org/drawingml/2006/main">
              <a:ext uri="{FF2B5EF4-FFF2-40B4-BE49-F238E27FC236}">
                <a16:creationId xmlns:a16="http://schemas.microsoft.com/office/drawing/2014/main" id="{7F21CF80-F25B-4E26-96C7-06EF60B58775}"/>
              </a:ext>
            </a:extLst>
          </p:cNvPr>
          <p:cNvSpPr>
            <a:spLocks xmlns:a="http://schemas.openxmlformats.org/drawingml/2006/main" noGrp="1"/>
          </p:cNvSpPr>
          <p:nvPr/>
        </p:nvSpPr>
        <p:spPr>
          <a:xfrm xmlns:a="http://schemas.openxmlformats.org/drawingml/2006/main">
            <a:off x="609600" y="5905500"/>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3666B"/>
                </a:solidFill>
                <a:latin typeface="Helvetica Neue"/>
                <a:ea typeface="Helvetica Neue"/>
                <a:cs typeface="Helvetica Neue"/>
              </a:defRPr>
            </a:defPPr>
          </a:lstStyle>
          <a:p xmlns:a="http://schemas.openxmlformats.org/drawingml/2006/main">
            <a:pPr>
              <a:defRPr sz="1650" b="0">
                <a:solidFill>
                  <a:srgbClr val="53666B"/>
                </a:solidFill>
                <a:latin typeface="Helvetica Neue"/>
                <a:ea typeface="Helvetica Neue"/>
                <a:cs typeface="Helvetica Neue"/>
              </a:defRPr>
            </a:pPr>
            <a:r>
              <a:rPr sz="1650" b="0">
                <a:solidFill>
                  <a:srgbClr val="53666B"/>
                </a:solidFill>
                <a:latin typeface="Helvetica Neue"/>
                <a:ea typeface="Helvetica Neue"/>
                <a:cs typeface="Helvetica Neue"/>
              </a:rPr>
              <a:t>Current PEV sums descendant contributions. Neural ensemble scores are estimates, not certified gains.</a:t>
            </a:r>
          </a:p>
        </p:txBody>
      </p:sp>
    </p:spTree>
    <p:extLst>
      <p:ext uri="{BB962C8B-B14F-4D97-AF65-F5344CB8AC3E}">
        <p14:creationId xmlns:p14="http://schemas.microsoft.com/office/powerpoint/2010/main" val="1237690031"/>
      </p:ext>
    </p:extLst>
  </p:cSld>
</p:sld>
</file>

<file path=ppt/slides/slide5.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7" name="title">
            <a:extLst xmlns:a="http://schemas.openxmlformats.org/drawingml/2006/main">
              <a:ext uri="{FF2B5EF4-FFF2-40B4-BE49-F238E27FC236}">
                <a16:creationId xmlns:a16="http://schemas.microsoft.com/office/drawing/2014/main" id="{68320945-50A4-428C-B90E-DB2C3C1BDA9E}"/>
              </a:ext>
            </a:extLst>
          </p:cNvPr>
          <p:cNvSpPr>
            <a:spLocks xmlns:a="http://schemas.openxmlformats.org/drawingml/2006/main" noGrp="1"/>
          </p:cNvSpPr>
          <p:nvPr/>
        </p:nvSpPr>
        <p:spPr>
          <a:xfrm xmlns:a="http://schemas.openxmlformats.org/drawingml/2006/main">
            <a:off x="609600" y="495300"/>
            <a:ext cx="1085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6313A"/>
                </a:solidFill>
                <a:latin typeface="Helvetica Neue"/>
                <a:ea typeface="Helvetica Neue"/>
                <a:cs typeface="Helvetica Neue"/>
              </a:defRPr>
            </a:defPPr>
          </a:lstStyle>
          <a:p xmlns:a="http://schemas.openxmlformats.org/drawingml/2006/main">
            <a:pPr>
              <a:defRPr sz="3450" b="1">
                <a:solidFill>
                  <a:srgbClr val="16313A"/>
                </a:solidFill>
                <a:latin typeface="Helvetica Neue"/>
                <a:ea typeface="Helvetica Neue"/>
                <a:cs typeface="Helvetica Neue"/>
              </a:defRPr>
            </a:pPr>
            <a:r>
              <a:rPr sz="3450" b="1">
                <a:solidFill>
                  <a:srgbClr val="16313A"/>
                </a:solidFill>
                <a:latin typeface="Helvetica Neue"/>
                <a:ea typeface="Helvetica Neue"/>
                <a:cs typeface="Helvetica Neue"/>
              </a:rPr>
              <a:t>Exact inputs to the three-node demonstration</a:t>
            </a:r>
          </a:p>
        </p:txBody>
      </p:sp>
      <p:sp>
        <p:nvSpPr>
          <p:cNvPr id="2" name="page">
            <a:extLst xmlns:a="http://schemas.openxmlformats.org/drawingml/2006/main">
              <a:ext uri="{FF2B5EF4-FFF2-40B4-BE49-F238E27FC236}">
                <a16:creationId xmlns:a16="http://schemas.microsoft.com/office/drawing/2014/main" id="{9C7E408B-A775-4B51-B00E-322BDFB428B8}"/>
              </a:ext>
            </a:extLst>
          </p:cNvPr>
          <p:cNvSpPr>
            <a:spLocks xmlns:a="http://schemas.openxmlformats.org/drawingml/2006/main" noGrp="1"/>
          </p:cNvSpPr>
          <p:nvPr/>
        </p:nvSpPr>
        <p:spPr>
          <a:xfrm xmlns:a="http://schemas.openxmlformats.org/drawingml/2006/main">
            <a:off x="11182350" y="632460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66B"/>
                </a:solidFill>
                <a:latin typeface="Helvetica Neue"/>
                <a:ea typeface="Helvetica Neue"/>
                <a:cs typeface="Helvetica Neue"/>
              </a:defRPr>
            </a:defPPr>
          </a:lstStyle>
          <a:p xmlns:a="http://schemas.openxmlformats.org/drawingml/2006/main">
            <a:pPr>
              <a:defRPr sz="1500" b="0">
                <a:solidFill>
                  <a:srgbClr val="53666B"/>
                </a:solidFill>
                <a:latin typeface="Helvetica Neue"/>
                <a:ea typeface="Helvetica Neue"/>
                <a:cs typeface="Helvetica Neue"/>
              </a:defRPr>
            </a:pPr>
            <a:r>
              <a:rPr sz="1500" b="0">
                <a:solidFill>
                  <a:srgbClr val="53666B"/>
                </a:solidFill>
                <a:latin typeface="Helvetica Neue"/>
                <a:ea typeface="Helvetica Neue"/>
                <a:cs typeface="Helvetica Neue"/>
              </a:rPr>
              <a:t>05</a:t>
            </a:r>
          </a:p>
        </p:txBody>
      </p:sp>
      <p:graphicFrame>
        <p:nvGraphicFramePr>
          <p:cNvPr id="3" name="">
            <a:extLst xmlns:a="http://schemas.openxmlformats.org/drawingml/2006/main">
              <a:ext uri="{FF2B5EF4-FFF2-40B4-BE49-F238E27FC236}">
                <a16:creationId xmlns:a16="http://schemas.microsoft.com/office/drawing/2014/main" id="{BBCE0E75-4794-4A0B-BE58-CD41FB8189C5}"/>
              </a:ext>
            </a:extLst>
          </p:cNvPr>
          <p:cNvGraphicFramePr/>
          <p:nvPr/>
        </p:nvGraphicFramePr>
        <p:xfrm>
          <a:off xmlns:a="http://schemas.openxmlformats.org/drawingml/2006/main" x="609600" y="1552575"/>
          <a:ext xmlns:a="http://schemas.openxmlformats.org/drawingml/2006/main" cx="10820400" cy="2057400"/>
        </p:xfrm>
        <a:graphic xmlns:a="http://schemas.openxmlformats.org/drawingml/2006/main">
          <a:graphicData uri="http://schemas.openxmlformats.org/drawingml/2006/table">
            <a:tbl>
              <a:tblPr firstRow="0" bandRow="0"/>
              <a:tblGrid>
                <a:gridCol w="3286125"/>
                <a:gridCol w="3190875"/>
                <a:gridCol w="4343400"/>
              </a:tblGrid>
              <a:tr h="685800">
                <a:tc>
                  <a:txBody>
                    <a:bodyPr lIns="95250" tIns="95250" rIns="95250" bIns="95250"/>
                    <a:lstStyle/>
                    <a:p>
                      <a:r>
                        <a:rPr sz="2025" b="1">
                          <a:solidFill>
                            <a:srgbClr val="FFFFFF"/>
                          </a:solidFill>
                          <a:latin typeface="Helvetica Neue"/>
                          <a:ea typeface="Helvetica Neue"/>
                          <a:cs typeface="Helvetica Neue"/>
                        </a:rPr>
                        <a:t>Mechanism</a:t>
                      </a:r>
                    </a:p>
                  </a:txBody>
                  <a:tcPr marL="91440" marR="91440" marT="45720" marB="45720">
                    <a:solidFill>
                      <a:srgbClr val="112B36"/>
                    </a:solidFill>
                  </a:tcPr>
                </a:tc>
                <a:tc>
                  <a:txBody>
                    <a:bodyPr lIns="95250" tIns="95250" rIns="95250" bIns="95250"/>
                    <a:lstStyle/>
                    <a:p>
                      <a:r>
                        <a:rPr sz="2025" b="1">
                          <a:solidFill>
                            <a:srgbClr val="FFFFFF"/>
                          </a:solidFill>
                          <a:latin typeface="Helvetica Neue"/>
                          <a:ea typeface="Helvetica Neue"/>
                          <a:cs typeface="Helvetica Neue"/>
                        </a:rPr>
                        <a:t>Member slopes</a:t>
                      </a:r>
                    </a:p>
                  </a:txBody>
                  <a:tcPr marL="91440" marR="91440" marT="45720" marB="45720">
                    <a:solidFill>
                      <a:srgbClr val="112B36"/>
                    </a:solidFill>
                  </a:tcPr>
                </a:tc>
                <a:tc>
                  <a:txBody>
                    <a:bodyPr lIns="95250" tIns="95250" rIns="95250" bIns="95250"/>
                    <a:lstStyle/>
                    <a:p>
                      <a:r>
                        <a:rPr sz="2025" b="1">
                          <a:solidFill>
                            <a:srgbClr val="FFFFFF"/>
                          </a:solidFill>
                          <a:latin typeface="Helvetica Neue"/>
                          <a:ea typeface="Helvetica Neue"/>
                          <a:cs typeface="Helvetica Neue"/>
                        </a:rPr>
                        <a:t>Mean prediction</a:t>
                      </a:r>
                    </a:p>
                  </a:txBody>
                  <a:tcPr marL="91440" marR="91440" marT="45720" marB="45720">
                    <a:solidFill>
                      <a:srgbClr val="112B36"/>
                    </a:solidFill>
                  </a:tcPr>
                </a:tc>
              </a:tr>
              <a:tr h="685800">
                <a:tc>
                  <a:txBody>
                    <a:bodyPr lIns="95250" tIns="95250" rIns="95250" bIns="95250"/>
                    <a:lstStyle/>
                    <a:p>
                      <a:r>
                        <a:rPr sz="2175" b="0">
                          <a:solidFill>
                            <a:srgbClr val="16313A"/>
                          </a:solidFill>
                          <a:latin typeface="Helvetica Neue"/>
                          <a:ea typeface="Helvetica Neue"/>
                          <a:cs typeface="Helvetica Neue"/>
                        </a:rPr>
                        <a:t>M from X</a:t>
                      </a:r>
                    </a:p>
                  </a:txBody>
                  <a:tcPr marL="91440" marR="91440" marT="45720" marB="45720">
                    <a:solidFill>
                      <a:srgbClr val="FAF8F3"/>
                    </a:solidFill>
                  </a:tcPr>
                </a:tc>
                <a:tc>
                  <a:txBody>
                    <a:bodyPr lIns="95250" tIns="95250" rIns="95250" bIns="95250"/>
                    <a:lstStyle/>
                    <a:p>
                      <a:r>
                        <a:rPr sz="2175" b="0">
                          <a:solidFill>
                            <a:srgbClr val="16313A"/>
                          </a:solidFill>
                          <a:latin typeface="Helvetica Neue"/>
                          <a:ea typeface="Helvetica Neue"/>
                          <a:cs typeface="Helvetica Neue"/>
                        </a:rPr>
                        <a:t>1, 2, 3</a:t>
                      </a:r>
                    </a:p>
                  </a:txBody>
                  <a:tcPr marL="91440" marR="91440" marT="45720" marB="45720">
                    <a:solidFill>
                      <a:srgbClr val="FAF8F3"/>
                    </a:solidFill>
                  </a:tcPr>
                </a:tc>
                <a:tc>
                  <a:txBody>
                    <a:bodyPr lIns="95250" tIns="95250" rIns="95250" bIns="95250"/>
                    <a:lstStyle/>
                    <a:p>
                      <a:r>
                        <a:rPr sz="2175" b="0">
                          <a:solidFill>
                            <a:srgbClr val="16313A"/>
                          </a:solidFill>
                          <a:latin typeface="Helvetica Neue"/>
                          <a:ea typeface="Helvetica Neue"/>
                          <a:cs typeface="Helvetica Neue"/>
                        </a:rPr>
                        <a:t>M̂ = 2X</a:t>
                      </a:r>
                    </a:p>
                  </a:txBody>
                  <a:tcPr marL="91440" marR="91440" marT="45720" marB="45720">
                    <a:solidFill>
                      <a:srgbClr val="FAF8F3"/>
                    </a:solidFill>
                  </a:tcPr>
                </a:tc>
              </a:tr>
              <a:tr h="685800">
                <a:tc>
                  <a:txBody>
                    <a:bodyPr lIns="95250" tIns="95250" rIns="95250" bIns="95250"/>
                    <a:lstStyle/>
                    <a:p>
                      <a:r>
                        <a:rPr sz="2175" b="0">
                          <a:solidFill>
                            <a:srgbClr val="16313A"/>
                          </a:solidFill>
                          <a:latin typeface="Helvetica Neue"/>
                          <a:ea typeface="Helvetica Neue"/>
                          <a:cs typeface="Helvetica Neue"/>
                        </a:rPr>
                        <a:t>Y from M</a:t>
                      </a:r>
                    </a:p>
                  </a:txBody>
                  <a:tcPr marL="91440" marR="91440" marT="45720" marB="45720">
                    <a:solidFill>
                      <a:srgbClr val="FAF8F3"/>
                    </a:solidFill>
                  </a:tcPr>
                </a:tc>
                <a:tc>
                  <a:txBody>
                    <a:bodyPr lIns="95250" tIns="95250" rIns="95250" bIns="95250"/>
                    <a:lstStyle/>
                    <a:p>
                      <a:r>
                        <a:rPr sz="2175" b="0">
                          <a:solidFill>
                            <a:srgbClr val="16313A"/>
                          </a:solidFill>
                          <a:latin typeface="Helvetica Neue"/>
                          <a:ea typeface="Helvetica Neue"/>
                          <a:cs typeface="Helvetica Neue"/>
                        </a:rPr>
                        <a:t>2, 3, 4</a:t>
                      </a:r>
                    </a:p>
                  </a:txBody>
                  <a:tcPr marL="91440" marR="91440" marT="45720" marB="45720">
                    <a:solidFill>
                      <a:srgbClr val="FAF8F3"/>
                    </a:solidFill>
                  </a:tcPr>
                </a:tc>
                <a:tc>
                  <a:txBody>
                    <a:bodyPr lIns="95250" tIns="95250" rIns="95250" bIns="95250"/>
                    <a:lstStyle/>
                    <a:p>
                      <a:r>
                        <a:rPr sz="2175" b="0">
                          <a:solidFill>
                            <a:srgbClr val="16313A"/>
                          </a:solidFill>
                          <a:latin typeface="Helvetica Neue"/>
                          <a:ea typeface="Helvetica Neue"/>
                          <a:cs typeface="Helvetica Neue"/>
                        </a:rPr>
                        <a:t>Ŷ = 3M</a:t>
                      </a:r>
                    </a:p>
                  </a:txBody>
                  <a:tcPr marL="91440" marR="91440" marT="45720" marB="45720">
                    <a:solidFill>
                      <a:srgbClr val="FAF8F3"/>
                    </a:solidFill>
                  </a:tcPr>
                </a:tc>
              </a:tr>
            </a:tbl>
          </a:graphicData>
        </a:graphic>
      </p:graphicFrame>
      <p:sp>
        <p:nvSpPr>
          <p:cNvPr id="4" name="Actions: clamp X or M to −1,">
            <a:extLst xmlns:a="http://schemas.openxmlformats.org/drawingml/2006/main">
              <a:ext uri="{FF2B5EF4-FFF2-40B4-BE49-F238E27FC236}">
                <a16:creationId xmlns:a16="http://schemas.microsoft.com/office/drawing/2014/main" id="{9C39A976-3DB9-4095-A12D-7EF199D72486}"/>
              </a:ext>
            </a:extLst>
          </p:cNvPr>
          <p:cNvSpPr>
            <a:spLocks xmlns:a="http://schemas.openxmlformats.org/drawingml/2006/main" noGrp="1"/>
          </p:cNvSpPr>
          <p:nvPr/>
        </p:nvSpPr>
        <p:spPr>
          <a:xfrm xmlns:a="http://schemas.openxmlformats.org/drawingml/2006/main">
            <a:off x="609600" y="407670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75" b="1">
                <a:solidFill>
                  <a:srgbClr val="087F83"/>
                </a:solidFill>
                <a:latin typeface="Helvetica Neue"/>
                <a:ea typeface="Helvetica Neue"/>
                <a:cs typeface="Helvetica Neue"/>
              </a:defRPr>
            </a:defPPr>
          </a:lstStyle>
          <a:p xmlns:a="http://schemas.openxmlformats.org/drawingml/2006/main">
            <a:pPr>
              <a:defRPr sz="2475" b="1">
                <a:solidFill>
                  <a:srgbClr val="087F83"/>
                </a:solidFill>
                <a:latin typeface="Helvetica Neue"/>
                <a:ea typeface="Helvetica Neue"/>
                <a:cs typeface="Helvetica Neue"/>
              </a:defRPr>
            </a:pPr>
            <a:r>
              <a:rPr sz="2475" b="1">
                <a:solidFill>
                  <a:srgbClr val="087F83"/>
                </a:solidFill>
                <a:latin typeface="Helvetica Neue"/>
                <a:ea typeface="Helvetica Neue"/>
                <a:cs typeface="Helvetica Neue"/>
              </a:rPr>
              <a:t>Actions: clamp X or M to −1, 0 or +1</a:t>
            </a:r>
          </a:p>
        </p:txBody>
      </p:sp>
      <p:sp>
        <p:nvSpPr>
          <p:cNvPr id="5" name="References: −1, 0, +1     No">
            <a:extLst xmlns:a="http://schemas.openxmlformats.org/drawingml/2006/main">
              <a:ext uri="{FF2B5EF4-FFF2-40B4-BE49-F238E27FC236}">
                <a16:creationId xmlns:a16="http://schemas.microsoft.com/office/drawing/2014/main" id="{BAD389A2-ABA5-491F-AAEF-F00CCAB94543}"/>
              </a:ext>
            </a:extLst>
          </p:cNvPr>
          <p:cNvSpPr>
            <a:spLocks xmlns:a="http://schemas.openxmlformats.org/drawingml/2006/main" noGrp="1"/>
          </p:cNvSpPr>
          <p:nvPr/>
        </p:nvSpPr>
        <p:spPr>
          <a:xfrm xmlns:a="http://schemas.openxmlformats.org/drawingml/2006/main">
            <a:off x="609600" y="4857750"/>
            <a:ext cx="10477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6313A"/>
                </a:solidFill>
                <a:latin typeface="Helvetica Neue"/>
                <a:ea typeface="Helvetica Neue"/>
                <a:cs typeface="Helvetica Neue"/>
              </a:defRPr>
            </a:defPPr>
          </a:lstStyle>
          <a:p xmlns:a="http://schemas.openxmlformats.org/drawingml/2006/main">
            <a:pPr>
              <a:defRPr sz="2175" b="0">
                <a:solidFill>
                  <a:srgbClr val="16313A"/>
                </a:solidFill>
                <a:latin typeface="Helvetica Neue"/>
                <a:ea typeface="Helvetica Neue"/>
                <a:cs typeface="Helvetica Neue"/>
              </a:defRPr>
            </a:pPr>
            <a:r>
              <a:rPr sz="2175" b="0">
                <a:solidFill>
                  <a:srgbClr val="16313A"/>
                </a:solidFill>
                <a:latin typeface="Helvetica Neue"/>
                <a:ea typeface="Helvetica Neue"/>
                <a:cs typeface="Helvetica Neue"/>
              </a:rPr>
              <a:t>References: −1, 0, +1     Noise proxy: 0.05</a:t>
            </a:r>
          </a:p>
          <a:p xmlns:a="http://schemas.openxmlformats.org/drawingml/2006/main">
            <a:pPr>
              <a:defRPr sz="2175" b="0">
                <a:solidFill>
                  <a:srgbClr val="16313A"/>
                </a:solidFill>
                <a:latin typeface="Helvetica Neue"/>
                <a:ea typeface="Helvetica Neue"/>
                <a:cs typeface="Helvetica Neue"/>
              </a:defRPr>
            </a:pPr>
            <a:r>
              <a:rPr sz="2175" b="0">
                <a:solidFill>
                  <a:srgbClr val="16313A"/>
                </a:solidFill>
                <a:latin typeface="Helvetica Neue"/>
                <a:ea typeface="Helvetica Neue"/>
                <a:cs typeface="Helvetica Neue"/>
              </a:rPr>
              <a:t>Budget: one response     Ties: first action in the list</a:t>
            </a:r>
          </a:p>
        </p:txBody>
      </p:sp>
      <p:sp>
        <p:nvSpPr>
          <p:cNvPr id="6" name="Illustrative initialization.">
            <a:extLst xmlns:a="http://schemas.openxmlformats.org/drawingml/2006/main">
              <a:ext uri="{FF2B5EF4-FFF2-40B4-BE49-F238E27FC236}">
                <a16:creationId xmlns:a16="http://schemas.microsoft.com/office/drawing/2014/main" id="{582A1CF5-3BDE-41F4-803F-CDA724F630D5}"/>
              </a:ext>
            </a:extLst>
          </p:cNvPr>
          <p:cNvSpPr>
            <a:spLocks xmlns:a="http://schemas.openxmlformats.org/drawingml/2006/main" noGrp="1"/>
          </p:cNvSpPr>
          <p:nvPr/>
        </p:nvSpPr>
        <p:spPr>
          <a:xfrm xmlns:a="http://schemas.openxmlformats.org/drawingml/2006/main">
            <a:off x="609600" y="5905500"/>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3666B"/>
                </a:solidFill>
                <a:latin typeface="Helvetica Neue"/>
                <a:ea typeface="Helvetica Neue"/>
                <a:cs typeface="Helvetica Neue"/>
              </a:defRPr>
            </a:defPPr>
          </a:lstStyle>
          <a:p xmlns:a="http://schemas.openxmlformats.org/drawingml/2006/main">
            <a:pPr>
              <a:defRPr sz="1650" b="0">
                <a:solidFill>
                  <a:srgbClr val="53666B"/>
                </a:solidFill>
                <a:latin typeface="Helvetica Neue"/>
                <a:ea typeface="Helvetica Neue"/>
                <a:cs typeface="Helvetica Neue"/>
              </a:defRPr>
            </a:pPr>
            <a:r>
              <a:rPr sz="1650" b="0">
                <a:solidFill>
                  <a:srgbClr val="53666B"/>
                </a:solidFill>
                <a:latin typeface="Helvetica Neue"/>
                <a:ea typeface="Helvetica Neue"/>
                <a:cs typeface="Helvetica Neue"/>
              </a:rPr>
              <a:t>Illustrative initialization. Fixed candidate grid. No exploration or candidate jitter in this example.</a:t>
            </a:r>
          </a:p>
        </p:txBody>
      </p:sp>
    </p:spTree>
    <p:extLst>
      <p:ext uri="{BB962C8B-B14F-4D97-AF65-F5344CB8AC3E}">
        <p14:creationId xmlns:p14="http://schemas.microsoft.com/office/powerpoint/2010/main" val="272570510"/>
      </p:ext>
    </p:extLst>
  </p:cSld>
</p:sld>
</file>

<file path=ppt/slides/slide6.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295D89A4-8386-496B-A530-14E354365D67}"/>
              </a:ext>
            </a:extLst>
          </p:cNvPr>
          <p:cNvSpPr>
            <a:spLocks xmlns:a="http://schemas.openxmlformats.org/drawingml/2006/main" noGrp="1"/>
          </p:cNvSpPr>
          <p:nvPr/>
        </p:nvSpPr>
        <p:spPr>
          <a:xfrm xmlns:a="http://schemas.openxmlformats.org/drawingml/2006/main">
            <a:off x="609600" y="495300"/>
            <a:ext cx="1085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6313A"/>
                </a:solidFill>
                <a:latin typeface="Helvetica Neue"/>
                <a:ea typeface="Helvetica Neue"/>
                <a:cs typeface="Helvetica Neue"/>
              </a:defRPr>
            </a:defPPr>
          </a:lstStyle>
          <a:p xmlns:a="http://schemas.openxmlformats.org/drawingml/2006/main">
            <a:pPr>
              <a:defRPr sz="3450" b="1">
                <a:solidFill>
                  <a:srgbClr val="16313A"/>
                </a:solidFill>
                <a:latin typeface="Helvetica Neue"/>
                <a:ea typeface="Helvetica Neue"/>
                <a:cs typeface="Helvetica Neue"/>
              </a:defRPr>
            </a:pPr>
            <a:r>
              <a:rPr sz="3450" b="1">
                <a:solidFill>
                  <a:srgbClr val="16313A"/>
                </a:solidFill>
                <a:latin typeface="Helvetica Neue"/>
                <a:ea typeface="Helvetica Neue"/>
                <a:cs typeface="Helvetica Neue"/>
              </a:rPr>
              <a:t>The score selects do(X = −1)</a:t>
            </a:r>
          </a:p>
        </p:txBody>
      </p:sp>
      <p:sp>
        <p:nvSpPr>
          <p:cNvPr id="2" name="page">
            <a:extLst xmlns:a="http://schemas.openxmlformats.org/drawingml/2006/main">
              <a:ext uri="{FF2B5EF4-FFF2-40B4-BE49-F238E27FC236}">
                <a16:creationId xmlns:a16="http://schemas.microsoft.com/office/drawing/2014/main" id="{B40FA981-8FCE-4F99-8A7E-D3EA5FD4F327}"/>
              </a:ext>
            </a:extLst>
          </p:cNvPr>
          <p:cNvSpPr>
            <a:spLocks xmlns:a="http://schemas.openxmlformats.org/drawingml/2006/main" noGrp="1"/>
          </p:cNvSpPr>
          <p:nvPr/>
        </p:nvSpPr>
        <p:spPr>
          <a:xfrm xmlns:a="http://schemas.openxmlformats.org/drawingml/2006/main">
            <a:off x="11182350" y="632460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66B"/>
                </a:solidFill>
                <a:latin typeface="Helvetica Neue"/>
                <a:ea typeface="Helvetica Neue"/>
                <a:cs typeface="Helvetica Neue"/>
              </a:defRPr>
            </a:defPPr>
          </a:lstStyle>
          <a:p xmlns:a="http://schemas.openxmlformats.org/drawingml/2006/main">
            <a:pPr>
              <a:defRPr sz="1500" b="0">
                <a:solidFill>
                  <a:srgbClr val="53666B"/>
                </a:solidFill>
                <a:latin typeface="Helvetica Neue"/>
                <a:ea typeface="Helvetica Neue"/>
                <a:cs typeface="Helvetica Neue"/>
              </a:defRPr>
            </a:pPr>
            <a:r>
              <a:rPr sz="1500" b="0">
                <a:solidFill>
                  <a:srgbClr val="53666B"/>
                </a:solidFill>
                <a:latin typeface="Helvetica Neue"/>
                <a:ea typeface="Helvetica Neue"/>
                <a:cs typeface="Helvetica Neue"/>
              </a:rPr>
              <a:t>06</a:t>
            </a:r>
          </a:p>
        </p:txBody>
      </p:sp>
      <p:graphicFrame>
        <p:nvGraphicFramePr>
          <p:cNvPr id="3" name="">
            <a:extLst xmlns:a="http://schemas.openxmlformats.org/drawingml/2006/main">
              <a:ext uri="{FF2B5EF4-FFF2-40B4-BE49-F238E27FC236}">
                <a16:creationId xmlns:a16="http://schemas.microsoft.com/office/drawing/2014/main" id="{6BBCA1EF-3450-495C-9BC2-A8C32F8BE81E}"/>
              </a:ext>
            </a:extLst>
          </p:cNvPr>
          <p:cNvGraphicFramePr/>
          <p:nvPr/>
        </p:nvGraphicFramePr>
        <p:xfrm>
          <a:off xmlns:a="http://schemas.openxmlformats.org/drawingml/2006/main" x="609600" y="1552575"/>
          <a:ext xmlns:a="http://schemas.openxmlformats.org/drawingml/2006/main" cx="10820400" cy="3600450"/>
        </p:xfrm>
        <a:graphic xmlns:a="http://schemas.openxmlformats.org/drawingml/2006/main">
          <a:graphicData uri="http://schemas.openxmlformats.org/drawingml/2006/table">
            <a:tbl>
              <a:tblPr firstRow="0" bandRow="0"/>
              <a:tblGrid>
                <a:gridCol w="3238500"/>
                <a:gridCol w="2533650"/>
                <a:gridCol w="2533650"/>
                <a:gridCol w="2514600"/>
              </a:tblGrid>
              <a:tr h="514350">
                <a:tc>
                  <a:txBody>
                    <a:bodyPr lIns="95250" tIns="95250" rIns="95250" bIns="95250"/>
                    <a:lstStyle/>
                    <a:p>
                      <a:r>
                        <a:rPr sz="1725" b="1">
                          <a:solidFill>
                            <a:srgbClr val="FFFFFF"/>
                          </a:solidFill>
                          <a:latin typeface="Helvetica Neue"/>
                          <a:ea typeface="Helvetica Neue"/>
                          <a:cs typeface="Helvetica Neue"/>
                        </a:rPr>
                        <a:t>Intervention</a:t>
                      </a:r>
                    </a:p>
                  </a:txBody>
                  <a:tcPr marL="91440" marR="91440" marT="45720" marB="45720">
                    <a:solidFill>
                      <a:srgbClr val="112B36"/>
                    </a:solidFill>
                  </a:tcPr>
                </a:tc>
                <a:tc>
                  <a:txBody>
                    <a:bodyPr lIns="95250" tIns="95250" rIns="95250" bIns="95250"/>
                    <a:lstStyle/>
                    <a:p>
                      <a:r>
                        <a:rPr sz="1725" b="1">
                          <a:solidFill>
                            <a:srgbClr val="FFFFFF"/>
                          </a:solidFill>
                          <a:latin typeface="Helvetica Neue"/>
                          <a:ea typeface="Helvetica Neue"/>
                          <a:cs typeface="Helvetica Neue"/>
                        </a:rPr>
                        <a:t>M contribution</a:t>
                      </a:r>
                    </a:p>
                  </a:txBody>
                  <a:tcPr marL="91440" marR="91440" marT="45720" marB="45720">
                    <a:solidFill>
                      <a:srgbClr val="112B36"/>
                    </a:solidFill>
                  </a:tcPr>
                </a:tc>
                <a:tc>
                  <a:txBody>
                    <a:bodyPr lIns="95250" tIns="95250" rIns="95250" bIns="95250"/>
                    <a:lstStyle/>
                    <a:p>
                      <a:r>
                        <a:rPr sz="1725" b="1">
                          <a:solidFill>
                            <a:srgbClr val="FFFFFF"/>
                          </a:solidFill>
                          <a:latin typeface="Helvetica Neue"/>
                          <a:ea typeface="Helvetica Neue"/>
                          <a:cs typeface="Helvetica Neue"/>
                        </a:rPr>
                        <a:t>Y contribution</a:t>
                      </a:r>
                    </a:p>
                  </a:txBody>
                  <a:tcPr marL="91440" marR="91440" marT="45720" marB="45720">
                    <a:solidFill>
                      <a:srgbClr val="112B36"/>
                    </a:solidFill>
                  </a:tcPr>
                </a:tc>
                <a:tc>
                  <a:txBody>
                    <a:bodyPr lIns="95250" tIns="95250" rIns="95250" bIns="95250"/>
                    <a:lstStyle/>
                    <a:p>
                      <a:r>
                        <a:rPr sz="1725" b="1">
                          <a:solidFill>
                            <a:srgbClr val="FFFFFF"/>
                          </a:solidFill>
                          <a:latin typeface="Helvetica Neue"/>
                          <a:ea typeface="Helvetica Neue"/>
                          <a:cs typeface="Helvetica Neue"/>
                        </a:rPr>
                        <a:t>Total</a:t>
                      </a:r>
                    </a:p>
                  </a:txBody>
                  <a:tcPr marL="91440" marR="91440" marT="45720" marB="45720">
                    <a:solidFill>
                      <a:srgbClr val="112B36"/>
                    </a:solidFill>
                  </a:tcPr>
                </a:tc>
              </a:tr>
              <a:tr h="514350">
                <a:tc>
                  <a:txBody>
                    <a:bodyPr lIns="95250" tIns="95250" rIns="95250" bIns="95250"/>
                    <a:lstStyle/>
                    <a:p>
                      <a:r>
                        <a:rPr sz="1875" b="0">
                          <a:solidFill>
                            <a:srgbClr val="16313A"/>
                          </a:solidFill>
                          <a:latin typeface="Helvetica Neue"/>
                          <a:ea typeface="Helvetica Neue"/>
                          <a:cs typeface="Helvetica Neue"/>
                        </a:rPr>
                        <a:t>do(X = -1)</a:t>
                      </a:r>
                    </a:p>
                  </a:txBody>
                  <a:tcPr marL="91440" marR="91440" marT="45720" marB="45720">
                    <a:solidFill>
                      <a:srgbClr val="FAF8F3"/>
                    </a:solidFill>
                  </a:tcPr>
                </a:tc>
                <a:tc>
                  <a:txBody>
                    <a:bodyPr lIns="95250" tIns="95250" rIns="95250" bIns="95250"/>
                    <a:lstStyle/>
                    <a:p>
                      <a:r>
                        <a:rPr sz="1875" b="0">
                          <a:solidFill>
                            <a:srgbClr val="16313A"/>
                          </a:solidFill>
                          <a:latin typeface="Helvetica Neue"/>
                          <a:ea typeface="Helvetica Neue"/>
                          <a:cs typeface="Helvetica Neue"/>
                        </a:rPr>
                        <a:t>0.413437</a:t>
                      </a:r>
                    </a:p>
                  </a:txBody>
                  <a:tcPr marL="91440" marR="91440" marT="45720" marB="45720">
                    <a:solidFill>
                      <a:srgbClr val="FAF8F3"/>
                    </a:solidFill>
                  </a:tcPr>
                </a:tc>
                <a:tc>
                  <a:txBody>
                    <a:bodyPr lIns="95250" tIns="95250" rIns="95250" bIns="95250"/>
                    <a:lstStyle/>
                    <a:p>
                      <a:r>
                        <a:rPr sz="1875" b="0">
                          <a:solidFill>
                            <a:srgbClr val="16313A"/>
                          </a:solidFill>
                          <a:latin typeface="Helvetica Neue"/>
                          <a:ea typeface="Helvetica Neue"/>
                          <a:cs typeface="Helvetica Neue"/>
                        </a:rPr>
                        <a:t>0.436264</a:t>
                      </a:r>
                    </a:p>
                  </a:txBody>
                  <a:tcPr marL="91440" marR="91440" marT="45720" marB="45720">
                    <a:solidFill>
                      <a:srgbClr val="FAF8F3"/>
                    </a:solidFill>
                  </a:tcPr>
                </a:tc>
                <a:tc>
                  <a:txBody>
                    <a:bodyPr lIns="95250" tIns="95250" rIns="95250" bIns="95250"/>
                    <a:lstStyle/>
                    <a:p>
                      <a:r>
                        <a:rPr sz="1875" b="0">
                          <a:solidFill>
                            <a:srgbClr val="16313A"/>
                          </a:solidFill>
                          <a:latin typeface="Helvetica Neue"/>
                          <a:ea typeface="Helvetica Neue"/>
                          <a:cs typeface="Helvetica Neue"/>
                        </a:rPr>
                        <a:t>0.849701</a:t>
                      </a:r>
                    </a:p>
                  </a:txBody>
                  <a:tcPr marL="91440" marR="91440" marT="45720" marB="45720">
                    <a:solidFill>
                      <a:srgbClr val="FAF8F3"/>
                    </a:solidFill>
                  </a:tcPr>
                </a:tc>
              </a:tr>
              <a:tr h="514350">
                <a:tc>
                  <a:txBody>
                    <a:bodyPr lIns="95250" tIns="95250" rIns="95250" bIns="95250"/>
                    <a:lstStyle/>
                    <a:p>
                      <a:r>
                        <a:rPr sz="1875" b="0">
                          <a:solidFill>
                            <a:srgbClr val="16313A"/>
                          </a:solidFill>
                          <a:latin typeface="Helvetica Neue"/>
                          <a:ea typeface="Helvetica Neue"/>
                          <a:cs typeface="Helvetica Neue"/>
                        </a:rPr>
                        <a:t>do(X = 0)</a:t>
                      </a:r>
                    </a:p>
                  </a:txBody>
                  <a:tcPr marL="91440" marR="91440" marT="45720" marB="45720">
                    <a:solidFill>
                      <a:srgbClr val="FAF8F3"/>
                    </a:solidFill>
                  </a:tcPr>
                </a:tc>
                <a:tc>
                  <a:txBody>
                    <a:bodyPr lIns="95250" tIns="95250" rIns="95250" bIns="95250"/>
                    <a:lstStyle/>
                    <a:p>
                      <a:r>
                        <a:rPr sz="1875" b="0">
                          <a:solidFill>
                            <a:srgbClr val="16313A"/>
                          </a:solidFill>
                          <a:latin typeface="Helvetica Neue"/>
                          <a:ea typeface="Helvetica Neue"/>
                          <a:cs typeface="Helvetica Neue"/>
                        </a:rPr>
                        <a:t>0.000000</a:t>
                      </a:r>
                    </a:p>
                  </a:txBody>
                  <a:tcPr marL="91440" marR="91440" marT="45720" marB="45720">
                    <a:solidFill>
                      <a:srgbClr val="FAF8F3"/>
                    </a:solidFill>
                  </a:tcPr>
                </a:tc>
                <a:tc>
                  <a:txBody>
                    <a:bodyPr lIns="95250" tIns="95250" rIns="95250" bIns="95250"/>
                    <a:lstStyle/>
                    <a:p>
                      <a:r>
                        <a:rPr sz="1875" b="0">
                          <a:solidFill>
                            <a:srgbClr val="16313A"/>
                          </a:solidFill>
                          <a:latin typeface="Helvetica Neue"/>
                          <a:ea typeface="Helvetica Neue"/>
                          <a:cs typeface="Helvetica Neue"/>
                        </a:rPr>
                        <a:t>0.000000</a:t>
                      </a:r>
                    </a:p>
                  </a:txBody>
                  <a:tcPr marL="91440" marR="91440" marT="45720" marB="45720">
                    <a:solidFill>
                      <a:srgbClr val="FAF8F3"/>
                    </a:solidFill>
                  </a:tcPr>
                </a:tc>
                <a:tc>
                  <a:txBody>
                    <a:bodyPr lIns="95250" tIns="95250" rIns="95250" bIns="95250"/>
                    <a:lstStyle/>
                    <a:p>
                      <a:r>
                        <a:rPr sz="1875" b="0">
                          <a:solidFill>
                            <a:srgbClr val="16313A"/>
                          </a:solidFill>
                          <a:latin typeface="Helvetica Neue"/>
                          <a:ea typeface="Helvetica Neue"/>
                          <a:cs typeface="Helvetica Neue"/>
                        </a:rPr>
                        <a:t>0.000000</a:t>
                      </a:r>
                    </a:p>
                  </a:txBody>
                  <a:tcPr marL="91440" marR="91440" marT="45720" marB="45720">
                    <a:solidFill>
                      <a:srgbClr val="FAF8F3"/>
                    </a:solidFill>
                  </a:tcPr>
                </a:tc>
              </a:tr>
              <a:tr h="514350">
                <a:tc>
                  <a:txBody>
                    <a:bodyPr lIns="95250" tIns="95250" rIns="95250" bIns="95250"/>
                    <a:lstStyle/>
                    <a:p>
                      <a:r>
                        <a:rPr sz="1875" b="0">
                          <a:solidFill>
                            <a:srgbClr val="16313A"/>
                          </a:solidFill>
                          <a:latin typeface="Helvetica Neue"/>
                          <a:ea typeface="Helvetica Neue"/>
                          <a:cs typeface="Helvetica Neue"/>
                        </a:rPr>
                        <a:t>do(X = 1)</a:t>
                      </a:r>
                    </a:p>
                  </a:txBody>
                  <a:tcPr marL="91440" marR="91440" marT="45720" marB="45720">
                    <a:solidFill>
                      <a:srgbClr val="FAF8F3"/>
                    </a:solidFill>
                  </a:tcPr>
                </a:tc>
                <a:tc>
                  <a:txBody>
                    <a:bodyPr lIns="95250" tIns="95250" rIns="95250" bIns="95250"/>
                    <a:lstStyle/>
                    <a:p>
                      <a:r>
                        <a:rPr sz="1875" b="0">
                          <a:solidFill>
                            <a:srgbClr val="16313A"/>
                          </a:solidFill>
                          <a:latin typeface="Helvetica Neue"/>
                          <a:ea typeface="Helvetica Neue"/>
                          <a:cs typeface="Helvetica Neue"/>
                        </a:rPr>
                        <a:t>0.413437</a:t>
                      </a:r>
                    </a:p>
                  </a:txBody>
                  <a:tcPr marL="91440" marR="91440" marT="45720" marB="45720">
                    <a:solidFill>
                      <a:srgbClr val="FAF8F3"/>
                    </a:solidFill>
                  </a:tcPr>
                </a:tc>
                <a:tc>
                  <a:txBody>
                    <a:bodyPr lIns="95250" tIns="95250" rIns="95250" bIns="95250"/>
                    <a:lstStyle/>
                    <a:p>
                      <a:r>
                        <a:rPr sz="1875" b="0">
                          <a:solidFill>
                            <a:srgbClr val="16313A"/>
                          </a:solidFill>
                          <a:latin typeface="Helvetica Neue"/>
                          <a:ea typeface="Helvetica Neue"/>
                          <a:cs typeface="Helvetica Neue"/>
                        </a:rPr>
                        <a:t>0.436264</a:t>
                      </a:r>
                    </a:p>
                  </a:txBody>
                  <a:tcPr marL="91440" marR="91440" marT="45720" marB="45720">
                    <a:solidFill>
                      <a:srgbClr val="FAF8F3"/>
                    </a:solidFill>
                  </a:tcPr>
                </a:tc>
                <a:tc>
                  <a:txBody>
                    <a:bodyPr lIns="95250" tIns="95250" rIns="95250" bIns="95250"/>
                    <a:lstStyle/>
                    <a:p>
                      <a:r>
                        <a:rPr sz="1875" b="0">
                          <a:solidFill>
                            <a:srgbClr val="16313A"/>
                          </a:solidFill>
                          <a:latin typeface="Helvetica Neue"/>
                          <a:ea typeface="Helvetica Neue"/>
                          <a:cs typeface="Helvetica Neue"/>
                        </a:rPr>
                        <a:t>0.849701</a:t>
                      </a:r>
                    </a:p>
                  </a:txBody>
                  <a:tcPr marL="91440" marR="91440" marT="45720" marB="45720">
                    <a:solidFill>
                      <a:srgbClr val="FAF8F3"/>
                    </a:solidFill>
                  </a:tcPr>
                </a:tc>
              </a:tr>
              <a:tr h="514350">
                <a:tc>
                  <a:txBody>
                    <a:bodyPr lIns="95250" tIns="95250" rIns="95250" bIns="95250"/>
                    <a:lstStyle/>
                    <a:p>
                      <a:r>
                        <a:rPr sz="1875" b="0">
                          <a:solidFill>
                            <a:srgbClr val="16313A"/>
                          </a:solidFill>
                          <a:latin typeface="Helvetica Neue"/>
                          <a:ea typeface="Helvetica Neue"/>
                          <a:cs typeface="Helvetica Neue"/>
                        </a:rPr>
                        <a:t>do(M = -1)</a:t>
                      </a:r>
                    </a:p>
                  </a:txBody>
                  <a:tcPr marL="91440" marR="91440" marT="45720" marB="45720">
                    <a:solidFill>
                      <a:srgbClr val="FAF8F3"/>
                    </a:solidFill>
                  </a:tcPr>
                </a:tc>
                <a:tc>
                  <a:txBody>
                    <a:bodyPr lIns="95250" tIns="95250" rIns="95250" bIns="95250"/>
                    <a:lstStyle/>
                    <a:p>
                      <a:r>
                        <a:rPr sz="1875" b="0">
                          <a:solidFill>
                            <a:srgbClr val="16313A"/>
                          </a:solidFill>
                          <a:latin typeface="Helvetica Neue"/>
                          <a:ea typeface="Helvetica Neue"/>
                          <a:cs typeface="Helvetica Neue"/>
                        </a:rPr>
                        <a:t>0.000000</a:t>
                      </a:r>
                    </a:p>
                  </a:txBody>
                  <a:tcPr marL="91440" marR="91440" marT="45720" marB="45720">
                    <a:solidFill>
                      <a:srgbClr val="FAF8F3"/>
                    </a:solidFill>
                  </a:tcPr>
                </a:tc>
                <a:tc>
                  <a:txBody>
                    <a:bodyPr lIns="95250" tIns="95250" rIns="95250" bIns="95250"/>
                    <a:lstStyle/>
                    <a:p>
                      <a:r>
                        <a:rPr sz="1875" b="0">
                          <a:solidFill>
                            <a:srgbClr val="16313A"/>
                          </a:solidFill>
                          <a:latin typeface="Helvetica Neue"/>
                          <a:ea typeface="Helvetica Neue"/>
                          <a:cs typeface="Helvetica Neue"/>
                        </a:rPr>
                        <a:t>0.413437</a:t>
                      </a:r>
                    </a:p>
                  </a:txBody>
                  <a:tcPr marL="91440" marR="91440" marT="45720" marB="45720">
                    <a:solidFill>
                      <a:srgbClr val="FAF8F3"/>
                    </a:solidFill>
                  </a:tcPr>
                </a:tc>
                <a:tc>
                  <a:txBody>
                    <a:bodyPr lIns="95250" tIns="95250" rIns="95250" bIns="95250"/>
                    <a:lstStyle/>
                    <a:p>
                      <a:r>
                        <a:rPr sz="1875" b="0">
                          <a:solidFill>
                            <a:srgbClr val="16313A"/>
                          </a:solidFill>
                          <a:latin typeface="Helvetica Neue"/>
                          <a:ea typeface="Helvetica Neue"/>
                          <a:cs typeface="Helvetica Neue"/>
                        </a:rPr>
                        <a:t>0.413437</a:t>
                      </a:r>
                    </a:p>
                  </a:txBody>
                  <a:tcPr marL="91440" marR="91440" marT="45720" marB="45720">
                    <a:solidFill>
                      <a:srgbClr val="FAF8F3"/>
                    </a:solidFill>
                  </a:tcPr>
                </a:tc>
              </a:tr>
              <a:tr h="514350">
                <a:tc>
                  <a:txBody>
                    <a:bodyPr lIns="95250" tIns="95250" rIns="95250" bIns="95250"/>
                    <a:lstStyle/>
                    <a:p>
                      <a:r>
                        <a:rPr sz="1875" b="0">
                          <a:solidFill>
                            <a:srgbClr val="16313A"/>
                          </a:solidFill>
                          <a:latin typeface="Helvetica Neue"/>
                          <a:ea typeface="Helvetica Neue"/>
                          <a:cs typeface="Helvetica Neue"/>
                        </a:rPr>
                        <a:t>do(M = 0)</a:t>
                      </a:r>
                    </a:p>
                  </a:txBody>
                  <a:tcPr marL="91440" marR="91440" marT="45720" marB="45720">
                    <a:solidFill>
                      <a:srgbClr val="FAF8F3"/>
                    </a:solidFill>
                  </a:tcPr>
                </a:tc>
                <a:tc>
                  <a:txBody>
                    <a:bodyPr lIns="95250" tIns="95250" rIns="95250" bIns="95250"/>
                    <a:lstStyle/>
                    <a:p>
                      <a:r>
                        <a:rPr sz="1875" b="0">
                          <a:solidFill>
                            <a:srgbClr val="16313A"/>
                          </a:solidFill>
                          <a:latin typeface="Helvetica Neue"/>
                          <a:ea typeface="Helvetica Neue"/>
                          <a:cs typeface="Helvetica Neue"/>
                        </a:rPr>
                        <a:t>0.000000</a:t>
                      </a:r>
                    </a:p>
                  </a:txBody>
                  <a:tcPr marL="91440" marR="91440" marT="45720" marB="45720">
                    <a:solidFill>
                      <a:srgbClr val="FAF8F3"/>
                    </a:solidFill>
                  </a:tcPr>
                </a:tc>
                <a:tc>
                  <a:txBody>
                    <a:bodyPr lIns="95250" tIns="95250" rIns="95250" bIns="95250"/>
                    <a:lstStyle/>
                    <a:p>
                      <a:r>
                        <a:rPr sz="1875" b="0">
                          <a:solidFill>
                            <a:srgbClr val="16313A"/>
                          </a:solidFill>
                          <a:latin typeface="Helvetica Neue"/>
                          <a:ea typeface="Helvetica Neue"/>
                          <a:cs typeface="Helvetica Neue"/>
                        </a:rPr>
                        <a:t>0.000000</a:t>
                      </a:r>
                    </a:p>
                  </a:txBody>
                  <a:tcPr marL="91440" marR="91440" marT="45720" marB="45720">
                    <a:solidFill>
                      <a:srgbClr val="FAF8F3"/>
                    </a:solidFill>
                  </a:tcPr>
                </a:tc>
                <a:tc>
                  <a:txBody>
                    <a:bodyPr lIns="95250" tIns="95250" rIns="95250" bIns="95250"/>
                    <a:lstStyle/>
                    <a:p>
                      <a:r>
                        <a:rPr sz="1875" b="0">
                          <a:solidFill>
                            <a:srgbClr val="16313A"/>
                          </a:solidFill>
                          <a:latin typeface="Helvetica Neue"/>
                          <a:ea typeface="Helvetica Neue"/>
                          <a:cs typeface="Helvetica Neue"/>
                        </a:rPr>
                        <a:t>0.000000</a:t>
                      </a:r>
                    </a:p>
                  </a:txBody>
                  <a:tcPr marL="91440" marR="91440" marT="45720" marB="45720">
                    <a:solidFill>
                      <a:srgbClr val="FAF8F3"/>
                    </a:solidFill>
                  </a:tcPr>
                </a:tc>
              </a:tr>
              <a:tr h="514350">
                <a:tc>
                  <a:txBody>
                    <a:bodyPr lIns="95250" tIns="95250" rIns="95250" bIns="95250"/>
                    <a:lstStyle/>
                    <a:p>
                      <a:r>
                        <a:rPr sz="1875" b="0">
                          <a:solidFill>
                            <a:srgbClr val="16313A"/>
                          </a:solidFill>
                          <a:latin typeface="Helvetica Neue"/>
                          <a:ea typeface="Helvetica Neue"/>
                          <a:cs typeface="Helvetica Neue"/>
                        </a:rPr>
                        <a:t>do(M = 1)</a:t>
                      </a:r>
                    </a:p>
                  </a:txBody>
                  <a:tcPr marL="91440" marR="91440" marT="45720" marB="45720">
                    <a:solidFill>
                      <a:srgbClr val="FAF8F3"/>
                    </a:solidFill>
                  </a:tcPr>
                </a:tc>
                <a:tc>
                  <a:txBody>
                    <a:bodyPr lIns="95250" tIns="95250" rIns="95250" bIns="95250"/>
                    <a:lstStyle/>
                    <a:p>
                      <a:r>
                        <a:rPr sz="1875" b="0">
                          <a:solidFill>
                            <a:srgbClr val="16313A"/>
                          </a:solidFill>
                          <a:latin typeface="Helvetica Neue"/>
                          <a:ea typeface="Helvetica Neue"/>
                          <a:cs typeface="Helvetica Neue"/>
                        </a:rPr>
                        <a:t>0.000000</a:t>
                      </a:r>
                    </a:p>
                  </a:txBody>
                  <a:tcPr marL="91440" marR="91440" marT="45720" marB="45720">
                    <a:solidFill>
                      <a:srgbClr val="FAF8F3"/>
                    </a:solidFill>
                  </a:tcPr>
                </a:tc>
                <a:tc>
                  <a:txBody>
                    <a:bodyPr lIns="95250" tIns="95250" rIns="95250" bIns="95250"/>
                    <a:lstStyle/>
                    <a:p>
                      <a:r>
                        <a:rPr sz="1875" b="0">
                          <a:solidFill>
                            <a:srgbClr val="16313A"/>
                          </a:solidFill>
                          <a:latin typeface="Helvetica Neue"/>
                          <a:ea typeface="Helvetica Neue"/>
                          <a:cs typeface="Helvetica Neue"/>
                        </a:rPr>
                        <a:t>0.413437</a:t>
                      </a:r>
                    </a:p>
                  </a:txBody>
                  <a:tcPr marL="91440" marR="91440" marT="45720" marB="45720">
                    <a:solidFill>
                      <a:srgbClr val="FAF8F3"/>
                    </a:solidFill>
                  </a:tcPr>
                </a:tc>
                <a:tc>
                  <a:txBody>
                    <a:bodyPr lIns="95250" tIns="95250" rIns="95250" bIns="95250"/>
                    <a:lstStyle/>
                    <a:p>
                      <a:r>
                        <a:rPr sz="1875" b="0">
                          <a:solidFill>
                            <a:srgbClr val="16313A"/>
                          </a:solidFill>
                          <a:latin typeface="Helvetica Neue"/>
                          <a:ea typeface="Helvetica Neue"/>
                          <a:cs typeface="Helvetica Neue"/>
                        </a:rPr>
                        <a:t>0.413437</a:t>
                      </a:r>
                    </a:p>
                  </a:txBody>
                  <a:tcPr marL="91440" marR="91440" marT="45720" marB="45720">
                    <a:solidFill>
                      <a:srgbClr val="FAF8F3"/>
                    </a:solidFill>
                  </a:tcPr>
                </a:tc>
              </a:tr>
            </a:tbl>
          </a:graphicData>
        </a:graphic>
      </p:graphicFrame>
      <p:sp>
        <p:nvSpPr>
          <p:cNvPr id="4" name="Selected prediction: M̂ = −2">
            <a:extLst xmlns:a="http://schemas.openxmlformats.org/drawingml/2006/main">
              <a:ext uri="{FF2B5EF4-FFF2-40B4-BE49-F238E27FC236}">
                <a16:creationId xmlns:a16="http://schemas.microsoft.com/office/drawing/2014/main" id="{5D8A0EEC-C87F-4ED6-A3E4-764DB06E40C1}"/>
              </a:ext>
            </a:extLst>
          </p:cNvPr>
          <p:cNvSpPr>
            <a:spLocks xmlns:a="http://schemas.openxmlformats.org/drawingml/2006/main" noGrp="1"/>
          </p:cNvSpPr>
          <p:nvPr/>
        </p:nvSpPr>
        <p:spPr>
          <a:xfrm xmlns:a="http://schemas.openxmlformats.org/drawingml/2006/main">
            <a:off x="609600" y="5324475"/>
            <a:ext cx="104775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25" b="1">
                <a:solidFill>
                  <a:srgbClr val="087F83"/>
                </a:solidFill>
                <a:latin typeface="Helvetica Neue"/>
                <a:ea typeface="Helvetica Neue"/>
                <a:cs typeface="Helvetica Neue"/>
              </a:defRPr>
            </a:defPPr>
          </a:lstStyle>
          <a:p xmlns:a="http://schemas.openxmlformats.org/drawingml/2006/main">
            <a:pPr>
              <a:defRPr sz="2625" b="1">
                <a:solidFill>
                  <a:srgbClr val="087F83"/>
                </a:solidFill>
                <a:latin typeface="Helvetica Neue"/>
                <a:ea typeface="Helvetica Neue"/>
                <a:cs typeface="Helvetica Neue"/>
              </a:defRPr>
            </a:pPr>
            <a:r>
              <a:rPr sz="2625" b="1">
                <a:solidFill>
                  <a:srgbClr val="087F83"/>
                </a:solidFill>
                <a:latin typeface="Helvetica Neue"/>
                <a:ea typeface="Helvetica Neue"/>
                <a:cs typeface="Helvetica Neue"/>
              </a:rPr>
              <a:t>Selected prediction: M̂ = −2,  Ŷ = −6</a:t>
            </a:r>
          </a:p>
        </p:txBody>
      </p:sp>
      <p:sp>
        <p:nvSpPr>
          <p:cNvPr id="5" name="The two endpoint X actions t">
            <a:extLst xmlns:a="http://schemas.openxmlformats.org/drawingml/2006/main">
              <a:ext uri="{FF2B5EF4-FFF2-40B4-BE49-F238E27FC236}">
                <a16:creationId xmlns:a16="http://schemas.microsoft.com/office/drawing/2014/main" id="{4E24F42F-F481-41F8-865E-ACB2675D3A3E}"/>
              </a:ext>
            </a:extLst>
          </p:cNvPr>
          <p:cNvSpPr>
            <a:spLocks xmlns:a="http://schemas.openxmlformats.org/drawingml/2006/main" noGrp="1"/>
          </p:cNvSpPr>
          <p:nvPr/>
        </p:nvSpPr>
        <p:spPr>
          <a:xfrm xmlns:a="http://schemas.openxmlformats.org/drawingml/2006/main">
            <a:off x="609600" y="5905500"/>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3666B"/>
                </a:solidFill>
                <a:latin typeface="Helvetica Neue"/>
                <a:ea typeface="Helvetica Neue"/>
                <a:cs typeface="Helvetica Neue"/>
              </a:defRPr>
            </a:defPPr>
          </a:lstStyle>
          <a:p xmlns:a="http://schemas.openxmlformats.org/drawingml/2006/main">
            <a:pPr>
              <a:defRPr sz="1650" b="0">
                <a:solidFill>
                  <a:srgbClr val="53666B"/>
                </a:solidFill>
                <a:latin typeface="Helvetica Neue"/>
                <a:ea typeface="Helvetica Neue"/>
                <a:cs typeface="Helvetica Neue"/>
              </a:defRPr>
            </a:pPr>
            <a:r>
              <a:rPr sz="1650" b="0">
                <a:solidFill>
                  <a:srgbClr val="53666B"/>
                </a:solidFill>
                <a:latin typeface="Helvetica Neue"/>
                <a:ea typeface="Helvetica Neue"/>
                <a:cs typeface="Helvetica Neue"/>
              </a:rPr>
              <a:t>The two endpoint X actions tie. Choosing −1 follows the declared order, not observed performance.</a:t>
            </a:r>
          </a:p>
        </p:txBody>
      </p:sp>
    </p:spTree>
    <p:extLst>
      <p:ext uri="{BB962C8B-B14F-4D97-AF65-F5344CB8AC3E}">
        <p14:creationId xmlns:p14="http://schemas.microsoft.com/office/powerpoint/2010/main" val="235033263"/>
      </p:ext>
    </p:extLst>
  </p:cSld>
</p:sld>
</file>

<file path=ppt/slides/slide7.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BD88ED10-F65B-4FA3-B01E-900D87C5A382}"/>
              </a:ext>
            </a:extLst>
          </p:cNvPr>
          <p:cNvSpPr>
            <a:spLocks xmlns:a="http://schemas.openxmlformats.org/drawingml/2006/main" noGrp="1"/>
          </p:cNvSpPr>
          <p:nvPr/>
        </p:nvSpPr>
        <p:spPr>
          <a:xfrm xmlns:a="http://schemas.openxmlformats.org/drawingml/2006/main">
            <a:off x="609600" y="495300"/>
            <a:ext cx="1085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6313A"/>
                </a:solidFill>
                <a:latin typeface="Helvetica Neue"/>
                <a:ea typeface="Helvetica Neue"/>
                <a:cs typeface="Helvetica Neue"/>
              </a:defRPr>
            </a:defPPr>
          </a:lstStyle>
          <a:p xmlns:a="http://schemas.openxmlformats.org/drawingml/2006/main">
            <a:pPr>
              <a:defRPr sz="3450" b="1">
                <a:solidFill>
                  <a:srgbClr val="16313A"/>
                </a:solidFill>
                <a:latin typeface="Helvetica Neue"/>
                <a:ea typeface="Helvetica Neue"/>
                <a:cs typeface="Helvetica Neue"/>
              </a:defRPr>
            </a:pPr>
            <a:r>
              <a:rPr sz="3450" b="1">
                <a:solidFill>
                  <a:srgbClr val="16313A"/>
                </a:solidFill>
                <a:latin typeface="Helvetica Neue"/>
                <a:ea typeface="Helvetica Neue"/>
                <a:cs typeface="Helvetica Neue"/>
              </a:rPr>
              <a:t>The response updates eligible mechanisms</a:t>
            </a:r>
          </a:p>
        </p:txBody>
      </p:sp>
      <p:sp>
        <p:nvSpPr>
          <p:cNvPr id="2" name="page">
            <a:extLst xmlns:a="http://schemas.openxmlformats.org/drawingml/2006/main">
              <a:ext uri="{FF2B5EF4-FFF2-40B4-BE49-F238E27FC236}">
                <a16:creationId xmlns:a16="http://schemas.microsoft.com/office/drawing/2014/main" id="{530016AF-0C22-43D8-9B59-0778441B2D55}"/>
              </a:ext>
            </a:extLst>
          </p:cNvPr>
          <p:cNvSpPr>
            <a:spLocks xmlns:a="http://schemas.openxmlformats.org/drawingml/2006/main" noGrp="1"/>
          </p:cNvSpPr>
          <p:nvPr/>
        </p:nvSpPr>
        <p:spPr>
          <a:xfrm xmlns:a="http://schemas.openxmlformats.org/drawingml/2006/main">
            <a:off x="11182350" y="632460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66B"/>
                </a:solidFill>
                <a:latin typeface="Helvetica Neue"/>
                <a:ea typeface="Helvetica Neue"/>
                <a:cs typeface="Helvetica Neue"/>
              </a:defRPr>
            </a:defPPr>
          </a:lstStyle>
          <a:p xmlns:a="http://schemas.openxmlformats.org/drawingml/2006/main">
            <a:pPr>
              <a:defRPr sz="1500" b="0">
                <a:solidFill>
                  <a:srgbClr val="53666B"/>
                </a:solidFill>
                <a:latin typeface="Helvetica Neue"/>
                <a:ea typeface="Helvetica Neue"/>
                <a:cs typeface="Helvetica Neue"/>
              </a:defRPr>
            </a:pPr>
            <a:r>
              <a:rPr sz="1500" b="0">
                <a:solidFill>
                  <a:srgbClr val="53666B"/>
                </a:solidFill>
                <a:latin typeface="Helvetica Neue"/>
                <a:ea typeface="Helvetica Neue"/>
                <a:cs typeface="Helvetica Neue"/>
              </a:rPr>
              <a:t>07</a:t>
            </a:r>
          </a:p>
        </p:txBody>
      </p:sp>
      <p:sp>
        <p:nvSpPr>
          <p:cNvPr id="3" name="Observed row: X = −1, M = −2">
            <a:extLst xmlns:a="http://schemas.openxmlformats.org/drawingml/2006/main">
              <a:ext uri="{FF2B5EF4-FFF2-40B4-BE49-F238E27FC236}">
                <a16:creationId xmlns:a16="http://schemas.microsoft.com/office/drawing/2014/main" id="{AD7F7D5D-31E7-4A42-8952-CDFD3FD352A1}"/>
              </a:ext>
            </a:extLst>
          </p:cNvPr>
          <p:cNvSpPr>
            <a:spLocks xmlns:a="http://schemas.openxmlformats.org/drawingml/2006/main" noGrp="1"/>
          </p:cNvSpPr>
          <p:nvPr/>
        </p:nvSpPr>
        <p:spPr>
          <a:xfrm xmlns:a="http://schemas.openxmlformats.org/drawingml/2006/main">
            <a:off x="609600" y="1543050"/>
            <a:ext cx="1076325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75" b="1">
                <a:solidFill>
                  <a:srgbClr val="087F83"/>
                </a:solidFill>
                <a:latin typeface="Helvetica Neue"/>
                <a:ea typeface="Helvetica Neue"/>
                <a:cs typeface="Helvetica Neue"/>
              </a:defRPr>
            </a:defPPr>
          </a:lstStyle>
          <a:p xmlns:a="http://schemas.openxmlformats.org/drawingml/2006/main">
            <a:pPr>
              <a:defRPr sz="2775" b="1">
                <a:solidFill>
                  <a:srgbClr val="087F83"/>
                </a:solidFill>
                <a:latin typeface="Helvetica Neue"/>
                <a:ea typeface="Helvetica Neue"/>
                <a:cs typeface="Helvetica Neue"/>
              </a:defRPr>
            </a:pPr>
            <a:r>
              <a:rPr sz="2775" b="1">
                <a:solidFill>
                  <a:srgbClr val="087F83"/>
                </a:solidFill>
                <a:latin typeface="Helvetica Neue"/>
                <a:ea typeface="Helvetica Neue"/>
                <a:cs typeface="Helvetica Neue"/>
              </a:rPr>
              <a:t>Observed row: X = −1, M = −2.5, Y = −7.5</a:t>
            </a:r>
          </a:p>
        </p:txBody>
      </p:sp>
      <p:graphicFrame>
        <p:nvGraphicFramePr>
          <p:cNvPr id="4" name="">
            <a:extLst xmlns:a="http://schemas.openxmlformats.org/drawingml/2006/main">
              <a:ext uri="{FF2B5EF4-FFF2-40B4-BE49-F238E27FC236}">
                <a16:creationId xmlns:a16="http://schemas.microsoft.com/office/drawing/2014/main" id="{4E08BAA2-7B97-4095-953D-1CBDFA01CC68}"/>
              </a:ext>
            </a:extLst>
          </p:cNvPr>
          <p:cNvGraphicFramePr/>
          <p:nvPr/>
        </p:nvGraphicFramePr>
        <p:xfrm>
          <a:off xmlns:a="http://schemas.openxmlformats.org/drawingml/2006/main" x="609600" y="2419350"/>
          <a:ext xmlns:a="http://schemas.openxmlformats.org/drawingml/2006/main" cx="10820400" cy="1943100"/>
        </p:xfrm>
        <a:graphic xmlns:a="http://schemas.openxmlformats.org/drawingml/2006/main">
          <a:graphicData uri="http://schemas.openxmlformats.org/drawingml/2006/table">
            <a:tbl>
              <a:tblPr firstRow="0" bandRow="0"/>
              <a:tblGrid>
                <a:gridCol w="3333750"/>
                <a:gridCol w="3771900"/>
                <a:gridCol w="3714750"/>
              </a:tblGrid>
              <a:tr h="647700">
                <a:tc>
                  <a:txBody>
                    <a:bodyPr lIns="95250" tIns="95250" rIns="95250" bIns="95250"/>
                    <a:lstStyle/>
                    <a:p>
                      <a:r>
                        <a:rPr sz="1950" b="1">
                          <a:solidFill>
                            <a:srgbClr val="FFFFFF"/>
                          </a:solidFill>
                          <a:latin typeface="Helvetica Neue"/>
                          <a:ea typeface="Helvetica Neue"/>
                          <a:cs typeface="Helvetica Neue"/>
                        </a:rPr>
                        <a:t>Natural mechanism</a:t>
                      </a:r>
                    </a:p>
                  </a:txBody>
                  <a:tcPr marL="91440" marR="91440" marT="45720" marB="45720">
                    <a:solidFill>
                      <a:srgbClr val="112B36"/>
                    </a:solidFill>
                  </a:tcPr>
                </a:tc>
                <a:tc>
                  <a:txBody>
                    <a:bodyPr lIns="95250" tIns="95250" rIns="95250" bIns="95250"/>
                    <a:lstStyle/>
                    <a:p>
                      <a:r>
                        <a:rPr sz="1950" b="1">
                          <a:solidFill>
                            <a:srgbClr val="FFFFFF"/>
                          </a:solidFill>
                          <a:latin typeface="Helvetica Neue"/>
                          <a:ea typeface="Helvetica Neue"/>
                          <a:cs typeface="Helvetica Neue"/>
                        </a:rPr>
                        <a:t>Training input</a:t>
                      </a:r>
                    </a:p>
                  </a:txBody>
                  <a:tcPr marL="91440" marR="91440" marT="45720" marB="45720">
                    <a:solidFill>
                      <a:srgbClr val="112B36"/>
                    </a:solidFill>
                  </a:tcPr>
                </a:tc>
                <a:tc>
                  <a:txBody>
                    <a:bodyPr lIns="95250" tIns="95250" rIns="95250" bIns="95250"/>
                    <a:lstStyle/>
                    <a:p>
                      <a:r>
                        <a:rPr sz="1950" b="1">
                          <a:solidFill>
                            <a:srgbClr val="FFFFFF"/>
                          </a:solidFill>
                          <a:latin typeface="Helvetica Neue"/>
                          <a:ea typeface="Helvetica Neue"/>
                          <a:cs typeface="Helvetica Neue"/>
                        </a:rPr>
                        <a:t>Training label</a:t>
                      </a:r>
                    </a:p>
                  </a:txBody>
                  <a:tcPr marL="91440" marR="91440" marT="45720" marB="45720">
                    <a:solidFill>
                      <a:srgbClr val="112B36"/>
                    </a:solidFill>
                  </a:tcPr>
                </a:tc>
              </a:tr>
              <a:tr h="647700">
                <a:tc>
                  <a:txBody>
                    <a:bodyPr lIns="95250" tIns="95250" rIns="95250" bIns="95250"/>
                    <a:lstStyle/>
                    <a:p>
                      <a:r>
                        <a:rPr sz="2100" b="0">
                          <a:solidFill>
                            <a:srgbClr val="16313A"/>
                          </a:solidFill>
                          <a:latin typeface="Helvetica Neue"/>
                          <a:ea typeface="Helvetica Neue"/>
                          <a:cs typeface="Helvetica Neue"/>
                        </a:rPr>
                        <a:t>M</a:t>
                      </a:r>
                    </a:p>
                  </a:txBody>
                  <a:tcPr marL="91440" marR="91440" marT="45720" marB="45720">
                    <a:solidFill>
                      <a:srgbClr val="FAF8F3"/>
                    </a:solidFill>
                  </a:tcPr>
                </a:tc>
                <a:tc>
                  <a:txBody>
                    <a:bodyPr lIns="95250" tIns="95250" rIns="95250" bIns="95250"/>
                    <a:lstStyle/>
                    <a:p>
                      <a:r>
                        <a:rPr sz="2100" b="0">
                          <a:solidFill>
                            <a:srgbClr val="16313A"/>
                          </a:solidFill>
                          <a:latin typeface="Helvetica Neue"/>
                          <a:ea typeface="Helvetica Neue"/>
                          <a:cs typeface="Helvetica Neue"/>
                        </a:rPr>
                        <a:t>Measured X = −1</a:t>
                      </a:r>
                    </a:p>
                  </a:txBody>
                  <a:tcPr marL="91440" marR="91440" marT="45720" marB="45720">
                    <a:solidFill>
                      <a:srgbClr val="FAF8F3"/>
                    </a:solidFill>
                  </a:tcPr>
                </a:tc>
                <a:tc>
                  <a:txBody>
                    <a:bodyPr lIns="95250" tIns="95250" rIns="95250" bIns="95250"/>
                    <a:lstStyle/>
                    <a:p>
                      <a:r>
                        <a:rPr sz="2100" b="0">
                          <a:solidFill>
                            <a:srgbClr val="16313A"/>
                          </a:solidFill>
                          <a:latin typeface="Helvetica Neue"/>
                          <a:ea typeface="Helvetica Neue"/>
                          <a:cs typeface="Helvetica Neue"/>
                        </a:rPr>
                        <a:t>M = −2.5</a:t>
                      </a:r>
                    </a:p>
                  </a:txBody>
                  <a:tcPr marL="91440" marR="91440" marT="45720" marB="45720">
                    <a:solidFill>
                      <a:srgbClr val="FAF8F3"/>
                    </a:solidFill>
                  </a:tcPr>
                </a:tc>
              </a:tr>
              <a:tr h="647700">
                <a:tc>
                  <a:txBody>
                    <a:bodyPr lIns="95250" tIns="95250" rIns="95250" bIns="95250"/>
                    <a:lstStyle/>
                    <a:p>
                      <a:r>
                        <a:rPr sz="2100" b="0">
                          <a:solidFill>
                            <a:srgbClr val="16313A"/>
                          </a:solidFill>
                          <a:latin typeface="Helvetica Neue"/>
                          <a:ea typeface="Helvetica Neue"/>
                          <a:cs typeface="Helvetica Neue"/>
                        </a:rPr>
                        <a:t>Y</a:t>
                      </a:r>
                    </a:p>
                  </a:txBody>
                  <a:tcPr marL="91440" marR="91440" marT="45720" marB="45720">
                    <a:solidFill>
                      <a:srgbClr val="FAF8F3"/>
                    </a:solidFill>
                  </a:tcPr>
                </a:tc>
                <a:tc>
                  <a:txBody>
                    <a:bodyPr lIns="95250" tIns="95250" rIns="95250" bIns="95250"/>
                    <a:lstStyle/>
                    <a:p>
                      <a:r>
                        <a:rPr sz="2100" b="0">
                          <a:solidFill>
                            <a:srgbClr val="16313A"/>
                          </a:solidFill>
                          <a:latin typeface="Helvetica Neue"/>
                          <a:ea typeface="Helvetica Neue"/>
                          <a:cs typeface="Helvetica Neue"/>
                        </a:rPr>
                        <a:t>Measured M = −2.5</a:t>
                      </a:r>
                    </a:p>
                  </a:txBody>
                  <a:tcPr marL="91440" marR="91440" marT="45720" marB="45720">
                    <a:solidFill>
                      <a:srgbClr val="FAF8F3"/>
                    </a:solidFill>
                  </a:tcPr>
                </a:tc>
                <a:tc>
                  <a:txBody>
                    <a:bodyPr lIns="95250" tIns="95250" rIns="95250" bIns="95250"/>
                    <a:lstStyle/>
                    <a:p>
                      <a:r>
                        <a:rPr sz="2100" b="0">
                          <a:solidFill>
                            <a:srgbClr val="16313A"/>
                          </a:solidFill>
                          <a:latin typeface="Helvetica Neue"/>
                          <a:ea typeface="Helvetica Neue"/>
                          <a:cs typeface="Helvetica Neue"/>
                        </a:rPr>
                        <a:t>Y = −7.5</a:t>
                      </a:r>
                    </a:p>
                  </a:txBody>
                  <a:tcPr marL="91440" marR="91440" marT="45720" marB="45720">
                    <a:solidFill>
                      <a:srgbClr val="FAF8F3"/>
                    </a:solidFill>
                  </a:tcPr>
                </a:tc>
              </a:tr>
            </a:tbl>
          </a:graphicData>
        </a:graphic>
      </p:graphicFrame>
      <p:sp>
        <p:nvSpPr>
          <p:cNvPr id="5" name="After one illustrative gradi">
            <a:extLst xmlns:a="http://schemas.openxmlformats.org/drawingml/2006/main">
              <a:ext uri="{FF2B5EF4-FFF2-40B4-BE49-F238E27FC236}">
                <a16:creationId xmlns:a16="http://schemas.microsoft.com/office/drawing/2014/main" id="{489869A0-30D4-4D46-A279-FAA46D312BB8}"/>
              </a:ext>
            </a:extLst>
          </p:cNvPr>
          <p:cNvSpPr>
            <a:spLocks xmlns:a="http://schemas.openxmlformats.org/drawingml/2006/main" noGrp="1"/>
          </p:cNvSpPr>
          <p:nvPr/>
        </p:nvSpPr>
        <p:spPr>
          <a:xfrm xmlns:a="http://schemas.openxmlformats.org/drawingml/2006/main">
            <a:off x="609600" y="4676775"/>
            <a:ext cx="10477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53666B"/>
                </a:solidFill>
                <a:latin typeface="Helvetica Neue"/>
                <a:ea typeface="Helvetica Neue"/>
                <a:cs typeface="Helvetica Neue"/>
              </a:defRPr>
            </a:defPPr>
          </a:lstStyle>
          <a:p xmlns:a="http://schemas.openxmlformats.org/drawingml/2006/main">
            <a:pPr>
              <a:defRPr sz="2175" b="0">
                <a:solidFill>
                  <a:srgbClr val="53666B"/>
                </a:solidFill>
                <a:latin typeface="Helvetica Neue"/>
                <a:ea typeface="Helvetica Neue"/>
                <a:cs typeface="Helvetica Neue"/>
              </a:defRPr>
            </a:pPr>
            <a:r>
              <a:rPr sz="2175" b="0">
                <a:solidFill>
                  <a:srgbClr val="53666B"/>
                </a:solidFill>
                <a:latin typeface="Helvetica Neue"/>
                <a:ea typeface="Helvetica Neue"/>
                <a:cs typeface="Helvetica Neue"/>
              </a:rPr>
              <a:t>After one illustrative gradient update</a:t>
            </a:r>
          </a:p>
        </p:txBody>
      </p:sp>
      <p:sp>
        <p:nvSpPr>
          <p:cNvPr id="6" name="M̂ = −2.25       Ŷ = −6.75  ">
            <a:extLst xmlns:a="http://schemas.openxmlformats.org/drawingml/2006/main">
              <a:ext uri="{FF2B5EF4-FFF2-40B4-BE49-F238E27FC236}">
                <a16:creationId xmlns:a16="http://schemas.microsoft.com/office/drawing/2014/main" id="{926B7F2E-628E-42C5-9B7A-474145A84553}"/>
              </a:ext>
            </a:extLst>
          </p:cNvPr>
          <p:cNvSpPr>
            <a:spLocks xmlns:a="http://schemas.openxmlformats.org/drawingml/2006/main" noGrp="1"/>
          </p:cNvSpPr>
          <p:nvPr/>
        </p:nvSpPr>
        <p:spPr>
          <a:xfrm xmlns:a="http://schemas.openxmlformats.org/drawingml/2006/main">
            <a:off x="609600" y="5248275"/>
            <a:ext cx="10477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25" b="1">
                <a:solidFill>
                  <a:srgbClr val="087F83"/>
                </a:solidFill>
                <a:latin typeface="Helvetica Neue"/>
                <a:ea typeface="Helvetica Neue"/>
                <a:cs typeface="Helvetica Neue"/>
              </a:defRPr>
            </a:defPPr>
          </a:lstStyle>
          <a:p xmlns:a="http://schemas.openxmlformats.org/drawingml/2006/main">
            <a:pPr>
              <a:defRPr sz="2625" b="1">
                <a:solidFill>
                  <a:srgbClr val="087F83"/>
                </a:solidFill>
                <a:latin typeface="Helvetica Neue"/>
                <a:ea typeface="Helvetica Neue"/>
                <a:cs typeface="Helvetica Neue"/>
              </a:defRPr>
            </a:pPr>
            <a:r>
              <a:rPr sz="2625" b="1">
                <a:solidFill>
                  <a:srgbClr val="087F83"/>
                </a:solidFill>
                <a:latin typeface="Helvetica Neue"/>
                <a:ea typeface="Helvetica Neue"/>
                <a:cs typeface="Helvetica Neue"/>
              </a:rPr>
              <a:t>M̂ = −2.25       Ŷ = −6.75       Budget left: 0</a:t>
            </a:r>
          </a:p>
        </p:txBody>
      </p:sp>
      <p:sp>
        <p:nvSpPr>
          <p:cNvPr id="7" name="This transparent linear upda">
            <a:extLst xmlns:a="http://schemas.openxmlformats.org/drawingml/2006/main">
              <a:ext uri="{FF2B5EF4-FFF2-40B4-BE49-F238E27FC236}">
                <a16:creationId xmlns:a16="http://schemas.microsoft.com/office/drawing/2014/main" id="{2E68F5E8-56E2-4527-BFFB-8055FFB728D5}"/>
              </a:ext>
            </a:extLst>
          </p:cNvPr>
          <p:cNvSpPr>
            <a:spLocks xmlns:a="http://schemas.openxmlformats.org/drawingml/2006/main" noGrp="1"/>
          </p:cNvSpPr>
          <p:nvPr/>
        </p:nvSpPr>
        <p:spPr>
          <a:xfrm xmlns:a="http://schemas.openxmlformats.org/drawingml/2006/main">
            <a:off x="609600" y="5905500"/>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3666B"/>
                </a:solidFill>
                <a:latin typeface="Helvetica Neue"/>
                <a:ea typeface="Helvetica Neue"/>
                <a:cs typeface="Helvetica Neue"/>
              </a:defRPr>
            </a:defPPr>
          </a:lstStyle>
          <a:p xmlns:a="http://schemas.openxmlformats.org/drawingml/2006/main">
            <a:pPr>
              <a:defRPr sz="1650" b="0">
                <a:solidFill>
                  <a:srgbClr val="53666B"/>
                </a:solidFill>
                <a:latin typeface="Helvetica Neue"/>
                <a:ea typeface="Helvetica Neue"/>
                <a:cs typeface="Helvetica Neue"/>
              </a:defRPr>
            </a:pPr>
            <a:r>
              <a:rPr sz="1650" b="0">
                <a:solidFill>
                  <a:srgbClr val="53666B"/>
                </a:solidFill>
                <a:latin typeface="Helvetica Neue"/>
                <a:ea typeface="Helvetica Neue"/>
                <a:cs typeface="Helvetica Neue"/>
              </a:rPr>
              <a:t>This transparent linear update differs from production neural training. It proves no test-error gain.</a:t>
            </a:r>
          </a:p>
        </p:txBody>
      </p:sp>
    </p:spTree>
    <p:extLst>
      <p:ext uri="{BB962C8B-B14F-4D97-AF65-F5344CB8AC3E}">
        <p14:creationId xmlns:p14="http://schemas.microsoft.com/office/powerpoint/2010/main" val="1760621292"/>
      </p:ext>
    </p:extLst>
  </p:cSld>
</p:sld>
</file>

<file path=ppt/slides/slide8.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F9E96254-858C-406E-9E4B-7619BD1B35DD}"/>
              </a:ext>
            </a:extLst>
          </p:cNvPr>
          <p:cNvSpPr>
            <a:spLocks xmlns:a="http://schemas.openxmlformats.org/drawingml/2006/main" noGrp="1"/>
          </p:cNvSpPr>
          <p:nvPr/>
        </p:nvSpPr>
        <p:spPr>
          <a:xfrm xmlns:a="http://schemas.openxmlformats.org/drawingml/2006/main">
            <a:off x="609600" y="495300"/>
            <a:ext cx="1085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6313A"/>
                </a:solidFill>
                <a:latin typeface="Helvetica Neue"/>
                <a:ea typeface="Helvetica Neue"/>
                <a:cs typeface="Helvetica Neue"/>
              </a:defRPr>
            </a:defPPr>
          </a:lstStyle>
          <a:p xmlns:a="http://schemas.openxmlformats.org/drawingml/2006/main">
            <a:pPr>
              <a:defRPr sz="3450" b="1">
                <a:solidFill>
                  <a:srgbClr val="16313A"/>
                </a:solidFill>
                <a:latin typeface="Helvetica Neue"/>
                <a:ea typeface="Helvetica Neue"/>
                <a:cs typeface="Helvetica Neue"/>
              </a:defRPr>
            </a:pPr>
            <a:r>
              <a:rPr sz="3450" b="1">
                <a:solidFill>
                  <a:srgbClr val="16313A"/>
                </a:solidFill>
                <a:latin typeface="Helvetica Neue"/>
                <a:ea typeface="Helvetica Neue"/>
                <a:cs typeface="Helvetica Neue"/>
              </a:rPr>
              <a:t>A real ACE run records this first action</a:t>
            </a:r>
          </a:p>
        </p:txBody>
      </p:sp>
      <p:sp>
        <p:nvSpPr>
          <p:cNvPr id="2" name="page">
            <a:extLst xmlns:a="http://schemas.openxmlformats.org/drawingml/2006/main">
              <a:ext uri="{FF2B5EF4-FFF2-40B4-BE49-F238E27FC236}">
                <a16:creationId xmlns:a16="http://schemas.microsoft.com/office/drawing/2014/main" id="{50E2AADB-345F-46B9-8DD4-6AD109214752}"/>
              </a:ext>
            </a:extLst>
          </p:cNvPr>
          <p:cNvSpPr>
            <a:spLocks xmlns:a="http://schemas.openxmlformats.org/drawingml/2006/main" noGrp="1"/>
          </p:cNvSpPr>
          <p:nvPr/>
        </p:nvSpPr>
        <p:spPr>
          <a:xfrm xmlns:a="http://schemas.openxmlformats.org/drawingml/2006/main">
            <a:off x="11182350" y="632460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66B"/>
                </a:solidFill>
                <a:latin typeface="Helvetica Neue"/>
                <a:ea typeface="Helvetica Neue"/>
                <a:cs typeface="Helvetica Neue"/>
              </a:defRPr>
            </a:defPPr>
          </a:lstStyle>
          <a:p xmlns:a="http://schemas.openxmlformats.org/drawingml/2006/main">
            <a:pPr>
              <a:defRPr sz="1500" b="0">
                <a:solidFill>
                  <a:srgbClr val="53666B"/>
                </a:solidFill>
                <a:latin typeface="Helvetica Neue"/>
                <a:ea typeface="Helvetica Neue"/>
                <a:cs typeface="Helvetica Neue"/>
              </a:defRPr>
            </a:pPr>
            <a:r>
              <a:rPr sz="1500" b="0">
                <a:solidFill>
                  <a:srgbClr val="53666B"/>
                </a:solidFill>
                <a:latin typeface="Helvetica Neue"/>
                <a:ea typeface="Helvetica Neue"/>
                <a:cs typeface="Helvetica Neue"/>
              </a:rPr>
              <a:t>08</a:t>
            </a:r>
          </a:p>
        </p:txBody>
      </p:sp>
      <p:sp>
        <p:nvSpPr>
          <p:cNvPr id="3" name="do(X7 = 3.857086181640625)">
            <a:extLst xmlns:a="http://schemas.openxmlformats.org/drawingml/2006/main">
              <a:ext uri="{FF2B5EF4-FFF2-40B4-BE49-F238E27FC236}">
                <a16:creationId xmlns:a16="http://schemas.microsoft.com/office/drawing/2014/main" id="{F03F6938-6499-44C8-8B46-90490AADD7C4}"/>
              </a:ext>
            </a:extLst>
          </p:cNvPr>
          <p:cNvSpPr>
            <a:spLocks xmlns:a="http://schemas.openxmlformats.org/drawingml/2006/main" noGrp="1"/>
          </p:cNvSpPr>
          <p:nvPr/>
        </p:nvSpPr>
        <p:spPr>
          <a:xfrm xmlns:a="http://schemas.openxmlformats.org/drawingml/2006/main">
            <a:off x="609600" y="1685925"/>
            <a:ext cx="10668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750" b="1">
                <a:solidFill>
                  <a:srgbClr val="087F83"/>
                </a:solidFill>
                <a:latin typeface="Helvetica Neue"/>
                <a:ea typeface="Helvetica Neue"/>
                <a:cs typeface="Helvetica Neue"/>
              </a:defRPr>
            </a:defPPr>
          </a:lstStyle>
          <a:p xmlns:a="http://schemas.openxmlformats.org/drawingml/2006/main">
            <a:pPr>
              <a:defRPr sz="3750" b="1">
                <a:solidFill>
                  <a:srgbClr val="087F83"/>
                </a:solidFill>
                <a:latin typeface="Helvetica Neue"/>
                <a:ea typeface="Helvetica Neue"/>
                <a:cs typeface="Helvetica Neue"/>
              </a:defRPr>
            </a:pPr>
            <a:r>
              <a:rPr sz="3750" b="1">
                <a:solidFill>
                  <a:srgbClr val="087F83"/>
                </a:solidFill>
                <a:latin typeface="Helvetica Neue"/>
                <a:ea typeface="Helvetica Neue"/>
                <a:cs typeface="Helvetica Neue"/>
              </a:rPr>
              <a:t>do(X7 = 3.857086181640625)</a:t>
            </a:r>
          </a:p>
        </p:txBody>
      </p:sp>
      <p:sp>
        <p:nvSpPr>
          <p:cNvPr id="4" name="50">
            <a:extLst xmlns:a="http://schemas.openxmlformats.org/drawingml/2006/main">
              <a:ext uri="{FF2B5EF4-FFF2-40B4-BE49-F238E27FC236}">
                <a16:creationId xmlns:a16="http://schemas.microsoft.com/office/drawing/2014/main" id="{590A4F1B-58B6-492B-AF2C-A6639F6F5E14}"/>
              </a:ext>
            </a:extLst>
          </p:cNvPr>
          <p:cNvSpPr>
            <a:spLocks xmlns:a="http://schemas.openxmlformats.org/drawingml/2006/main" noGrp="1"/>
          </p:cNvSpPr>
          <p:nvPr/>
        </p:nvSpPr>
        <p:spPr>
          <a:xfrm xmlns:a="http://schemas.openxmlformats.org/drawingml/2006/main">
            <a:off x="609600" y="3114675"/>
            <a:ext cx="428625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7050" b="1">
                <a:solidFill>
                  <a:srgbClr val="16313A"/>
                </a:solidFill>
                <a:latin typeface="Helvetica Neue"/>
                <a:ea typeface="Helvetica Neue"/>
                <a:cs typeface="Helvetica Neue"/>
              </a:defRPr>
            </a:defPPr>
          </a:lstStyle>
          <a:p xmlns:a="http://schemas.openxmlformats.org/drawingml/2006/main">
            <a:pPr>
              <a:defRPr sz="7050" b="1">
                <a:solidFill>
                  <a:srgbClr val="16313A"/>
                </a:solidFill>
                <a:latin typeface="Helvetica Neue"/>
                <a:ea typeface="Helvetica Neue"/>
                <a:cs typeface="Helvetica Neue"/>
              </a:defRPr>
            </a:pPr>
            <a:r>
              <a:rPr sz="7050" b="1">
                <a:solidFill>
                  <a:srgbClr val="16313A"/>
                </a:solidFill>
                <a:latin typeface="Helvetica Neue"/>
                <a:ea typeface="Helvetica Neue"/>
                <a:cs typeface="Helvetica Neue"/>
              </a:rPr>
              <a:t>50</a:t>
            </a:r>
          </a:p>
        </p:txBody>
      </p:sp>
      <p:sp>
        <p:nvSpPr>
          <p:cNvPr id="5" name="responses from the first int">
            <a:extLst xmlns:a="http://schemas.openxmlformats.org/drawingml/2006/main">
              <a:ext uri="{FF2B5EF4-FFF2-40B4-BE49-F238E27FC236}">
                <a16:creationId xmlns:a16="http://schemas.microsoft.com/office/drawing/2014/main" id="{C6CBBC3B-2409-41AC-B0D3-C2C3E02DDA01}"/>
              </a:ext>
            </a:extLst>
          </p:cNvPr>
          <p:cNvSpPr>
            <a:spLocks xmlns:a="http://schemas.openxmlformats.org/drawingml/2006/main" noGrp="1"/>
          </p:cNvSpPr>
          <p:nvPr/>
        </p:nvSpPr>
        <p:spPr>
          <a:xfrm xmlns:a="http://schemas.openxmlformats.org/drawingml/2006/main">
            <a:off x="609600" y="4324350"/>
            <a:ext cx="5143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16313A"/>
                </a:solidFill>
                <a:latin typeface="Helvetica Neue"/>
                <a:ea typeface="Helvetica Neue"/>
                <a:cs typeface="Helvetica Neue"/>
              </a:defRPr>
            </a:defPPr>
          </a:lstStyle>
          <a:p xmlns:a="http://schemas.openxmlformats.org/drawingml/2006/main">
            <a:pPr>
              <a:defRPr sz="2250" b="0">
                <a:solidFill>
                  <a:srgbClr val="16313A"/>
                </a:solidFill>
                <a:latin typeface="Helvetica Neue"/>
                <a:ea typeface="Helvetica Neue"/>
                <a:cs typeface="Helvetica Neue"/>
              </a:defRPr>
            </a:pPr>
            <a:r>
              <a:rPr sz="2250" b="0">
                <a:solidFill>
                  <a:srgbClr val="16313A"/>
                </a:solidFill>
                <a:latin typeface="Helvetica Neue"/>
                <a:ea typeface="Helvetica Neue"/>
                <a:cs typeface="Helvetica Neue"/>
              </a:rPr>
              <a:t>responses from the first intervention</a:t>
            </a:r>
          </a:p>
        </p:txBody>
      </p:sp>
      <p:sp>
        <p:nvSpPr>
          <p:cNvPr id="6" name="Full campaign budget">
            <a:extLst xmlns:a="http://schemas.openxmlformats.org/drawingml/2006/main">
              <a:ext uri="{FF2B5EF4-FFF2-40B4-BE49-F238E27FC236}">
                <a16:creationId xmlns:a16="http://schemas.microsoft.com/office/drawing/2014/main" id="{0DE49838-DA1C-46F6-971D-25DC57741A37}"/>
              </a:ext>
            </a:extLst>
          </p:cNvPr>
          <p:cNvSpPr>
            <a:spLocks xmlns:a="http://schemas.openxmlformats.org/drawingml/2006/main" noGrp="1"/>
          </p:cNvSpPr>
          <p:nvPr/>
        </p:nvSpPr>
        <p:spPr>
          <a:xfrm xmlns:a="http://schemas.openxmlformats.org/drawingml/2006/main">
            <a:off x="7143750" y="3143250"/>
            <a:ext cx="4286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53666B"/>
                </a:solidFill>
                <a:latin typeface="Helvetica Neue"/>
                <a:ea typeface="Helvetica Neue"/>
                <a:cs typeface="Helvetica Neue"/>
              </a:defRPr>
            </a:defPPr>
          </a:lstStyle>
          <a:p xmlns:a="http://schemas.openxmlformats.org/drawingml/2006/main">
            <a:pPr>
              <a:defRPr sz="2175" b="0">
                <a:solidFill>
                  <a:srgbClr val="53666B"/>
                </a:solidFill>
                <a:latin typeface="Helvetica Neue"/>
                <a:ea typeface="Helvetica Neue"/>
                <a:cs typeface="Helvetica Neue"/>
              </a:defRPr>
            </a:pPr>
            <a:r>
              <a:rPr sz="2175" b="0">
                <a:solidFill>
                  <a:srgbClr val="53666B"/>
                </a:solidFill>
                <a:latin typeface="Helvetica Neue"/>
                <a:ea typeface="Helvetica Neue"/>
                <a:cs typeface="Helvetica Neue"/>
              </a:rPr>
              <a:t>Full campaign budget</a:t>
            </a:r>
          </a:p>
        </p:txBody>
      </p:sp>
      <p:sp>
        <p:nvSpPr>
          <p:cNvPr id="7" name="1,600 intervention responses">
            <a:extLst xmlns:a="http://schemas.openxmlformats.org/drawingml/2006/main">
              <a:ext uri="{FF2B5EF4-FFF2-40B4-BE49-F238E27FC236}">
                <a16:creationId xmlns:a16="http://schemas.microsoft.com/office/drawing/2014/main" id="{485B2362-8E26-4AD3-8F1F-77D2106E2021}"/>
              </a:ext>
            </a:extLst>
          </p:cNvPr>
          <p:cNvSpPr>
            <a:spLocks xmlns:a="http://schemas.openxmlformats.org/drawingml/2006/main" noGrp="1"/>
          </p:cNvSpPr>
          <p:nvPr/>
        </p:nvSpPr>
        <p:spPr>
          <a:xfrm xmlns:a="http://schemas.openxmlformats.org/drawingml/2006/main">
            <a:off x="7143750" y="3933825"/>
            <a:ext cx="4333875"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16313A"/>
                </a:solidFill>
                <a:latin typeface="Helvetica Neue"/>
                <a:ea typeface="Helvetica Neue"/>
                <a:cs typeface="Helvetica Neue"/>
              </a:defRPr>
            </a:defPPr>
          </a:lstStyle>
          <a:p xmlns:a="http://schemas.openxmlformats.org/drawingml/2006/main">
            <a:pPr>
              <a:defRPr sz="2175" b="0">
                <a:solidFill>
                  <a:srgbClr val="16313A"/>
                </a:solidFill>
                <a:latin typeface="Helvetica Neue"/>
                <a:ea typeface="Helvetica Neue"/>
                <a:cs typeface="Helvetica Neue"/>
              </a:defRPr>
            </a:pPr>
            <a:r>
              <a:rPr sz="2175" b="0">
                <a:solidFill>
                  <a:srgbClr val="16313A"/>
                </a:solidFill>
                <a:latin typeface="Helvetica Neue"/>
                <a:ea typeface="Helvetica Neue"/>
                <a:cs typeface="Helvetica Neue"/>
              </a:rPr>
              <a:t>1,600 intervention responses</a:t>
            </a:r>
          </a:p>
          <a:p xmlns:a="http://schemas.openxmlformats.org/drawingml/2006/main">
            <a:pPr>
              <a:defRPr sz="2175" b="0">
                <a:solidFill>
                  <a:srgbClr val="16313A"/>
                </a:solidFill>
                <a:latin typeface="Helvetica Neue"/>
                <a:ea typeface="Helvetica Neue"/>
                <a:cs typeface="Helvetica Neue"/>
              </a:defRPr>
            </a:pPr>
            <a:r>
              <a:rPr sz="2175" b="0">
                <a:solidFill>
                  <a:srgbClr val="16313A"/>
                </a:solidFill>
                <a:latin typeface="Helvetica Neue"/>
                <a:ea typeface="Helvetica Neue"/>
                <a:cs typeface="Helvetica Neue"/>
              </a:rPr>
              <a:t>400 observational responses</a:t>
            </a:r>
          </a:p>
          <a:p xmlns:a="http://schemas.openxmlformats.org/drawingml/2006/main">
            <a:pPr>
              <a:defRPr sz="2175" b="0">
                <a:solidFill>
                  <a:srgbClr val="16313A"/>
                </a:solidFill>
                <a:latin typeface="Helvetica Neue"/>
                <a:ea typeface="Helvetica Neue"/>
                <a:cs typeface="Helvetica Neue"/>
              </a:defRPr>
            </a:pPr>
            <a:r>
              <a:rPr sz="2175" b="0">
                <a:solidFill>
                  <a:srgbClr val="16313A"/>
                </a:solidFill>
                <a:latin typeface="Helvetica Neue"/>
                <a:ea typeface="Helvetica Neue"/>
                <a:cs typeface="Helvetica Neue"/>
              </a:rPr>
              <a:t>2,000 total responses</a:t>
            </a:r>
          </a:p>
        </p:txBody>
      </p:sp>
      <p:sp>
        <p:nvSpPr>
          <p:cNvPr id="8" name="Seed 5000, first recorded st">
            <a:extLst xmlns:a="http://schemas.openxmlformats.org/drawingml/2006/main">
              <a:ext uri="{FF2B5EF4-FFF2-40B4-BE49-F238E27FC236}">
                <a16:creationId xmlns:a16="http://schemas.microsoft.com/office/drawing/2014/main" id="{088AE77C-AD14-4DB6-90AC-AD54FB1B0F26}"/>
              </a:ext>
            </a:extLst>
          </p:cNvPr>
          <p:cNvSpPr>
            <a:spLocks xmlns:a="http://schemas.openxmlformats.org/drawingml/2006/main" noGrp="1"/>
          </p:cNvSpPr>
          <p:nvPr/>
        </p:nvSpPr>
        <p:spPr>
          <a:xfrm xmlns:a="http://schemas.openxmlformats.org/drawingml/2006/main">
            <a:off x="609600" y="5905500"/>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3666B"/>
                </a:solidFill>
                <a:latin typeface="Helvetica Neue"/>
                <a:ea typeface="Helvetica Neue"/>
                <a:cs typeface="Helvetica Neue"/>
              </a:defRPr>
            </a:defPPr>
          </a:lstStyle>
          <a:p xmlns:a="http://schemas.openxmlformats.org/drawingml/2006/main">
            <a:pPr>
              <a:defRPr sz="1650" b="0">
                <a:solidFill>
                  <a:srgbClr val="53666B"/>
                </a:solidFill>
                <a:latin typeface="Helvetica Neue"/>
                <a:ea typeface="Helvetica Neue"/>
                <a:cs typeface="Helvetica Neue"/>
              </a:defRPr>
            </a:pPr>
            <a:r>
              <a:rPr sz="1650" b="0">
                <a:solidFill>
                  <a:srgbClr val="53666B"/>
                </a:solidFill>
                <a:latin typeface="Helvetica Neue"/>
                <a:ea typeface="Helvetica Neue"/>
                <a:cs typeface="Helvetica Neue"/>
              </a:rPr>
              <a:t>Seed 5000, first recorded step. The archive does not retain that step’s raw rows or candidate scores.</a:t>
            </a:r>
          </a:p>
        </p:txBody>
      </p:sp>
    </p:spTree>
    <p:extLst>
      <p:ext uri="{BB962C8B-B14F-4D97-AF65-F5344CB8AC3E}">
        <p14:creationId xmlns:p14="http://schemas.microsoft.com/office/powerpoint/2010/main" val="677278365"/>
      </p:ext>
    </p:extLst>
  </p:cSld>
</p:sld>
</file>

<file path=ppt/slides/slide9.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F9B3C6BB-7C8F-4467-8BDB-757B6643059B}"/>
              </a:ext>
            </a:extLst>
          </p:cNvPr>
          <p:cNvSpPr>
            <a:spLocks xmlns:a="http://schemas.openxmlformats.org/drawingml/2006/main" noGrp="1"/>
          </p:cNvSpPr>
          <p:nvPr/>
        </p:nvSpPr>
        <p:spPr>
          <a:xfrm xmlns:a="http://schemas.openxmlformats.org/drawingml/2006/main">
            <a:off x="609600" y="495300"/>
            <a:ext cx="1085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6313A"/>
                </a:solidFill>
                <a:latin typeface="Helvetica Neue"/>
                <a:ea typeface="Helvetica Neue"/>
                <a:cs typeface="Helvetica Neue"/>
              </a:defRPr>
            </a:defPPr>
          </a:lstStyle>
          <a:p xmlns:a="http://schemas.openxmlformats.org/drawingml/2006/main">
            <a:pPr>
              <a:defRPr sz="3450" b="1">
                <a:solidFill>
                  <a:srgbClr val="16313A"/>
                </a:solidFill>
                <a:latin typeface="Helvetica Neue"/>
                <a:ea typeface="Helvetica Neue"/>
                <a:cs typeface="Helvetica Neue"/>
              </a:defRPr>
            </a:pPr>
            <a:r>
              <a:rPr sz="3450" b="1">
                <a:solidFill>
                  <a:srgbClr val="16313A"/>
                </a:solidFill>
                <a:latin typeface="Helvetica Neue"/>
                <a:ea typeface="Helvetica Neue"/>
                <a:cs typeface="Helvetica Neue"/>
              </a:rPr>
              <a:t>The gains depend on the comparison</a:t>
            </a:r>
          </a:p>
        </p:txBody>
      </p:sp>
      <p:sp>
        <p:nvSpPr>
          <p:cNvPr id="2" name="page">
            <a:extLst xmlns:a="http://schemas.openxmlformats.org/drawingml/2006/main">
              <a:ext uri="{FF2B5EF4-FFF2-40B4-BE49-F238E27FC236}">
                <a16:creationId xmlns:a16="http://schemas.microsoft.com/office/drawing/2014/main" id="{665F6D3D-3659-4731-B727-E8F78B7147B3}"/>
              </a:ext>
            </a:extLst>
          </p:cNvPr>
          <p:cNvSpPr>
            <a:spLocks xmlns:a="http://schemas.openxmlformats.org/drawingml/2006/main" noGrp="1"/>
          </p:cNvSpPr>
          <p:nvPr/>
        </p:nvSpPr>
        <p:spPr>
          <a:xfrm xmlns:a="http://schemas.openxmlformats.org/drawingml/2006/main">
            <a:off x="11182350" y="632460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66B"/>
                </a:solidFill>
                <a:latin typeface="Helvetica Neue"/>
                <a:ea typeface="Helvetica Neue"/>
                <a:cs typeface="Helvetica Neue"/>
              </a:defRPr>
            </a:defPPr>
          </a:lstStyle>
          <a:p xmlns:a="http://schemas.openxmlformats.org/drawingml/2006/main">
            <a:pPr>
              <a:defRPr sz="1500" b="0">
                <a:solidFill>
                  <a:srgbClr val="53666B"/>
                </a:solidFill>
                <a:latin typeface="Helvetica Neue"/>
                <a:ea typeface="Helvetica Neue"/>
                <a:cs typeface="Helvetica Neue"/>
              </a:defRPr>
            </a:pPr>
            <a:r>
              <a:rPr sz="1500" b="0">
                <a:solidFill>
                  <a:srgbClr val="53666B"/>
                </a:solidFill>
                <a:latin typeface="Helvetica Neue"/>
                <a:ea typeface="Helvetica Neue"/>
                <a:cs typeface="Helvetica Neue"/>
              </a:rPr>
              <a:t>09</a:t>
            </a:r>
          </a:p>
        </p:txBody>
      </p:sp>
      <p:graphicFrame>
        <p:nvGraphicFramePr>
          <p:cNvPr id="3" name="">
            <a:extLst xmlns:a="http://schemas.openxmlformats.org/drawingml/2006/main">
              <a:ext uri="{FF2B5EF4-FFF2-40B4-BE49-F238E27FC236}">
                <a16:creationId xmlns:a16="http://schemas.microsoft.com/office/drawing/2014/main" id="{213AB30C-0744-441F-92F3-504D3E347491}"/>
              </a:ext>
            </a:extLst>
          </p:cNvPr>
          <p:cNvGraphicFramePr/>
          <p:nvPr/>
        </p:nvGraphicFramePr>
        <p:xfrm>
          <a:off xmlns:a="http://schemas.openxmlformats.org/drawingml/2006/main" x="609600" y="1524000"/>
          <a:ext xmlns:a="http://schemas.openxmlformats.org/drawingml/2006/main" cx="10820400" cy="3714750"/>
        </p:xfrm>
        <a:graphic xmlns:a="http://schemas.openxmlformats.org/drawingml/2006/main">
          <a:graphicData uri="http://schemas.openxmlformats.org/drawingml/2006/table">
            <a:tbl>
              <a:tblPr firstRow="0" bandRow="0"/>
              <a:tblGrid>
                <a:gridCol w="2714625"/>
                <a:gridCol w="3905250"/>
                <a:gridCol w="4200525"/>
              </a:tblGrid>
              <a:tr h="928688">
                <a:tc>
                  <a:txBody>
                    <a:bodyPr lIns="95250" tIns="95250" rIns="95250" bIns="95250"/>
                    <a:lstStyle/>
                    <a:p>
                      <a:r>
                        <a:rPr sz="1875" b="1">
                          <a:solidFill>
                            <a:srgbClr val="FFFFFF"/>
                          </a:solidFill>
                          <a:latin typeface="Helvetica Neue"/>
                          <a:ea typeface="Helvetica Neue"/>
                          <a:cs typeface="Helvetica Neue"/>
                        </a:rPr>
                        <a:t>Question</a:t>
                      </a:r>
                    </a:p>
                  </a:txBody>
                  <a:tcPr marL="91440" marR="91440" marT="45720" marB="45720">
                    <a:solidFill>
                      <a:srgbClr val="112B36"/>
                    </a:solidFill>
                  </a:tcPr>
                </a:tc>
                <a:tc>
                  <a:txBody>
                    <a:bodyPr lIns="95250" tIns="95250" rIns="95250" bIns="95250"/>
                    <a:lstStyle/>
                    <a:p>
                      <a:r>
                        <a:rPr sz="1875" b="1">
                          <a:solidFill>
                            <a:srgbClr val="FFFFFF"/>
                          </a:solidFill>
                          <a:latin typeface="Helvetica Neue"/>
                          <a:ea typeface="Helvetica Neue"/>
                          <a:cs typeface="Helvetica Neue"/>
                        </a:rPr>
                        <a:t>Supported result</a:t>
                      </a:r>
                    </a:p>
                  </a:txBody>
                  <a:tcPr marL="91440" marR="91440" marT="45720" marB="45720">
                    <a:solidFill>
                      <a:srgbClr val="112B36"/>
                    </a:solidFill>
                  </a:tcPr>
                </a:tc>
                <a:tc>
                  <a:txBody>
                    <a:bodyPr lIns="95250" tIns="95250" rIns="95250" bIns="95250"/>
                    <a:lstStyle/>
                    <a:p>
                      <a:r>
                        <a:rPr sz="1875" b="1">
                          <a:solidFill>
                            <a:srgbClr val="FFFFFF"/>
                          </a:solidFill>
                          <a:latin typeface="Helvetica Neue"/>
                          <a:ea typeface="Helvetica Neue"/>
                          <a:cs typeface="Helvetica Neue"/>
                        </a:rPr>
                        <a:t>Important boundary</a:t>
                      </a:r>
                    </a:p>
                  </a:txBody>
                  <a:tcPr marL="91440" marR="91440" marT="45720" marB="45720">
                    <a:solidFill>
                      <a:srgbClr val="112B36"/>
                    </a:solidFill>
                  </a:tcPr>
                </a:tc>
              </a:tr>
              <a:tr h="928688">
                <a:tc>
                  <a:txBody>
                    <a:bodyPr lIns="95250" tIns="95250" rIns="95250" bIns="95250"/>
                    <a:lstStyle/>
                    <a:p>
                      <a:r>
                        <a:rPr sz="2025" b="0">
                          <a:solidFill>
                            <a:srgbClr val="16313A"/>
                          </a:solidFill>
                          <a:latin typeface="Helvetica Neue"/>
                          <a:ea typeface="Helvetica Neue"/>
                          <a:cs typeface="Helvetica Neue"/>
                        </a:rPr>
                        <a:t>Mechanism prediction</a:t>
                      </a:r>
                    </a:p>
                  </a:txBody>
                  <a:tcPr marL="91440" marR="91440" marT="45720" marB="45720">
                    <a:solidFill>
                      <a:srgbClr val="FAF8F3"/>
                    </a:solidFill>
                  </a:tcPr>
                </a:tc>
                <a:tc>
                  <a:txBody>
                    <a:bodyPr lIns="95250" tIns="95250" rIns="95250" bIns="95250"/>
                    <a:lstStyle/>
                    <a:p>
                      <a:r>
                        <a:rPr sz="2025" b="0">
                          <a:solidFill>
                            <a:srgbClr val="16313A"/>
                          </a:solidFill>
                          <a:latin typeface="Helvetica Neue"/>
                          <a:ea typeface="Helvetica Neue"/>
                          <a:cs typeface="Helvetica Neue"/>
                        </a:rPr>
                        <a:t>Both fresh primary</a:t>
                      </a:r>
                    </a:p>
                    <a:p>
                      <a:r>
                        <a:rPr sz="2025" b="0">
                          <a:solidFill>
                            <a:srgbClr val="16313A"/>
                          </a:solidFill>
                          <a:latin typeface="Helvetica Neue"/>
                          <a:ea typeface="Helvetica Neue"/>
                          <a:cs typeface="Helvetica Neue"/>
                        </a:rPr>
                        <a:t>coverage contrasts pass</a:t>
                      </a:r>
                    </a:p>
                  </a:txBody>
                  <a:tcPr marL="91440" marR="91440" marT="45720" marB="45720">
                    <a:solidFill>
                      <a:srgbClr val="FAF8F3"/>
                    </a:solidFill>
                  </a:tcPr>
                </a:tc>
                <a:tc>
                  <a:txBody>
                    <a:bodyPr lIns="95250" tIns="95250" rIns="95250" bIns="95250"/>
                    <a:lstStyle/>
                    <a:p>
                      <a:r>
                        <a:rPr sz="2025" b="0">
                          <a:solidFill>
                            <a:srgbClr val="16313A"/>
                          </a:solidFill>
                          <a:latin typeface="Helvetica Neue"/>
                          <a:ea typeface="Helvetica Neue"/>
                          <a:cs typeface="Helvetica Neue"/>
                        </a:rPr>
                        <a:t>Known synthetic graphs</a:t>
                      </a:r>
                    </a:p>
                    <a:p>
                      <a:r>
                        <a:rPr sz="2025" b="0">
                          <a:solidFill>
                            <a:srgbClr val="16313A"/>
                          </a:solidFill>
                          <a:latin typeface="Helvetica Neue"/>
                          <a:ea typeface="Helvetica Neue"/>
                          <a:cs typeface="Helvetica Neue"/>
                        </a:rPr>
                        <a:t>Scoring ablation unresolved</a:t>
                      </a:r>
                    </a:p>
                  </a:txBody>
                  <a:tcPr marL="91440" marR="91440" marT="45720" marB="45720">
                    <a:solidFill>
                      <a:srgbClr val="FAF8F3"/>
                    </a:solidFill>
                  </a:tcPr>
                </a:tc>
              </a:tr>
              <a:tr h="928688">
                <a:tc>
                  <a:txBody>
                    <a:bodyPr lIns="95250" tIns="95250" rIns="95250" bIns="95250"/>
                    <a:lstStyle/>
                    <a:p>
                      <a:r>
                        <a:rPr sz="2025" b="0">
                          <a:solidFill>
                            <a:srgbClr val="16313A"/>
                          </a:solidFill>
                          <a:latin typeface="Helvetica Neue"/>
                          <a:ea typeface="Helvetica Neue"/>
                          <a:cs typeface="Helvetica Neue"/>
                        </a:rPr>
                        <a:t>Mechanism vs random</a:t>
                      </a:r>
                    </a:p>
                  </a:txBody>
                  <a:tcPr marL="91440" marR="91440" marT="45720" marB="45720">
                    <a:solidFill>
                      <a:srgbClr val="FAF8F3"/>
                    </a:solidFill>
                  </a:tcPr>
                </a:tc>
                <a:tc>
                  <a:txBody>
                    <a:bodyPr lIns="95250" tIns="95250" rIns="95250" bIns="95250"/>
                    <a:lstStyle/>
                    <a:p>
                      <a:r>
                        <a:rPr sz="2025" b="0">
                          <a:solidFill>
                            <a:srgbClr val="16313A"/>
                          </a:solidFill>
                          <a:latin typeface="Helvetica Neue"/>
                          <a:ea typeface="Helvetica Neue"/>
                          <a:cs typeface="Helvetica Neue"/>
                        </a:rPr>
                        <a:t>19 / 20 wins</a:t>
                      </a:r>
                    </a:p>
                    <a:p>
                      <a:r>
                        <a:rPr sz="2025" b="0">
                          <a:solidFill>
                            <a:srgbClr val="16313A"/>
                          </a:solidFill>
                          <a:latin typeface="Helvetica Neue"/>
                          <a:ea typeface="Helvetica Neue"/>
                          <a:cs typeface="Helvetica Neue"/>
                        </a:rPr>
                        <a:t>64.85% lower mean MSE</a:t>
                      </a:r>
                    </a:p>
                  </a:txBody>
                  <a:tcPr marL="91440" marR="91440" marT="45720" marB="45720">
                    <a:solidFill>
                      <a:srgbClr val="FAF8F3"/>
                    </a:solidFill>
                  </a:tcPr>
                </a:tc>
                <a:tc>
                  <a:txBody>
                    <a:bodyPr lIns="95250" tIns="95250" rIns="95250" bIns="95250"/>
                    <a:lstStyle/>
                    <a:p>
                      <a:r>
                        <a:rPr sz="2025" b="0">
                          <a:solidFill>
                            <a:srgbClr val="16313A"/>
                          </a:solidFill>
                          <a:latin typeface="Helvetica Neue"/>
                          <a:ea typeface="Helvetica Neue"/>
                          <a:cs typeface="Helvetica Neue"/>
                        </a:rPr>
                        <a:t>Secondary comparison</a:t>
                      </a:r>
                    </a:p>
                    <a:p>
                      <a:r>
                        <a:rPr sz="2025" b="0">
                          <a:solidFill>
                            <a:srgbClr val="16313A"/>
                          </a:solidFill>
                          <a:latin typeface="Helvetica Neue"/>
                          <a:ea typeface="Helvetica Neue"/>
                          <a:cs typeface="Helvetica Neue"/>
                        </a:rPr>
                        <a:t>Primary coverage gate failed</a:t>
                      </a:r>
                    </a:p>
                  </a:txBody>
                  <a:tcPr marL="91440" marR="91440" marT="45720" marB="45720">
                    <a:solidFill>
                      <a:srgbClr val="FAF8F3"/>
                    </a:solidFill>
                  </a:tcPr>
                </a:tc>
              </a:tr>
              <a:tr h="928688">
                <a:tc>
                  <a:txBody>
                    <a:bodyPr lIns="95250" tIns="95250" rIns="95250" bIns="95250"/>
                    <a:lstStyle/>
                    <a:p>
                      <a:r>
                        <a:rPr sz="2025" b="0">
                          <a:solidFill>
                            <a:srgbClr val="16313A"/>
                          </a:solidFill>
                          <a:latin typeface="Helvetica Neue"/>
                          <a:ea typeface="Helvetica Neue"/>
                          <a:cs typeface="Helvetica Neue"/>
                        </a:rPr>
                        <a:t>Better final fitting?</a:t>
                      </a:r>
                    </a:p>
                  </a:txBody>
                  <a:tcPr marL="91440" marR="91440" marT="45720" marB="45720">
                    <a:solidFill>
                      <a:srgbClr val="FAF8F3"/>
                    </a:solidFill>
                  </a:tcPr>
                </a:tc>
                <a:tc>
                  <a:txBody>
                    <a:bodyPr lIns="95250" tIns="95250" rIns="95250" bIns="95250"/>
                    <a:lstStyle/>
                    <a:p>
                      <a:r>
                        <a:rPr sz="2025" b="0">
                          <a:solidFill>
                            <a:srgbClr val="16313A"/>
                          </a:solidFill>
                          <a:latin typeface="Helvetica Neue"/>
                          <a:ea typeface="Helvetica Neue"/>
                          <a:cs typeface="Helvetica Neue"/>
                        </a:rPr>
                        <a:t>11 / 12 histories improve</a:t>
                      </a:r>
                    </a:p>
                    <a:p>
                      <a:r>
                        <a:rPr sz="2025" b="0">
                          <a:solidFill>
                            <a:srgbClr val="16313A"/>
                          </a:solidFill>
                          <a:latin typeface="Helvetica Neue"/>
                          <a:ea typeface="Helvetica Neue"/>
                          <a:cs typeface="Helvetica Neue"/>
                        </a:rPr>
                        <a:t>Geometric error ratio 0.183</a:t>
                      </a:r>
                    </a:p>
                  </a:txBody>
                  <a:tcPr marL="91440" marR="91440" marT="45720" marB="45720">
                    <a:solidFill>
                      <a:srgbClr val="FAF8F3"/>
                    </a:solidFill>
                  </a:tcPr>
                </a:tc>
                <a:tc>
                  <a:txBody>
                    <a:bodyPr lIns="95250" tIns="95250" rIns="95250" bIns="95250"/>
                    <a:lstStyle/>
                    <a:p>
                      <a:r>
                        <a:rPr sz="2025" b="0">
                          <a:solidFill>
                            <a:srgbClr val="16313A"/>
                          </a:solidFill>
                          <a:latin typeface="Helvetica Neue"/>
                          <a:ea typeface="Helvetica Neue"/>
                          <a:cs typeface="Helvetica Neue"/>
                        </a:rPr>
                        <a:t>One worsens 2.015×</a:t>
                      </a:r>
                    </a:p>
                    <a:p>
                      <a:r>
                        <a:rPr sz="2025" b="0">
                          <a:solidFill>
                            <a:srgbClr val="16313A"/>
                          </a:solidFill>
                          <a:latin typeface="Helvetica Neue"/>
                          <a:ea typeface="Helvetica Neue"/>
                          <a:cs typeface="Helvetica Neue"/>
                        </a:rPr>
                        <a:t>Extra fitting, scored inits</a:t>
                      </a:r>
                    </a:p>
                  </a:txBody>
                  <a:tcPr marL="91440" marR="91440" marT="45720" marB="45720">
                    <a:solidFill>
                      <a:srgbClr val="FAF8F3"/>
                    </a:solidFill>
                  </a:tcPr>
                </a:tc>
              </a:tr>
            </a:tbl>
          </a:graphicData>
        </a:graphic>
      </p:graphicFrame>
      <p:sp>
        <p:nvSpPr>
          <p:cNvPr id="4" name="Physical boundary: delivery ">
            <a:extLst xmlns:a="http://schemas.openxmlformats.org/drawingml/2006/main">
              <a:ext uri="{FF2B5EF4-FFF2-40B4-BE49-F238E27FC236}">
                <a16:creationId xmlns:a16="http://schemas.microsoft.com/office/drawing/2014/main" id="{CCB77F37-9E21-4313-8F2B-5D8956E4103F}"/>
              </a:ext>
            </a:extLst>
          </p:cNvPr>
          <p:cNvSpPr>
            <a:spLocks xmlns:a="http://schemas.openxmlformats.org/drawingml/2006/main" noGrp="1"/>
          </p:cNvSpPr>
          <p:nvPr/>
        </p:nvSpPr>
        <p:spPr>
          <a:xfrm xmlns:a="http://schemas.openxmlformats.org/drawingml/2006/main">
            <a:off x="609600" y="5448300"/>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B95435"/>
                </a:solidFill>
                <a:latin typeface="Helvetica Neue"/>
                <a:ea typeface="Helvetica Neue"/>
                <a:cs typeface="Helvetica Neue"/>
              </a:defRPr>
            </a:defPPr>
          </a:lstStyle>
          <a:p xmlns:a="http://schemas.openxmlformats.org/drawingml/2006/main">
            <a:pPr>
              <a:defRPr sz="2250" b="1">
                <a:solidFill>
                  <a:srgbClr val="B95435"/>
                </a:solidFill>
                <a:latin typeface="Helvetica Neue"/>
                <a:ea typeface="Helvetica Neue"/>
                <a:cs typeface="Helvetica Neue"/>
              </a:defRPr>
            </a:pPr>
            <a:r>
              <a:rPr sz="2250" b="1">
                <a:solidFill>
                  <a:srgbClr val="B95435"/>
                </a:solidFill>
                <a:latin typeface="Helvetica Neue"/>
                <a:ea typeface="Helvetica Neue"/>
                <a:cs typeface="Helvetica Neue"/>
              </a:rPr>
              <a:t>Physical boundary: delivery beats Fourier in 0 of 11 conditions</a:t>
            </a:r>
          </a:p>
        </p:txBody>
      </p:sp>
    </p:spTree>
    <p:extLst>
      <p:ext uri="{BB962C8B-B14F-4D97-AF65-F5344CB8AC3E}">
        <p14:creationId xmlns:p14="http://schemas.microsoft.com/office/powerpoint/2010/main" val="2038551409"/>
      </p:ext>
    </p:extLst>
  </p:cSld>
</p:sld>
</file>

<file path=ppt/slides/slide10.xml><?xml version="1.0" encoding="utf-8"?>
<p:sld xmlns:p="http://schemas.openxmlformats.org/presentationml/2006/main">
  <p:cSld>
    <p:bg>
      <p:bgPr>
        <a:solidFill xmlns:a="http://schemas.openxmlformats.org/drawingml/2006/main">
          <a:srgbClr val="FAF8F3"/>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E63278F0-CD10-4BA3-8088-136BAE0A4B79}"/>
              </a:ext>
            </a:extLst>
          </p:cNvPr>
          <p:cNvSpPr>
            <a:spLocks xmlns:a="http://schemas.openxmlformats.org/drawingml/2006/main" noGrp="1"/>
          </p:cNvSpPr>
          <p:nvPr/>
        </p:nvSpPr>
        <p:spPr>
          <a:xfrm xmlns:a="http://schemas.openxmlformats.org/drawingml/2006/main">
            <a:off x="609600" y="495300"/>
            <a:ext cx="10858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450" b="1">
                <a:solidFill>
                  <a:srgbClr val="16313A"/>
                </a:solidFill>
                <a:latin typeface="Helvetica Neue"/>
                <a:ea typeface="Helvetica Neue"/>
                <a:cs typeface="Helvetica Neue"/>
              </a:defRPr>
            </a:defPPr>
          </a:lstStyle>
          <a:p xmlns:a="http://schemas.openxmlformats.org/drawingml/2006/main">
            <a:pPr>
              <a:defRPr sz="3450" b="1">
                <a:solidFill>
                  <a:srgbClr val="16313A"/>
                </a:solidFill>
                <a:latin typeface="Helvetica Neue"/>
                <a:ea typeface="Helvetica Neue"/>
                <a:cs typeface="Helvetica Neue"/>
              </a:defRPr>
            </a:pPr>
            <a:r>
              <a:rPr sz="3450" b="1">
                <a:solidFill>
                  <a:srgbClr val="16313A"/>
                </a:solidFill>
                <a:latin typeface="Helvetica Neue"/>
                <a:ea typeface="Helvetica Neue"/>
                <a:cs typeface="Helvetica Neue"/>
              </a:rPr>
              <a:t>Foundation models can propose reusable mechanisms</a:t>
            </a:r>
          </a:p>
        </p:txBody>
      </p:sp>
      <p:sp>
        <p:nvSpPr>
          <p:cNvPr id="2" name="page">
            <a:extLst xmlns:a="http://schemas.openxmlformats.org/drawingml/2006/main">
              <a:ext uri="{FF2B5EF4-FFF2-40B4-BE49-F238E27FC236}">
                <a16:creationId xmlns:a16="http://schemas.microsoft.com/office/drawing/2014/main" id="{782FE4AB-554D-4518-8298-C664B41F5116}"/>
              </a:ext>
            </a:extLst>
          </p:cNvPr>
          <p:cNvSpPr>
            <a:spLocks xmlns:a="http://schemas.openxmlformats.org/drawingml/2006/main" noGrp="1"/>
          </p:cNvSpPr>
          <p:nvPr/>
        </p:nvSpPr>
        <p:spPr>
          <a:xfrm xmlns:a="http://schemas.openxmlformats.org/drawingml/2006/main">
            <a:off x="11182350" y="6324600"/>
            <a:ext cx="4000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3666B"/>
                </a:solidFill>
                <a:latin typeface="Helvetica Neue"/>
                <a:ea typeface="Helvetica Neue"/>
                <a:cs typeface="Helvetica Neue"/>
              </a:defRPr>
            </a:defPPr>
          </a:lstStyle>
          <a:p xmlns:a="http://schemas.openxmlformats.org/drawingml/2006/main">
            <a:pPr>
              <a:defRPr sz="1500" b="0">
                <a:solidFill>
                  <a:srgbClr val="53666B"/>
                </a:solidFill>
                <a:latin typeface="Helvetica Neue"/>
                <a:ea typeface="Helvetica Neue"/>
                <a:cs typeface="Helvetica Neue"/>
              </a:defRPr>
            </a:pPr>
            <a:r>
              <a:rPr sz="1500" b="0">
                <a:solidFill>
                  <a:srgbClr val="53666B"/>
                </a:solidFill>
                <a:latin typeface="Helvetica Neue"/>
                <a:ea typeface="Helvetica Neue"/>
                <a:cs typeface="Helvetica Neue"/>
              </a:rPr>
              <a:t>10</a:t>
            </a:r>
          </a:p>
        </p:txBody>
      </p:sp>
      <p:sp>
        <p:nvSpPr>
          <p:cNvPr id="3" name="Pretrained numerical model o">
            <a:extLst xmlns:a="http://schemas.openxmlformats.org/drawingml/2006/main">
              <a:ext uri="{FF2B5EF4-FFF2-40B4-BE49-F238E27FC236}">
                <a16:creationId xmlns:a16="http://schemas.microsoft.com/office/drawing/2014/main" id="{2DDCF5E8-0EDC-4D10-8E59-EF08528EC13C}"/>
              </a:ext>
            </a:extLst>
          </p:cNvPr>
          <p:cNvSpPr>
            <a:spLocks xmlns:a="http://schemas.openxmlformats.org/drawingml/2006/main" noGrp="1"/>
          </p:cNvSpPr>
          <p:nvPr/>
        </p:nvSpPr>
        <p:spPr>
          <a:xfrm xmlns:a="http://schemas.openxmlformats.org/drawingml/2006/main">
            <a:off x="609600" y="163830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25" b="1">
                <a:solidFill>
                  <a:srgbClr val="087F83"/>
                </a:solidFill>
                <a:latin typeface="Helvetica Neue"/>
                <a:ea typeface="Helvetica Neue"/>
                <a:cs typeface="Helvetica Neue"/>
              </a:defRPr>
            </a:defPPr>
          </a:lstStyle>
          <a:p xmlns:a="http://schemas.openxmlformats.org/drawingml/2006/main">
            <a:pPr>
              <a:defRPr sz="2625" b="1">
                <a:solidFill>
                  <a:srgbClr val="087F83"/>
                </a:solidFill>
                <a:latin typeface="Helvetica Neue"/>
                <a:ea typeface="Helvetica Neue"/>
                <a:cs typeface="Helvetica Neue"/>
              </a:defRPr>
            </a:pPr>
            <a:r>
              <a:rPr sz="2625" b="1">
                <a:solidFill>
                  <a:srgbClr val="087F83"/>
                </a:solidFill>
                <a:latin typeface="Helvetica Neue"/>
                <a:ea typeface="Helvetica Neue"/>
                <a:cs typeface="Helvetica Neue"/>
              </a:rPr>
              <a:t>Pretrained numerical model or language proposer</a:t>
            </a:r>
          </a:p>
        </p:txBody>
      </p:sp>
      <p:sp>
        <p:nvSpPr>
          <p:cNvPr id="4" name="SCM mechanisms with explicit">
            <a:extLst xmlns:a="http://schemas.openxmlformats.org/drawingml/2006/main">
              <a:ext uri="{FF2B5EF4-FFF2-40B4-BE49-F238E27FC236}">
                <a16:creationId xmlns:a16="http://schemas.microsoft.com/office/drawing/2014/main" id="{BCC1241D-508A-41E6-A857-A4E5D1205026}"/>
              </a:ext>
            </a:extLst>
          </p:cNvPr>
          <p:cNvSpPr>
            <a:spLocks xmlns:a="http://schemas.openxmlformats.org/drawingml/2006/main" noGrp="1"/>
          </p:cNvSpPr>
          <p:nvPr/>
        </p:nvSpPr>
        <p:spPr>
          <a:xfrm xmlns:a="http://schemas.openxmlformats.org/drawingml/2006/main">
            <a:off x="609600" y="260985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25" b="1">
                <a:solidFill>
                  <a:srgbClr val="16313A"/>
                </a:solidFill>
                <a:latin typeface="Helvetica Neue"/>
                <a:ea typeface="Helvetica Neue"/>
                <a:cs typeface="Helvetica Neue"/>
              </a:defRPr>
            </a:defPPr>
          </a:lstStyle>
          <a:p xmlns:a="http://schemas.openxmlformats.org/drawingml/2006/main">
            <a:pPr>
              <a:defRPr sz="2625" b="1">
                <a:solidFill>
                  <a:srgbClr val="16313A"/>
                </a:solidFill>
                <a:latin typeface="Helvetica Neue"/>
                <a:ea typeface="Helvetica Neue"/>
                <a:cs typeface="Helvetica Neue"/>
              </a:defRPr>
            </a:pPr>
            <a:r>
              <a:rPr sz="2625" b="1">
                <a:solidFill>
                  <a:srgbClr val="16313A"/>
                </a:solidFill>
                <a:latin typeface="Helvetica Neue"/>
                <a:ea typeface="Helvetica Neue"/>
                <a:cs typeface="Helvetica Neue"/>
              </a:rPr>
              <a:t>SCM mechanisms with explicit intervention rules</a:t>
            </a:r>
          </a:p>
        </p:txBody>
      </p:sp>
      <p:sp>
        <p:nvSpPr>
          <p:cNvPr id="5" name="Numerical checks and experim">
            <a:extLst xmlns:a="http://schemas.openxmlformats.org/drawingml/2006/main">
              <a:ext uri="{FF2B5EF4-FFF2-40B4-BE49-F238E27FC236}">
                <a16:creationId xmlns:a16="http://schemas.microsoft.com/office/drawing/2014/main" id="{D338D536-9BA6-439A-9D9E-20C1A0E8FDB9}"/>
              </a:ext>
            </a:extLst>
          </p:cNvPr>
          <p:cNvSpPr>
            <a:spLocks xmlns:a="http://schemas.openxmlformats.org/drawingml/2006/main" noGrp="1"/>
          </p:cNvSpPr>
          <p:nvPr/>
        </p:nvSpPr>
        <p:spPr>
          <a:xfrm xmlns:a="http://schemas.openxmlformats.org/drawingml/2006/main">
            <a:off x="609600" y="3581400"/>
            <a:ext cx="10477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625" b="1">
                <a:solidFill>
                  <a:srgbClr val="16313A"/>
                </a:solidFill>
                <a:latin typeface="Helvetica Neue"/>
                <a:ea typeface="Helvetica Neue"/>
                <a:cs typeface="Helvetica Neue"/>
              </a:defRPr>
            </a:defPPr>
          </a:lstStyle>
          <a:p xmlns:a="http://schemas.openxmlformats.org/drawingml/2006/main">
            <a:pPr>
              <a:defRPr sz="2625" b="1">
                <a:solidFill>
                  <a:srgbClr val="16313A"/>
                </a:solidFill>
                <a:latin typeface="Helvetica Neue"/>
                <a:ea typeface="Helvetica Neue"/>
                <a:cs typeface="Helvetica Neue"/>
              </a:defRPr>
            </a:pPr>
            <a:r>
              <a:rPr sz="2625" b="1">
                <a:solidFill>
                  <a:srgbClr val="16313A"/>
                </a:solidFill>
                <a:latin typeface="Helvetica Neue"/>
                <a:ea typeface="Helvetica Neue"/>
                <a:cs typeface="Helvetica Neue"/>
              </a:rPr>
              <a:t>Numerical checks and experiment selection</a:t>
            </a:r>
          </a:p>
        </p:txBody>
      </p:sp>
      <p:sp>
        <p:nvSpPr>
          <p:cNvPr id="6" name="Test: fewer paid responses a">
            <a:extLst xmlns:a="http://schemas.openxmlformats.org/drawingml/2006/main">
              <a:ext uri="{FF2B5EF4-FFF2-40B4-BE49-F238E27FC236}">
                <a16:creationId xmlns:a16="http://schemas.microsoft.com/office/drawing/2014/main" id="{E96E72A6-4CE9-4E14-915E-855564ACE203}"/>
              </a:ext>
            </a:extLst>
          </p:cNvPr>
          <p:cNvSpPr>
            <a:spLocks xmlns:a="http://schemas.openxmlformats.org/drawingml/2006/main" noGrp="1"/>
          </p:cNvSpPr>
          <p:nvPr/>
        </p:nvSpPr>
        <p:spPr>
          <a:xfrm xmlns:a="http://schemas.openxmlformats.org/drawingml/2006/main">
            <a:off x="609600" y="4629150"/>
            <a:ext cx="105727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700" b="1">
                <a:solidFill>
                  <a:srgbClr val="087F83"/>
                </a:solidFill>
                <a:latin typeface="Helvetica Neue"/>
                <a:ea typeface="Helvetica Neue"/>
                <a:cs typeface="Helvetica Neue"/>
              </a:defRPr>
            </a:defPPr>
          </a:lstStyle>
          <a:p xmlns:a="http://schemas.openxmlformats.org/drawingml/2006/main">
            <a:pPr>
              <a:defRPr sz="2700" b="1">
                <a:solidFill>
                  <a:srgbClr val="087F83"/>
                </a:solidFill>
                <a:latin typeface="Helvetica Neue"/>
                <a:ea typeface="Helvetica Neue"/>
                <a:cs typeface="Helvetica Neue"/>
              </a:defRPr>
            </a:pPr>
            <a:r>
              <a:rPr sz="2700" b="1">
                <a:solidFill>
                  <a:srgbClr val="087F83"/>
                </a:solidFill>
                <a:latin typeface="Helvetica Neue"/>
                <a:ea typeface="Helvetica Neue"/>
                <a:cs typeface="Helvetica Neue"/>
              </a:rPr>
              <a:t>Test: fewer paid responses at matched target error</a:t>
            </a:r>
          </a:p>
        </p:txBody>
      </p:sp>
      <p:sp>
        <p:nvSpPr>
          <p:cNvPr id="7" name="Proposed work. Compare stron">
            <a:extLst xmlns:a="http://schemas.openxmlformats.org/drawingml/2006/main">
              <a:ext uri="{FF2B5EF4-FFF2-40B4-BE49-F238E27FC236}">
                <a16:creationId xmlns:a16="http://schemas.microsoft.com/office/drawing/2014/main" id="{9445DC24-D455-412D-8433-E60044F693C9}"/>
              </a:ext>
            </a:extLst>
          </p:cNvPr>
          <p:cNvSpPr>
            <a:spLocks xmlns:a="http://schemas.openxmlformats.org/drawingml/2006/main" noGrp="1"/>
          </p:cNvSpPr>
          <p:nvPr/>
        </p:nvSpPr>
        <p:spPr>
          <a:xfrm xmlns:a="http://schemas.openxmlformats.org/drawingml/2006/main">
            <a:off x="609600" y="5905500"/>
            <a:ext cx="106680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53666B"/>
                </a:solidFill>
                <a:latin typeface="Helvetica Neue"/>
                <a:ea typeface="Helvetica Neue"/>
                <a:cs typeface="Helvetica Neue"/>
              </a:defRPr>
            </a:defPPr>
          </a:lstStyle>
          <a:p xmlns:a="http://schemas.openxmlformats.org/drawingml/2006/main">
            <a:pPr>
              <a:defRPr sz="1650" b="0">
                <a:solidFill>
                  <a:srgbClr val="53666B"/>
                </a:solidFill>
                <a:latin typeface="Helvetica Neue"/>
                <a:ea typeface="Helvetica Neue"/>
                <a:cs typeface="Helvetica Neue"/>
              </a:defRPr>
            </a:pPr>
            <a:r>
              <a:rPr sz="1650" b="0">
                <a:solidFill>
                  <a:srgbClr val="53666B"/>
                </a:solidFill>
                <a:latin typeface="Helvetica Neue"/>
                <a:ea typeface="Helvetica Neue"/>
                <a:cs typeface="Helvetica Neue"/>
              </a:rPr>
              <a:t>Proposed work. Compare strong data-only controls and deliberately wrong priors. Prior art already combines these ingredients.</a:t>
            </a:r>
          </a:p>
        </p:txBody>
      </p:sp>
    </p:spTree>
    <p:extLst>
      <p:ext uri="{BB962C8B-B14F-4D97-AF65-F5344CB8AC3E}">
        <p14:creationId xmlns:p14="http://schemas.microsoft.com/office/powerpoint/2010/main" val="127709343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Helvetica Neue"/>
        <a:ea typeface=""/>
        <a:cs typeface=""/>
      </a:majorFont>
      <a:minorFont>
        <a:latin typeface="Helvetica Neue"/>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2026-10-09T14:04:43.3230000Z</dcterms:created>
  <dcterms:modified xsi:type="dcterms:W3CDTF">2026-10-09T14:04:43.3230000Z</dcterms:modified>
</coreProperties>
</file>