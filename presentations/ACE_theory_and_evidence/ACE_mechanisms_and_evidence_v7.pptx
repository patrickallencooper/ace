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051d501b1249bc" /><Relationship Type="http://schemas.openxmlformats.org/officeDocument/2006/relationships/extended-properties" Target="/docProps/app.xml" Id="R6065d657eafe4b5a" /><Relationship Type="http://schemas.openxmlformats.org/officeDocument/2006/relationships/officeDocument" Target="/ppt/presentation.xml" Id="Rc02764bd8e0f4c99" /></Relationships>
</file>

<file path=ppt/presentation.xml><?xml version="1.0" encoding="utf-8"?>
<p:presentation xmlns:p="http://schemas.openxmlformats.org/presentationml/2006/main">
  <p:sldMasterIdLst>
    <p:sldMasterId xmlns:r="http://schemas.openxmlformats.org/officeDocument/2006/relationships" id="2147483648" r:id="Ree0278a9bf3244c1"/>
  </p:sldMasterIdLst>
  <p:notesMasterIdLst>
    <p:notesMasterId xmlns:r="http://schemas.openxmlformats.org/officeDocument/2006/relationships" r:id="R6618746d3e5e4860"/>
  </p:notesMasterIdLst>
  <p:sldIdLst>
    <p:sldId xmlns:r="http://schemas.openxmlformats.org/officeDocument/2006/relationships" id="256" r:id="R140ecf2e2e974f8d"/>
    <p:sldId xmlns:r="http://schemas.openxmlformats.org/officeDocument/2006/relationships" id="257" r:id="R977f6cb177a64b1f"/>
    <p:sldId xmlns:r="http://schemas.openxmlformats.org/officeDocument/2006/relationships" id="258" r:id="R92d8ffb9d94d4deb"/>
    <p:sldId xmlns:r="http://schemas.openxmlformats.org/officeDocument/2006/relationships" id="259" r:id="Ra19577f0f2024282"/>
    <p:sldId xmlns:r="http://schemas.openxmlformats.org/officeDocument/2006/relationships" id="260" r:id="R3307e053a52b4725"/>
    <p:sldId xmlns:r="http://schemas.openxmlformats.org/officeDocument/2006/relationships" id="261" r:id="R74d67ab511b14fe2"/>
    <p:sldId xmlns:r="http://schemas.openxmlformats.org/officeDocument/2006/relationships" id="262" r:id="R012e20b4176740d8"/>
    <p:sldId xmlns:r="http://schemas.openxmlformats.org/officeDocument/2006/relationships" id="263" r:id="R10a76d355ac3493d"/>
    <p:sldId xmlns:r="http://schemas.openxmlformats.org/officeDocument/2006/relationships" id="264" r:id="Re891a007bcce49e6"/>
    <p:sldId xmlns:r="http://schemas.openxmlformats.org/officeDocument/2006/relationships" id="265" r:id="Rb5b119751e1d434f"/>
    <p:sldId xmlns:r="http://schemas.openxmlformats.org/officeDocument/2006/relationships" id="266" r:id="R48daee539d3b420c"/>
    <p:sldId xmlns:r="http://schemas.openxmlformats.org/officeDocument/2006/relationships" id="267" r:id="R67cdca113dac49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eb146a0a90489f" /><Relationship Type="http://schemas.openxmlformats.org/officeDocument/2006/relationships/slideMaster" Target="/ppt/slideMasters/slideMaster1.xml" Id="Ree0278a9bf3244c1" /><Relationship Type="http://schemas.openxmlformats.org/officeDocument/2006/relationships/notesMaster" Target="/ppt/notesMasters/notesMaster1.xml" Id="R6618746d3e5e4860" /><Relationship Type="http://schemas.openxmlformats.org/officeDocument/2006/relationships/presProps" Target="/ppt/presProps.xml" Id="Raaee5b150f234f8c" /><Relationship Type="http://schemas.openxmlformats.org/officeDocument/2006/relationships/tableStyles" Target="/ppt/tableStyles.xml" Id="R0c1c8f3f2fbb4e44" /><Relationship Type="http://schemas.openxmlformats.org/officeDocument/2006/relationships/slide" Target="/ppt/slides/slide1.xml" Id="R140ecf2e2e974f8d" /><Relationship Type="http://schemas.openxmlformats.org/officeDocument/2006/relationships/slide" Target="/ppt/slides/slide2.xml" Id="R977f6cb177a64b1f" /><Relationship Type="http://schemas.openxmlformats.org/officeDocument/2006/relationships/slide" Target="/ppt/slides/slide3.xml" Id="R92d8ffb9d94d4deb" /><Relationship Type="http://schemas.openxmlformats.org/officeDocument/2006/relationships/slide" Target="/ppt/slides/slide4.xml" Id="Ra19577f0f2024282" /><Relationship Type="http://schemas.openxmlformats.org/officeDocument/2006/relationships/slide" Target="/ppt/slides/slide5.xml" Id="R3307e053a52b4725" /><Relationship Type="http://schemas.openxmlformats.org/officeDocument/2006/relationships/slide" Target="/ppt/slides/slide6.xml" Id="R74d67ab511b14fe2" /><Relationship Type="http://schemas.openxmlformats.org/officeDocument/2006/relationships/slide" Target="/ppt/slides/slide7.xml" Id="R012e20b4176740d8" /><Relationship Type="http://schemas.openxmlformats.org/officeDocument/2006/relationships/slide" Target="/ppt/slides/slide8.xml" Id="R10a76d355ac3493d" /><Relationship Type="http://schemas.openxmlformats.org/officeDocument/2006/relationships/slide" Target="/ppt/slides/slide9.xml" Id="Re891a007bcce49e6" /><Relationship Type="http://schemas.openxmlformats.org/officeDocument/2006/relationships/slide" Target="/ppt/slides/slide10.xml" Id="Rb5b119751e1d434f" /><Relationship Type="http://schemas.openxmlformats.org/officeDocument/2006/relationships/slide" Target="/ppt/slides/slide11.xml" Id="R48daee539d3b420c" /><Relationship Type="http://schemas.openxmlformats.org/officeDocument/2006/relationships/slide" Target="/ppt/slides/slide12.xml" Id="R67cdca113dac49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c82ce6170749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eafe7feda74b80" /><Relationship Type="http://schemas.openxmlformats.org/officeDocument/2006/relationships/notesMaster" Target="/ppt/notesMasters/notesMaster1.xml" Id="R48b2ec5a4d944c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58531b1b3478a" /><Relationship Type="http://schemas.openxmlformats.org/officeDocument/2006/relationships/notesMaster" Target="/ppt/notesMasters/notesMaster1.xml" Id="R56c1423b1a0c48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1c2480c97d4da2" /><Relationship Type="http://schemas.openxmlformats.org/officeDocument/2006/relationships/notesMaster" Target="/ppt/notesMasters/notesMaster1.xml" Id="R064f2aff336a4b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afb8dd34774aff" /><Relationship Type="http://schemas.openxmlformats.org/officeDocument/2006/relationships/notesMaster" Target="/ppt/notesMasters/notesMaster1.xml" Id="R0aaec8a157db49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fdeab078e64b57" /><Relationship Type="http://schemas.openxmlformats.org/officeDocument/2006/relationships/notesMaster" Target="/ppt/notesMasters/notesMaster1.xml" Id="Rce7b4d81776049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8f8bcdaac84cfc" /><Relationship Type="http://schemas.openxmlformats.org/officeDocument/2006/relationships/notesMaster" Target="/ppt/notesMasters/notesMaster1.xml" Id="R55a2f1480dd644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237f6a66fd4736" /><Relationship Type="http://schemas.openxmlformats.org/officeDocument/2006/relationships/notesMaster" Target="/ppt/notesMasters/notesMaster1.xml" Id="Rc02afe59cb184c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2bef451aa94ac1" /><Relationship Type="http://schemas.openxmlformats.org/officeDocument/2006/relationships/notesMaster" Target="/ppt/notesMasters/notesMaster1.xml" Id="R7d4b1ff9cda749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62ca6e3b2f491d" /><Relationship Type="http://schemas.openxmlformats.org/officeDocument/2006/relationships/notesMaster" Target="/ppt/notesMasters/notesMaster1.xml" Id="R0d445cf7318244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6c7c6666cc4dad" /><Relationship Type="http://schemas.openxmlformats.org/officeDocument/2006/relationships/notesMaster" Target="/ppt/notesMasters/notesMaster1.xml" Id="Rcf08f743154240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5be62b2ad14aa3" /><Relationship Type="http://schemas.openxmlformats.org/officeDocument/2006/relationships/notesMaster" Target="/ppt/notesMasters/notesMaster1.xml" Id="Rb84aacedf5cd4d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102832345a44ed" /><Relationship Type="http://schemas.openxmlformats.org/officeDocument/2006/relationships/notesMaster" Target="/ppt/notesMasters/notesMaster1.xml" Id="R08089b9c49584d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ACE selects interventions using an assumed causal graph and uncertainty about local mechanisms. Compressor visual is a newly generated conceptual engineering illustration, not the apparatus used in the reported synthetic experiments. Slides1–4 introduce the theory; slides5–7 give precise illustrative inputs, scores and outputs; slide8 shows an archived graph; slides9–10 show historical evidence. Implementation: baselines.py, EnsembleStudentSCM / EnsembleLearner / PropagatedVariancePolicy, and scripts/research/persistent_scm.py. Historical PEV uses known graphs, independently initialized neural heads, model-only candidate contexts and covariance-based integrated variance reduction summed over descendant mechanisms. It does not identify the graph or optimize the proposed terminal-risk objective. Noise proxy is residual error, not a certified aleatoric estimate.</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/Users/pat/code/ACE/docs/ACE_evidence_and_public_claims_2026-10-08.md</a:t>
            </a:r>
          </a:p>
          <a:p xmlns:a="http://schemas.openxmlformats.org/drawingml/2006/main">
            <a:r>
              <a:t>/Users/pat/code/ACE/presentations/ACE_theory_and_evidence/mechanistic_demonstration_2026-10-09.json</a:t>
            </a:r>
          </a:p>
          <a:p xmlns:a="http://schemas.openxmlformats.org/drawingml/2006/main">
            <a:r>
              <a:t>Revision7 inserts the local-versus-joint explanation at4 and the proposed foundation-model/SCM overview at6. The worked example is7–9, archived graph10, empirical learning curves11 and closing comparison12.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SCM definition: Xi=fi(Pa_i,Ui). Edges specify direct causes in the assumed graph, f describes the mechanism, U describes external disturbances. The toy is a fully observed, deterministic chain with dimensionless values. Its true rules are M=2.5X and Y=3M, with U=0. These truth equations explain the example to the audience; the policy receives only its candidate models and allowed actions, not oracle truth. Known graph does not imply known mechanisms. General SCMs may have dependent disturbances; identification and fitting require explicit assumptions.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do(M=m) fixes M independently of its usual parents and replaces M=fM(X,UM) with M=m. X→M is removed for this experiment, while M→Y remains. Row X=x,M=m,Y=y supplies a natural Y label with measured parent m, but is not a natural M=fM(X) label. Under do(X=x), both M and Y remain naturally generated and eligible under the stated retention/noise assumptions. The implementation excludes the intervened head and uses observed parents for eligible training. Candidate simulation propagates ensemble-mean parents. Historical acquisition-study evaluation instead predicts each mechanism from observed parents; the toy composed target forecast and delivery studies have different evaluation semantics.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 representation example, not measured sample efficiency. Same discrete setup as the next slide: ten independent five-valued inputs, nine two-parent deterministic five-valued mechanisms in a binary reduction tree, all relevant variables observed. Each local table maps the two direct parent values to its child. Nine local maps compose to predict the final Y. Each local map has5^2=25input rows,225total. Joint lookup has one row per complete ten-input vector,5^10=9,765,625rows. Displayed outputs m1... and y1... are placeholders, not experimental observations. Learning all local entries requires every parent setting accessible with the child mechanism intact. Intermediate variables must be observed. A noncausal regressor need not enumerate this grid. Actual ACE learners fit functions (neural mechanisms in the historical results), not literal local lookup tables.</a:t>
            </a:r>
          </a:p>
          <a:p xmlns:a="http://schemas.openxmlformats.org/drawingml/2006/main">
            <a:r>
              <a:t>Sources</a:t>
            </a:r>
          </a:p>
          <a:p xmlns:a="http://schemas.openxmlformats.org/drawingml/2006/main">
            <a:r>
              <a:t>/Users/pat/code/ACE/presentations/ACE_theory_and_evidence/SCM_free_grid_comparison.json</a:t>
            </a:r>
          </a:p>
          <a:p xmlns:a="http://schemas.openxmlformats.org/drawingml/2006/main">
            <a:r>
              <a:t>/Users/pat/code/ACE/docs/development/guidance/ace_theoretical_ideation_2026-10-08.md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 representation-size illustration, not an ACE benchmark. Define a deterministic discrete SCM with10independently controllable five-valued input nodes and9two-parent mechanism nodes arranged as a binary reduction tree. Every endogenous output also has5values. A naive associative lookup table for the final response over the full joint input grid requires5^10=9,765,625entries. With the graph supplied, nine local mechanism tables require9*5^2=225entries, a43,402.78fold representation-count difference. This is not a measured intervention-count reduction. Learning local tables assumes each required parent configuration is accessible with the child mechanism intact and allvariablesobserved; without internal interventions, reachability can fail. Sharedparentsettings may reveal several labels. Noncausal regressors can exploit smoothness/sparsity and need not enumerate a grid; the comparator is specifically exhaustive lookup, not allassociativelearning. No empirical superiority over this new baseline has been measured. Current PEV scores candidates by descendant ensemble covariance reduction; details retained in the worked calculation.</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Uniform random sampling baseline: independently draw one of N=5^10 joint configurations, with replacement and no SCM. Expected distinct fraction after n draws is 1−(1−1/N)^n. The smallest n for95% expected coverage is29,255,197. This is expected grid coverage, not a95% probability of complete coverage or a prediction-error target. The exhaustive/local entry ratio is43,402.78; do not present the random/local ratio as experimental intervention savings. Local access and determinism assumptions stated above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Overall conceptual architecture of the proposed foundation-model extension around the implemented ACE SCM experiment loop. The known graph, legal controls and budget are supplied; this is not graph discovery or unrestricted control of a physical device. The numerical foundation model consumes eligible parent/label examples and proposes alternative local mechanism predictors. Numerical and retained candidates remain available. Candidate validation/selection is required before incorporation; proposed integration has not demonstrated foundation-model acquisition efficiency. Component/retention pilots use fixed histories and show mixed candidate benefits. Foundation-model branch is explicitly marked proposed. Historical random/PEV curves later in this deck use neural SCM ensembles without this pretrained branch.</a:t>
            </a:r>
          </a:p>
          <a:p xmlns:a="http://schemas.openxmlformats.org/drawingml/2006/main">
            <a:r>
              <a:t>SCM candidates simulate allowed interventions and supply forecasts plus ensemble uncertainty to the action selector. The PEV implementation scores covariance-based integrated variance reduction over descendant mechanisms, not a certified risk bound. The six-action toy legal menu is do(X=-1,0,+1) or do(M=-1,0,+1). The frozen tie rule selects do(X=-1) in the following example. The environment returns X=-1,M=-2.5,Y=-7.5 there. Eligible mechanisms use observed parents for fitting; the clamped mechanism is excluded. Candidate scoring is model-only; querying the environment charges a response. Budget exhaustion stops further paid actions. In an apparatus, access is limited to approved controllable settings. No compressor experiment or autonomous safety certification is claimed.</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/Users/pat/code/ACE/docs/development/guidance/ace_foundation_cycle_closeout_2026-10-09.md</a:t>
            </a:r>
          </a:p>
          <a:p xmlns:a="http://schemas.openxmlformats.org/drawingml/2006/main">
            <a:r>
              <a:t>/Users/pat/code/ACE/docs/development/guidance/ace_foundation_retention_design_2026-10-09.md</a:t>
            </a:r>
          </a:p>
          <a:p xmlns:a="http://schemas.openxmlformats.org/drawingml/2006/main">
            <a:r>
              <a:t>/Users/pat/code/ACE/baselines.py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configuration only. Three linear ensemble members: M slopes1,2,3, Y slopes2,3,4; ensemble means2X and3M. Candidates ordered X−1,X0,X1,M−1,M0,M1. Reference parent values−1,0,1. Population covariance denominator3, residual noise proxy1/20, deterministic mean-propagated parent contexts, no jitter or epsilon exploration. Preintervention observation history empty for this hand-constructed initial state. One response remaining. Oracle truth hidden from score: M=2.5X,Y=3M. Production historical confirmation uses neural heads and different grids/batches. All numbers are generated by explain_ace_mechanics.py with exact rational arithmetic.</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/Users/pat/code/ACE/scripts/research/explain_ace_mechanics.py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for M context±1 is160/387≈0.413436693. Y context±2 is640/1467≈0.436264485. Their sum is≈0.849701178. Under do(M=±1) the clamped M mechanism contributes zero, leaving only Y≈0.413436693. Zero contexts give zero covariance and zero score. X+1 tiesX−1; first-maximum tie rule choosesX−1. At that action the ensemble mean predictsM−2,Y−6. No oracle outcome is queried during scoring. The Y slope ensemble is evaluated at the simulated mean parent; it is not a member-paired composed posterior.</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oracle row isX−1,M−2.5,Y−7.5. Eligible pairs M:(−1,−2.5),Y:(−2.5,−7.5); clamped X supplies no natural root-distribution update. For transparent arithmetic use one gradient step on half squared error, with etaM1/2 and etaY2/25. M slopes1,2,3 become1.75,2.25,2.75. Y slopes2,3,4 become2.5,3,3.5. At X−1, updated mean predictsM−2.25 andY−6.75. Signed final error drops from1.5 to.75 on this same illustrative row. This is not held-out improvement or production training: production uses neural heads, Adam and member-specific masks. Response budget becomes0. Do not associate this made-up row with the real archived trace.</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archived DAG for smallest seed5000, not chosen for favorable performance. Edges point parent to child. HighlightX7 first chosen intervention and its descendant edges. FirstactiondoX7=3.857086181640625 buys50responses. Eachrow supplieseligible natural-mechanism labels using observedparents. Fullcampaign32interventionbatches1600responses plus400observationalresponses. All20DAGs in thecomparison shareonefive-layergenerator, not20independentgraphfamilies. Rawrows/candidatescores notretained for thisaction.</a:t>
            </a:r>
          </a:p>
          <a:p xmlns:a="http://schemas.openxmlformats.org/drawingml/2006/main">
            <a:r>
              <a:t/>
            </a:r>
          </a:p>
          <a:p xmlns:a="http://schemas.openxmlformats.org/drawingml/2006/main">
            <a:r>
              <a:t>Sources</a:t>
            </a:r>
          </a:p>
          <a:p xmlns:a="http://schemas.openxmlformats.org/drawingml/2006/main">
            <a:r>
              <a:t>results/research_pev_shift30_mean_confirmation/shift30/pev/seed_5000/system.json</a:t>
            </a:r>
          </a:p>
          <a:p xmlns:a="http://schemas.openxmlformats.org/drawingml/2006/main">
            <a:r>
              <a:t>results/research_pev_shift30_mean_confirmation/shift30/pev/seed_5000/trajectory.csv</a:t>
            </a:r>
          </a:p>
          <a:p xmlns:a="http://schemas.openxmlformats.org/drawingml/2006/main">
            <a:r>
              <a:t>/Users/pat/code/ACE/results/research_pev_shift30_mean_confirmation/README.md</a:t>
            </a:r>
          </a:p>
          <a:p xmlns:a="http://schemas.openxmlformats.org/drawingml/2006/main">
            <a:r>
              <a:t>/Users/pat/code/ACE/presentations/ACE_theory_and_evidence/recorded_curves_2026-10-09.json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All20shift30systemsseeds5000–5019. Arithmeticmean noise-free feasible nonroot mechanism MSE, measured-parent prediction. Full32checkpoints shown atleft; samecurves4–32zoomatright. FinalACE.0154302049,random.0438980071,64.85%lowerratioofmeans,19/20pairedwins. Secondarycontrastp.00750. Prespecifiedcoveragecontrastfails p.05108 andnaivevariancescoringunresolved p.62176. Earlyrandomadvantage remains visible. No Bresults,confidenceband,newfit ornewhypothesis.</a:t>
            </a:r>
          </a:p>
          <a:p xmlns:a="http://schemas.openxmlformats.org/drawingml/2006/main">
            <a:r>
              <a:t/>
            </a:r>
          </a:p>
          <a:p xmlns:a="http://schemas.openxmlformats.org/drawingml/2006/main">
            <a:r>
              <a:t>Sources</a:t>
            </a:r>
          </a:p>
          <a:p xmlns:a="http://schemas.openxmlformats.org/drawingml/2006/main">
            <a:r>
              <a:t>/Users/pat/code/ACE/results/research_pev_shift30_mean_confirmation/README.md</a:t>
            </a:r>
          </a:p>
          <a:p xmlns:a="http://schemas.openxmlformats.org/drawingml/2006/main">
            <a:r>
              <a:t>/Users/pat/code/ACE/presentations/ACE_theory_and_evidence/recorded_curves_2026-10-09.json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descriptivepost-hocdisplayonly. TargetdefinedasrandomfinalgroupmeanMSE .043898007078491626. Firstobservedgroupmeancrossing,nointerpolation:ACEbatch10,500interventionresponses+120obs=620total,mean.04007927;randombatch28,1400interventionresponses+360obs=1760total,mean.04216014. 1−10/28=64.2857%fewerbatches/interventionresponses;1−620/1760=64.7727%fewertotalresponses. Randomcrossesbackabove atbatch31. Bothoriginalcampaignsactuallyran32batches2000totalresponses;thesearedescriptiveprefixcomparisons,notactualsavedcompute/measurements,norvalidatedprospectivestoppingrule. Groupmeanfirstcrossingnotmeanofindividualfirstcrossings. Noone-systemorpopulationguarantee. Originalstudiesshowfixedbudgetpredictionadvantage;prospectivesample-efficiencyconfirmationremainsfuture.</a:t>
            </a:r>
          </a:p>
          <a:p xmlns:a="http://schemas.openxmlformats.org/drawingml/2006/main">
            <a:r>
              <a:t/>
            </a:r>
          </a:p>
          <a:p xmlns:a="http://schemas.openxmlformats.org/drawingml/2006/main">
            <a:r>
              <a:t>Sources</a:t>
            </a:r>
          </a:p>
          <a:p xmlns:a="http://schemas.openxmlformats.org/drawingml/2006/main">
            <a:r>
              <a:t>/Users/pat/code/ACE/presentations/ACE_theory_and_evidence/recorded_curves_2026-10-09.json</a:t>
            </a:r>
          </a:p>
          <a:p xmlns:a="http://schemas.openxmlformats.org/drawingml/2006/main">
            <a:r>
              <a:t>/Users/pat/code/ACE/results/research_pev_shift30_mean_confirmation/README.md</a:t>
            </a:r>
          </a:p>
          <a:p xmlns:a="http://schemas.openxmlformats.org/drawingml/2006/main">
            <a:r>
              <a:t/>
            </a:r>
          </a:p>
          <a:p xmlns:a="http://schemas.openxmlformats.org/drawingml/2006/main">
            <a:r>
              <a:t>Added joint-table panel: analytic representation/coverage comparison under the same ten-input five-valued deterministic example as slide5. 9,765,625joint entries and29,255,197uniform random draws with replacement for95%expected coverage. These are not intervention batches at matched error and are not a third measured arm. Separate graphic and labels deliberately avoid a common axis. SCM local tables225entries under full parent-setting access. Original measured two-arm values and all retrospective limitations remain unchanged. Source: /Users/pat/code/ACE/presentations/ACE_theory_and_evidence/SCM_free_grid_comparison.json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621364bdff40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cc2d861b724b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e6caec51c048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0deed084d942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0b7217da974f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a56a9ec72c44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07BE2F-EB44-45BE-A450-0E5C47BC70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071255-1744-4ED2-A669-12356283AB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19384D-28C0-40F0-B60C-802CC3D5BF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6EF0BB-AA83-4C03-9972-7D4F2015E2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700167-752E-4C01-92ED-DA6273CDFA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D2ECAC-E4A2-4161-9FD0-BAA6B23A37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359DF-C0EB-4159-ACA8-2D913F35D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385D51-E29E-4631-9047-7F0B5BB72E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A069B-2752-4470-BA2F-D0F7A83C9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A4D67C-67BE-41F2-A6C0-71269FFBDE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860de1ac0b4cf2" /><Relationship Type="http://schemas.openxmlformats.org/officeDocument/2006/relationships/slideLayout" Target="/ppt/slideLayouts/slideLayout1.xml" Id="R058e5e008eef4954" /><Relationship Type="http://schemas.openxmlformats.org/officeDocument/2006/relationships/slideLayout" Target="/ppt/slideLayouts/slideLayout2.xml" Id="Ra07f47039cff4c61" /><Relationship Type="http://schemas.openxmlformats.org/officeDocument/2006/relationships/slideLayout" Target="/ppt/slideLayouts/slideLayout3.xml" Id="R0d0f6513b4cc4984" /><Relationship Type="http://schemas.openxmlformats.org/officeDocument/2006/relationships/slideLayout" Target="/ppt/slideLayouts/slideLayout4.xml" Id="Re504648d874c40bd" /><Relationship Type="http://schemas.openxmlformats.org/officeDocument/2006/relationships/slideLayout" Target="/ppt/slideLayouts/slideLayout5.xml" Id="R37d0b70f99f349a2" /><Relationship Type="http://schemas.openxmlformats.org/officeDocument/2006/relationships/slideLayout" Target="/ppt/slideLayouts/slideLayout6.xml" Id="R67a23df87ebb43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8e5e008eef4954"/>
    <p:sldLayoutId xmlns:r="http://schemas.openxmlformats.org/officeDocument/2006/relationships" id="2147483650" r:id="Ra07f47039cff4c61"/>
    <p:sldLayoutId xmlns:r="http://schemas.openxmlformats.org/officeDocument/2006/relationships" id="2147483651" r:id="R0d0f6513b4cc4984"/>
    <p:sldLayoutId xmlns:r="http://schemas.openxmlformats.org/officeDocument/2006/relationships" id="2147483652" r:id="Re504648d874c40bd"/>
    <p:sldLayoutId xmlns:r="http://schemas.openxmlformats.org/officeDocument/2006/relationships" id="2147483653" r:id="R37d0b70f99f349a2"/>
    <p:sldLayoutId xmlns:r="http://schemas.openxmlformats.org/officeDocument/2006/relationships" id="2147483654" r:id="R67a23df87ebb43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d4eced42a74e64" /><Relationship Type="http://schemas.openxmlformats.org/officeDocument/2006/relationships/image" Target="/ppt/media/image.png" Id="Re95b73421118448c" /><Relationship Type="http://schemas.openxmlformats.org/officeDocument/2006/relationships/notesSlide" Target="/ppt/notesSlides/notesSlide1.xml" Id="Re0641ee5ac3a4d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67abe335db4bf9" /><Relationship Type="http://schemas.openxmlformats.org/officeDocument/2006/relationships/notesSlide" Target="/ppt/notesSlides/notesSlide2.xml" Id="R290d9d54d61a43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0e51e53fe249bb" /><Relationship Type="http://schemas.openxmlformats.org/officeDocument/2006/relationships/notesSlide" Target="/ppt/notesSlides/notesSlide3.xml" Id="Rebf5dc02dab948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4df4c88d4b41f8" /><Relationship Type="http://schemas.openxmlformats.org/officeDocument/2006/relationships/notesSlide" Target="/ppt/notesSlides/notesSlide4.xml" Id="R0ca91d3767994b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7a7d913db449fe" /><Relationship Type="http://schemas.openxmlformats.org/officeDocument/2006/relationships/notesSlide" Target="/ppt/notesSlides/notesSlide5.xml" Id="Rd37c0792510c46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7ca50a1e7747f0" /><Relationship Type="http://schemas.openxmlformats.org/officeDocument/2006/relationships/notesSlide" Target="/ppt/notesSlides/notesSlide6.xml" Id="R39186671be6848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f1b6cb871f44a4" /><Relationship Type="http://schemas.openxmlformats.org/officeDocument/2006/relationships/notesSlide" Target="/ppt/notesSlides/notesSlide7.xml" Id="R1de1f74f823643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c676a9eb384bdc" /><Relationship Type="http://schemas.openxmlformats.org/officeDocument/2006/relationships/notesSlide" Target="/ppt/notesSlides/notesSlide8.xml" Id="R9713a03009a447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d9cd9412af4889" /><Relationship Type="http://schemas.openxmlformats.org/officeDocument/2006/relationships/notesSlide" Target="/ppt/notesSlides/notesSlide9.xml" Id="Rf205f851c7c04b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e3e032aae24ea1" /><Relationship Type="http://schemas.openxmlformats.org/officeDocument/2006/relationships/notesSlide" Target="/ppt/notesSlides/notesSlide10.xml" Id="Reee25d6c5d9643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aa7e721387f42a3" /><Relationship Type="http://schemas.openxmlformats.org/officeDocument/2006/relationships/chart" Target="/ppt/slides/charts/chart1.xml" Id="Rf97442746bc0426a" /><Relationship Type="http://schemas.openxmlformats.org/officeDocument/2006/relationships/chart" Target="/ppt/slides/charts/chart2.xml" Id="R525e59b8f4cc4ced" /><Relationship Type="http://schemas.openxmlformats.org/officeDocument/2006/relationships/notesSlide" Target="/ppt/notesSlides/notesSlide11.xml" Id="R2ffa1928c31a4f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ec1555f61cb4ede" /><Relationship Type="http://schemas.openxmlformats.org/officeDocument/2006/relationships/chart" Target="/ppt/slides/charts/chart3.xml" Id="R4faa712eea9b49ad" /><Relationship Type="http://schemas.openxmlformats.org/officeDocument/2006/relationships/notesSlide" Target="/ppt/notesSlides/notesSlide12.xml" Id="R624d22a384e444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Random</c:v>
          </c:tx>
          <c:spPr>
            <a:ln xmlns:a="http://schemas.openxmlformats.org/drawingml/2006/main" w="28575">
              <a:solidFill>
                <a:srgbClr val="B95435"/>
              </a:solidFill>
            </a:ln>
          </c:spPr>
          <c:marker>
            <c:symbol val="none"/>
          </c:marker>
          <c:cat>
            <c:numRef>
              <c:f>'Chart Data'!$A$2:$A$33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cat>
          <c:val>
            <c:numRef>
              <c:f>'Chart Data'!$B$2:$B$33</c:f>
              <c:numCache>
                <c:formatCode>0.0</c:formatCode>
                <c:ptCount val="32"/>
                <c:pt idx="0">
                  <c:v>2.2732068463</c:v>
                </c:pt>
                <c:pt idx="1">
                  <c:v>0.471886686419</c:v>
                </c:pt>
                <c:pt idx="2">
                  <c:v>0.10972867089</c:v>
                </c:pt>
                <c:pt idx="3">
                  <c:v>0.0669085623209</c:v>
                </c:pt>
                <c:pt idx="4">
                  <c:v>0.06569636005</c:v>
                </c:pt>
                <c:pt idx="5">
                  <c:v>0.0629286340252</c:v>
                </c:pt>
                <c:pt idx="6">
                  <c:v>0.0653752201358</c:v>
                </c:pt>
                <c:pt idx="7">
                  <c:v>0.0649233507722</c:v>
                </c:pt>
                <c:pt idx="8">
                  <c:v>0.0582163593845</c:v>
                </c:pt>
                <c:pt idx="9">
                  <c:v>0.0646492747348</c:v>
                </c:pt>
                <c:pt idx="10">
                  <c:v>0.0720560292501</c:v>
                </c:pt>
                <c:pt idx="11">
                  <c:v>0.0753091231711</c:v>
                </c:pt>
                <c:pt idx="12">
                  <c:v>0.0727468288016</c:v>
                </c:pt>
                <c:pt idx="13">
                  <c:v>0.0723713423048</c:v>
                </c:pt>
                <c:pt idx="14">
                  <c:v>0.0724149556073</c:v>
                </c:pt>
                <c:pt idx="15">
                  <c:v>0.0717998610912</c:v>
                </c:pt>
                <c:pt idx="16">
                  <c:v>0.0686765256895</c:v>
                </c:pt>
                <c:pt idx="17">
                  <c:v>0.0587051144801</c:v>
                </c:pt>
                <c:pt idx="18">
                  <c:v>0.0571742685284</c:v>
                </c:pt>
                <c:pt idx="19">
                  <c:v>0.0544004405493</c:v>
                </c:pt>
                <c:pt idx="20">
                  <c:v>0.0542922261814</c:v>
                </c:pt>
                <c:pt idx="21">
                  <c:v>0.0553085399088</c:v>
                </c:pt>
                <c:pt idx="22">
                  <c:v>0.0501537249925</c:v>
                </c:pt>
                <c:pt idx="23">
                  <c:v>0.0497737358661</c:v>
                </c:pt>
                <c:pt idx="24">
                  <c:v>0.0496752072739</c:v>
                </c:pt>
                <c:pt idx="25">
                  <c:v>0.0487805661038</c:v>
                </c:pt>
                <c:pt idx="26">
                  <c:v>0.04543041126</c:v>
                </c:pt>
                <c:pt idx="27">
                  <c:v>0.0421601388253</c:v>
                </c:pt>
                <c:pt idx="28">
                  <c:v>0.0431491192364</c:v>
                </c:pt>
                <c:pt idx="29">
                  <c:v>0.0432550288176</c:v>
                </c:pt>
                <c:pt idx="30">
                  <c:v>0.0455449700639</c:v>
                </c:pt>
                <c:pt idx="31">
                  <c:v>0.0438980070785</c:v>
                </c:pt>
              </c:numCache>
            </c:numRef>
          </c:val>
          <c:smooth val="0"/>
        </c:ser>
        <c:ser>
          <c:idx val="1"/>
          <c:order val="1"/>
          <c:tx>
            <c:v>ACE / PEV</c:v>
          </c:tx>
          <c:spPr>
            <a:ln xmlns:a="http://schemas.openxmlformats.org/drawingml/2006/main" w="28575">
              <a:solidFill>
                <a:srgbClr val="087F83"/>
              </a:solidFill>
            </a:ln>
          </c:spPr>
          <c:marker>
            <c:symbol val="none"/>
          </c:marker>
          <c:cat>
            <c:numRef>
              <c:f>'Chart Data'!$C$2:$C$33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cat>
          <c:val>
            <c:numRef>
              <c:f>'Chart Data'!$D$2:$D$33</c:f>
              <c:numCache>
                <c:formatCode>0.0</c:formatCode>
                <c:ptCount val="32"/>
                <c:pt idx="0">
                  <c:v>6.1393211968</c:v>
                </c:pt>
                <c:pt idx="1">
                  <c:v>1.42892976507</c:v>
                </c:pt>
                <c:pt idx="2">
                  <c:v>0.371549300366</c:v>
                </c:pt>
                <c:pt idx="3">
                  <c:v>0.118696252316</c:v>
                </c:pt>
                <c:pt idx="4">
                  <c:v>0.0891531731772</c:v>
                </c:pt>
                <c:pt idx="5">
                  <c:v>0.0737694362645</c:v>
                </c:pt>
                <c:pt idx="6">
                  <c:v>0.0530689909715</c:v>
                </c:pt>
                <c:pt idx="7">
                  <c:v>0.0491279692323</c:v>
                </c:pt>
                <c:pt idx="8">
                  <c:v>0.047785933589</c:v>
                </c:pt>
                <c:pt idx="9">
                  <c:v>0.0400792712592</c:v>
                </c:pt>
                <c:pt idx="10">
                  <c:v>0.0403974543664</c:v>
                </c:pt>
                <c:pt idx="11">
                  <c:v>0.0382029949284</c:v>
                </c:pt>
                <c:pt idx="12">
                  <c:v>0.030342672804</c:v>
                </c:pt>
                <c:pt idx="13">
                  <c:v>0.0291690604685</c:v>
                </c:pt>
                <c:pt idx="14">
                  <c:v>0.0277269143791</c:v>
                </c:pt>
                <c:pt idx="15">
                  <c:v>0.0251735080168</c:v>
                </c:pt>
                <c:pt idx="16">
                  <c:v>0.024291315978</c:v>
                </c:pt>
                <c:pt idx="17">
                  <c:v>0.0238577286833</c:v>
                </c:pt>
                <c:pt idx="18">
                  <c:v>0.0224386316811</c:v>
                </c:pt>
                <c:pt idx="19">
                  <c:v>0.0224865435665</c:v>
                </c:pt>
                <c:pt idx="20">
                  <c:v>0.0218317552663</c:v>
                </c:pt>
                <c:pt idx="21">
                  <c:v>0.0204009176553</c:v>
                </c:pt>
                <c:pt idx="22">
                  <c:v>0.0216182428369</c:v>
                </c:pt>
                <c:pt idx="23">
                  <c:v>0.020389394095</c:v>
                </c:pt>
                <c:pt idx="24">
                  <c:v>0.0192289545853</c:v>
                </c:pt>
                <c:pt idx="25">
                  <c:v>0.0190304754876</c:v>
                </c:pt>
                <c:pt idx="26">
                  <c:v>0.0181310143643</c:v>
                </c:pt>
                <c:pt idx="27">
                  <c:v>0.0171716089184</c:v>
                </c:pt>
                <c:pt idx="28">
                  <c:v>0.0167776460259</c:v>
                </c:pt>
                <c:pt idx="29">
                  <c:v>0.0162150930691</c:v>
                </c:pt>
                <c:pt idx="30">
                  <c:v>0.0154987929315</c:v>
                </c:pt>
                <c:pt idx="31">
                  <c:v>0.0154302049069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Intervention batches (50 responses each)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6.5"/>
          <c:min val="0"/>
        </c:scaling>
        <c:delete val="0"/>
        <c:axPos val="l"/>
        <c:majorGridlines>
          <c:spPr>
            <a:ln xmlns:a="http://schemas.openxmlformats.org/drawingml/2006/main" w="9525">
              <a:solidFill>
                <a:srgbClr val="D3DDD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Random</c:v>
          </c:tx>
          <c:spPr>
            <a:ln xmlns:a="http://schemas.openxmlformats.org/drawingml/2006/main" w="28575">
              <a:solidFill>
                <a:srgbClr val="B95435"/>
              </a:solidFill>
            </a:ln>
          </c:spPr>
          <c:marker>
            <c:symbol val="none"/>
          </c:marker>
          <c:cat>
            <c:numRef>
              <c:f>'Chart Data'!$A$2:$A$30</c:f>
              <c:numCache>
                <c:formatCode>General</c:formatCode>
                <c:ptCount val="29"/>
                <c:pt idx="0">
                  <c:v>4</c:v>
                </c:pt>
                <c:pt idx="1">
                  <c:v>5</c:v>
                </c:pt>
                <c:pt idx="2">
                  <c:v>6</c:v>
                </c:pt>
                <c:pt idx="3">
                  <c:v>7</c:v>
                </c:pt>
                <c:pt idx="4">
                  <c:v>8</c:v>
                </c:pt>
                <c:pt idx="5">
                  <c:v>9</c:v>
                </c:pt>
                <c:pt idx="6">
                  <c:v>10</c:v>
                </c:pt>
                <c:pt idx="7">
                  <c:v>11</c:v>
                </c:pt>
                <c:pt idx="8">
                  <c:v>12</c:v>
                </c:pt>
                <c:pt idx="9">
                  <c:v>13</c:v>
                </c:pt>
                <c:pt idx="10">
                  <c:v>14</c:v>
                </c:pt>
                <c:pt idx="11">
                  <c:v>15</c:v>
                </c:pt>
                <c:pt idx="12">
                  <c:v>16</c:v>
                </c:pt>
                <c:pt idx="13">
                  <c:v>17</c:v>
                </c:pt>
                <c:pt idx="14">
                  <c:v>18</c:v>
                </c:pt>
                <c:pt idx="15">
                  <c:v>19</c:v>
                </c:pt>
                <c:pt idx="16">
                  <c:v>20</c:v>
                </c:pt>
                <c:pt idx="17">
                  <c:v>21</c:v>
                </c:pt>
                <c:pt idx="18">
                  <c:v>22</c:v>
                </c:pt>
                <c:pt idx="19">
                  <c:v>23</c:v>
                </c:pt>
                <c:pt idx="20">
                  <c:v>24</c:v>
                </c:pt>
                <c:pt idx="21">
                  <c:v>25</c:v>
                </c:pt>
                <c:pt idx="22">
                  <c:v>26</c:v>
                </c:pt>
                <c:pt idx="23">
                  <c:v>27</c:v>
                </c:pt>
                <c:pt idx="24">
                  <c:v>28</c:v>
                </c:pt>
                <c:pt idx="25">
                  <c:v>29</c:v>
                </c:pt>
                <c:pt idx="26">
                  <c:v>30</c:v>
                </c:pt>
                <c:pt idx="27">
                  <c:v>31</c:v>
                </c:pt>
                <c:pt idx="28">
                  <c:v>32</c:v>
                </c:pt>
              </c:numCache>
            </c:numRef>
          </c:cat>
          <c:val>
            <c:numRef>
              <c:f>'Chart Data'!$B$2:$B$30</c:f>
              <c:numCache>
                <c:formatCode>0.00</c:formatCode>
                <c:ptCount val="29"/>
                <c:pt idx="0">
                  <c:v>0.0669085623209</c:v>
                </c:pt>
                <c:pt idx="1">
                  <c:v>0.06569636005</c:v>
                </c:pt>
                <c:pt idx="2">
                  <c:v>0.0629286340252</c:v>
                </c:pt>
                <c:pt idx="3">
                  <c:v>0.0653752201358</c:v>
                </c:pt>
                <c:pt idx="4">
                  <c:v>0.0649233507722</c:v>
                </c:pt>
                <c:pt idx="5">
                  <c:v>0.0582163593845</c:v>
                </c:pt>
                <c:pt idx="6">
                  <c:v>0.0646492747348</c:v>
                </c:pt>
                <c:pt idx="7">
                  <c:v>0.0720560292501</c:v>
                </c:pt>
                <c:pt idx="8">
                  <c:v>0.0753091231711</c:v>
                </c:pt>
                <c:pt idx="9">
                  <c:v>0.0727468288016</c:v>
                </c:pt>
                <c:pt idx="10">
                  <c:v>0.0723713423048</c:v>
                </c:pt>
                <c:pt idx="11">
                  <c:v>0.0724149556073</c:v>
                </c:pt>
                <c:pt idx="12">
                  <c:v>0.0717998610912</c:v>
                </c:pt>
                <c:pt idx="13">
                  <c:v>0.0686765256895</c:v>
                </c:pt>
                <c:pt idx="14">
                  <c:v>0.0587051144801</c:v>
                </c:pt>
                <c:pt idx="15">
                  <c:v>0.0571742685284</c:v>
                </c:pt>
                <c:pt idx="16">
                  <c:v>0.0544004405493</c:v>
                </c:pt>
                <c:pt idx="17">
                  <c:v>0.0542922261814</c:v>
                </c:pt>
                <c:pt idx="18">
                  <c:v>0.0553085399088</c:v>
                </c:pt>
                <c:pt idx="19">
                  <c:v>0.0501537249925</c:v>
                </c:pt>
                <c:pt idx="20">
                  <c:v>0.0497737358661</c:v>
                </c:pt>
                <c:pt idx="21">
                  <c:v>0.0496752072739</c:v>
                </c:pt>
                <c:pt idx="22">
                  <c:v>0.0487805661038</c:v>
                </c:pt>
                <c:pt idx="23">
                  <c:v>0.04543041126</c:v>
                </c:pt>
                <c:pt idx="24">
                  <c:v>0.0421601388253</c:v>
                </c:pt>
                <c:pt idx="25">
                  <c:v>0.0431491192364</c:v>
                </c:pt>
                <c:pt idx="26">
                  <c:v>0.0432550288176</c:v>
                </c:pt>
                <c:pt idx="27">
                  <c:v>0.0455449700639</c:v>
                </c:pt>
                <c:pt idx="28">
                  <c:v>0.0438980070785</c:v>
                </c:pt>
              </c:numCache>
            </c:numRef>
          </c:val>
          <c:smooth val="0"/>
        </c:ser>
        <c:ser>
          <c:idx val="1"/>
          <c:order val="1"/>
          <c:tx>
            <c:v>ACE / PEV</c:v>
          </c:tx>
          <c:spPr>
            <a:ln xmlns:a="http://schemas.openxmlformats.org/drawingml/2006/main" w="28575">
              <a:solidFill>
                <a:srgbClr val="087F83"/>
              </a:solidFill>
            </a:ln>
          </c:spPr>
          <c:marker>
            <c:symbol val="none"/>
          </c:marker>
          <c:cat>
            <c:numRef>
              <c:f>'Chart Data'!$C$2:$C$30</c:f>
              <c:numCache>
                <c:formatCode>General</c:formatCode>
                <c:ptCount val="29"/>
                <c:pt idx="0">
                  <c:v>4</c:v>
                </c:pt>
                <c:pt idx="1">
                  <c:v>5</c:v>
                </c:pt>
                <c:pt idx="2">
                  <c:v>6</c:v>
                </c:pt>
                <c:pt idx="3">
                  <c:v>7</c:v>
                </c:pt>
                <c:pt idx="4">
                  <c:v>8</c:v>
                </c:pt>
                <c:pt idx="5">
                  <c:v>9</c:v>
                </c:pt>
                <c:pt idx="6">
                  <c:v>10</c:v>
                </c:pt>
                <c:pt idx="7">
                  <c:v>11</c:v>
                </c:pt>
                <c:pt idx="8">
                  <c:v>12</c:v>
                </c:pt>
                <c:pt idx="9">
                  <c:v>13</c:v>
                </c:pt>
                <c:pt idx="10">
                  <c:v>14</c:v>
                </c:pt>
                <c:pt idx="11">
                  <c:v>15</c:v>
                </c:pt>
                <c:pt idx="12">
                  <c:v>16</c:v>
                </c:pt>
                <c:pt idx="13">
                  <c:v>17</c:v>
                </c:pt>
                <c:pt idx="14">
                  <c:v>18</c:v>
                </c:pt>
                <c:pt idx="15">
                  <c:v>19</c:v>
                </c:pt>
                <c:pt idx="16">
                  <c:v>20</c:v>
                </c:pt>
                <c:pt idx="17">
                  <c:v>21</c:v>
                </c:pt>
                <c:pt idx="18">
                  <c:v>22</c:v>
                </c:pt>
                <c:pt idx="19">
                  <c:v>23</c:v>
                </c:pt>
                <c:pt idx="20">
                  <c:v>24</c:v>
                </c:pt>
                <c:pt idx="21">
                  <c:v>25</c:v>
                </c:pt>
                <c:pt idx="22">
                  <c:v>26</c:v>
                </c:pt>
                <c:pt idx="23">
                  <c:v>27</c:v>
                </c:pt>
                <c:pt idx="24">
                  <c:v>28</c:v>
                </c:pt>
                <c:pt idx="25">
                  <c:v>29</c:v>
                </c:pt>
                <c:pt idx="26">
                  <c:v>30</c:v>
                </c:pt>
                <c:pt idx="27">
                  <c:v>31</c:v>
                </c:pt>
                <c:pt idx="28">
                  <c:v>32</c:v>
                </c:pt>
              </c:numCache>
            </c:numRef>
          </c:cat>
          <c:val>
            <c:numRef>
              <c:f>'Chart Data'!$D$2:$D$30</c:f>
              <c:numCache>
                <c:formatCode>0.00</c:formatCode>
                <c:ptCount val="29"/>
                <c:pt idx="0">
                  <c:v>0.118696252316</c:v>
                </c:pt>
                <c:pt idx="1">
                  <c:v>0.0891531731772</c:v>
                </c:pt>
                <c:pt idx="2">
                  <c:v>0.0737694362645</c:v>
                </c:pt>
                <c:pt idx="3">
                  <c:v>0.0530689909715</c:v>
                </c:pt>
                <c:pt idx="4">
                  <c:v>0.0491279692323</c:v>
                </c:pt>
                <c:pt idx="5">
                  <c:v>0.047785933589</c:v>
                </c:pt>
                <c:pt idx="6">
                  <c:v>0.0400792712592</c:v>
                </c:pt>
                <c:pt idx="7">
                  <c:v>0.0403974543664</c:v>
                </c:pt>
                <c:pt idx="8">
                  <c:v>0.0382029949284</c:v>
                </c:pt>
                <c:pt idx="9">
                  <c:v>0.030342672804</c:v>
                </c:pt>
                <c:pt idx="10">
                  <c:v>0.0291690604685</c:v>
                </c:pt>
                <c:pt idx="11">
                  <c:v>0.0277269143791</c:v>
                </c:pt>
                <c:pt idx="12">
                  <c:v>0.0251735080168</c:v>
                </c:pt>
                <c:pt idx="13">
                  <c:v>0.024291315978</c:v>
                </c:pt>
                <c:pt idx="14">
                  <c:v>0.0238577286833</c:v>
                </c:pt>
                <c:pt idx="15">
                  <c:v>0.0224386316811</c:v>
                </c:pt>
                <c:pt idx="16">
                  <c:v>0.0224865435665</c:v>
                </c:pt>
                <c:pt idx="17">
                  <c:v>0.0218317552663</c:v>
                </c:pt>
                <c:pt idx="18">
                  <c:v>0.0204009176553</c:v>
                </c:pt>
                <c:pt idx="19">
                  <c:v>0.0216182428369</c:v>
                </c:pt>
                <c:pt idx="20">
                  <c:v>0.020389394095</c:v>
                </c:pt>
                <c:pt idx="21">
                  <c:v>0.0192289545853</c:v>
                </c:pt>
                <c:pt idx="22">
                  <c:v>0.0190304754876</c:v>
                </c:pt>
                <c:pt idx="23">
                  <c:v>0.0181310143643</c:v>
                </c:pt>
                <c:pt idx="24">
                  <c:v>0.0171716089184</c:v>
                </c:pt>
                <c:pt idx="25">
                  <c:v>0.0167776460259</c:v>
                </c:pt>
                <c:pt idx="26">
                  <c:v>0.0162150930691</c:v>
                </c:pt>
                <c:pt idx="27">
                  <c:v>0.0154987929315</c:v>
                </c:pt>
                <c:pt idx="28">
                  <c:v>0.0154302049069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Intervention batches (50 responses each)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0.13"/>
          <c:min val="0"/>
        </c:scaling>
        <c:delete val="0"/>
        <c:axPos val="l"/>
        <c:majorGridlines>
          <c:spPr>
            <a:ln xmlns:a="http://schemas.openxmlformats.org/drawingml/2006/main" w="9525">
              <a:solidFill>
                <a:srgbClr val="D3DDD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Result</c:v>
          </c:tx>
          <c:spPr>
            <a:solidFill xmlns:a="http://schemas.openxmlformats.org/drawingml/2006/main">
              <a:srgbClr val="087F83"/>
            </a:solidFill>
          </c:spPr>
          <c:dPt>
            <c:idx val="0"/>
            <c:invertIfNegative val="0"/>
            <c:spPr>
              <a:solidFill xmlns:a="http://schemas.openxmlformats.org/drawingml/2006/main">
                <a:srgbClr val="B95435"/>
              </a:solidFill>
            </c:spPr>
          </c:dPt>
          <c:dPt>
            <c:idx val="1"/>
            <c:invertIfNegative val="0"/>
            <c:spPr>
              <a:solidFill xmlns:a="http://schemas.openxmlformats.org/drawingml/2006/main">
                <a:srgbClr val="087F83"/>
              </a:solidFill>
            </c:spPr>
          </c:dPt>
          <c:cat>
            <c:strRef>
              <c:f>'Chart Data'!$A$2:$A$3</c:f>
              <c:strCache>
                <c:ptCount val="2"/>
                <c:pt idx="0">
                  <c:v>Random</c:v>
                </c:pt>
                <c:pt idx="1">
                  <c:v>ACE / PEV</c:v>
                </c:pt>
              </c:strCache>
            </c:strRef>
          </c:cat>
          <c:val>
            <c:numRef>
              <c:f>'Chart Data'!$B$2:$B$3</c:f>
              <c:numCache>
                <c:formatCode>0</c:formatCode>
                <c:ptCount val="2"/>
                <c:pt idx="0">
                  <c:v>28</c:v>
                </c:pt>
                <c:pt idx="1">
                  <c:v>10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631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D9"/>
            </a:solidFill>
          </a:ln>
        </c:spPr>
        <c:txPr>
          <a:bodyPr xmlns:a="http://schemas.openxmlformats.org/drawingml/2006/main" anchorCtr="1"/>
          <a:lstStyle xmlns:a="http://schemas.openxmlformats.org/drawingml/2006/main"/>
          <a:p xmlns:a="http://schemas.openxmlformats.org/drawingml/2006/main">
            <a:pPr>
              <a:defRPr sz="1725">
                <a:solidFill>
                  <a:srgbClr val="16313A"/>
                </a:solidFill>
                <a:latin typeface="Helvetica Neue"/>
                <a:ea typeface="Helvetica Neue"/>
                <a:cs typeface="Helvetica Neue"/>
              </a:defRPr>
            </a:pPr>
          </a:p>
        </c:txPr>
        <c:crossAx val="48672768"/>
      </c:catAx>
      <c:valAx>
        <c:axId val="48672768"/>
        <c:scaling>
          <c:orientation val="minMax"/>
          <c:max val="32"/>
          <c:min val="0"/>
        </c:scaling>
        <c:delete val="0"/>
        <c:axPos val="l"/>
        <c:majorGridlines>
          <c:spPr>
            <a:ln xmlns:a="http://schemas.openxmlformats.org/drawingml/2006/main" w="9525">
              <a:solidFill>
                <a:srgbClr val="D3DD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66B"/>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B36"/>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C1EA9D9-585A-4CFA-8F99-6AE0CAAF3673}"/>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stStyle>
          <a:p xmlns:a="http://schemas.openxmlformats.org/drawingml/2006/main">
            <a:r>
              <a:t/>
            </a:r>
          </a:p>
        </p:txBody>
      </p:sp>
      <p:sp>
        <p:nvSpPr>
          <p:cNvPr id="2" name="page">
            <a:extLst xmlns:a="http://schemas.openxmlformats.org/drawingml/2006/main">
              <a:ext uri="{FF2B5EF4-FFF2-40B4-BE49-F238E27FC236}">
                <a16:creationId xmlns:a16="http://schemas.microsoft.com/office/drawing/2014/main" id="{B7A54B9C-85F6-44C5-AEF3-65D714948A60}"/>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DD4CD"/>
                </a:solidFill>
                <a:latin typeface="Helvetica Neue"/>
                <a:ea typeface="Helvetica Neue"/>
                <a:cs typeface="Helvetica Neue"/>
              </a:defRPr>
            </a:defPPr>
          </a:lstStyle>
          <a:p xmlns:a="http://schemas.openxmlformats.org/drawingml/2006/main">
            <a:pPr>
              <a:buNone/>
              <a:defRPr sz="1500" b="0">
                <a:solidFill>
                  <a:srgbClr val="9DD4CD"/>
                </a:solidFill>
                <a:latin typeface="Helvetica Neue"/>
                <a:ea typeface="Helvetica Neue"/>
                <a:cs typeface="Helvetica Neue"/>
              </a:defRPr>
            </a:pPr>
            <a:r>
              <a:rPr sz="1500" b="0">
                <a:solidFill>
                  <a:srgbClr val="9DD4CD"/>
                </a:solidFill>
                <a:latin typeface="Helvetica Neue"/>
                <a:ea typeface="Helvetica Neue"/>
                <a:cs typeface="Helvetica Neue"/>
              </a:rPr>
              <a:t>01</a:t>
            </a:r>
          </a:p>
        </p:txBody>
      </p:sp>
      <p:pic>
        <p:nvPicPr>
          <p:cNvPr id="3" name="">
            <a:extLst xmlns:a="http://schemas.openxmlformats.org/drawingml/2006/main">
              <a:ext uri="{FF2B5EF4-FFF2-40B4-BE49-F238E27FC236}">
                <a16:creationId xmlns:a16="http://schemas.microsoft.com/office/drawing/2014/main" id="{79F4B047-FF75-45FC-8E18-0564E4408C33}"/>
              </a:ext>
            </a:extLst>
          </p:cNvPr>
          <p:cNvPicPr>
            <a:picLocks xmlns:a="http://schemas.openxmlformats.org/drawingml/2006/main" noChangeAspect="1"/>
          </p:cNvPicPr>
          <p:nvPr/>
        </p:nvPicPr>
        <p:blipFill>
          <a:blip xmlns:r="http://schemas.openxmlformats.org/officeDocument/2006/relationships" xmlns:a="http://schemas.openxmlformats.org/drawingml/2006/main" r:embed="Re95b7342111844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ACE">
            <a:extLst xmlns:a="http://schemas.openxmlformats.org/drawingml/2006/main">
              <a:ext uri="{FF2B5EF4-FFF2-40B4-BE49-F238E27FC236}">
                <a16:creationId xmlns:a16="http://schemas.microsoft.com/office/drawing/2014/main" id="{D06FE819-52EC-4950-A8F1-BE3516006084}"/>
              </a:ext>
            </a:extLst>
          </p:cNvPr>
          <p:cNvSpPr>
            <a:spLocks xmlns:a="http://schemas.openxmlformats.org/drawingml/2006/main" noGrp="1"/>
          </p:cNvSpPr>
          <p:nvPr/>
        </p:nvSpPr>
        <p:spPr>
          <a:xfrm xmlns:a="http://schemas.openxmlformats.org/drawingml/2006/main">
            <a:off x="590550" y="57150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FFFFFF"/>
                </a:solidFill>
                <a:latin typeface="Helvetica Neue"/>
                <a:ea typeface="Helvetica Neue"/>
                <a:cs typeface="Helvetica Neue"/>
              </a:defRPr>
            </a:defPPr>
          </a:lstStyle>
          <a:p xmlns:a="http://schemas.openxmlformats.org/drawingml/2006/main">
            <a:pPr>
              <a:buNone/>
              <a:defRPr sz="7500" b="1">
                <a:solidFill>
                  <a:srgbClr val="FFFFFF"/>
                </a:solidFill>
                <a:latin typeface="Helvetica Neue"/>
                <a:ea typeface="Helvetica Neue"/>
                <a:cs typeface="Helvetica Neue"/>
              </a:defRPr>
            </a:pPr>
            <a:r>
              <a:rPr sz="7500" b="1">
                <a:solidFill>
                  <a:srgbClr val="FFFFFF"/>
                </a:solidFill>
                <a:latin typeface="Helvetica Neue"/>
                <a:ea typeface="Helvetica Neue"/>
                <a:cs typeface="Helvetica Neue"/>
              </a:rPr>
              <a:t>ACE</a:t>
            </a:r>
          </a:p>
        </p:txBody>
      </p:sp>
      <p:sp>
        <p:nvSpPr>
          <p:cNvPr id="5" name="Learn what to&#10;change next.">
            <a:extLst xmlns:a="http://schemas.openxmlformats.org/drawingml/2006/main">
              <a:ext uri="{FF2B5EF4-FFF2-40B4-BE49-F238E27FC236}">
                <a16:creationId xmlns:a16="http://schemas.microsoft.com/office/drawing/2014/main" id="{2A7767E4-162D-4B64-AE8E-A06D81B72311}"/>
              </a:ext>
            </a:extLst>
          </p:cNvPr>
          <p:cNvSpPr>
            <a:spLocks xmlns:a="http://schemas.openxmlformats.org/drawingml/2006/main" noGrp="1"/>
          </p:cNvSpPr>
          <p:nvPr/>
        </p:nvSpPr>
        <p:spPr>
          <a:xfrm xmlns:a="http://schemas.openxmlformats.org/drawingml/2006/main">
            <a:off x="628650" y="2124075"/>
            <a:ext cx="5048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FFFFF"/>
                </a:solidFill>
                <a:latin typeface="Helvetica Neue"/>
                <a:ea typeface="Helvetica Neue"/>
                <a:cs typeface="Helvetica Neue"/>
              </a:defRPr>
            </a:defPPr>
          </a:lstStyle>
          <a:p xmlns:a="http://schemas.openxmlformats.org/drawingml/2006/main">
            <a:pPr>
              <a:buNone/>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Learn what to</a:t>
            </a:r>
          </a:p>
          <a:p xmlns:a="http://schemas.openxmlformats.org/drawingml/2006/main">
            <a:pPr>
              <a:buNone/>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change next.</a:t>
            </a:r>
          </a:p>
        </p:txBody>
      </p:sp>
      <p:sp>
        <p:nvSpPr>
          <p:cNvPr id="6" name="Causal models for&#10;smarter ex">
            <a:extLst xmlns:a="http://schemas.openxmlformats.org/drawingml/2006/main">
              <a:ext uri="{FF2B5EF4-FFF2-40B4-BE49-F238E27FC236}">
                <a16:creationId xmlns:a16="http://schemas.microsoft.com/office/drawing/2014/main" id="{78E59463-31F9-48C4-B758-5FB900473F39}"/>
              </a:ext>
            </a:extLst>
          </p:cNvPr>
          <p:cNvSpPr>
            <a:spLocks xmlns:a="http://schemas.openxmlformats.org/drawingml/2006/main" noGrp="1"/>
          </p:cNvSpPr>
          <p:nvPr/>
        </p:nvSpPr>
        <p:spPr>
          <a:xfrm xmlns:a="http://schemas.openxmlformats.org/drawingml/2006/main">
            <a:off x="638175" y="4333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9DD4CD"/>
                </a:solidFill>
                <a:latin typeface="Helvetica Neue"/>
                <a:ea typeface="Helvetica Neue"/>
                <a:cs typeface="Helvetica Neue"/>
              </a:defRPr>
            </a:defPPr>
          </a:lstStyle>
          <a:p xmlns:a="http://schemas.openxmlformats.org/drawingml/2006/main">
            <a:pPr>
              <a:buNone/>
              <a:defRPr sz="2325" b="0">
                <a:solidFill>
                  <a:srgbClr val="9DD4CD"/>
                </a:solidFill>
                <a:latin typeface="Helvetica Neue"/>
                <a:ea typeface="Helvetica Neue"/>
                <a:cs typeface="Helvetica Neue"/>
              </a:defRPr>
            </a:pPr>
            <a:r>
              <a:rPr sz="2325" b="0">
                <a:solidFill>
                  <a:srgbClr val="9DD4CD"/>
                </a:solidFill>
                <a:latin typeface="Helvetica Neue"/>
                <a:ea typeface="Helvetica Neue"/>
                <a:cs typeface="Helvetica Neue"/>
              </a:rPr>
              <a:t>Causal models for</a:t>
            </a:r>
          </a:p>
          <a:p xmlns:a="http://schemas.openxmlformats.org/drawingml/2006/main">
            <a:pPr>
              <a:buNone/>
              <a:defRPr sz="2325" b="0">
                <a:solidFill>
                  <a:srgbClr val="9DD4CD"/>
                </a:solidFill>
                <a:latin typeface="Helvetica Neue"/>
                <a:ea typeface="Helvetica Neue"/>
                <a:cs typeface="Helvetica Neue"/>
              </a:defRPr>
            </a:pPr>
            <a:r>
              <a:rPr sz="2325" b="0">
                <a:solidFill>
                  <a:srgbClr val="9DD4CD"/>
                </a:solidFill>
                <a:latin typeface="Helvetica Neue"/>
                <a:ea typeface="Helvetica Neue"/>
                <a:cs typeface="Helvetica Neue"/>
              </a:rPr>
              <a:t>smarter experiments</a:t>
            </a:r>
          </a:p>
        </p:txBody>
      </p:sp>
      <p:sp>
        <p:nvSpPr>
          <p:cNvPr id="7" name="STRUCTURE  →  INTERVENE  →  ">
            <a:extLst xmlns:a="http://schemas.openxmlformats.org/drawingml/2006/main">
              <a:ext uri="{FF2B5EF4-FFF2-40B4-BE49-F238E27FC236}">
                <a16:creationId xmlns:a16="http://schemas.microsoft.com/office/drawing/2014/main" id="{CF3F46EE-1A37-4A7F-B3AC-9E19F9CD4703}"/>
              </a:ext>
            </a:extLst>
          </p:cNvPr>
          <p:cNvSpPr>
            <a:spLocks xmlns:a="http://schemas.openxmlformats.org/drawingml/2006/main" noGrp="1"/>
          </p:cNvSpPr>
          <p:nvPr/>
        </p:nvSpPr>
        <p:spPr>
          <a:xfrm xmlns:a="http://schemas.openxmlformats.org/drawingml/2006/main">
            <a:off x="638175" y="586740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9DD4CD"/>
                </a:solidFill>
                <a:latin typeface="Helvetica Neue"/>
                <a:ea typeface="Helvetica Neue"/>
                <a:cs typeface="Helvetica Neue"/>
              </a:defRPr>
            </a:defPPr>
          </a:lstStyle>
          <a:p xmlns:a="http://schemas.openxmlformats.org/drawingml/2006/main">
            <a:pPr>
              <a:buNone/>
              <a:defRPr sz="1650" b="1">
                <a:solidFill>
                  <a:srgbClr val="9DD4CD"/>
                </a:solidFill>
                <a:latin typeface="Helvetica Neue"/>
                <a:ea typeface="Helvetica Neue"/>
                <a:cs typeface="Helvetica Neue"/>
              </a:defRPr>
            </a:pPr>
            <a:r>
              <a:rPr sz="1650" b="1">
                <a:solidFill>
                  <a:srgbClr val="9DD4CD"/>
                </a:solidFill>
                <a:latin typeface="Helvetica Neue"/>
                <a:ea typeface="Helvetica Neue"/>
                <a:cs typeface="Helvetica Neue"/>
              </a:rPr>
              <a:t>STRUCTURE  →  INTERVENE  →  LEARN</a:t>
            </a:r>
          </a:p>
        </p:txBody>
      </p:sp>
      <p:sp>
        <p:nvSpPr>
          <p:cNvPr id="8" name="Compressor concept illustrat">
            <a:extLst xmlns:a="http://schemas.openxmlformats.org/drawingml/2006/main">
              <a:ext uri="{FF2B5EF4-FFF2-40B4-BE49-F238E27FC236}">
                <a16:creationId xmlns:a16="http://schemas.microsoft.com/office/drawing/2014/main" id="{F8E7FF15-DC23-4F6F-B0A1-B62058D5D15C}"/>
              </a:ext>
            </a:extLst>
          </p:cNvPr>
          <p:cNvSpPr>
            <a:spLocks xmlns:a="http://schemas.openxmlformats.org/drawingml/2006/main" noGrp="1"/>
          </p:cNvSpPr>
          <p:nvPr/>
        </p:nvSpPr>
        <p:spPr>
          <a:xfrm xmlns:a="http://schemas.openxmlformats.org/drawingml/2006/main">
            <a:off x="8334375" y="63246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9DD4CD"/>
                </a:solidFill>
                <a:latin typeface="Helvetica Neue"/>
                <a:ea typeface="Helvetica Neue"/>
                <a:cs typeface="Helvetica Neue"/>
              </a:defRPr>
            </a:defPPr>
          </a:lstStyle>
          <a:p xmlns:a="http://schemas.openxmlformats.org/drawingml/2006/main">
            <a:pPr>
              <a:buNone/>
              <a:defRPr sz="1350" b="0">
                <a:solidFill>
                  <a:srgbClr val="9DD4CD"/>
                </a:solidFill>
                <a:latin typeface="Helvetica Neue"/>
                <a:ea typeface="Helvetica Neue"/>
                <a:cs typeface="Helvetica Neue"/>
              </a:defRPr>
            </a:pPr>
            <a:r>
              <a:rPr sz="1350" b="0">
                <a:solidFill>
                  <a:srgbClr val="9DD4CD"/>
                </a:solidFill>
                <a:latin typeface="Helvetica Neue"/>
                <a:ea typeface="Helvetica Neue"/>
                <a:cs typeface="Helvetica Neue"/>
              </a:rPr>
              <a:t>Compressor concept illustration</a:t>
            </a:r>
          </a:p>
        </p:txBody>
      </p:sp>
    </p:spTree>
    <p:extLst>
      <p:ext uri="{BB962C8B-B14F-4D97-AF65-F5344CB8AC3E}">
        <p14:creationId xmlns:p14="http://schemas.microsoft.com/office/powerpoint/2010/main" val="1416389904"/>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D6ACC6A-1B21-4C38-855B-386913DA83F1}"/>
              </a:ext>
            </a:extLst>
          </p:cNvPr>
          <p:cNvCxnSpPr>
            <a:stCxn xmlns:a="http://schemas.openxmlformats.org/drawingml/2006/main" id="6" idx="6"/>
            <a:endCxn xmlns:a="http://schemas.openxmlformats.org/drawingml/2006/main" id="7" idx="2"/>
          </p:cNvCxnSpPr>
          <p:nvPr/>
        </p:nvCxnSpPr>
        <p:spPr>
          <a:xfrm xmlns:a="http://schemas.openxmlformats.org/drawingml/2006/main">
            <a:off x="5734050" y="4200525"/>
            <a:ext cx="2647950" cy="0"/>
          </a:xfrm>
          <a:prstGeom xmlns:a="http://schemas.openxmlformats.org/drawingml/2006/main" prst="straightConnector1">
            <a:avLst/>
          </a:prstGeom>
          <a:ln xmlns:a="http://schemas.openxmlformats.org/drawingml/2006/main" w="57150">
            <a:solidFill>
              <a:srgbClr val="087F83"/>
            </a:solidFill>
            <a:tailEnd type="triangle" w="lg" len="lg"/>
          </a:ln>
        </p:spPr>
      </p:cxnSp>
      <p:cxnSp>
        <p:nvCxnSpPr>
          <p:cNvPr id="8" name="">
            <a:extLst xmlns:a="http://schemas.openxmlformats.org/drawingml/2006/main">
              <a:ext uri="{FF2B5EF4-FFF2-40B4-BE49-F238E27FC236}">
                <a16:creationId xmlns:a16="http://schemas.microsoft.com/office/drawing/2014/main" id="{BDE869EB-EA2B-4EA8-816C-46371F9F5B91}"/>
              </a:ext>
            </a:extLst>
          </p:cNvPr>
          <p:cNvCxnSpPr>
            <a:stCxn xmlns:a="http://schemas.openxmlformats.org/drawingml/2006/main" id="5" idx="6"/>
            <a:endCxn xmlns:a="http://schemas.openxmlformats.org/drawingml/2006/main" id="6" idx="2"/>
          </p:cNvCxnSpPr>
          <p:nvPr/>
        </p:nvCxnSpPr>
        <p:spPr>
          <a:xfrm xmlns:a="http://schemas.openxmlformats.org/drawingml/2006/main">
            <a:off x="2019300" y="4200525"/>
            <a:ext cx="2647950" cy="0"/>
          </a:xfrm>
          <a:prstGeom xmlns:a="http://schemas.openxmlformats.org/drawingml/2006/main" prst="straightConnector1">
            <a:avLst/>
          </a:prstGeom>
          <a:ln xmlns:a="http://schemas.openxmlformats.org/drawingml/2006/main" w="57150">
            <a:solidFill>
              <a:srgbClr val="087F83"/>
            </a:solidFill>
            <a:tailEnd type="triangle" w="lg" len="lg"/>
          </a:ln>
        </p:spPr>
      </p:cxnSp>
      <p:sp>
        <p:nvSpPr>
          <p:cNvPr id="13" name="title">
            <a:extLst xmlns:a="http://schemas.openxmlformats.org/drawingml/2006/main">
              <a:ext uri="{FF2B5EF4-FFF2-40B4-BE49-F238E27FC236}">
                <a16:creationId xmlns:a16="http://schemas.microsoft.com/office/drawing/2014/main" id="{D15236F4-0B82-44FE-AB44-45BA455139FE}"/>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The causal model inside ACE</a:t>
            </a:r>
          </a:p>
        </p:txBody>
      </p:sp>
      <p:sp>
        <p:nvSpPr>
          <p:cNvPr id="2" name="page">
            <a:extLst xmlns:a="http://schemas.openxmlformats.org/drawingml/2006/main">
              <a:ext uri="{FF2B5EF4-FFF2-40B4-BE49-F238E27FC236}">
                <a16:creationId xmlns:a16="http://schemas.microsoft.com/office/drawing/2014/main" id="{16220ED7-7BCA-4FCB-B2E3-767BAAC99CA1}"/>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02</a:t>
            </a:r>
          </a:p>
        </p:txBody>
      </p:sp>
      <p:sp>
        <p:nvSpPr>
          <p:cNvPr id="3" name="Xᵢ = fᵢ(Paᵢ, Uᵢ)">
            <a:extLst xmlns:a="http://schemas.openxmlformats.org/drawingml/2006/main">
              <a:ext uri="{FF2B5EF4-FFF2-40B4-BE49-F238E27FC236}">
                <a16:creationId xmlns:a16="http://schemas.microsoft.com/office/drawing/2014/main" id="{C4A1A76E-4964-4A3A-81B1-B967EE841046}"/>
              </a:ext>
            </a:extLst>
          </p:cNvPr>
          <p:cNvSpPr>
            <a:spLocks xmlns:a="http://schemas.openxmlformats.org/drawingml/2006/main" noGrp="1"/>
          </p:cNvSpPr>
          <p:nvPr/>
        </p:nvSpPr>
        <p:spPr>
          <a:xfrm xmlns:a="http://schemas.openxmlformats.org/drawingml/2006/main">
            <a:off x="609600" y="16287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087F83"/>
                </a:solidFill>
                <a:latin typeface="Helvetica Neue"/>
                <a:ea typeface="Helvetica Neue"/>
                <a:cs typeface="Helvetica Neue"/>
              </a:defRPr>
            </a:defPPr>
          </a:lstStyle>
          <a:p xmlns:a="http://schemas.openxmlformats.org/drawingml/2006/main">
            <a:pPr>
              <a:buNone/>
              <a:defRPr sz="4950" b="1">
                <a:solidFill>
                  <a:srgbClr val="087F83"/>
                </a:solidFill>
                <a:latin typeface="Helvetica Neue"/>
                <a:ea typeface="Helvetica Neue"/>
                <a:cs typeface="Helvetica Neue"/>
              </a:defRPr>
            </a:pPr>
            <a:r>
              <a:rPr sz="4950" b="1">
                <a:solidFill>
                  <a:srgbClr val="087F83"/>
                </a:solidFill>
                <a:latin typeface="Helvetica Neue"/>
                <a:ea typeface="Helvetica Neue"/>
                <a:cs typeface="Helvetica Neue"/>
              </a:rPr>
              <a:t>Xᵢ = fᵢ(Paᵢ, Uᵢ)</a:t>
            </a:r>
          </a:p>
        </p:txBody>
      </p:sp>
      <p:sp>
        <p:nvSpPr>
          <p:cNvPr id="4" name="Parents Paᵢ supply inputs. U">
            <a:extLst xmlns:a="http://schemas.openxmlformats.org/drawingml/2006/main">
              <a:ext uri="{FF2B5EF4-FFF2-40B4-BE49-F238E27FC236}">
                <a16:creationId xmlns:a16="http://schemas.microsoft.com/office/drawing/2014/main" id="{9A88DA9D-7539-44D6-B27F-00DE0EEE300E}"/>
              </a:ext>
            </a:extLst>
          </p:cNvPr>
          <p:cNvSpPr>
            <a:spLocks xmlns:a="http://schemas.openxmlformats.org/drawingml/2006/main" noGrp="1"/>
          </p:cNvSpPr>
          <p:nvPr/>
        </p:nvSpPr>
        <p:spPr>
          <a:xfrm xmlns:a="http://schemas.openxmlformats.org/drawingml/2006/main">
            <a:off x="609600" y="27527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13A"/>
                </a:solidFill>
                <a:latin typeface="Helvetica Neue"/>
                <a:ea typeface="Helvetica Neue"/>
                <a:cs typeface="Helvetica Neue"/>
              </a:defRPr>
            </a:defPPr>
          </a:lstStyle>
          <a:p xmlns:a="http://schemas.openxmlformats.org/drawingml/2006/main">
            <a:pPr>
              <a:buNone/>
              <a:defRPr sz="2325" b="0">
                <a:solidFill>
                  <a:srgbClr val="16313A"/>
                </a:solidFill>
                <a:latin typeface="Helvetica Neue"/>
                <a:ea typeface="Helvetica Neue"/>
                <a:cs typeface="Helvetica Neue"/>
              </a:defRPr>
            </a:pPr>
            <a:r>
              <a:rPr sz="2325" b="0">
                <a:solidFill>
                  <a:srgbClr val="16313A"/>
                </a:solidFill>
                <a:latin typeface="Helvetica Neue"/>
                <a:ea typeface="Helvetica Neue"/>
                <a:cs typeface="Helvetica Neue"/>
              </a:rPr>
              <a:t>Parents Paᵢ supply inputs. Uᵢ represents outside influences.</a:t>
            </a:r>
          </a:p>
        </p:txBody>
      </p:sp>
      <p:sp>
        <p:nvSpPr>
          <p:cNvPr id="5" name="SCM node X">
            <a:extLst xmlns:a="http://schemas.openxmlformats.org/drawingml/2006/main">
              <a:ext uri="{FF2B5EF4-FFF2-40B4-BE49-F238E27FC236}">
                <a16:creationId xmlns:a16="http://schemas.microsoft.com/office/drawing/2014/main" id="{54DEF4E9-5EAA-4865-8A28-086174D25D28}"/>
              </a:ext>
            </a:extLst>
          </p:cNvPr>
          <p:cNvSpPr>
            <a:spLocks xmlns:a="http://schemas.openxmlformats.org/drawingml/2006/main" noGrp="1"/>
          </p:cNvSpPr>
          <p:nvPr/>
        </p:nvSpPr>
        <p:spPr>
          <a:xfrm xmlns:a="http://schemas.openxmlformats.org/drawingml/2006/main">
            <a:off x="952500" y="3810000"/>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X</a:t>
            </a:r>
          </a:p>
        </p:txBody>
      </p:sp>
      <p:sp>
        <p:nvSpPr>
          <p:cNvPr id="6" name="SCM node M">
            <a:extLst xmlns:a="http://schemas.openxmlformats.org/drawingml/2006/main">
              <a:ext uri="{FF2B5EF4-FFF2-40B4-BE49-F238E27FC236}">
                <a16:creationId xmlns:a16="http://schemas.microsoft.com/office/drawing/2014/main" id="{814FF8E3-FA64-4C66-91D0-B5485DF750C9}"/>
              </a:ext>
            </a:extLst>
          </p:cNvPr>
          <p:cNvSpPr>
            <a:spLocks xmlns:a="http://schemas.openxmlformats.org/drawingml/2006/main" noGrp="1"/>
          </p:cNvSpPr>
          <p:nvPr/>
        </p:nvSpPr>
        <p:spPr>
          <a:xfrm xmlns:a="http://schemas.openxmlformats.org/drawingml/2006/main">
            <a:off x="4667250" y="3810000"/>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M</a:t>
            </a:r>
          </a:p>
        </p:txBody>
      </p:sp>
      <p:sp>
        <p:nvSpPr>
          <p:cNvPr id="7" name="SCM node Y">
            <a:extLst xmlns:a="http://schemas.openxmlformats.org/drawingml/2006/main">
              <a:ext uri="{FF2B5EF4-FFF2-40B4-BE49-F238E27FC236}">
                <a16:creationId xmlns:a16="http://schemas.microsoft.com/office/drawing/2014/main" id="{725671FD-D4AE-4546-B0A7-7D179FB4DE03}"/>
              </a:ext>
            </a:extLst>
          </p:cNvPr>
          <p:cNvSpPr>
            <a:spLocks xmlns:a="http://schemas.openxmlformats.org/drawingml/2006/main" noGrp="1"/>
          </p:cNvSpPr>
          <p:nvPr/>
        </p:nvSpPr>
        <p:spPr>
          <a:xfrm xmlns:a="http://schemas.openxmlformats.org/drawingml/2006/main">
            <a:off x="8382000" y="3810000"/>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Y</a:t>
            </a:r>
          </a:p>
        </p:txBody>
      </p:sp>
      <p:sp>
        <p:nvSpPr>
          <p:cNvPr id="10" name="M = 2.5X">
            <a:extLst xmlns:a="http://schemas.openxmlformats.org/drawingml/2006/main">
              <a:ext uri="{FF2B5EF4-FFF2-40B4-BE49-F238E27FC236}">
                <a16:creationId xmlns:a16="http://schemas.microsoft.com/office/drawing/2014/main" id="{A9A840FC-B1D1-4D1A-925B-C6A897AA10CA}"/>
              </a:ext>
            </a:extLst>
          </p:cNvPr>
          <p:cNvSpPr>
            <a:spLocks xmlns:a="http://schemas.openxmlformats.org/drawingml/2006/main" noGrp="1"/>
          </p:cNvSpPr>
          <p:nvPr/>
        </p:nvSpPr>
        <p:spPr>
          <a:xfrm xmlns:a="http://schemas.openxmlformats.org/drawingml/2006/main">
            <a:off x="3095625" y="47910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3"/>
                </a:solidFill>
                <a:latin typeface="Helvetica Neue"/>
                <a:ea typeface="Helvetica Neue"/>
                <a:cs typeface="Helvetica Neue"/>
              </a:defRPr>
            </a:defPPr>
          </a:lstStyle>
          <a:p xmlns:a="http://schemas.openxmlformats.org/drawingml/2006/main">
            <a:pPr>
              <a:buNone/>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 = 2.5X</a:t>
            </a:r>
          </a:p>
        </p:txBody>
      </p:sp>
      <p:sp>
        <p:nvSpPr>
          <p:cNvPr id="11" name="Y = 3M">
            <a:extLst xmlns:a="http://schemas.openxmlformats.org/drawingml/2006/main">
              <a:ext uri="{FF2B5EF4-FFF2-40B4-BE49-F238E27FC236}">
                <a16:creationId xmlns:a16="http://schemas.microsoft.com/office/drawing/2014/main" id="{DAEBC2E5-DCC8-42AF-AACB-BFC8DA202150}"/>
              </a:ext>
            </a:extLst>
          </p:cNvPr>
          <p:cNvSpPr>
            <a:spLocks xmlns:a="http://schemas.openxmlformats.org/drawingml/2006/main" noGrp="1"/>
          </p:cNvSpPr>
          <p:nvPr/>
        </p:nvSpPr>
        <p:spPr>
          <a:xfrm xmlns:a="http://schemas.openxmlformats.org/drawingml/2006/main">
            <a:off x="7000875" y="47910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3"/>
                </a:solidFill>
                <a:latin typeface="Helvetica Neue"/>
                <a:ea typeface="Helvetica Neue"/>
                <a:cs typeface="Helvetica Neue"/>
              </a:defRPr>
            </a:defPPr>
          </a:lstStyle>
          <a:p xmlns:a="http://schemas.openxmlformats.org/drawingml/2006/main">
            <a:pPr>
              <a:buNone/>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Y = 3M</a:t>
            </a:r>
          </a:p>
        </p:txBody>
      </p:sp>
      <p:sp>
        <p:nvSpPr>
          <p:cNvPr id="12" name="Worked example: known graph,">
            <a:extLst xmlns:a="http://schemas.openxmlformats.org/drawingml/2006/main">
              <a:ext uri="{FF2B5EF4-FFF2-40B4-BE49-F238E27FC236}">
                <a16:creationId xmlns:a16="http://schemas.microsoft.com/office/drawing/2014/main" id="{58D4BC90-537C-4C3A-89BF-1FDC039F2C79}"/>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Worked example: known graph, unknown slopes, zero disturbances and dimensionless values.</a:t>
            </a:r>
          </a:p>
        </p:txBody>
      </p:sp>
    </p:spTree>
    <p:extLst>
      <p:ext uri="{BB962C8B-B14F-4D97-AF65-F5344CB8AC3E}">
        <p14:creationId xmlns:p14="http://schemas.microsoft.com/office/powerpoint/2010/main" val="1963496899"/>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F3CF4B1-2661-4063-A8DB-C36B5C922F09}"/>
              </a:ext>
            </a:extLst>
          </p:cNvPr>
          <p:cNvCxnSpPr>
            <a:stCxn xmlns:a="http://schemas.openxmlformats.org/drawingml/2006/main" id="11" idx="6"/>
            <a:endCxn xmlns:a="http://schemas.openxmlformats.org/drawingml/2006/main" id="12" idx="2"/>
          </p:cNvCxnSpPr>
          <p:nvPr/>
        </p:nvCxnSpPr>
        <p:spPr>
          <a:xfrm xmlns:a="http://schemas.openxmlformats.org/drawingml/2006/main">
            <a:off x="5734050" y="4762500"/>
            <a:ext cx="2647950" cy="0"/>
          </a:xfrm>
          <a:prstGeom xmlns:a="http://schemas.openxmlformats.org/drawingml/2006/main" prst="straightConnector1">
            <a:avLst/>
          </a:prstGeom>
          <a:ln xmlns:a="http://schemas.openxmlformats.org/drawingml/2006/main" w="57150">
            <a:solidFill>
              <a:srgbClr val="087F83"/>
            </a:solidFill>
            <a:tailEnd type="triangle" w="lg" len="lg"/>
          </a:ln>
        </p:spPr>
      </p:cxnSp>
      <p:cxnSp>
        <p:nvCxnSpPr>
          <p:cNvPr id="8" name="">
            <a:extLst xmlns:a="http://schemas.openxmlformats.org/drawingml/2006/main">
              <a:ext uri="{FF2B5EF4-FFF2-40B4-BE49-F238E27FC236}">
                <a16:creationId xmlns:a16="http://schemas.microsoft.com/office/drawing/2014/main" id="{A213EBBB-F046-4906-8AC1-821A1511D6C1}"/>
              </a:ext>
            </a:extLst>
          </p:cNvPr>
          <p:cNvCxnSpPr>
            <a:stCxn xmlns:a="http://schemas.openxmlformats.org/drawingml/2006/main" id="5" idx="6"/>
            <a:endCxn xmlns:a="http://schemas.openxmlformats.org/drawingml/2006/main" id="6" idx="2"/>
          </p:cNvCxnSpPr>
          <p:nvPr/>
        </p:nvCxnSpPr>
        <p:spPr>
          <a:xfrm xmlns:a="http://schemas.openxmlformats.org/drawingml/2006/main">
            <a:off x="5734050" y="2590800"/>
            <a:ext cx="2647950" cy="0"/>
          </a:xfrm>
          <a:prstGeom xmlns:a="http://schemas.openxmlformats.org/drawingml/2006/main" prst="straightConnector1">
            <a:avLst/>
          </a:prstGeom>
          <a:ln xmlns:a="http://schemas.openxmlformats.org/drawingml/2006/main" w="57150">
            <a:solidFill>
              <a:srgbClr val="087F83"/>
            </a:solidFill>
            <a:tailEnd type="triangle" w="lg" len="lg"/>
          </a:ln>
        </p:spPr>
      </p:cxnSp>
      <p:cxnSp>
        <p:nvCxnSpPr>
          <p:cNvPr id="7" name="">
            <a:extLst xmlns:a="http://schemas.openxmlformats.org/drawingml/2006/main">
              <a:ext uri="{FF2B5EF4-FFF2-40B4-BE49-F238E27FC236}">
                <a16:creationId xmlns:a16="http://schemas.microsoft.com/office/drawing/2014/main" id="{8BC048A0-B2CD-4FF7-A67C-BCF7F19ECCD1}"/>
              </a:ext>
            </a:extLst>
          </p:cNvPr>
          <p:cNvCxnSpPr>
            <a:stCxn xmlns:a="http://schemas.openxmlformats.org/drawingml/2006/main" id="4" idx="6"/>
            <a:endCxn xmlns:a="http://schemas.openxmlformats.org/drawingml/2006/main" id="5" idx="2"/>
          </p:cNvCxnSpPr>
          <p:nvPr/>
        </p:nvCxnSpPr>
        <p:spPr>
          <a:xfrm xmlns:a="http://schemas.openxmlformats.org/drawingml/2006/main">
            <a:off x="2019300" y="2590800"/>
            <a:ext cx="2647950" cy="0"/>
          </a:xfrm>
          <a:prstGeom xmlns:a="http://schemas.openxmlformats.org/drawingml/2006/main" prst="straightConnector1">
            <a:avLst/>
          </a:prstGeom>
          <a:ln xmlns:a="http://schemas.openxmlformats.org/drawingml/2006/main" w="57150">
            <a:solidFill>
              <a:srgbClr val="087F83"/>
            </a:solidFill>
            <a:tailEnd type="triangle" w="lg" len="lg"/>
          </a:ln>
        </p:spPr>
      </p:cxnSp>
      <p:sp>
        <p:nvSpPr>
          <p:cNvPr id="17" name="title">
            <a:extLst xmlns:a="http://schemas.openxmlformats.org/drawingml/2006/main">
              <a:ext uri="{FF2B5EF4-FFF2-40B4-BE49-F238E27FC236}">
                <a16:creationId xmlns:a16="http://schemas.microsoft.com/office/drawing/2014/main" id="{32C0CD89-A47B-45C5-B619-F197629D9E7F}"/>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Choose where to intervene</a:t>
            </a:r>
          </a:p>
        </p:txBody>
      </p:sp>
      <p:sp>
        <p:nvSpPr>
          <p:cNvPr id="2" name="page">
            <a:extLst xmlns:a="http://schemas.openxmlformats.org/drawingml/2006/main">
              <a:ext uri="{FF2B5EF4-FFF2-40B4-BE49-F238E27FC236}">
                <a16:creationId xmlns:a16="http://schemas.microsoft.com/office/drawing/2014/main" id="{B9DCBDD4-C07F-407E-B440-78F83123F83A}"/>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03</a:t>
            </a:r>
          </a:p>
        </p:txBody>
      </p:sp>
      <p:sp>
        <p:nvSpPr>
          <p:cNvPr id="3" name="Ordinary system">
            <a:extLst xmlns:a="http://schemas.openxmlformats.org/drawingml/2006/main">
              <a:ext uri="{FF2B5EF4-FFF2-40B4-BE49-F238E27FC236}">
                <a16:creationId xmlns:a16="http://schemas.microsoft.com/office/drawing/2014/main" id="{2DDC1E80-12FA-4188-9903-1D22124A11F0}"/>
              </a:ext>
            </a:extLst>
          </p:cNvPr>
          <p:cNvSpPr>
            <a:spLocks xmlns:a="http://schemas.openxmlformats.org/drawingml/2006/main" noGrp="1"/>
          </p:cNvSpPr>
          <p:nvPr/>
        </p:nvSpPr>
        <p:spPr>
          <a:xfrm xmlns:a="http://schemas.openxmlformats.org/drawingml/2006/main">
            <a:off x="609600" y="16097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3666B"/>
                </a:solidFill>
                <a:latin typeface="Helvetica Neue"/>
                <a:ea typeface="Helvetica Neue"/>
                <a:cs typeface="Helvetica Neue"/>
              </a:defRPr>
            </a:defPPr>
          </a:lstStyle>
          <a:p xmlns:a="http://schemas.openxmlformats.org/drawingml/2006/main">
            <a:pPr>
              <a:buNone/>
              <a:defRPr sz="2325" b="0">
                <a:solidFill>
                  <a:srgbClr val="53666B"/>
                </a:solidFill>
                <a:latin typeface="Helvetica Neue"/>
                <a:ea typeface="Helvetica Neue"/>
                <a:cs typeface="Helvetica Neue"/>
              </a:defRPr>
            </a:pPr>
            <a:r>
              <a:rPr sz="2325" b="0">
                <a:solidFill>
                  <a:srgbClr val="53666B"/>
                </a:solidFill>
                <a:latin typeface="Helvetica Neue"/>
                <a:ea typeface="Helvetica Neue"/>
                <a:cs typeface="Helvetica Neue"/>
              </a:rPr>
              <a:t>Ordinary system</a:t>
            </a:r>
          </a:p>
        </p:txBody>
      </p:sp>
      <p:sp>
        <p:nvSpPr>
          <p:cNvPr id="4" name="SCM node X">
            <a:extLst xmlns:a="http://schemas.openxmlformats.org/drawingml/2006/main">
              <a:ext uri="{FF2B5EF4-FFF2-40B4-BE49-F238E27FC236}">
                <a16:creationId xmlns:a16="http://schemas.microsoft.com/office/drawing/2014/main" id="{0B9E8A33-CB75-4AA0-BDD4-2432CDBCB454}"/>
              </a:ext>
            </a:extLst>
          </p:cNvPr>
          <p:cNvSpPr>
            <a:spLocks xmlns:a="http://schemas.openxmlformats.org/drawingml/2006/main" noGrp="1"/>
          </p:cNvSpPr>
          <p:nvPr/>
        </p:nvSpPr>
        <p:spPr>
          <a:xfrm xmlns:a="http://schemas.openxmlformats.org/drawingml/2006/main">
            <a:off x="952500" y="2200275"/>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X</a:t>
            </a:r>
          </a:p>
        </p:txBody>
      </p:sp>
      <p:sp>
        <p:nvSpPr>
          <p:cNvPr id="5" name="SCM node M">
            <a:extLst xmlns:a="http://schemas.openxmlformats.org/drawingml/2006/main">
              <a:ext uri="{FF2B5EF4-FFF2-40B4-BE49-F238E27FC236}">
                <a16:creationId xmlns:a16="http://schemas.microsoft.com/office/drawing/2014/main" id="{37E07926-0B22-4E3B-825C-D5025AA96D2D}"/>
              </a:ext>
            </a:extLst>
          </p:cNvPr>
          <p:cNvSpPr>
            <a:spLocks xmlns:a="http://schemas.openxmlformats.org/drawingml/2006/main" noGrp="1"/>
          </p:cNvSpPr>
          <p:nvPr/>
        </p:nvSpPr>
        <p:spPr>
          <a:xfrm xmlns:a="http://schemas.openxmlformats.org/drawingml/2006/main">
            <a:off x="4667250" y="2200275"/>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M</a:t>
            </a:r>
          </a:p>
        </p:txBody>
      </p:sp>
      <p:sp>
        <p:nvSpPr>
          <p:cNvPr id="6" name="SCM node Y">
            <a:extLst xmlns:a="http://schemas.openxmlformats.org/drawingml/2006/main">
              <a:ext uri="{FF2B5EF4-FFF2-40B4-BE49-F238E27FC236}">
                <a16:creationId xmlns:a16="http://schemas.microsoft.com/office/drawing/2014/main" id="{8183221A-B133-4BDC-9BD5-B355A69BB554}"/>
              </a:ext>
            </a:extLst>
          </p:cNvPr>
          <p:cNvSpPr>
            <a:spLocks xmlns:a="http://schemas.openxmlformats.org/drawingml/2006/main" noGrp="1"/>
          </p:cNvSpPr>
          <p:nvPr/>
        </p:nvSpPr>
        <p:spPr>
          <a:xfrm xmlns:a="http://schemas.openxmlformats.org/drawingml/2006/main">
            <a:off x="8382000" y="2200275"/>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Y</a:t>
            </a:r>
          </a:p>
        </p:txBody>
      </p:sp>
      <p:sp>
        <p:nvSpPr>
          <p:cNvPr id="9" name="Experiment: do(M = 1)">
            <a:extLst xmlns:a="http://schemas.openxmlformats.org/drawingml/2006/main">
              <a:ext uri="{FF2B5EF4-FFF2-40B4-BE49-F238E27FC236}">
                <a16:creationId xmlns:a16="http://schemas.microsoft.com/office/drawing/2014/main" id="{80798AF2-2874-458A-A463-A99A9A35F179}"/>
              </a:ext>
            </a:extLst>
          </p:cNvPr>
          <p:cNvSpPr>
            <a:spLocks xmlns:a="http://schemas.openxmlformats.org/drawingml/2006/main" noGrp="1"/>
          </p:cNvSpPr>
          <p:nvPr/>
        </p:nvSpPr>
        <p:spPr>
          <a:xfrm xmlns:a="http://schemas.openxmlformats.org/drawingml/2006/main">
            <a:off x="609600" y="3705225"/>
            <a:ext cx="619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F83"/>
                </a:solidFill>
                <a:latin typeface="Helvetica Neue"/>
                <a:ea typeface="Helvetica Neue"/>
                <a:cs typeface="Helvetica Neue"/>
              </a:defRPr>
            </a:defPPr>
          </a:lstStyle>
          <a:p xmlns:a="http://schemas.openxmlformats.org/drawingml/2006/main">
            <a:pPr>
              <a:buNone/>
              <a:defRPr sz="2700" b="1">
                <a:solidFill>
                  <a:srgbClr val="087F83"/>
                </a:solidFill>
                <a:latin typeface="Helvetica Neue"/>
                <a:ea typeface="Helvetica Neue"/>
                <a:cs typeface="Helvetica Neue"/>
              </a:defRPr>
            </a:pPr>
            <a:r>
              <a:rPr sz="2700" b="1">
                <a:solidFill>
                  <a:srgbClr val="087F83"/>
                </a:solidFill>
                <a:latin typeface="Helvetica Neue"/>
                <a:ea typeface="Helvetica Neue"/>
                <a:cs typeface="Helvetica Neue"/>
              </a:rPr>
              <a:t>Experiment: do(M = 1)</a:t>
            </a:r>
          </a:p>
        </p:txBody>
      </p:sp>
      <p:sp>
        <p:nvSpPr>
          <p:cNvPr id="10" name="SCM node X">
            <a:extLst xmlns:a="http://schemas.openxmlformats.org/drawingml/2006/main">
              <a:ext uri="{FF2B5EF4-FFF2-40B4-BE49-F238E27FC236}">
                <a16:creationId xmlns:a16="http://schemas.microsoft.com/office/drawing/2014/main" id="{2FC1F085-EC4F-4192-BD5F-7CED80F57F87}"/>
              </a:ext>
            </a:extLst>
          </p:cNvPr>
          <p:cNvSpPr>
            <a:spLocks xmlns:a="http://schemas.openxmlformats.org/drawingml/2006/main" noGrp="1"/>
          </p:cNvSpPr>
          <p:nvPr/>
        </p:nvSpPr>
        <p:spPr>
          <a:xfrm xmlns:a="http://schemas.openxmlformats.org/drawingml/2006/main">
            <a:off x="952500" y="4371975"/>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X</a:t>
            </a:r>
          </a:p>
        </p:txBody>
      </p:sp>
      <p:sp>
        <p:nvSpPr>
          <p:cNvPr id="11" name="SCM node M = 1">
            <a:extLst xmlns:a="http://schemas.openxmlformats.org/drawingml/2006/main">
              <a:ext uri="{FF2B5EF4-FFF2-40B4-BE49-F238E27FC236}">
                <a16:creationId xmlns:a16="http://schemas.microsoft.com/office/drawing/2014/main" id="{76C3531A-30C8-48C2-AA72-30425788FAD2}"/>
              </a:ext>
            </a:extLst>
          </p:cNvPr>
          <p:cNvSpPr>
            <a:spLocks xmlns:a="http://schemas.openxmlformats.org/drawingml/2006/main" noGrp="1"/>
          </p:cNvSpPr>
          <p:nvPr/>
        </p:nvSpPr>
        <p:spPr>
          <a:xfrm xmlns:a="http://schemas.openxmlformats.org/drawingml/2006/main">
            <a:off x="4667250" y="4371975"/>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 = 1</a:t>
            </a:r>
          </a:p>
        </p:txBody>
      </p:sp>
      <p:sp>
        <p:nvSpPr>
          <p:cNvPr id="12" name="SCM node Y">
            <a:extLst xmlns:a="http://schemas.openxmlformats.org/drawingml/2006/main">
              <a:ext uri="{FF2B5EF4-FFF2-40B4-BE49-F238E27FC236}">
                <a16:creationId xmlns:a16="http://schemas.microsoft.com/office/drawing/2014/main" id="{DF64FD09-B1F6-442E-986E-85B0DB2E7F81}"/>
              </a:ext>
            </a:extLst>
          </p:cNvPr>
          <p:cNvSpPr>
            <a:spLocks xmlns:a="http://schemas.openxmlformats.org/drawingml/2006/main" noGrp="1"/>
          </p:cNvSpPr>
          <p:nvPr/>
        </p:nvSpPr>
        <p:spPr>
          <a:xfrm xmlns:a="http://schemas.openxmlformats.org/drawingml/2006/main">
            <a:off x="8382000" y="4371975"/>
            <a:ext cx="1066800" cy="78105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3000" b="1">
                <a:solidFill>
                  <a:srgbClr val="FFFFFF"/>
                </a:solidFill>
                <a:latin typeface="Helvetica Neue"/>
                <a:ea typeface="Helvetica Neue"/>
                <a:cs typeface="Helvetica Neue"/>
              </a:defRPr>
            </a:defPPr>
          </a:lstStyle>
          <a:p xmlns:a="http://schemas.openxmlformats.org/drawingml/2006/main">
            <a:pPr algn="ctr">
              <a:buNone/>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Y</a:t>
            </a:r>
          </a:p>
        </p:txBody>
      </p:sp>
      <p:sp>
        <p:nvSpPr>
          <p:cNvPr id="14" name="Incoming edge removed">
            <a:extLst xmlns:a="http://schemas.openxmlformats.org/drawingml/2006/main">
              <a:ext uri="{FF2B5EF4-FFF2-40B4-BE49-F238E27FC236}">
                <a16:creationId xmlns:a16="http://schemas.microsoft.com/office/drawing/2014/main" id="{07D9D10B-7399-467B-AA8D-B239E0B6A4C2}"/>
              </a:ext>
            </a:extLst>
          </p:cNvPr>
          <p:cNvSpPr>
            <a:spLocks xmlns:a="http://schemas.openxmlformats.org/drawingml/2006/main" noGrp="1"/>
          </p:cNvSpPr>
          <p:nvPr/>
        </p:nvSpPr>
        <p:spPr>
          <a:xfrm xmlns:a="http://schemas.openxmlformats.org/drawingml/2006/main">
            <a:off x="1695450" y="52768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95435"/>
                </a:solidFill>
                <a:latin typeface="Helvetica Neue"/>
                <a:ea typeface="Helvetica Neue"/>
                <a:cs typeface="Helvetica Neue"/>
              </a:defRPr>
            </a:defPPr>
          </a:lstStyle>
          <a:p xmlns:a="http://schemas.openxmlformats.org/drawingml/2006/main">
            <a:pPr>
              <a:buNone/>
              <a:defRPr sz="1950" b="0">
                <a:solidFill>
                  <a:srgbClr val="B95435"/>
                </a:solidFill>
                <a:latin typeface="Helvetica Neue"/>
                <a:ea typeface="Helvetica Neue"/>
                <a:cs typeface="Helvetica Neue"/>
              </a:defRPr>
            </a:pPr>
            <a:r>
              <a:rPr sz="1950" b="0">
                <a:solidFill>
                  <a:srgbClr val="B95435"/>
                </a:solidFill>
                <a:latin typeface="Helvetica Neue"/>
                <a:ea typeface="Helvetica Neue"/>
                <a:cs typeface="Helvetica Neue"/>
              </a:rPr>
              <a:t>Incoming edge removed</a:t>
            </a:r>
          </a:p>
        </p:txBody>
      </p:sp>
      <p:sp>
        <p:nvSpPr>
          <p:cNvPr id="15" name="Y still responds to M">
            <a:extLst xmlns:a="http://schemas.openxmlformats.org/drawingml/2006/main">
              <a:ext uri="{FF2B5EF4-FFF2-40B4-BE49-F238E27FC236}">
                <a16:creationId xmlns:a16="http://schemas.microsoft.com/office/drawing/2014/main" id="{F33D10DD-8352-4867-9531-B2D5949ABAA3}"/>
              </a:ext>
            </a:extLst>
          </p:cNvPr>
          <p:cNvSpPr>
            <a:spLocks xmlns:a="http://schemas.openxmlformats.org/drawingml/2006/main" noGrp="1"/>
          </p:cNvSpPr>
          <p:nvPr/>
        </p:nvSpPr>
        <p:spPr>
          <a:xfrm xmlns:a="http://schemas.openxmlformats.org/drawingml/2006/main">
            <a:off x="7248525" y="5276850"/>
            <a:ext cx="4038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087F83"/>
                </a:solidFill>
                <a:latin typeface="Helvetica Neue"/>
                <a:ea typeface="Helvetica Neue"/>
                <a:cs typeface="Helvetica Neue"/>
              </a:defRPr>
            </a:defPPr>
          </a:lstStyle>
          <a:p xmlns:a="http://schemas.openxmlformats.org/drawingml/2006/main">
            <a:pPr>
              <a:buNone/>
              <a:defRPr sz="1950" b="0">
                <a:solidFill>
                  <a:srgbClr val="087F83"/>
                </a:solidFill>
                <a:latin typeface="Helvetica Neue"/>
                <a:ea typeface="Helvetica Neue"/>
                <a:cs typeface="Helvetica Neue"/>
              </a:defRPr>
            </a:pPr>
            <a:r>
              <a:rPr sz="1950" b="0">
                <a:solidFill>
                  <a:srgbClr val="087F83"/>
                </a:solidFill>
                <a:latin typeface="Helvetica Neue"/>
                <a:ea typeface="Helvetica Neue"/>
                <a:cs typeface="Helvetica Neue"/>
              </a:rPr>
              <a:t>Y still responds to M</a:t>
            </a:r>
          </a:p>
        </p:txBody>
      </p:sp>
      <p:sp>
        <p:nvSpPr>
          <p:cNvPr id="16" name="One paid response can train ">
            <a:extLst xmlns:a="http://schemas.openxmlformats.org/drawingml/2006/main">
              <a:ext uri="{FF2B5EF4-FFF2-40B4-BE49-F238E27FC236}">
                <a16:creationId xmlns:a16="http://schemas.microsoft.com/office/drawing/2014/main" id="{FA710F7E-F44A-44CB-9830-1F75930871B8}"/>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One paid response can train several natural mechanisms. It is still one paid response.</a:t>
            </a:r>
          </a:p>
        </p:txBody>
      </p:sp>
    </p:spTree>
    <p:extLst>
      <p:ext uri="{BB962C8B-B14F-4D97-AF65-F5344CB8AC3E}">
        <p14:creationId xmlns:p14="http://schemas.microsoft.com/office/powerpoint/2010/main" val="665515021"/>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5D75722-D7E1-4DB0-B409-D09284F2C1DF}"/>
              </a:ext>
            </a:extLst>
          </p:cNvPr>
          <p:cNvCxnSpPr>
            <a:stCxn xmlns:a="http://schemas.openxmlformats.org/drawingml/2006/main" id="8" idx="6"/>
            <a:endCxn xmlns:a="http://schemas.openxmlformats.org/drawingml/2006/main" id="9" idx="2"/>
          </p:cNvCxnSpPr>
          <p:nvPr/>
        </p:nvCxnSpPr>
        <p:spPr>
          <a:xfrm xmlns:a="http://schemas.openxmlformats.org/drawingml/2006/main" flipV="1">
            <a:off x="1466850" y="3071813"/>
            <a:ext cx="1409700" cy="242888"/>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0" name="">
            <a:extLst xmlns:a="http://schemas.openxmlformats.org/drawingml/2006/main">
              <a:ext uri="{FF2B5EF4-FFF2-40B4-BE49-F238E27FC236}">
                <a16:creationId xmlns:a16="http://schemas.microsoft.com/office/drawing/2014/main" id="{F931FD43-D38A-4385-AB9E-D1EA9EEA6E82}"/>
              </a:ext>
            </a:extLst>
          </p:cNvPr>
          <p:cNvCxnSpPr>
            <a:stCxn xmlns:a="http://schemas.openxmlformats.org/drawingml/2006/main" id="7" idx="6"/>
            <a:endCxn xmlns:a="http://schemas.openxmlformats.org/drawingml/2006/main" id="9" idx="2"/>
          </p:cNvCxnSpPr>
          <p:nvPr/>
        </p:nvCxnSpPr>
        <p:spPr>
          <a:xfrm xmlns:a="http://schemas.openxmlformats.org/drawingml/2006/main">
            <a:off x="1466850" y="2714625"/>
            <a:ext cx="1409700" cy="357188"/>
          </a:xfrm>
          <a:prstGeom xmlns:a="http://schemas.openxmlformats.org/drawingml/2006/main" prst="straightConnector1">
            <a:avLst/>
          </a:prstGeom>
          <a:ln xmlns:a="http://schemas.openxmlformats.org/drawingml/2006/main" w="47625">
            <a:solidFill>
              <a:srgbClr val="087F83"/>
            </a:solidFill>
            <a:tailEnd type="triangle" w="lg" len="lg"/>
          </a:ln>
        </p:spPr>
      </p:cxnSp>
      <p:sp>
        <p:nvSpPr>
          <p:cNvPr id="19" name="title">
            <a:extLst xmlns:a="http://schemas.openxmlformats.org/drawingml/2006/main">
              <a:ext uri="{FF2B5EF4-FFF2-40B4-BE49-F238E27FC236}">
                <a16:creationId xmlns:a16="http://schemas.microsoft.com/office/drawing/2014/main" id="{9B6C3350-930E-455F-B90C-3C9EDE2F5A00}"/>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Local mechanism tables vs one joint table</a:t>
            </a:r>
          </a:p>
        </p:txBody>
      </p:sp>
      <p:sp>
        <p:nvSpPr>
          <p:cNvPr id="2" name="page">
            <a:extLst xmlns:a="http://schemas.openxmlformats.org/drawingml/2006/main">
              <a:ext uri="{FF2B5EF4-FFF2-40B4-BE49-F238E27FC236}">
                <a16:creationId xmlns:a16="http://schemas.microsoft.com/office/drawing/2014/main" id="{007DB462-16BC-41BA-BCFA-D99278113AA1}"/>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04</a:t>
            </a:r>
          </a:p>
        </p:txBody>
      </p:sp>
      <p:sp>
        <p:nvSpPr>
          <p:cNvPr id="3" name="Same system: 10 inputs, 5 se">
            <a:extLst xmlns:a="http://schemas.openxmlformats.org/drawingml/2006/main">
              <a:ext uri="{FF2B5EF4-FFF2-40B4-BE49-F238E27FC236}">
                <a16:creationId xmlns:a16="http://schemas.microsoft.com/office/drawing/2014/main" id="{36B795B4-E7F8-4AAA-A7CB-9D4BD12E3FFD}"/>
              </a:ext>
            </a:extLst>
          </p:cNvPr>
          <p:cNvSpPr>
            <a:spLocks xmlns:a="http://schemas.openxmlformats.org/drawingml/2006/main" noGrp="1"/>
          </p:cNvSpPr>
          <p:nvPr/>
        </p:nvSpPr>
        <p:spPr>
          <a:xfrm xmlns:a="http://schemas.openxmlformats.org/drawingml/2006/main">
            <a:off x="609600" y="1409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Same system: 10 inputs, 5 settings each, 9 mechanisms with two parents</a:t>
            </a:r>
          </a:p>
        </p:txBody>
      </p:sp>
      <p:sp>
        <p:nvSpPr>
          <p:cNvPr id="4" name="SCM LOCAL TABLES">
            <a:extLst xmlns:a="http://schemas.openxmlformats.org/drawingml/2006/main">
              <a:ext uri="{FF2B5EF4-FFF2-40B4-BE49-F238E27FC236}">
                <a16:creationId xmlns:a16="http://schemas.microsoft.com/office/drawing/2014/main" id="{980AE345-D915-43C4-B410-63C7D2759903}"/>
              </a:ext>
            </a:extLst>
          </p:cNvPr>
          <p:cNvSpPr>
            <a:spLocks xmlns:a="http://schemas.openxmlformats.org/drawingml/2006/main" noGrp="1"/>
          </p:cNvSpPr>
          <p:nvPr/>
        </p:nvSpPr>
        <p:spPr>
          <a:xfrm xmlns:a="http://schemas.openxmlformats.org/drawingml/2006/main">
            <a:off x="609600" y="2009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SCM LOCAL TABLES</a:t>
            </a:r>
          </a:p>
        </p:txBody>
      </p:sp>
      <p:sp>
        <p:nvSpPr>
          <p:cNvPr id="5" name="SCM-FREE JOINT TABLE">
            <a:extLst xmlns:a="http://schemas.openxmlformats.org/drawingml/2006/main">
              <a:ext uri="{FF2B5EF4-FFF2-40B4-BE49-F238E27FC236}">
                <a16:creationId xmlns:a16="http://schemas.microsoft.com/office/drawing/2014/main" id="{896E29D4-444D-411B-9E1E-560358D93729}"/>
              </a:ext>
            </a:extLst>
          </p:cNvPr>
          <p:cNvSpPr>
            <a:spLocks xmlns:a="http://schemas.openxmlformats.org/drawingml/2006/main" noGrp="1"/>
          </p:cNvSpPr>
          <p:nvPr/>
        </p:nvSpPr>
        <p:spPr>
          <a:xfrm xmlns:a="http://schemas.openxmlformats.org/drawingml/2006/main">
            <a:off x="6543675" y="20097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95435"/>
                </a:solidFill>
                <a:latin typeface="Helvetica Neue"/>
                <a:ea typeface="Helvetica Neue"/>
                <a:cs typeface="Helvetica Neue"/>
              </a:defRPr>
            </a:defPPr>
          </a:lstStyle>
          <a:p xmlns:a="http://schemas.openxmlformats.org/drawingml/2006/main">
            <a:pPr>
              <a:defRPr sz="2100" b="1">
                <a:solidFill>
                  <a:srgbClr val="B95435"/>
                </a:solidFill>
                <a:latin typeface="Helvetica Neue"/>
                <a:ea typeface="Helvetica Neue"/>
                <a:cs typeface="Helvetica Neue"/>
              </a:defRPr>
            </a:pPr>
            <a:r>
              <a:rPr sz="2100" b="1">
                <a:solidFill>
                  <a:srgbClr val="B95435"/>
                </a:solidFill>
                <a:latin typeface="Helvetica Neue"/>
                <a:ea typeface="Helvetica Neue"/>
                <a:cs typeface="Helvetica Neue"/>
              </a:rPr>
              <a:t>SCM-FREE JOINT TABLE</a:t>
            </a:r>
          </a:p>
        </p:txBody>
      </p:sp>
      <p:sp>
        <p:nvSpPr>
          <p:cNvPr id="6" name="">
            <a:extLst xmlns:a="http://schemas.openxmlformats.org/drawingml/2006/main">
              <a:ext uri="{FF2B5EF4-FFF2-40B4-BE49-F238E27FC236}">
                <a16:creationId xmlns:a16="http://schemas.microsoft.com/office/drawing/2014/main" id="{F5AF872F-2462-412A-8183-387BBB692474}"/>
              </a:ext>
            </a:extLst>
          </p:cNvPr>
          <p:cNvSpPr>
            <a:spLocks xmlns:a="http://schemas.openxmlformats.org/drawingml/2006/main" noGrp="1"/>
          </p:cNvSpPr>
          <p:nvPr/>
        </p:nvSpPr>
        <p:spPr>
          <a:xfrm xmlns:a="http://schemas.openxmlformats.org/drawingml/2006/main">
            <a:off x="6000750" y="1971675"/>
            <a:ext cx="0" cy="3733800"/>
          </a:xfrm>
          <a:prstGeom xmlns:a="http://schemas.openxmlformats.org/drawingml/2006/main" prst="line">
            <a:avLst/>
          </a:prstGeom>
          <a:ln xmlns:a="http://schemas.openxmlformats.org/drawingml/2006/main" w="19050">
            <a:solidFill>
              <a:srgbClr val="D3DDD9"/>
            </a:solidFill>
          </a:ln>
        </p:spPr>
      </p:sp>
      <p:sp>
        <p:nvSpPr>
          <p:cNvPr id="7" name="SCM node A">
            <a:extLst xmlns:a="http://schemas.openxmlformats.org/drawingml/2006/main">
              <a:ext uri="{FF2B5EF4-FFF2-40B4-BE49-F238E27FC236}">
                <a16:creationId xmlns:a16="http://schemas.microsoft.com/office/drawing/2014/main" id="{7A0CA27E-2788-41C9-84BB-EE2DA4D2EB30}"/>
              </a:ext>
            </a:extLst>
          </p:cNvPr>
          <p:cNvSpPr>
            <a:spLocks xmlns:a="http://schemas.openxmlformats.org/drawingml/2006/main" noGrp="1"/>
          </p:cNvSpPr>
          <p:nvPr/>
        </p:nvSpPr>
        <p:spPr>
          <a:xfrm xmlns:a="http://schemas.openxmlformats.org/drawingml/2006/main">
            <a:off x="847725" y="2476500"/>
            <a:ext cx="619125" cy="47625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a:t>
            </a:r>
          </a:p>
        </p:txBody>
      </p:sp>
      <p:sp>
        <p:nvSpPr>
          <p:cNvPr id="8" name="SCM node B">
            <a:extLst xmlns:a="http://schemas.openxmlformats.org/drawingml/2006/main">
              <a:ext uri="{FF2B5EF4-FFF2-40B4-BE49-F238E27FC236}">
                <a16:creationId xmlns:a16="http://schemas.microsoft.com/office/drawing/2014/main" id="{F91E8C67-FC0D-4578-B481-B276679625D4}"/>
              </a:ext>
            </a:extLst>
          </p:cNvPr>
          <p:cNvSpPr>
            <a:spLocks xmlns:a="http://schemas.openxmlformats.org/drawingml/2006/main" noGrp="1"/>
          </p:cNvSpPr>
          <p:nvPr/>
        </p:nvSpPr>
        <p:spPr>
          <a:xfrm xmlns:a="http://schemas.openxmlformats.org/drawingml/2006/main">
            <a:off x="847725" y="3076575"/>
            <a:ext cx="619125" cy="47625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B</a:t>
            </a:r>
          </a:p>
        </p:txBody>
      </p:sp>
      <p:sp>
        <p:nvSpPr>
          <p:cNvPr id="9" name="SCM node M">
            <a:extLst xmlns:a="http://schemas.openxmlformats.org/drawingml/2006/main">
              <a:ext uri="{FF2B5EF4-FFF2-40B4-BE49-F238E27FC236}">
                <a16:creationId xmlns:a16="http://schemas.microsoft.com/office/drawing/2014/main" id="{DDE35D39-C292-4696-94BC-3D6549D6CC46}"/>
              </a:ext>
            </a:extLst>
          </p:cNvPr>
          <p:cNvSpPr>
            <a:spLocks xmlns:a="http://schemas.openxmlformats.org/drawingml/2006/main" noGrp="1"/>
          </p:cNvSpPr>
          <p:nvPr/>
        </p:nvSpPr>
        <p:spPr>
          <a:xfrm xmlns:a="http://schemas.openxmlformats.org/drawingml/2006/main">
            <a:off x="2876550" y="2819400"/>
            <a:ext cx="685800" cy="50482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12" name="Only the direct&#10;parents of M">
            <a:extLst xmlns:a="http://schemas.openxmlformats.org/drawingml/2006/main">
              <a:ext uri="{FF2B5EF4-FFF2-40B4-BE49-F238E27FC236}">
                <a16:creationId xmlns:a16="http://schemas.microsoft.com/office/drawing/2014/main" id="{1DE903D3-7323-4FDD-840E-F02F41CF4388}"/>
              </a:ext>
            </a:extLst>
          </p:cNvPr>
          <p:cNvSpPr>
            <a:spLocks xmlns:a="http://schemas.openxmlformats.org/drawingml/2006/main" noGrp="1"/>
          </p:cNvSpPr>
          <p:nvPr/>
        </p:nvSpPr>
        <p:spPr>
          <a:xfrm xmlns:a="http://schemas.openxmlformats.org/drawingml/2006/main">
            <a:off x="3933825" y="2819400"/>
            <a:ext cx="171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66B"/>
                </a:solidFill>
                <a:latin typeface="Helvetica Neue"/>
                <a:ea typeface="Helvetica Neue"/>
                <a:cs typeface="Helvetica Neue"/>
              </a:defRPr>
            </a:defPPr>
          </a:lstStyle>
          <a:p xmlns:a="http://schemas.openxmlformats.org/drawingml/2006/main">
            <a:pPr>
              <a:defRPr sz="1800" b="0">
                <a:solidFill>
                  <a:srgbClr val="53666B"/>
                </a:solidFill>
                <a:latin typeface="Helvetica Neue"/>
                <a:ea typeface="Helvetica Neue"/>
                <a:cs typeface="Helvetica Neue"/>
              </a:defRPr>
            </a:pPr>
            <a:r>
              <a:rPr sz="1800" b="0">
                <a:solidFill>
                  <a:srgbClr val="53666B"/>
                </a:solidFill>
                <a:latin typeface="Helvetica Neue"/>
                <a:ea typeface="Helvetica Neue"/>
                <a:cs typeface="Helvetica Neue"/>
              </a:rPr>
              <a:t>Only the direct</a:t>
            </a:r>
          </a:p>
          <a:p xmlns:a="http://schemas.openxmlformats.org/drawingml/2006/main">
            <a:pPr>
              <a:defRPr sz="1800" b="0">
                <a:solidFill>
                  <a:srgbClr val="53666B"/>
                </a:solidFill>
                <a:latin typeface="Helvetica Neue"/>
                <a:ea typeface="Helvetica Neue"/>
                <a:cs typeface="Helvetica Neue"/>
              </a:defRPr>
            </a:pPr>
            <a:r>
              <a:rPr sz="1800" b="0">
                <a:solidFill>
                  <a:srgbClr val="53666B"/>
                </a:solidFill>
                <a:latin typeface="Helvetica Neue"/>
                <a:ea typeface="Helvetica Neue"/>
                <a:cs typeface="Helvetica Neue"/>
              </a:rPr>
              <a:t>parents of M</a:t>
            </a:r>
          </a:p>
        </p:txBody>
      </p:sp>
      <p:graphicFrame>
        <p:nvGraphicFramePr>
          <p:cNvPr id="13" name="">
            <a:extLst xmlns:a="http://schemas.openxmlformats.org/drawingml/2006/main">
              <a:ext uri="{FF2B5EF4-FFF2-40B4-BE49-F238E27FC236}">
                <a16:creationId xmlns:a16="http://schemas.microsoft.com/office/drawing/2014/main" id="{C94A2A7F-D2AE-42A6-8C27-826E145B2DC3}"/>
              </a:ext>
            </a:extLst>
          </p:cNvPr>
          <p:cNvGraphicFramePr/>
          <p:nvPr/>
        </p:nvGraphicFramePr>
        <p:xfrm>
          <a:off xmlns:a="http://schemas.openxmlformats.org/drawingml/2006/main" x="609600" y="3619500"/>
          <a:ext xmlns:a="http://schemas.openxmlformats.org/drawingml/2006/main" cx="5095875" cy="1666875"/>
        </p:xfrm>
        <a:graphic xmlns:a="http://schemas.openxmlformats.org/drawingml/2006/main">
          <a:graphicData uri="http://schemas.openxmlformats.org/drawingml/2006/table">
            <a:tbl>
              <a:tblPr firstRow="0" bandRow="0"/>
              <a:tblGrid>
                <a:gridCol w="1047750"/>
                <a:gridCol w="1047750"/>
                <a:gridCol w="3000375"/>
              </a:tblGrid>
              <a:tr h="333375">
                <a:tc>
                  <a:txBody>
                    <a:bodyPr lIns="76200" tIns="76200" rIns="76200" bIns="76200"/>
                    <a:lstStyle/>
                    <a:p>
                      <a:r>
                        <a:rPr sz="1650" b="1">
                          <a:solidFill>
                            <a:srgbClr val="FFFFFF"/>
                          </a:solidFill>
                          <a:latin typeface="Helvetica Neue"/>
                          <a:ea typeface="Helvetica Neue"/>
                          <a:cs typeface="Helvetica Neue"/>
                        </a:rPr>
                        <a:t>A</a:t>
                      </a:r>
                    </a:p>
                  </a:txBody>
                  <a:tcPr marL="91440" marR="91440" marT="45720" marB="45720">
                    <a:solidFill>
                      <a:srgbClr val="112B36"/>
                    </a:solidFill>
                  </a:tcPr>
                </a:tc>
                <a:tc>
                  <a:txBody>
                    <a:bodyPr lIns="76200" tIns="76200" rIns="76200" bIns="76200"/>
                    <a:lstStyle/>
                    <a:p>
                      <a:r>
                        <a:rPr sz="1650" b="1">
                          <a:solidFill>
                            <a:srgbClr val="FFFFFF"/>
                          </a:solidFill>
                          <a:latin typeface="Helvetica Neue"/>
                          <a:ea typeface="Helvetica Neue"/>
                          <a:cs typeface="Helvetica Neue"/>
                        </a:rPr>
                        <a:t>B</a:t>
                      </a:r>
                    </a:p>
                  </a:txBody>
                  <a:tcPr marL="91440" marR="91440" marT="45720" marB="45720">
                    <a:solidFill>
                      <a:srgbClr val="112B36"/>
                    </a:solidFill>
                  </a:tcPr>
                </a:tc>
                <a:tc>
                  <a:txBody>
                    <a:bodyPr lIns="76200" tIns="76200" rIns="76200" bIns="76200"/>
                    <a:lstStyle/>
                    <a:p>
                      <a:r>
                        <a:rPr sz="1650" b="1">
                          <a:solidFill>
                            <a:srgbClr val="FFFFFF"/>
                          </a:solidFill>
                          <a:latin typeface="Helvetica Neue"/>
                          <a:ea typeface="Helvetica Neue"/>
                          <a:cs typeface="Helvetica Neue"/>
                        </a:rPr>
                        <a:t>M = f(A, B)</a:t>
                      </a:r>
                    </a:p>
                  </a:txBody>
                  <a:tcPr marL="91440" marR="91440" marT="45720" marB="45720">
                    <a:solidFill>
                      <a:srgbClr val="112B36"/>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EDF3EF"/>
                    </a:solidFill>
                  </a:tcPr>
                </a:tc>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EDF3EF"/>
                    </a:solidFill>
                  </a:tcPr>
                </a:tc>
                <a:tc>
                  <a:txBody>
                    <a:bodyPr lIns="76200" tIns="76200" rIns="76200" bIns="76200"/>
                    <a:lstStyle/>
                    <a:p>
                      <a:r>
                        <a:rPr sz="1650" b="0">
                          <a:solidFill>
                            <a:srgbClr val="16313A"/>
                          </a:solidFill>
                          <a:latin typeface="Helvetica Neue"/>
                          <a:ea typeface="Helvetica Neue"/>
                          <a:cs typeface="Helvetica Neue"/>
                        </a:rPr>
                        <a:t>m₁</a:t>
                      </a:r>
                    </a:p>
                  </a:txBody>
                  <a:tcPr marL="91440" marR="91440" marT="45720" marB="45720">
                    <a:solidFill>
                      <a:srgbClr val="EDF3EF"/>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AF8F3"/>
                    </a:solidFill>
                  </a:tcPr>
                </a:tc>
                <a:tc>
                  <a:txBody>
                    <a:bodyPr lIns="76200" tIns="76200" rIns="76200" bIns="76200"/>
                    <a:lstStyle/>
                    <a:p>
                      <a:r>
                        <a:rPr sz="1650" b="0">
                          <a:solidFill>
                            <a:srgbClr val="16313A"/>
                          </a:solidFill>
                          <a:latin typeface="Helvetica Neue"/>
                          <a:ea typeface="Helvetica Neue"/>
                          <a:cs typeface="Helvetica Neue"/>
                        </a:rPr>
                        <a:t>1</a:t>
                      </a:r>
                    </a:p>
                  </a:txBody>
                  <a:tcPr marL="91440" marR="91440" marT="45720" marB="45720">
                    <a:solidFill>
                      <a:srgbClr val="FAF8F3"/>
                    </a:solidFill>
                  </a:tcPr>
                </a:tc>
                <a:tc>
                  <a:txBody>
                    <a:bodyPr lIns="76200" tIns="76200" rIns="76200" bIns="76200"/>
                    <a:lstStyle/>
                    <a:p>
                      <a:r>
                        <a:rPr sz="1650" b="0">
                          <a:solidFill>
                            <a:srgbClr val="16313A"/>
                          </a:solidFill>
                          <a:latin typeface="Helvetica Neue"/>
                          <a:ea typeface="Helvetica Neue"/>
                          <a:cs typeface="Helvetica Neue"/>
                        </a:rPr>
                        <a:t>m₂</a:t>
                      </a:r>
                    </a:p>
                  </a:txBody>
                  <a:tcPr marL="91440" marR="91440" marT="45720" marB="45720">
                    <a:solidFill>
                      <a:srgbClr val="FAF8F3"/>
                    </a:solidFill>
                  </a:tcPr>
                </a:tc>
              </a:tr>
              <a:tr h="333375">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EDF3EF"/>
                    </a:solidFill>
                  </a:tcPr>
                </a:tc>
              </a:tr>
              <a:tr h="333375">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AF8F3"/>
                    </a:solidFill>
                  </a:tcPr>
                </a:tc>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AF8F3"/>
                    </a:solidFill>
                  </a:tcPr>
                </a:tc>
                <a:tc>
                  <a:txBody>
                    <a:bodyPr lIns="76200" tIns="76200" rIns="76200" bIns="76200"/>
                    <a:lstStyle/>
                    <a:p>
                      <a:r>
                        <a:rPr sz="1650" b="0">
                          <a:solidFill>
                            <a:srgbClr val="16313A"/>
                          </a:solidFill>
                          <a:latin typeface="Helvetica Neue"/>
                          <a:ea typeface="Helvetica Neue"/>
                          <a:cs typeface="Helvetica Neue"/>
                        </a:rPr>
                        <a:t>m₂₅</a:t>
                      </a:r>
                    </a:p>
                  </a:txBody>
                  <a:tcPr marL="91440" marR="91440" marT="45720" marB="45720">
                    <a:solidFill>
                      <a:srgbClr val="FAF8F3"/>
                    </a:solidFill>
                  </a:tcPr>
                </a:tc>
              </a:tr>
            </a:tbl>
          </a:graphicData>
        </a:graphic>
      </p:graphicFrame>
      <p:sp>
        <p:nvSpPr>
          <p:cNvPr id="14" name="25 rows per mechanism × 9 = ">
            <a:extLst xmlns:a="http://schemas.openxmlformats.org/drawingml/2006/main">
              <a:ext uri="{FF2B5EF4-FFF2-40B4-BE49-F238E27FC236}">
                <a16:creationId xmlns:a16="http://schemas.microsoft.com/office/drawing/2014/main" id="{8AB92456-7751-4BA9-88D4-73DBD23982E7}"/>
              </a:ext>
            </a:extLst>
          </p:cNvPr>
          <p:cNvSpPr>
            <a:spLocks xmlns:a="http://schemas.openxmlformats.org/drawingml/2006/main" noGrp="1"/>
          </p:cNvSpPr>
          <p:nvPr/>
        </p:nvSpPr>
        <p:spPr>
          <a:xfrm xmlns:a="http://schemas.openxmlformats.org/drawingml/2006/main">
            <a:off x="609600" y="5743575"/>
            <a:ext cx="5210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25 rows per mechanism × 9 = 225</a:t>
            </a:r>
          </a:p>
        </p:txBody>
      </p:sp>
      <p:sp>
        <p:nvSpPr>
          <p:cNvPr id="15" name="All input settings together ">
            <a:extLst xmlns:a="http://schemas.openxmlformats.org/drawingml/2006/main">
              <a:ext uri="{FF2B5EF4-FFF2-40B4-BE49-F238E27FC236}">
                <a16:creationId xmlns:a16="http://schemas.microsoft.com/office/drawing/2014/main" id="{54629696-DAC5-4FB1-8B7A-B152222434D4}"/>
              </a:ext>
            </a:extLst>
          </p:cNvPr>
          <p:cNvSpPr>
            <a:spLocks xmlns:a="http://schemas.openxmlformats.org/drawingml/2006/main" noGrp="1"/>
          </p:cNvSpPr>
          <p:nvPr/>
        </p:nvSpPr>
        <p:spPr>
          <a:xfrm xmlns:a="http://schemas.openxmlformats.org/drawingml/2006/main">
            <a:off x="6543675" y="265747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All input settings together determine Y</a:t>
            </a:r>
          </a:p>
        </p:txBody>
      </p:sp>
      <p:graphicFrame>
        <p:nvGraphicFramePr>
          <p:cNvPr id="16" name="">
            <a:extLst xmlns:a="http://schemas.openxmlformats.org/drawingml/2006/main">
              <a:ext uri="{FF2B5EF4-FFF2-40B4-BE49-F238E27FC236}">
                <a16:creationId xmlns:a16="http://schemas.microsoft.com/office/drawing/2014/main" id="{5BE7C540-3836-4B38-8D8B-090E752BE902}"/>
              </a:ext>
            </a:extLst>
          </p:cNvPr>
          <p:cNvGraphicFramePr/>
          <p:nvPr/>
        </p:nvGraphicFramePr>
        <p:xfrm>
          <a:off xmlns:a="http://schemas.openxmlformats.org/drawingml/2006/main" x="6543675" y="3495675"/>
          <a:ext xmlns:a="http://schemas.openxmlformats.org/drawingml/2006/main" cx="4991100" cy="2066925"/>
        </p:xfrm>
        <a:graphic xmlns:a="http://schemas.openxmlformats.org/drawingml/2006/main">
          <a:graphicData uri="http://schemas.openxmlformats.org/drawingml/2006/table">
            <a:tbl>
              <a:tblPr firstRow="0" bandRow="0"/>
              <a:tblGrid>
                <a:gridCol w="885825"/>
                <a:gridCol w="885825"/>
                <a:gridCol w="704850"/>
                <a:gridCol w="1104900"/>
                <a:gridCol w="1409700"/>
              </a:tblGrid>
              <a:tr h="413385">
                <a:tc>
                  <a:txBody>
                    <a:bodyPr lIns="76200" tIns="76200" rIns="76200" bIns="76200"/>
                    <a:lstStyle/>
                    <a:p>
                      <a:r>
                        <a:rPr sz="1725" b="1">
                          <a:solidFill>
                            <a:srgbClr val="FFFFFF"/>
                          </a:solidFill>
                          <a:latin typeface="Helvetica Neue"/>
                          <a:ea typeface="Helvetica Neue"/>
                          <a:cs typeface="Helvetica Neue"/>
                        </a:rPr>
                        <a:t>X₁</a:t>
                      </a:r>
                    </a:p>
                  </a:txBody>
                  <a:tcPr marL="91440" marR="91440" marT="45720" marB="45720">
                    <a:solidFill>
                      <a:srgbClr val="112B36"/>
                    </a:solidFill>
                  </a:tcPr>
                </a:tc>
                <a:tc>
                  <a:txBody>
                    <a:bodyPr lIns="76200" tIns="76200" rIns="76200" bIns="76200"/>
                    <a:lstStyle/>
                    <a:p>
                      <a:r>
                        <a:rPr sz="1725" b="1">
                          <a:solidFill>
                            <a:srgbClr val="FFFFFF"/>
                          </a:solidFill>
                          <a:latin typeface="Helvetica Neue"/>
                          <a:ea typeface="Helvetica Neue"/>
                          <a:cs typeface="Helvetica Neue"/>
                        </a:rPr>
                        <a:t>X₂</a:t>
                      </a:r>
                    </a:p>
                  </a:txBody>
                  <a:tcPr marL="91440" marR="91440" marT="45720" marB="45720">
                    <a:solidFill>
                      <a:srgbClr val="112B36"/>
                    </a:solidFill>
                  </a:tcPr>
                </a:tc>
                <a:tc>
                  <a:txBody>
                    <a:bodyPr lIns="76200" tIns="76200" rIns="76200" bIns="76200"/>
                    <a:lstStyle/>
                    <a:p>
                      <a:r>
                        <a:rPr sz="1725" b="1">
                          <a:solidFill>
                            <a:srgbClr val="FFFFFF"/>
                          </a:solidFill>
                          <a:latin typeface="Helvetica Neue"/>
                          <a:ea typeface="Helvetica Neue"/>
                          <a:cs typeface="Helvetica Neue"/>
                        </a:rPr>
                        <a:t>…</a:t>
                      </a:r>
                    </a:p>
                  </a:txBody>
                  <a:tcPr marL="91440" marR="91440" marT="45720" marB="45720">
                    <a:solidFill>
                      <a:srgbClr val="112B36"/>
                    </a:solidFill>
                  </a:tcPr>
                </a:tc>
                <a:tc>
                  <a:txBody>
                    <a:bodyPr lIns="76200" tIns="76200" rIns="76200" bIns="76200"/>
                    <a:lstStyle/>
                    <a:p>
                      <a:r>
                        <a:rPr sz="1725" b="1">
                          <a:solidFill>
                            <a:srgbClr val="FFFFFF"/>
                          </a:solidFill>
                          <a:latin typeface="Helvetica Neue"/>
                          <a:ea typeface="Helvetica Neue"/>
                          <a:cs typeface="Helvetica Neue"/>
                        </a:rPr>
                        <a:t>X₁₀</a:t>
                      </a:r>
                    </a:p>
                  </a:txBody>
                  <a:tcPr marL="91440" marR="91440" marT="45720" marB="45720">
                    <a:solidFill>
                      <a:srgbClr val="112B36"/>
                    </a:solidFill>
                  </a:tcPr>
                </a:tc>
                <a:tc>
                  <a:txBody>
                    <a:bodyPr lIns="76200" tIns="76200" rIns="76200" bIns="76200"/>
                    <a:lstStyle/>
                    <a:p>
                      <a:r>
                        <a:rPr sz="1725" b="1">
                          <a:solidFill>
                            <a:srgbClr val="FFFFFF"/>
                          </a:solidFill>
                          <a:latin typeface="Helvetica Neue"/>
                          <a:ea typeface="Helvetica Neue"/>
                          <a:cs typeface="Helvetica Neue"/>
                        </a:rPr>
                        <a:t>Y</a:t>
                      </a:r>
                    </a:p>
                  </a:txBody>
                  <a:tcPr marL="91440" marR="91440" marT="45720" marB="45720">
                    <a:solidFill>
                      <a:srgbClr val="112B36"/>
                    </a:solidFill>
                  </a:tcPr>
                </a:tc>
              </a:tr>
              <a:tr h="413385">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y₁</a:t>
                      </a:r>
                    </a:p>
                  </a:txBody>
                  <a:tcPr marL="91440" marR="91440" marT="45720" marB="45720">
                    <a:solidFill>
                      <a:srgbClr val="EDF3EF"/>
                    </a:solidFill>
                  </a:tcPr>
                </a:tc>
              </a:tr>
              <a:tr h="413385">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0</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1</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y₂</a:t>
                      </a:r>
                    </a:p>
                  </a:txBody>
                  <a:tcPr marL="91440" marR="91440" marT="45720" marB="45720">
                    <a:solidFill>
                      <a:srgbClr val="FAF8F3"/>
                    </a:solidFill>
                  </a:tcPr>
                </a:tc>
              </a:tr>
              <a:tr h="413385">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EDF3EF"/>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EDF3EF"/>
                    </a:solidFill>
                  </a:tcPr>
                </a:tc>
              </a:tr>
              <a:tr h="413385">
                <a:tc>
                  <a:txBody>
                    <a:bodyPr lIns="76200" tIns="76200" rIns="76200" bIns="76200"/>
                    <a:lstStyle/>
                    <a:p>
                      <a:r>
                        <a:rPr sz="1725" b="0">
                          <a:solidFill>
                            <a:srgbClr val="16313A"/>
                          </a:solidFill>
                          <a:latin typeface="Helvetica Neue"/>
                          <a:ea typeface="Helvetica Neue"/>
                          <a:cs typeface="Helvetica Neue"/>
                        </a:rPr>
                        <a:t>4</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4</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4</a:t>
                      </a:r>
                    </a:p>
                  </a:txBody>
                  <a:tcPr marL="91440" marR="91440" marT="45720" marB="45720">
                    <a:solidFill>
                      <a:srgbClr val="FAF8F3"/>
                    </a:solidFill>
                  </a:tcPr>
                </a:tc>
                <a:tc>
                  <a:txBody>
                    <a:bodyPr lIns="76200" tIns="76200" rIns="76200" bIns="76200"/>
                    <a:lstStyle/>
                    <a:p>
                      <a:r>
                        <a:rPr sz="1725" b="0">
                          <a:solidFill>
                            <a:srgbClr val="16313A"/>
                          </a:solidFill>
                          <a:latin typeface="Helvetica Neue"/>
                          <a:ea typeface="Helvetica Neue"/>
                          <a:cs typeface="Helvetica Neue"/>
                        </a:rPr>
                        <a:t>yₙ</a:t>
                      </a:r>
                    </a:p>
                  </a:txBody>
                  <a:tcPr marL="91440" marR="91440" marT="45720" marB="45720">
                    <a:solidFill>
                      <a:srgbClr val="FAF8F3"/>
                    </a:solidFill>
                  </a:tcPr>
                </a:tc>
              </a:tr>
            </a:tbl>
          </a:graphicData>
        </a:graphic>
      </p:graphicFrame>
      <p:sp>
        <p:nvSpPr>
          <p:cNvPr id="17" name="5¹⁰ = 9,765,625 joint rows">
            <a:extLst xmlns:a="http://schemas.openxmlformats.org/drawingml/2006/main">
              <a:ext uri="{FF2B5EF4-FFF2-40B4-BE49-F238E27FC236}">
                <a16:creationId xmlns:a16="http://schemas.microsoft.com/office/drawing/2014/main" id="{FCD69168-A4F9-4D33-961F-A663F035E41E}"/>
              </a:ext>
            </a:extLst>
          </p:cNvPr>
          <p:cNvSpPr>
            <a:spLocks xmlns:a="http://schemas.openxmlformats.org/drawingml/2006/main" noGrp="1"/>
          </p:cNvSpPr>
          <p:nvPr/>
        </p:nvSpPr>
        <p:spPr>
          <a:xfrm xmlns:a="http://schemas.openxmlformats.org/drawingml/2006/main">
            <a:off x="6543675" y="57435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95435"/>
                </a:solidFill>
                <a:latin typeface="Helvetica Neue"/>
                <a:ea typeface="Helvetica Neue"/>
                <a:cs typeface="Helvetica Neue"/>
              </a:defRPr>
            </a:defPPr>
          </a:lstStyle>
          <a:p xmlns:a="http://schemas.openxmlformats.org/drawingml/2006/main">
            <a:pPr>
              <a:defRPr sz="2100" b="1">
                <a:solidFill>
                  <a:srgbClr val="B95435"/>
                </a:solidFill>
                <a:latin typeface="Helvetica Neue"/>
                <a:ea typeface="Helvetica Neue"/>
                <a:cs typeface="Helvetica Neue"/>
              </a:defRPr>
            </a:pPr>
            <a:r>
              <a:rPr sz="2100" b="1">
                <a:solidFill>
                  <a:srgbClr val="B95435"/>
                </a:solidFill>
                <a:latin typeface="Helvetica Neue"/>
                <a:ea typeface="Helvetica Neue"/>
                <a:cs typeface="Helvetica Neue"/>
              </a:rPr>
              <a:t>5¹⁰ = 9,765,625 joint rows</a:t>
            </a:r>
          </a:p>
        </p:txBody>
      </p:sp>
      <p:sp>
        <p:nvSpPr>
          <p:cNvPr id="18" name="Discrete illustration. Local">
            <a:extLst xmlns:a="http://schemas.openxmlformats.org/drawingml/2006/main">
              <a:ext uri="{FF2B5EF4-FFF2-40B4-BE49-F238E27FC236}">
                <a16:creationId xmlns:a16="http://schemas.microsoft.com/office/drawing/2014/main" id="{AB9CA7B8-ED23-4A79-AEB6-BC9B903B5A9D}"/>
              </a:ext>
            </a:extLst>
          </p:cNvPr>
          <p:cNvSpPr>
            <a:spLocks xmlns:a="http://schemas.openxmlformats.org/drawingml/2006/main" noGrp="1"/>
          </p:cNvSpPr>
          <p:nvPr/>
        </p:nvSpPr>
        <p:spPr>
          <a:xfrm xmlns:a="http://schemas.openxmlformats.org/drawingml/2006/main">
            <a:off x="609600" y="61626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Discrete illustration. Local maps compose through the graph. ACE fits functions instead of literal tables.</a:t>
            </a:r>
          </a:p>
        </p:txBody>
      </p:sp>
    </p:spTree>
    <p:extLst>
      <p:ext uri="{BB962C8B-B14F-4D97-AF65-F5344CB8AC3E}">
        <p14:creationId xmlns:p14="http://schemas.microsoft.com/office/powerpoint/2010/main" val="976403215"/>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E52D027-DC76-4269-BF0C-B944084AEED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Exhaustive grids multiply the work</a:t>
            </a:r>
          </a:p>
        </p:txBody>
      </p:sp>
      <p:sp>
        <p:nvSpPr>
          <p:cNvPr id="2" name="page">
            <a:extLst xmlns:a="http://schemas.openxmlformats.org/drawingml/2006/main">
              <a:ext uri="{FF2B5EF4-FFF2-40B4-BE49-F238E27FC236}">
                <a16:creationId xmlns:a16="http://schemas.microsoft.com/office/drawing/2014/main" id="{DF8E1A4D-41ED-445C-90B3-FDB047E5A267}"/>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05</a:t>
            </a:r>
          </a:p>
        </p:txBody>
      </p:sp>
      <p:sp>
        <p:nvSpPr>
          <p:cNvPr id="3" name="10 inputs · 5 settings each ">
            <a:extLst xmlns:a="http://schemas.openxmlformats.org/drawingml/2006/main">
              <a:ext uri="{FF2B5EF4-FFF2-40B4-BE49-F238E27FC236}">
                <a16:creationId xmlns:a16="http://schemas.microsoft.com/office/drawing/2014/main" id="{1A294F44-E3A1-471F-BA30-65E374A448FB}"/>
              </a:ext>
            </a:extLst>
          </p:cNvPr>
          <p:cNvSpPr>
            <a:spLocks xmlns:a="http://schemas.openxmlformats.org/drawingml/2006/main" noGrp="1"/>
          </p:cNvSpPr>
          <p:nvPr/>
        </p:nvSpPr>
        <p:spPr>
          <a:xfrm xmlns:a="http://schemas.openxmlformats.org/drawingml/2006/main">
            <a:off x="609600" y="14478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10 inputs · 5 settings each · a deliberately naive joint-table baseline</a:t>
            </a:r>
          </a:p>
        </p:txBody>
      </p:sp>
      <p:sp>
        <p:nvSpPr>
          <p:cNvPr id="4" name="SCM-FREE JOINT TABLE">
            <a:extLst xmlns:a="http://schemas.openxmlformats.org/drawingml/2006/main">
              <a:ext uri="{FF2B5EF4-FFF2-40B4-BE49-F238E27FC236}">
                <a16:creationId xmlns:a16="http://schemas.microsoft.com/office/drawing/2014/main" id="{86266B4E-786C-4922-B133-D3BEF9C0CC12}"/>
              </a:ext>
            </a:extLst>
          </p:cNvPr>
          <p:cNvSpPr>
            <a:spLocks xmlns:a="http://schemas.openxmlformats.org/drawingml/2006/main" noGrp="1"/>
          </p:cNvSpPr>
          <p:nvPr/>
        </p:nvSpPr>
        <p:spPr>
          <a:xfrm xmlns:a="http://schemas.openxmlformats.org/drawingml/2006/main">
            <a:off x="609600" y="224790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95435"/>
                </a:solidFill>
                <a:latin typeface="Helvetica Neue"/>
                <a:ea typeface="Helvetica Neue"/>
                <a:cs typeface="Helvetica Neue"/>
              </a:defRPr>
            </a:defPPr>
          </a:lstStyle>
          <a:p xmlns:a="http://schemas.openxmlformats.org/drawingml/2006/main">
            <a:pPr>
              <a:buNone/>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SCM-FREE JOINT TABLE</a:t>
            </a:r>
          </a:p>
        </p:txBody>
      </p:sp>
      <p:sp>
        <p:nvSpPr>
          <p:cNvPr id="5" name="9.77 million">
            <a:extLst xmlns:a="http://schemas.openxmlformats.org/drawingml/2006/main">
              <a:ext uri="{FF2B5EF4-FFF2-40B4-BE49-F238E27FC236}">
                <a16:creationId xmlns:a16="http://schemas.microsoft.com/office/drawing/2014/main" id="{5E49B6A7-A994-4BB1-9CA3-C7025347266C}"/>
              </a:ext>
            </a:extLst>
          </p:cNvPr>
          <p:cNvSpPr>
            <a:spLocks xmlns:a="http://schemas.openxmlformats.org/drawingml/2006/main" noGrp="1"/>
          </p:cNvSpPr>
          <p:nvPr/>
        </p:nvSpPr>
        <p:spPr>
          <a:xfrm xmlns:a="http://schemas.openxmlformats.org/drawingml/2006/main">
            <a:off x="609600" y="2752725"/>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B95435"/>
                </a:solidFill>
                <a:latin typeface="Helvetica Neue"/>
                <a:ea typeface="Helvetica Neue"/>
                <a:cs typeface="Helvetica Neue"/>
              </a:defRPr>
            </a:defPPr>
          </a:lstStyle>
          <a:p xmlns:a="http://schemas.openxmlformats.org/drawingml/2006/main">
            <a:pPr>
              <a:buNone/>
              <a:defRPr sz="5550" b="1">
                <a:solidFill>
                  <a:srgbClr val="B95435"/>
                </a:solidFill>
                <a:latin typeface="Helvetica Neue"/>
                <a:ea typeface="Helvetica Neue"/>
                <a:cs typeface="Helvetica Neue"/>
              </a:defRPr>
            </a:pPr>
            <a:r>
              <a:rPr sz="5550" b="1">
                <a:solidFill>
                  <a:srgbClr val="B95435"/>
                </a:solidFill>
                <a:latin typeface="Helvetica Neue"/>
                <a:ea typeface="Helvetica Neue"/>
                <a:cs typeface="Helvetica Neue"/>
              </a:rPr>
              <a:t>9.77 million</a:t>
            </a:r>
          </a:p>
        </p:txBody>
      </p:sp>
      <p:sp>
        <p:nvSpPr>
          <p:cNvPr id="6" name="configurations for exhaustiv">
            <a:extLst xmlns:a="http://schemas.openxmlformats.org/drawingml/2006/main">
              <a:ext uri="{FF2B5EF4-FFF2-40B4-BE49-F238E27FC236}">
                <a16:creationId xmlns:a16="http://schemas.microsoft.com/office/drawing/2014/main" id="{1448CE5D-13CD-48D4-9B3C-E5A178D2AE3B}"/>
              </a:ext>
            </a:extLst>
          </p:cNvPr>
          <p:cNvSpPr>
            <a:spLocks xmlns:a="http://schemas.openxmlformats.org/drawingml/2006/main" noGrp="1"/>
          </p:cNvSpPr>
          <p:nvPr/>
        </p:nvSpPr>
        <p:spPr>
          <a:xfrm xmlns:a="http://schemas.openxmlformats.org/drawingml/2006/main">
            <a:off x="647700" y="3752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13A"/>
                </a:solidFill>
                <a:latin typeface="Helvetica Neue"/>
                <a:ea typeface="Helvetica Neue"/>
                <a:cs typeface="Helvetica Neue"/>
              </a:defRPr>
            </a:defPPr>
          </a:lstStyle>
          <a:p xmlns:a="http://schemas.openxmlformats.org/drawingml/2006/main">
            <a:pPr>
              <a:buNone/>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configurations for exhaustive coverage</a:t>
            </a:r>
          </a:p>
        </p:txBody>
      </p:sp>
      <p:sp>
        <p:nvSpPr>
          <p:cNvPr id="7" name="29.26 million random draws">
            <a:extLst xmlns:a="http://schemas.openxmlformats.org/drawingml/2006/main">
              <a:ext uri="{FF2B5EF4-FFF2-40B4-BE49-F238E27FC236}">
                <a16:creationId xmlns:a16="http://schemas.microsoft.com/office/drawing/2014/main" id="{83457D64-6034-4CD2-B6A3-1F2776CB5647}"/>
              </a:ext>
            </a:extLst>
          </p:cNvPr>
          <p:cNvSpPr>
            <a:spLocks xmlns:a="http://schemas.openxmlformats.org/drawingml/2006/main" noGrp="1"/>
          </p:cNvSpPr>
          <p:nvPr/>
        </p:nvSpPr>
        <p:spPr>
          <a:xfrm xmlns:a="http://schemas.openxmlformats.org/drawingml/2006/main">
            <a:off x="638175" y="451485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95435"/>
                </a:solidFill>
                <a:latin typeface="Helvetica Neue"/>
                <a:ea typeface="Helvetica Neue"/>
                <a:cs typeface="Helvetica Neue"/>
              </a:defRPr>
            </a:defPPr>
          </a:lstStyle>
          <a:p xmlns:a="http://schemas.openxmlformats.org/drawingml/2006/main">
            <a:pPr>
              <a:buNone/>
              <a:defRPr sz="2700" b="1">
                <a:solidFill>
                  <a:srgbClr val="B95435"/>
                </a:solidFill>
                <a:latin typeface="Helvetica Neue"/>
                <a:ea typeface="Helvetica Neue"/>
                <a:cs typeface="Helvetica Neue"/>
              </a:defRPr>
            </a:pPr>
            <a:r>
              <a:rPr sz="2700" b="1">
                <a:solidFill>
                  <a:srgbClr val="B95435"/>
                </a:solidFill>
                <a:latin typeface="Helvetica Neue"/>
                <a:ea typeface="Helvetica Neue"/>
                <a:cs typeface="Helvetica Neue"/>
              </a:rPr>
              <a:t>29.26 million random draws</a:t>
            </a:r>
          </a:p>
        </p:txBody>
      </p:sp>
      <p:sp>
        <p:nvSpPr>
          <p:cNvPr id="8" name="for 95% expected joint-grid ">
            <a:extLst xmlns:a="http://schemas.openxmlformats.org/drawingml/2006/main">
              <a:ext uri="{FF2B5EF4-FFF2-40B4-BE49-F238E27FC236}">
                <a16:creationId xmlns:a16="http://schemas.microsoft.com/office/drawing/2014/main" id="{4AFCF647-7E33-474C-A0A0-F975F228DAEF}"/>
              </a:ext>
            </a:extLst>
          </p:cNvPr>
          <p:cNvSpPr>
            <a:spLocks xmlns:a="http://schemas.openxmlformats.org/drawingml/2006/main" noGrp="1"/>
          </p:cNvSpPr>
          <p:nvPr/>
        </p:nvSpPr>
        <p:spPr>
          <a:xfrm xmlns:a="http://schemas.openxmlformats.org/drawingml/2006/main">
            <a:off x="647700" y="514350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313A"/>
                </a:solidFill>
                <a:latin typeface="Helvetica Neue"/>
                <a:ea typeface="Helvetica Neue"/>
                <a:cs typeface="Helvetica Neue"/>
              </a:defRPr>
            </a:defPPr>
          </a:lstStyle>
          <a:p xmlns:a="http://schemas.openxmlformats.org/drawingml/2006/main">
            <a:pPr>
              <a:buNone/>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for 95% expected joint-grid coverage¹</a:t>
            </a:r>
          </a:p>
        </p:txBody>
      </p:sp>
      <p:sp>
        <p:nvSpPr>
          <p:cNvPr id="9" name="SCM LOCAL TABLES">
            <a:extLst xmlns:a="http://schemas.openxmlformats.org/drawingml/2006/main">
              <a:ext uri="{FF2B5EF4-FFF2-40B4-BE49-F238E27FC236}">
                <a16:creationId xmlns:a16="http://schemas.microsoft.com/office/drawing/2014/main" id="{6218F94A-CE78-4AE0-9A80-DC849E961852}"/>
              </a:ext>
            </a:extLst>
          </p:cNvPr>
          <p:cNvSpPr>
            <a:spLocks xmlns:a="http://schemas.openxmlformats.org/drawingml/2006/main" noGrp="1"/>
          </p:cNvSpPr>
          <p:nvPr/>
        </p:nvSpPr>
        <p:spPr>
          <a:xfrm xmlns:a="http://schemas.openxmlformats.org/drawingml/2006/main">
            <a:off x="8334375" y="224790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F83"/>
                </a:solidFill>
                <a:latin typeface="Helvetica Neue"/>
                <a:ea typeface="Helvetica Neue"/>
                <a:cs typeface="Helvetica Neue"/>
              </a:defRPr>
            </a:defPPr>
          </a:lstStyle>
          <a:p xmlns:a="http://schemas.openxmlformats.org/drawingml/2006/main">
            <a:pPr>
              <a:buNone/>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SCM LOCAL TABLES</a:t>
            </a:r>
          </a:p>
        </p:txBody>
      </p:sp>
      <p:sp>
        <p:nvSpPr>
          <p:cNvPr id="10" name="225">
            <a:extLst xmlns:a="http://schemas.openxmlformats.org/drawingml/2006/main">
              <a:ext uri="{FF2B5EF4-FFF2-40B4-BE49-F238E27FC236}">
                <a16:creationId xmlns:a16="http://schemas.microsoft.com/office/drawing/2014/main" id="{AD4BE916-DC94-4962-81BC-AF4F442E4641}"/>
              </a:ext>
            </a:extLst>
          </p:cNvPr>
          <p:cNvSpPr>
            <a:spLocks xmlns:a="http://schemas.openxmlformats.org/drawingml/2006/main" noGrp="1"/>
          </p:cNvSpPr>
          <p:nvPr/>
        </p:nvSpPr>
        <p:spPr>
          <a:xfrm xmlns:a="http://schemas.openxmlformats.org/drawingml/2006/main">
            <a:off x="8286750" y="2952750"/>
            <a:ext cx="323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087F83"/>
                </a:solidFill>
                <a:latin typeface="Helvetica Neue"/>
                <a:ea typeface="Helvetica Neue"/>
                <a:cs typeface="Helvetica Neue"/>
              </a:defRPr>
            </a:defPPr>
          </a:lstStyle>
          <a:p xmlns:a="http://schemas.openxmlformats.org/drawingml/2006/main">
            <a:pPr>
              <a:buNone/>
              <a:defRPr sz="6900" b="1">
                <a:solidFill>
                  <a:srgbClr val="087F83"/>
                </a:solidFill>
                <a:latin typeface="Helvetica Neue"/>
                <a:ea typeface="Helvetica Neue"/>
                <a:cs typeface="Helvetica Neue"/>
              </a:defRPr>
            </a:pPr>
            <a:r>
              <a:rPr sz="6900" b="1">
                <a:solidFill>
                  <a:srgbClr val="087F83"/>
                </a:solidFill>
                <a:latin typeface="Helvetica Neue"/>
                <a:ea typeface="Helvetica Neue"/>
                <a:cs typeface="Helvetica Neue"/>
              </a:rPr>
              <a:t>225</a:t>
            </a:r>
          </a:p>
        </p:txBody>
      </p:sp>
      <p:sp>
        <p:nvSpPr>
          <p:cNvPr id="11" name="local entries">
            <a:extLst xmlns:a="http://schemas.openxmlformats.org/drawingml/2006/main">
              <a:ext uri="{FF2B5EF4-FFF2-40B4-BE49-F238E27FC236}">
                <a16:creationId xmlns:a16="http://schemas.microsoft.com/office/drawing/2014/main" id="{1C14253F-A490-4CED-A88B-92EB392E93DF}"/>
              </a:ext>
            </a:extLst>
          </p:cNvPr>
          <p:cNvSpPr>
            <a:spLocks xmlns:a="http://schemas.openxmlformats.org/drawingml/2006/main" noGrp="1"/>
          </p:cNvSpPr>
          <p:nvPr/>
        </p:nvSpPr>
        <p:spPr>
          <a:xfrm xmlns:a="http://schemas.openxmlformats.org/drawingml/2006/main">
            <a:off x="8343900" y="42291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local entries</a:t>
            </a:r>
          </a:p>
        </p:txBody>
      </p:sp>
      <p:sp>
        <p:nvSpPr>
          <p:cNvPr id="12" name="9 mechanisms&#10;25 settings eac">
            <a:extLst xmlns:a="http://schemas.openxmlformats.org/drawingml/2006/main">
              <a:ext uri="{FF2B5EF4-FFF2-40B4-BE49-F238E27FC236}">
                <a16:creationId xmlns:a16="http://schemas.microsoft.com/office/drawing/2014/main" id="{BF6DDFA8-C5D4-40E3-A019-77B7B8DD3A4B}"/>
              </a:ext>
            </a:extLst>
          </p:cNvPr>
          <p:cNvSpPr>
            <a:spLocks xmlns:a="http://schemas.openxmlformats.org/drawingml/2006/main" noGrp="1"/>
          </p:cNvSpPr>
          <p:nvPr/>
        </p:nvSpPr>
        <p:spPr>
          <a:xfrm xmlns:a="http://schemas.openxmlformats.org/drawingml/2006/main">
            <a:off x="8343900" y="4819650"/>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9 mechanisms</a:t>
            </a:r>
          </a:p>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25 settings each</a:t>
            </a:r>
          </a:p>
        </p:txBody>
      </p:sp>
      <p:sp>
        <p:nvSpPr>
          <p:cNvPr id="13" name="Analytic coverage / represen">
            <a:extLst xmlns:a="http://schemas.openxmlformats.org/drawingml/2006/main">
              <a:ext uri="{FF2B5EF4-FFF2-40B4-BE49-F238E27FC236}">
                <a16:creationId xmlns:a16="http://schemas.microsoft.com/office/drawing/2014/main" id="{1AC641F0-7E92-4E50-9D7C-A8658E3020F8}"/>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Analytic coverage / representation example, not a measured ACE speedup. ¹ Uniform draws with replacement.</a:t>
            </a:r>
          </a:p>
        </p:txBody>
      </p:sp>
    </p:spTree>
    <p:extLst>
      <p:ext uri="{BB962C8B-B14F-4D97-AF65-F5344CB8AC3E}">
        <p14:creationId xmlns:p14="http://schemas.microsoft.com/office/powerpoint/2010/main" val="139964597"/>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5552294E-2F8D-453C-BA2A-D2E8761C9B6B}"/>
              </a:ext>
            </a:extLst>
          </p:cNvPr>
          <p:cNvCxnSpPr>
            <a:stCxn xmlns:a="http://schemas.openxmlformats.org/drawingml/2006/main" id="25" idx="0"/>
            <a:endCxn xmlns:a="http://schemas.openxmlformats.org/drawingml/2006/main" id="9" idx="2"/>
          </p:cNvCxnSpPr>
          <p:nvPr/>
        </p:nvCxnSpPr>
        <p:spPr>
          <a:xfrm xmlns:a="http://schemas.openxmlformats.org/drawingml/2006/main" flipH="1" flipV="1">
            <a:off x="2090738" y="4810125"/>
            <a:ext cx="1019175" cy="571500"/>
          </a:xfrm>
          <a:prstGeom xmlns:a="http://schemas.openxmlformats.org/drawingml/2006/main" prst="bentConnector4">
            <a:avLst>
              <a:gd name="adj1" fmla="val 0"/>
              <a:gd name="adj2" fmla="val 50000"/>
            </a:avLst>
          </a:prstGeom>
          <a:ln xmlns:a="http://schemas.openxmlformats.org/drawingml/2006/main" w="47625">
            <a:solidFill>
              <a:srgbClr val="087F83"/>
            </a:solidFill>
            <a:tailEnd type="triangle" w="lg" len="lg"/>
          </a:ln>
        </p:spPr>
      </p:cxnSp>
      <p:cxnSp>
        <p:nvCxnSpPr>
          <p:cNvPr id="27" name="">
            <a:extLst xmlns:a="http://schemas.openxmlformats.org/drawingml/2006/main">
              <a:ext uri="{FF2B5EF4-FFF2-40B4-BE49-F238E27FC236}">
                <a16:creationId xmlns:a16="http://schemas.microsoft.com/office/drawing/2014/main" id="{14829208-51E9-4EEA-AABD-340B29E36F88}"/>
              </a:ext>
            </a:extLst>
          </p:cNvPr>
          <p:cNvCxnSpPr>
            <a:stCxn xmlns:a="http://schemas.openxmlformats.org/drawingml/2006/main" id="24" idx="1"/>
            <a:endCxn xmlns:a="http://schemas.openxmlformats.org/drawingml/2006/main" id="25" idx="3"/>
          </p:cNvCxnSpPr>
          <p:nvPr/>
        </p:nvCxnSpPr>
        <p:spPr>
          <a:xfrm xmlns:a="http://schemas.openxmlformats.org/drawingml/2006/main" flipH="1">
            <a:off x="5610225" y="5676900"/>
            <a:ext cx="2990850"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26" name="">
            <a:extLst xmlns:a="http://schemas.openxmlformats.org/drawingml/2006/main">
              <a:ext uri="{FF2B5EF4-FFF2-40B4-BE49-F238E27FC236}">
                <a16:creationId xmlns:a16="http://schemas.microsoft.com/office/drawing/2014/main" id="{A8023FF6-1F9C-49B8-81B9-525CE187D232}"/>
              </a:ext>
            </a:extLst>
          </p:cNvPr>
          <p:cNvCxnSpPr>
            <a:stCxn xmlns:a="http://schemas.openxmlformats.org/drawingml/2006/main" id="17" idx="2"/>
            <a:endCxn xmlns:a="http://schemas.openxmlformats.org/drawingml/2006/main" id="24" idx="0"/>
          </p:cNvCxnSpPr>
          <p:nvPr/>
        </p:nvCxnSpPr>
        <p:spPr>
          <a:xfrm xmlns:a="http://schemas.openxmlformats.org/drawingml/2006/main">
            <a:off x="10067925" y="4810125"/>
            <a:ext cx="0" cy="57150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21" name="">
            <a:extLst xmlns:a="http://schemas.openxmlformats.org/drawingml/2006/main">
              <a:ext uri="{FF2B5EF4-FFF2-40B4-BE49-F238E27FC236}">
                <a16:creationId xmlns:a16="http://schemas.microsoft.com/office/drawing/2014/main" id="{11499A22-A308-4B0B-95FD-850B09BE47C2}"/>
              </a:ext>
            </a:extLst>
          </p:cNvPr>
          <p:cNvCxnSpPr>
            <a:stCxn xmlns:a="http://schemas.openxmlformats.org/drawingml/2006/main" id="16" idx="3"/>
            <a:endCxn xmlns:a="http://schemas.openxmlformats.org/drawingml/2006/main" id="17" idx="1"/>
          </p:cNvCxnSpPr>
          <p:nvPr/>
        </p:nvCxnSpPr>
        <p:spPr>
          <a:xfrm xmlns:a="http://schemas.openxmlformats.org/drawingml/2006/main">
            <a:off x="7315200" y="4191000"/>
            <a:ext cx="1285875"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20" name="">
            <a:extLst xmlns:a="http://schemas.openxmlformats.org/drawingml/2006/main">
              <a:ext uri="{FF2B5EF4-FFF2-40B4-BE49-F238E27FC236}">
                <a16:creationId xmlns:a16="http://schemas.microsoft.com/office/drawing/2014/main" id="{CBA422B9-CFA9-4F56-86B3-70C17B0C9DBB}"/>
              </a:ext>
            </a:extLst>
          </p:cNvPr>
          <p:cNvCxnSpPr>
            <a:stCxn xmlns:a="http://schemas.openxmlformats.org/drawingml/2006/main" id="9" idx="3"/>
            <a:endCxn xmlns:a="http://schemas.openxmlformats.org/drawingml/2006/main" id="16" idx="1"/>
          </p:cNvCxnSpPr>
          <p:nvPr/>
        </p:nvCxnSpPr>
        <p:spPr>
          <a:xfrm xmlns:a="http://schemas.openxmlformats.org/drawingml/2006/main">
            <a:off x="3571875" y="4191000"/>
            <a:ext cx="1104900"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8" name="">
            <a:extLst xmlns:a="http://schemas.openxmlformats.org/drawingml/2006/main">
              <a:ext uri="{FF2B5EF4-FFF2-40B4-BE49-F238E27FC236}">
                <a16:creationId xmlns:a16="http://schemas.microsoft.com/office/drawing/2014/main" id="{860A7DA7-0636-46FD-A295-6C08CA7C1A6D}"/>
              </a:ext>
            </a:extLst>
          </p:cNvPr>
          <p:cNvCxnSpPr>
            <a:stCxn xmlns:a="http://schemas.openxmlformats.org/drawingml/2006/main" id="6" idx="2"/>
            <a:endCxn xmlns:a="http://schemas.openxmlformats.org/drawingml/2006/main" id="9" idx="0"/>
          </p:cNvCxnSpPr>
          <p:nvPr/>
        </p:nvCxnSpPr>
        <p:spPr>
          <a:xfrm xmlns:a="http://schemas.openxmlformats.org/drawingml/2006/main" flipH="1">
            <a:off x="2090738" y="2886075"/>
            <a:ext cx="7834313" cy="685800"/>
          </a:xfrm>
          <a:prstGeom xmlns:a="http://schemas.openxmlformats.org/drawingml/2006/main" prst="bentConnector4">
            <a:avLst>
              <a:gd name="adj1" fmla="val 0"/>
              <a:gd name="adj2" fmla="val 66667"/>
            </a:avLst>
          </a:prstGeom>
          <a:ln xmlns:a="http://schemas.openxmlformats.org/drawingml/2006/main" w="47625">
            <a:solidFill>
              <a:srgbClr val="B95435"/>
            </a:solidFill>
            <a:tailEnd type="triangle" w="lg" len="lg"/>
          </a:ln>
        </p:spPr>
      </p:cxnSp>
      <p:cxnSp>
        <p:nvCxnSpPr>
          <p:cNvPr id="8" name="">
            <a:extLst xmlns:a="http://schemas.openxmlformats.org/drawingml/2006/main">
              <a:ext uri="{FF2B5EF4-FFF2-40B4-BE49-F238E27FC236}">
                <a16:creationId xmlns:a16="http://schemas.microsoft.com/office/drawing/2014/main" id="{CCF689AF-2CD4-4302-8C2C-F32FAE062173}"/>
              </a:ext>
            </a:extLst>
          </p:cNvPr>
          <p:cNvCxnSpPr>
            <a:stCxn xmlns:a="http://schemas.openxmlformats.org/drawingml/2006/main" id="5" idx="3"/>
            <a:endCxn xmlns:a="http://schemas.openxmlformats.org/drawingml/2006/main" id="6" idx="1"/>
          </p:cNvCxnSpPr>
          <p:nvPr/>
        </p:nvCxnSpPr>
        <p:spPr>
          <a:xfrm xmlns:a="http://schemas.openxmlformats.org/drawingml/2006/main">
            <a:off x="7305675" y="2386013"/>
            <a:ext cx="1009650" cy="0"/>
          </a:xfrm>
          <a:prstGeom xmlns:a="http://schemas.openxmlformats.org/drawingml/2006/main" prst="straightConnector1">
            <a:avLst/>
          </a:prstGeom>
          <a:ln xmlns:a="http://schemas.openxmlformats.org/drawingml/2006/main" w="47625">
            <a:solidFill>
              <a:srgbClr val="B95435"/>
            </a:solidFill>
            <a:tailEnd type="triangle" w="lg" len="lg"/>
          </a:ln>
        </p:spPr>
      </p:cxnSp>
      <p:cxnSp>
        <p:nvCxnSpPr>
          <p:cNvPr id="7" name="">
            <a:extLst xmlns:a="http://schemas.openxmlformats.org/drawingml/2006/main">
              <a:ext uri="{FF2B5EF4-FFF2-40B4-BE49-F238E27FC236}">
                <a16:creationId xmlns:a16="http://schemas.microsoft.com/office/drawing/2014/main" id="{48F221FB-F219-4948-9C51-CD7707667EFF}"/>
              </a:ext>
            </a:extLst>
          </p:cNvPr>
          <p:cNvCxnSpPr>
            <a:stCxn xmlns:a="http://schemas.openxmlformats.org/drawingml/2006/main" id="4" idx="3"/>
            <a:endCxn xmlns:a="http://schemas.openxmlformats.org/drawingml/2006/main" id="5" idx="1"/>
          </p:cNvCxnSpPr>
          <p:nvPr/>
        </p:nvCxnSpPr>
        <p:spPr>
          <a:xfrm xmlns:a="http://schemas.openxmlformats.org/drawingml/2006/main">
            <a:off x="3305175" y="2386013"/>
            <a:ext cx="1038225" cy="0"/>
          </a:xfrm>
          <a:prstGeom xmlns:a="http://schemas.openxmlformats.org/drawingml/2006/main" prst="straightConnector1">
            <a:avLst/>
          </a:prstGeom>
          <a:ln xmlns:a="http://schemas.openxmlformats.org/drawingml/2006/main" w="47625">
            <a:solidFill>
              <a:srgbClr val="B95435"/>
            </a:solidFill>
            <a:tailEnd type="triangle" w="lg" len="lg"/>
          </a:ln>
        </p:spPr>
      </p:cxnSp>
      <p:sp>
        <p:nvSpPr>
          <p:cNvPr id="31" name="title">
            <a:extLst xmlns:a="http://schemas.openxmlformats.org/drawingml/2006/main">
              <a:ext uri="{FF2B5EF4-FFF2-40B4-BE49-F238E27FC236}">
                <a16:creationId xmlns:a16="http://schemas.microsoft.com/office/drawing/2014/main" id="{8123C5C0-419D-45EC-8A63-D790833B698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ACE: models, actions and environmental feedback</a:t>
            </a:r>
          </a:p>
        </p:txBody>
      </p:sp>
      <p:sp>
        <p:nvSpPr>
          <p:cNvPr id="2" name="page">
            <a:extLst xmlns:a="http://schemas.openxmlformats.org/drawingml/2006/main">
              <a:ext uri="{FF2B5EF4-FFF2-40B4-BE49-F238E27FC236}">
                <a16:creationId xmlns:a16="http://schemas.microsoft.com/office/drawing/2014/main" id="{C3E0127D-BFE1-4A24-8DB9-D23CCD816BE5}"/>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06</a:t>
            </a:r>
          </a:p>
        </p:txBody>
      </p:sp>
      <p:sp>
        <p:nvSpPr>
          <p:cNvPr id="3" name="Foundation-model branch: pro">
            <a:extLst xmlns:a="http://schemas.openxmlformats.org/drawingml/2006/main">
              <a:ext uri="{FF2B5EF4-FFF2-40B4-BE49-F238E27FC236}">
                <a16:creationId xmlns:a16="http://schemas.microsoft.com/office/drawing/2014/main" id="{EAE549A7-7DF2-4DF9-BE12-C0CEA480656A}"/>
              </a:ext>
            </a:extLst>
          </p:cNvPr>
          <p:cNvSpPr>
            <a:spLocks xmlns:a="http://schemas.openxmlformats.org/drawingml/2006/main" noGrp="1"/>
          </p:cNvSpPr>
          <p:nvPr/>
        </p:nvSpPr>
        <p:spPr>
          <a:xfrm xmlns:a="http://schemas.openxmlformats.org/drawingml/2006/main">
            <a:off x="609600" y="13811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95435"/>
                </a:solidFill>
                <a:latin typeface="Helvetica Neue"/>
                <a:ea typeface="Helvetica Neue"/>
                <a:cs typeface="Helvetica Neue"/>
              </a:defRPr>
            </a:defPPr>
          </a:lstStyle>
          <a:p xmlns:a="http://schemas.openxmlformats.org/drawingml/2006/main">
            <a:pPr>
              <a:defRPr sz="1950" b="1">
                <a:solidFill>
                  <a:srgbClr val="B95435"/>
                </a:solidFill>
                <a:latin typeface="Helvetica Neue"/>
                <a:ea typeface="Helvetica Neue"/>
                <a:cs typeface="Helvetica Neue"/>
              </a:defRPr>
            </a:pPr>
            <a:r>
              <a:rPr sz="1950" b="1">
                <a:solidFill>
                  <a:srgbClr val="B95435"/>
                </a:solidFill>
                <a:latin typeface="Helvetica Neue"/>
                <a:ea typeface="Helvetica Neue"/>
                <a:cs typeface="Helvetica Neue"/>
              </a:rPr>
              <a:t>Foundation-model branch: proposed integration</a:t>
            </a:r>
          </a:p>
        </p:txBody>
      </p:sp>
      <p:sp>
        <p:nvSpPr>
          <p:cNvPr id="4" name="Inputs&#10;Graph + eligible data&#10;Controls + budget">
            <a:extLst xmlns:a="http://schemas.openxmlformats.org/drawingml/2006/main">
              <a:ext uri="{FF2B5EF4-FFF2-40B4-BE49-F238E27FC236}">
                <a16:creationId xmlns:a16="http://schemas.microsoft.com/office/drawing/2014/main" id="{711A164E-9CAF-4BBF-8A65-B0DA47F3AE43}"/>
              </a:ext>
            </a:extLst>
          </p:cNvPr>
          <p:cNvSpPr>
            <a:spLocks xmlns:a="http://schemas.openxmlformats.org/drawingml/2006/main" noGrp="1"/>
          </p:cNvSpPr>
          <p:nvPr/>
        </p:nvSpPr>
        <p:spPr>
          <a:xfrm xmlns:a="http://schemas.openxmlformats.org/drawingml/2006/main">
            <a:off x="609600" y="1885950"/>
            <a:ext cx="2695575" cy="1000125"/>
          </a:xfrm>
          <a:prstGeom xmlns:a="http://schemas.openxmlformats.org/drawingml/2006/main" prst="rect">
            <a:avLst/>
          </a:prstGeom>
          <a:solidFill xmlns:a="http://schemas.openxmlformats.org/drawingml/2006/main">
            <a:srgbClr val="FAF8F3"/>
          </a:solidFill>
          <a:ln xmlns:a="http://schemas.openxmlformats.org/drawingml/2006/main" w="19050">
            <a:solidFill>
              <a:srgbClr val="53666B"/>
            </a:solidFill>
          </a:ln>
        </p:spPr>
        <p:txBody>
          <a:bodyPr xmlns:a="http://schemas.openxmlformats.org/drawingml/2006/main" lIns="114300" tIns="114300" rIns="114300" bIns="114300" anchor="ctr"/>
          <a:lstStyle xmlns:a="http://schemas.openxmlformats.org/drawingml/2006/main">
            <a:defPPr algn="ctr">
              <a:defRPr sz="1725" b="1">
                <a:solidFill>
                  <a:srgbClr val="53666B"/>
                </a:solidFill>
                <a:latin typeface="Helvetica Neue"/>
                <a:ea typeface="Helvetica Neue"/>
                <a:cs typeface="Helvetica Neue"/>
              </a:defRPr>
            </a:defPPr>
          </a:lstStyle>
          <a:p xmlns:a="http://schemas.openxmlformats.org/drawingml/2006/main">
            <a:pPr algn="ctr">
              <a:defRPr sz="1725" b="1">
                <a:solidFill>
                  <a:srgbClr val="53666B"/>
                </a:solidFill>
                <a:latin typeface="Helvetica Neue"/>
                <a:ea typeface="Helvetica Neue"/>
                <a:cs typeface="Helvetica Neue"/>
              </a:defRPr>
            </a:pPr>
            <a:r>
              <a:rPr sz="1725" b="1">
                <a:solidFill>
                  <a:srgbClr val="53666B"/>
                </a:solidFill>
                <a:latin typeface="Helvetica Neue"/>
                <a:ea typeface="Helvetica Neue"/>
                <a:cs typeface="Helvetica Neue"/>
              </a:rPr>
              <a:t>Inputs</a:t>
            </a:r>
          </a:p>
          <a:p xmlns:a="http://schemas.openxmlformats.org/drawingml/2006/main">
            <a:pPr algn="ctr">
              <a:defRPr sz="1725" b="1">
                <a:solidFill>
                  <a:srgbClr val="53666B"/>
                </a:solidFill>
                <a:latin typeface="Helvetica Neue"/>
                <a:ea typeface="Helvetica Neue"/>
                <a:cs typeface="Helvetica Neue"/>
              </a:defRPr>
            </a:pPr>
            <a:r>
              <a:rPr sz="1725" b="1">
                <a:solidFill>
                  <a:srgbClr val="53666B"/>
                </a:solidFill>
                <a:latin typeface="Helvetica Neue"/>
                <a:ea typeface="Helvetica Neue"/>
                <a:cs typeface="Helvetica Neue"/>
              </a:rPr>
              <a:t>Graph + eligible data</a:t>
            </a:r>
          </a:p>
          <a:p xmlns:a="http://schemas.openxmlformats.org/drawingml/2006/main">
            <a:pPr algn="ctr">
              <a:defRPr sz="1725" b="1">
                <a:solidFill>
                  <a:srgbClr val="53666B"/>
                </a:solidFill>
                <a:latin typeface="Helvetica Neue"/>
                <a:ea typeface="Helvetica Neue"/>
                <a:cs typeface="Helvetica Neue"/>
              </a:defRPr>
            </a:pPr>
            <a:r>
              <a:rPr sz="1725" b="1">
                <a:solidFill>
                  <a:srgbClr val="53666B"/>
                </a:solidFill>
                <a:latin typeface="Helvetica Neue"/>
                <a:ea typeface="Helvetica Neue"/>
                <a:cs typeface="Helvetica Neue"/>
              </a:rPr>
              <a:t>Controls + budget</a:t>
            </a:r>
          </a:p>
        </p:txBody>
      </p:sp>
      <p:sp>
        <p:nvSpPr>
          <p:cNvPr id="5" name="Foundation model&#10;Candidate mechanisms">
            <a:extLst xmlns:a="http://schemas.openxmlformats.org/drawingml/2006/main">
              <a:ext uri="{FF2B5EF4-FFF2-40B4-BE49-F238E27FC236}">
                <a16:creationId xmlns:a16="http://schemas.microsoft.com/office/drawing/2014/main" id="{FEC5B1E7-88BA-4136-B397-86B63845887C}"/>
              </a:ext>
            </a:extLst>
          </p:cNvPr>
          <p:cNvSpPr>
            <a:spLocks xmlns:a="http://schemas.openxmlformats.org/drawingml/2006/main" noGrp="1"/>
          </p:cNvSpPr>
          <p:nvPr/>
        </p:nvSpPr>
        <p:spPr>
          <a:xfrm xmlns:a="http://schemas.openxmlformats.org/drawingml/2006/main">
            <a:off x="4343400" y="1885950"/>
            <a:ext cx="2962275" cy="1000125"/>
          </a:xfrm>
          <a:prstGeom xmlns:a="http://schemas.openxmlformats.org/drawingml/2006/main" prst="rect">
            <a:avLst/>
          </a:prstGeom>
          <a:solidFill xmlns:a="http://schemas.openxmlformats.org/drawingml/2006/main">
            <a:srgbClr val="FAF8F3"/>
          </a:solidFill>
          <a:ln xmlns:a="http://schemas.openxmlformats.org/drawingml/2006/main" w="19050">
            <a:solidFill>
              <a:srgbClr val="B95435"/>
            </a:solidFill>
          </a:ln>
        </p:spPr>
        <p:txBody>
          <a:bodyPr xmlns:a="http://schemas.openxmlformats.org/drawingml/2006/main" lIns="114300" tIns="114300" rIns="114300" bIns="114300" anchor="ctr"/>
          <a:lstStyle xmlns:a="http://schemas.openxmlformats.org/drawingml/2006/main">
            <a:defPPr algn="ctr">
              <a:defRPr sz="2025" b="1">
                <a:solidFill>
                  <a:srgbClr val="B95435"/>
                </a:solidFill>
                <a:latin typeface="Helvetica Neue"/>
                <a:ea typeface="Helvetica Neue"/>
                <a:cs typeface="Helvetica Neue"/>
              </a:defRPr>
            </a:defPPr>
          </a:lstStyle>
          <a:p xmlns:a="http://schemas.openxmlformats.org/drawingml/2006/main">
            <a:pPr algn="ctr">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Foundation model</a:t>
            </a:r>
          </a:p>
          <a:p xmlns:a="http://schemas.openxmlformats.org/drawingml/2006/main">
            <a:pPr algn="ctr">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Candidate mechanisms</a:t>
            </a:r>
          </a:p>
        </p:txBody>
      </p:sp>
      <p:sp>
        <p:nvSpPr>
          <p:cNvPr id="6" name="Candidate validation&#10;Compare with numerical&#10;and retained mechanisms">
            <a:extLst xmlns:a="http://schemas.openxmlformats.org/drawingml/2006/main">
              <a:ext uri="{FF2B5EF4-FFF2-40B4-BE49-F238E27FC236}">
                <a16:creationId xmlns:a16="http://schemas.microsoft.com/office/drawing/2014/main" id="{406F3980-3B84-4225-8E2E-720F9A362E24}"/>
              </a:ext>
            </a:extLst>
          </p:cNvPr>
          <p:cNvSpPr>
            <a:spLocks xmlns:a="http://schemas.openxmlformats.org/drawingml/2006/main" noGrp="1"/>
          </p:cNvSpPr>
          <p:nvPr/>
        </p:nvSpPr>
        <p:spPr>
          <a:xfrm xmlns:a="http://schemas.openxmlformats.org/drawingml/2006/main">
            <a:off x="8315325" y="1885950"/>
            <a:ext cx="3219450" cy="1000125"/>
          </a:xfrm>
          <a:prstGeom xmlns:a="http://schemas.openxmlformats.org/drawingml/2006/main" prst="rect">
            <a:avLst/>
          </a:prstGeom>
          <a:solidFill xmlns:a="http://schemas.openxmlformats.org/drawingml/2006/main">
            <a:srgbClr val="FAF8F3"/>
          </a:solidFill>
          <a:ln xmlns:a="http://schemas.openxmlformats.org/drawingml/2006/main" w="19050">
            <a:solidFill>
              <a:srgbClr val="B95435"/>
            </a:solidFill>
          </a:ln>
        </p:spPr>
        <p:txBody>
          <a:bodyPr xmlns:a="http://schemas.openxmlformats.org/drawingml/2006/main" lIns="114300" tIns="114300" rIns="114300" bIns="114300" anchor="ctr"/>
          <a:lstStyle xmlns:a="http://schemas.openxmlformats.org/drawingml/2006/main">
            <a:defPPr algn="ctr">
              <a:defRPr sz="1800" b="1">
                <a:solidFill>
                  <a:srgbClr val="B95435"/>
                </a:solidFill>
                <a:latin typeface="Helvetica Neue"/>
                <a:ea typeface="Helvetica Neue"/>
                <a:cs typeface="Helvetica Neue"/>
              </a:defRPr>
            </a:defPPr>
          </a:lstStyle>
          <a:p xmlns:a="http://schemas.openxmlformats.org/drawingml/2006/main">
            <a:pPr algn="ctr">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Candidate validation</a:t>
            </a:r>
          </a:p>
          <a:p xmlns:a="http://schemas.openxmlformats.org/drawingml/2006/main">
            <a:pPr algn="ctr">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Compare with numerical</a:t>
            </a:r>
          </a:p>
          <a:p xmlns:a="http://schemas.openxmlformats.org/drawingml/2006/main">
            <a:pPr algn="ctr">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and retained mechanisms</a:t>
            </a:r>
          </a:p>
        </p:txBody>
      </p:sp>
      <p:sp>
        <p:nvSpPr>
          <p:cNvPr id="9" name="">
            <a:extLst xmlns:a="http://schemas.openxmlformats.org/drawingml/2006/main">
              <a:ext uri="{FF2B5EF4-FFF2-40B4-BE49-F238E27FC236}">
                <a16:creationId xmlns:a16="http://schemas.microsoft.com/office/drawing/2014/main" id="{CCF989D9-F76D-4A4A-8341-05D229C8D965}"/>
              </a:ext>
            </a:extLst>
          </p:cNvPr>
          <p:cNvSpPr>
            <a:spLocks xmlns:a="http://schemas.openxmlformats.org/drawingml/2006/main" noGrp="1"/>
          </p:cNvSpPr>
          <p:nvPr/>
        </p:nvSpPr>
        <p:spPr>
          <a:xfrm xmlns:a="http://schemas.openxmlformats.org/drawingml/2006/main">
            <a:off x="609600" y="3571875"/>
            <a:ext cx="2962275" cy="1238250"/>
          </a:xfrm>
          <a:prstGeom xmlns:a="http://schemas.openxmlformats.org/drawingml/2006/main" prst="rect">
            <a:avLst/>
          </a:prstGeom>
          <a:solidFill xmlns:a="http://schemas.openxmlformats.org/drawingml/2006/main">
            <a:srgbClr val="FAF8F3"/>
          </a:solidFill>
          <a:ln xmlns:a="http://schemas.openxmlformats.org/drawingml/2006/main" w="19050">
            <a:solidFill>
              <a:srgbClr val="087F83"/>
            </a:solidFill>
          </a:ln>
        </p:spPr>
        <p:txBody>
          <a:bodyPr xmlns:a="http://schemas.openxmlformats.org/drawingml/2006/main" lIns="114300" tIns="114300" rIns="114300" bIns="114300" anchor="ctr"/>
          <a:lstStyle xmlns:a="http://schemas.openxmlformats.org/drawingml/2006/main">
            <a:defPPr algn="ctr">
              <a:defRPr sz="1875" b="1">
                <a:solidFill>
                  <a:srgbClr val="087F83"/>
                </a:solidFill>
                <a:latin typeface="Helvetica Neue"/>
                <a:ea typeface="Helvetica Neue"/>
                <a:cs typeface="Helvetica Neue"/>
              </a:defRPr>
            </a:defPPr>
          </a:lstStyle>
          <a:p xmlns:a="http://schemas.openxmlformats.org/drawingml/2006/main">
            <a:r>
              <a:t/>
            </a:r>
          </a:p>
        </p:txBody>
      </p:sp>
      <p:sp>
        <p:nvSpPr>
          <p:cNvPr id="10" name="SCM candidates">
            <a:extLst xmlns:a="http://schemas.openxmlformats.org/drawingml/2006/main">
              <a:ext uri="{FF2B5EF4-FFF2-40B4-BE49-F238E27FC236}">
                <a16:creationId xmlns:a16="http://schemas.microsoft.com/office/drawing/2014/main" id="{ABE3D993-3BDD-473F-8037-829EFB790AED}"/>
              </a:ext>
            </a:extLst>
          </p:cNvPr>
          <p:cNvSpPr>
            <a:spLocks xmlns:a="http://schemas.openxmlformats.org/drawingml/2006/main" noGrp="1"/>
          </p:cNvSpPr>
          <p:nvPr/>
        </p:nvSpPr>
        <p:spPr>
          <a:xfrm xmlns:a="http://schemas.openxmlformats.org/drawingml/2006/main">
            <a:off x="809625" y="367665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SCM candidates</a:t>
            </a:r>
          </a:p>
        </p:txBody>
      </p:sp>
      <p:sp>
        <p:nvSpPr>
          <p:cNvPr id="11" name="SCM node X">
            <a:extLst xmlns:a="http://schemas.openxmlformats.org/drawingml/2006/main">
              <a:ext uri="{FF2B5EF4-FFF2-40B4-BE49-F238E27FC236}">
                <a16:creationId xmlns:a16="http://schemas.microsoft.com/office/drawing/2014/main" id="{174920F7-AF50-4788-91B9-F846794E1087}"/>
              </a:ext>
            </a:extLst>
          </p:cNvPr>
          <p:cNvSpPr>
            <a:spLocks xmlns:a="http://schemas.openxmlformats.org/drawingml/2006/main" noGrp="1"/>
          </p:cNvSpPr>
          <p:nvPr/>
        </p:nvSpPr>
        <p:spPr>
          <a:xfrm xmlns:a="http://schemas.openxmlformats.org/drawingml/2006/main">
            <a:off x="819150" y="4200525"/>
            <a:ext cx="485775" cy="3714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12" name="SCM node M">
            <a:extLst xmlns:a="http://schemas.openxmlformats.org/drawingml/2006/main">
              <a:ext uri="{FF2B5EF4-FFF2-40B4-BE49-F238E27FC236}">
                <a16:creationId xmlns:a16="http://schemas.microsoft.com/office/drawing/2014/main" id="{8C512717-E416-4452-A2F1-F6FBBAC4E521}"/>
              </a:ext>
            </a:extLst>
          </p:cNvPr>
          <p:cNvSpPr>
            <a:spLocks xmlns:a="http://schemas.openxmlformats.org/drawingml/2006/main" noGrp="1"/>
          </p:cNvSpPr>
          <p:nvPr/>
        </p:nvSpPr>
        <p:spPr>
          <a:xfrm xmlns:a="http://schemas.openxmlformats.org/drawingml/2006/main">
            <a:off x="1790700" y="4200525"/>
            <a:ext cx="485775" cy="3714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13" name="SCM node Y">
            <a:extLst xmlns:a="http://schemas.openxmlformats.org/drawingml/2006/main">
              <a:ext uri="{FF2B5EF4-FFF2-40B4-BE49-F238E27FC236}">
                <a16:creationId xmlns:a16="http://schemas.microsoft.com/office/drawing/2014/main" id="{A030C9B3-2216-4CD2-84A4-7BDB5FFF8564}"/>
              </a:ext>
            </a:extLst>
          </p:cNvPr>
          <p:cNvSpPr>
            <a:spLocks xmlns:a="http://schemas.openxmlformats.org/drawingml/2006/main" noGrp="1"/>
          </p:cNvSpPr>
          <p:nvPr/>
        </p:nvSpPr>
        <p:spPr>
          <a:xfrm xmlns:a="http://schemas.openxmlformats.org/drawingml/2006/main">
            <a:off x="2762250" y="4200525"/>
            <a:ext cx="485775" cy="3714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cxnSp>
        <p:nvCxnSpPr>
          <p:cNvPr id="14" name="">
            <a:extLst xmlns:a="http://schemas.openxmlformats.org/drawingml/2006/main">
              <a:ext uri="{FF2B5EF4-FFF2-40B4-BE49-F238E27FC236}">
                <a16:creationId xmlns:a16="http://schemas.microsoft.com/office/drawing/2014/main" id="{90BF0D4F-6A8F-4D90-B432-4762B9495070}"/>
              </a:ext>
            </a:extLst>
          </p:cNvPr>
          <p:cNvCxnSpPr>
            <a:stCxn xmlns:a="http://schemas.openxmlformats.org/drawingml/2006/main" id="11" idx="6"/>
            <a:endCxn xmlns:a="http://schemas.openxmlformats.org/drawingml/2006/main" id="12" idx="2"/>
          </p:cNvCxnSpPr>
          <p:nvPr/>
        </p:nvCxnSpPr>
        <p:spPr>
          <a:xfrm xmlns:a="http://schemas.openxmlformats.org/drawingml/2006/main">
            <a:off x="1304925" y="4386263"/>
            <a:ext cx="485775"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5" name="">
            <a:extLst xmlns:a="http://schemas.openxmlformats.org/drawingml/2006/main">
              <a:ext uri="{FF2B5EF4-FFF2-40B4-BE49-F238E27FC236}">
                <a16:creationId xmlns:a16="http://schemas.microsoft.com/office/drawing/2014/main" id="{CC0BF4A6-DEA0-4570-AEFE-0D73A928BAC3}"/>
              </a:ext>
            </a:extLst>
          </p:cNvPr>
          <p:cNvCxnSpPr>
            <a:stCxn xmlns:a="http://schemas.openxmlformats.org/drawingml/2006/main" id="12" idx="6"/>
            <a:endCxn xmlns:a="http://schemas.openxmlformats.org/drawingml/2006/main" id="13" idx="2"/>
          </p:cNvCxnSpPr>
          <p:nvPr/>
        </p:nvCxnSpPr>
        <p:spPr>
          <a:xfrm xmlns:a="http://schemas.openxmlformats.org/drawingml/2006/main">
            <a:off x="2276475" y="4386263"/>
            <a:ext cx="485775" cy="0"/>
          </a:xfrm>
          <a:prstGeom xmlns:a="http://schemas.openxmlformats.org/drawingml/2006/main" prst="straightConnector1">
            <a:avLst/>
          </a:prstGeom>
          <a:ln xmlns:a="http://schemas.openxmlformats.org/drawingml/2006/main" w="47625">
            <a:solidFill>
              <a:srgbClr val="087F83"/>
            </a:solidFill>
            <a:tailEnd type="triangle" w="lg" len="lg"/>
          </a:ln>
        </p:spPr>
      </p:cxnSp>
      <p:sp>
        <p:nvSpPr>
          <p:cNvPr id="16" name="Action selector&#10;Clamp X or M&#10;to −1, 0 or +1">
            <a:extLst xmlns:a="http://schemas.openxmlformats.org/drawingml/2006/main">
              <a:ext uri="{FF2B5EF4-FFF2-40B4-BE49-F238E27FC236}">
                <a16:creationId xmlns:a16="http://schemas.microsoft.com/office/drawing/2014/main" id="{297335F2-5D1A-4D27-AF8B-94C1C3332110}"/>
              </a:ext>
            </a:extLst>
          </p:cNvPr>
          <p:cNvSpPr>
            <a:spLocks xmlns:a="http://schemas.openxmlformats.org/drawingml/2006/main" noGrp="1"/>
          </p:cNvSpPr>
          <p:nvPr/>
        </p:nvSpPr>
        <p:spPr>
          <a:xfrm xmlns:a="http://schemas.openxmlformats.org/drawingml/2006/main">
            <a:off x="4676775" y="3571875"/>
            <a:ext cx="2638425" cy="1238250"/>
          </a:xfrm>
          <a:prstGeom xmlns:a="http://schemas.openxmlformats.org/drawingml/2006/main" prst="rect">
            <a:avLst/>
          </a:prstGeom>
          <a:solidFill xmlns:a="http://schemas.openxmlformats.org/drawingml/2006/main">
            <a:srgbClr val="FAF8F3"/>
          </a:solidFill>
          <a:ln xmlns:a="http://schemas.openxmlformats.org/drawingml/2006/main" w="19050">
            <a:solidFill>
              <a:srgbClr val="087F83"/>
            </a:solidFill>
          </a:ln>
        </p:spPr>
        <p:txBody>
          <a:bodyPr xmlns:a="http://schemas.openxmlformats.org/drawingml/2006/main" lIns="114300" tIns="114300" rIns="114300" bIns="114300" anchor="ctr"/>
          <a:lstStyle xmlns:a="http://schemas.openxmlformats.org/drawingml/2006/main">
            <a:defPPr algn="ctr">
              <a:defRPr sz="1950" b="1">
                <a:solidFill>
                  <a:srgbClr val="087F83"/>
                </a:solidFill>
                <a:latin typeface="Helvetica Neue"/>
                <a:ea typeface="Helvetica Neue"/>
                <a:cs typeface="Helvetica Neue"/>
              </a:defRPr>
            </a:defPPr>
          </a:lstStyle>
          <a:p xmlns:a="http://schemas.openxmlformats.org/drawingml/2006/main">
            <a:pPr algn="ctr">
              <a:defRPr sz="1950" b="1">
                <a:solidFill>
                  <a:srgbClr val="087F83"/>
                </a:solidFill>
                <a:latin typeface="Helvetica Neue"/>
                <a:ea typeface="Helvetica Neue"/>
                <a:cs typeface="Helvetica Neue"/>
              </a:defRPr>
            </a:pPr>
            <a:r>
              <a:rPr sz="1950" b="1">
                <a:solidFill>
                  <a:srgbClr val="087F83"/>
                </a:solidFill>
                <a:latin typeface="Helvetica Neue"/>
                <a:ea typeface="Helvetica Neue"/>
                <a:cs typeface="Helvetica Neue"/>
              </a:rPr>
              <a:t>Action selector</a:t>
            </a:r>
          </a:p>
          <a:p xmlns:a="http://schemas.openxmlformats.org/drawingml/2006/main">
            <a:pPr algn="ctr">
              <a:defRPr sz="1950" b="1">
                <a:solidFill>
                  <a:srgbClr val="087F83"/>
                </a:solidFill>
                <a:latin typeface="Helvetica Neue"/>
                <a:ea typeface="Helvetica Neue"/>
                <a:cs typeface="Helvetica Neue"/>
              </a:defRPr>
            </a:pPr>
            <a:r>
              <a:rPr sz="1950" b="1">
                <a:solidFill>
                  <a:srgbClr val="087F83"/>
                </a:solidFill>
                <a:latin typeface="Helvetica Neue"/>
                <a:ea typeface="Helvetica Neue"/>
                <a:cs typeface="Helvetica Neue"/>
              </a:rPr>
              <a:t>Clamp X or M</a:t>
            </a:r>
          </a:p>
          <a:p xmlns:a="http://schemas.openxmlformats.org/drawingml/2006/main">
            <a:pPr algn="ctr">
              <a:defRPr sz="1950" b="1">
                <a:solidFill>
                  <a:srgbClr val="087F83"/>
                </a:solidFill>
                <a:latin typeface="Helvetica Neue"/>
                <a:ea typeface="Helvetica Neue"/>
                <a:cs typeface="Helvetica Neue"/>
              </a:defRPr>
            </a:pPr>
            <a:r>
              <a:rPr sz="1950" b="1">
                <a:solidFill>
                  <a:srgbClr val="087F83"/>
                </a:solidFill>
                <a:latin typeface="Helvetica Neue"/>
                <a:ea typeface="Helvetica Neue"/>
                <a:cs typeface="Helvetica Neue"/>
              </a:rPr>
              <a:t>to −1, 0 or +1</a:t>
            </a:r>
          </a:p>
        </p:txBody>
      </p:sp>
      <p:sp>
        <p:nvSpPr>
          <p:cNvPr id="17" name="Environment&#10;Simulator or apparatus">
            <a:extLst xmlns:a="http://schemas.openxmlformats.org/drawingml/2006/main">
              <a:ext uri="{FF2B5EF4-FFF2-40B4-BE49-F238E27FC236}">
                <a16:creationId xmlns:a16="http://schemas.microsoft.com/office/drawing/2014/main" id="{ED434092-05EB-4381-B642-E28D34A7E088}"/>
              </a:ext>
            </a:extLst>
          </p:cNvPr>
          <p:cNvSpPr>
            <a:spLocks xmlns:a="http://schemas.openxmlformats.org/drawingml/2006/main" noGrp="1"/>
          </p:cNvSpPr>
          <p:nvPr/>
        </p:nvSpPr>
        <p:spPr>
          <a:xfrm xmlns:a="http://schemas.openxmlformats.org/drawingml/2006/main">
            <a:off x="8601075" y="3571875"/>
            <a:ext cx="2933700" cy="1238250"/>
          </a:xfrm>
          <a:prstGeom xmlns:a="http://schemas.openxmlformats.org/drawingml/2006/main" prst="rect">
            <a:avLst/>
          </a:prstGeom>
          <a:solidFill xmlns:a="http://schemas.openxmlformats.org/drawingml/2006/main">
            <a:srgbClr val="FAF8F3"/>
          </a:solidFill>
          <a:ln xmlns:a="http://schemas.openxmlformats.org/drawingml/2006/main" w="19050">
            <a:solidFill>
              <a:srgbClr val="087F83"/>
            </a:solidFill>
          </a:ln>
        </p:spPr>
        <p:txBody>
          <a:bodyPr xmlns:a="http://schemas.openxmlformats.org/drawingml/2006/main" lIns="114300" tIns="114300" rIns="114300" bIns="114300" anchor="ctr"/>
          <a:lstStyle xmlns:a="http://schemas.openxmlformats.org/drawingml/2006/main">
            <a:defPPr algn="ctr">
              <a:defRPr sz="2025" b="1">
                <a:solidFill>
                  <a:srgbClr val="087F83"/>
                </a:solidFill>
                <a:latin typeface="Helvetica Neue"/>
                <a:ea typeface="Helvetica Neue"/>
                <a:cs typeface="Helvetica Neue"/>
              </a:defRPr>
            </a:defPPr>
          </a:lstStyle>
          <a:p xmlns:a="http://schemas.openxmlformats.org/drawingml/2006/main">
            <a:pPr algn="ctr">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Environment</a:t>
            </a:r>
          </a:p>
          <a:p xmlns:a="http://schemas.openxmlformats.org/drawingml/2006/main">
            <a:pPr algn="ctr">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Simulator or apparatus</a:t>
            </a:r>
          </a:p>
        </p:txBody>
      </p:sp>
      <p:sp>
        <p:nvSpPr>
          <p:cNvPr id="19" name="validated candidate heads">
            <a:extLst xmlns:a="http://schemas.openxmlformats.org/drawingml/2006/main">
              <a:ext uri="{FF2B5EF4-FFF2-40B4-BE49-F238E27FC236}">
                <a16:creationId xmlns:a16="http://schemas.microsoft.com/office/drawing/2014/main" id="{56EC5CE9-E111-4F5D-B49E-15763F1C22DC}"/>
              </a:ext>
            </a:extLst>
          </p:cNvPr>
          <p:cNvSpPr>
            <a:spLocks xmlns:a="http://schemas.openxmlformats.org/drawingml/2006/main" noGrp="1"/>
          </p:cNvSpPr>
          <p:nvPr/>
        </p:nvSpPr>
        <p:spPr>
          <a:xfrm xmlns:a="http://schemas.openxmlformats.org/drawingml/2006/main">
            <a:off x="3867150" y="2924175"/>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95435"/>
                </a:solidFill>
                <a:latin typeface="Helvetica Neue"/>
                <a:ea typeface="Helvetica Neue"/>
                <a:cs typeface="Helvetica Neue"/>
              </a:defRPr>
            </a:defPPr>
          </a:lstStyle>
          <a:p xmlns:a="http://schemas.openxmlformats.org/drawingml/2006/main">
            <a:pPr>
              <a:defRPr sz="1725" b="0">
                <a:solidFill>
                  <a:srgbClr val="B95435"/>
                </a:solidFill>
                <a:latin typeface="Helvetica Neue"/>
                <a:ea typeface="Helvetica Neue"/>
                <a:cs typeface="Helvetica Neue"/>
              </a:defRPr>
            </a:pPr>
            <a:r>
              <a:rPr sz="1725" b="0">
                <a:solidFill>
                  <a:srgbClr val="B95435"/>
                </a:solidFill>
                <a:latin typeface="Helvetica Neue"/>
                <a:ea typeface="Helvetica Neue"/>
                <a:cs typeface="Helvetica Neue"/>
              </a:rPr>
              <a:t>validated candidate heads</a:t>
            </a:r>
          </a:p>
        </p:txBody>
      </p:sp>
      <p:sp>
        <p:nvSpPr>
          <p:cNvPr id="22" name="predict +&#10;uncertainty">
            <a:extLst xmlns:a="http://schemas.openxmlformats.org/drawingml/2006/main">
              <a:ext uri="{FF2B5EF4-FFF2-40B4-BE49-F238E27FC236}">
                <a16:creationId xmlns:a16="http://schemas.microsoft.com/office/drawing/2014/main" id="{A43CB0FA-6640-4FDE-A2CC-8C82B7BC1055}"/>
              </a:ext>
            </a:extLst>
          </p:cNvPr>
          <p:cNvSpPr>
            <a:spLocks xmlns:a="http://schemas.openxmlformats.org/drawingml/2006/main" noGrp="1"/>
          </p:cNvSpPr>
          <p:nvPr/>
        </p:nvSpPr>
        <p:spPr>
          <a:xfrm xmlns:a="http://schemas.openxmlformats.org/drawingml/2006/main">
            <a:off x="3619500" y="3657600"/>
            <a:ext cx="106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predict +</a:t>
            </a:r>
          </a:p>
          <a:p xmlns:a="http://schemas.openxmlformats.org/drawingml/2006/main">
            <a:pPr>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uncertainty</a:t>
            </a:r>
          </a:p>
        </p:txBody>
      </p:sp>
      <p:sp>
        <p:nvSpPr>
          <p:cNvPr id="23" name="do(X = −1)">
            <a:extLst xmlns:a="http://schemas.openxmlformats.org/drawingml/2006/main">
              <a:ext uri="{FF2B5EF4-FFF2-40B4-BE49-F238E27FC236}">
                <a16:creationId xmlns:a16="http://schemas.microsoft.com/office/drawing/2014/main" id="{211F5331-DE5B-432A-9C5B-90C1A8BE8FE0}"/>
              </a:ext>
            </a:extLst>
          </p:cNvPr>
          <p:cNvSpPr>
            <a:spLocks xmlns:a="http://schemas.openxmlformats.org/drawingml/2006/main" noGrp="1"/>
          </p:cNvSpPr>
          <p:nvPr/>
        </p:nvSpPr>
        <p:spPr>
          <a:xfrm xmlns:a="http://schemas.openxmlformats.org/drawingml/2006/main">
            <a:off x="7448550" y="3800475"/>
            <a:ext cx="114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3"/>
                </a:solidFill>
                <a:latin typeface="Helvetica Neue"/>
                <a:ea typeface="Helvetica Neue"/>
                <a:cs typeface="Helvetica Neue"/>
              </a:defRPr>
            </a:defPPr>
          </a:lstStyle>
          <a:p xmlns:a="http://schemas.openxmlformats.org/drawingml/2006/main">
            <a:pPr>
              <a:defRPr sz="1575" b="1">
                <a:solidFill>
                  <a:srgbClr val="087F83"/>
                </a:solidFill>
                <a:latin typeface="Helvetica Neue"/>
                <a:ea typeface="Helvetica Neue"/>
                <a:cs typeface="Helvetica Neue"/>
              </a:defRPr>
            </a:pPr>
            <a:r>
              <a:rPr sz="1575" b="1">
                <a:solidFill>
                  <a:srgbClr val="087F83"/>
                </a:solidFill>
                <a:latin typeface="Helvetica Neue"/>
                <a:ea typeface="Helvetica Neue"/>
                <a:cs typeface="Helvetica Neue"/>
              </a:rPr>
              <a:t>do(X = −1)</a:t>
            </a:r>
          </a:p>
        </p:txBody>
      </p:sp>
      <p:sp>
        <p:nvSpPr>
          <p:cNvPr id="24" name="Observed X, M, Y">
            <a:extLst xmlns:a="http://schemas.openxmlformats.org/drawingml/2006/main">
              <a:ext uri="{FF2B5EF4-FFF2-40B4-BE49-F238E27FC236}">
                <a16:creationId xmlns:a16="http://schemas.microsoft.com/office/drawing/2014/main" id="{9F24E707-64AE-4E1D-9413-ECD14E851C3B}"/>
              </a:ext>
            </a:extLst>
          </p:cNvPr>
          <p:cNvSpPr>
            <a:spLocks xmlns:a="http://schemas.openxmlformats.org/drawingml/2006/main" noGrp="1"/>
          </p:cNvSpPr>
          <p:nvPr/>
        </p:nvSpPr>
        <p:spPr>
          <a:xfrm xmlns:a="http://schemas.openxmlformats.org/drawingml/2006/main">
            <a:off x="8601075" y="5381625"/>
            <a:ext cx="2933700" cy="590550"/>
          </a:xfrm>
          <a:prstGeom xmlns:a="http://schemas.openxmlformats.org/drawingml/2006/main" prst="rect">
            <a:avLst/>
          </a:prstGeom>
          <a:solidFill xmlns:a="http://schemas.openxmlformats.org/drawingml/2006/main">
            <a:srgbClr val="FAF8F3"/>
          </a:solidFill>
          <a:ln xmlns:a="http://schemas.openxmlformats.org/drawingml/2006/main" w="19050">
            <a:solidFill>
              <a:srgbClr val="087F83"/>
            </a:solidFill>
          </a:ln>
        </p:spPr>
        <p:txBody>
          <a:bodyPr xmlns:a="http://schemas.openxmlformats.org/drawingml/2006/main" lIns="114300" tIns="114300" rIns="114300" bIns="114300" anchor="ctr"/>
          <a:lstStyle xmlns:a="http://schemas.openxmlformats.org/drawingml/2006/main">
            <a:defPPr algn="ctr">
              <a:defRPr sz="1875" b="1">
                <a:solidFill>
                  <a:srgbClr val="087F83"/>
                </a:solidFill>
                <a:latin typeface="Helvetica Neue"/>
                <a:ea typeface="Helvetica Neue"/>
                <a:cs typeface="Helvetica Neue"/>
              </a:defRPr>
            </a:defPPr>
          </a:lstStyle>
          <a:p xmlns:a="http://schemas.openxmlformats.org/drawingml/2006/main">
            <a:pPr algn="ct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Observed X, M, Y</a:t>
            </a:r>
          </a:p>
        </p:txBody>
      </p:sp>
      <p:sp>
        <p:nvSpPr>
          <p:cNvPr id="25" name="Update natural mechanisms&#10;using measured parent values">
            <a:extLst xmlns:a="http://schemas.openxmlformats.org/drawingml/2006/main">
              <a:ext uri="{FF2B5EF4-FFF2-40B4-BE49-F238E27FC236}">
                <a16:creationId xmlns:a16="http://schemas.microsoft.com/office/drawing/2014/main" id="{93C4042C-7C2E-4101-874F-3467DFD57DF5}"/>
              </a:ext>
            </a:extLst>
          </p:cNvPr>
          <p:cNvSpPr>
            <a:spLocks xmlns:a="http://schemas.openxmlformats.org/drawingml/2006/main" noGrp="1"/>
          </p:cNvSpPr>
          <p:nvPr/>
        </p:nvSpPr>
        <p:spPr>
          <a:xfrm xmlns:a="http://schemas.openxmlformats.org/drawingml/2006/main">
            <a:off x="609600" y="5381625"/>
            <a:ext cx="5000625" cy="590550"/>
          </a:xfrm>
          <a:prstGeom xmlns:a="http://schemas.openxmlformats.org/drawingml/2006/main" prst="rect">
            <a:avLst/>
          </a:prstGeom>
          <a:solidFill xmlns:a="http://schemas.openxmlformats.org/drawingml/2006/main">
            <a:srgbClr val="FAF8F3"/>
          </a:solidFill>
          <a:ln xmlns:a="http://schemas.openxmlformats.org/drawingml/2006/main" w="19050">
            <a:solidFill>
              <a:srgbClr val="087F83"/>
            </a:solidFill>
          </a:ln>
        </p:spPr>
        <p:txBody>
          <a:bodyPr xmlns:a="http://schemas.openxmlformats.org/drawingml/2006/main" lIns="114300" tIns="114300" rIns="114300" bIns="114300" anchor="ctr"/>
          <a:lstStyle xmlns:a="http://schemas.openxmlformats.org/drawingml/2006/main">
            <a:defPPr algn="ctr">
              <a:defRPr sz="1800" b="1">
                <a:solidFill>
                  <a:srgbClr val="087F83"/>
                </a:solidFill>
                <a:latin typeface="Helvetica Neue"/>
                <a:ea typeface="Helvetica Neue"/>
                <a:cs typeface="Helvetica Neue"/>
              </a:defRPr>
            </a:defPPr>
          </a:lstStyle>
          <a:p xmlns:a="http://schemas.openxmlformats.org/drawingml/2006/main">
            <a:pPr algn="ct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Update natural mechanisms</a:t>
            </a:r>
          </a:p>
          <a:p xmlns:a="http://schemas.openxmlformats.org/drawingml/2006/main">
            <a:pPr algn="ct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using measured parent values</a:t>
            </a:r>
          </a:p>
        </p:txBody>
      </p:sp>
      <p:sp>
        <p:nvSpPr>
          <p:cNvPr id="29" name="one paid response">
            <a:extLst xmlns:a="http://schemas.openxmlformats.org/drawingml/2006/main">
              <a:ext uri="{FF2B5EF4-FFF2-40B4-BE49-F238E27FC236}">
                <a16:creationId xmlns:a16="http://schemas.microsoft.com/office/drawing/2014/main" id="{F50EE876-B4F9-48F7-8AC7-70963D9AE8E3}"/>
              </a:ext>
            </a:extLst>
          </p:cNvPr>
          <p:cNvSpPr>
            <a:spLocks xmlns:a="http://schemas.openxmlformats.org/drawingml/2006/main" noGrp="1"/>
          </p:cNvSpPr>
          <p:nvPr/>
        </p:nvSpPr>
        <p:spPr>
          <a:xfrm xmlns:a="http://schemas.openxmlformats.org/drawingml/2006/main">
            <a:off x="6096000" y="5238750"/>
            <a:ext cx="2343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one paid response</a:t>
            </a:r>
          </a:p>
        </p:txBody>
      </p:sp>
      <p:sp>
        <p:nvSpPr>
          <p:cNvPr id="30" name="Exclude the clamped mechanis">
            <a:extLst xmlns:a="http://schemas.openxmlformats.org/drawingml/2006/main">
              <a:ext uri="{FF2B5EF4-FFF2-40B4-BE49-F238E27FC236}">
                <a16:creationId xmlns:a16="http://schemas.microsoft.com/office/drawing/2014/main" id="{8AB8EEAB-D314-46B2-9D24-6ED08B90790E}"/>
              </a:ext>
            </a:extLst>
          </p:cNvPr>
          <p:cNvSpPr>
            <a:spLocks xmlns:a="http://schemas.openxmlformats.org/drawingml/2006/main" noGrp="1"/>
          </p:cNvSpPr>
          <p:nvPr/>
        </p:nvSpPr>
        <p:spPr>
          <a:xfrm xmlns:a="http://schemas.openxmlformats.org/drawingml/2006/main">
            <a:off x="609600" y="61817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Exclude the clamped mechanism. Stop when the budget ends. Measured curves use the neural SCM loop.</a:t>
            </a:r>
          </a:p>
        </p:txBody>
      </p:sp>
    </p:spTree>
    <p:extLst>
      <p:ext uri="{BB962C8B-B14F-4D97-AF65-F5344CB8AC3E}">
        <p14:creationId xmlns:p14="http://schemas.microsoft.com/office/powerpoint/2010/main" val="640855308"/>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A627B93-918D-4368-AE22-C3E676291A9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Exact inputs to the three-node demonstration</a:t>
            </a:r>
          </a:p>
        </p:txBody>
      </p:sp>
      <p:sp>
        <p:nvSpPr>
          <p:cNvPr id="2" name="page">
            <a:extLst xmlns:a="http://schemas.openxmlformats.org/drawingml/2006/main">
              <a:ext uri="{FF2B5EF4-FFF2-40B4-BE49-F238E27FC236}">
                <a16:creationId xmlns:a16="http://schemas.microsoft.com/office/drawing/2014/main" id="{4DCDD56B-8C9A-4CA3-A13D-9F13F6A41FCA}"/>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07</a:t>
            </a:r>
          </a:p>
        </p:txBody>
      </p:sp>
      <p:graphicFrame>
        <p:nvGraphicFramePr>
          <p:cNvPr id="3" name="">
            <a:extLst xmlns:a="http://schemas.openxmlformats.org/drawingml/2006/main">
              <a:ext uri="{FF2B5EF4-FFF2-40B4-BE49-F238E27FC236}">
                <a16:creationId xmlns:a16="http://schemas.microsoft.com/office/drawing/2014/main" id="{AD3DD41E-DBA6-44DD-BCCF-33D91C689FF9}"/>
              </a:ext>
            </a:extLst>
          </p:cNvPr>
          <p:cNvGraphicFramePr/>
          <p:nvPr/>
        </p:nvGraphicFramePr>
        <p:xfrm>
          <a:off xmlns:a="http://schemas.openxmlformats.org/drawingml/2006/main" x="609600" y="1552575"/>
          <a:ext xmlns:a="http://schemas.openxmlformats.org/drawingml/2006/main" cx="10820400" cy="2057400"/>
        </p:xfrm>
        <a:graphic xmlns:a="http://schemas.openxmlformats.org/drawingml/2006/main">
          <a:graphicData uri="http://schemas.openxmlformats.org/drawingml/2006/table">
            <a:tbl>
              <a:tblPr firstRow="0" bandRow="0"/>
              <a:tblGrid>
                <a:gridCol w="3286125"/>
                <a:gridCol w="3190875"/>
                <a:gridCol w="4343400"/>
              </a:tblGrid>
              <a:tr h="685800">
                <a:tc>
                  <a:txBody>
                    <a:bodyPr lIns="95250" tIns="95250" rIns="95250" bIns="95250"/>
                    <a:lstStyle/>
                    <a:p>
                      <a:r>
                        <a:rPr sz="2025" b="1">
                          <a:solidFill>
                            <a:srgbClr val="FFFFFF"/>
                          </a:solidFill>
                          <a:latin typeface="Helvetica Neue"/>
                          <a:ea typeface="Helvetica Neue"/>
                          <a:cs typeface="Helvetica Neue"/>
                        </a:rPr>
                        <a:t>Mechanism</a:t>
                      </a:r>
                    </a:p>
                  </a:txBody>
                  <a:tcPr marL="91440" marR="91440" marT="45720" marB="45720">
                    <a:solidFill>
                      <a:srgbClr val="112B36"/>
                    </a:solidFill>
                  </a:tcPr>
                </a:tc>
                <a:tc>
                  <a:txBody>
                    <a:bodyPr lIns="95250" tIns="95250" rIns="95250" bIns="95250"/>
                    <a:lstStyle/>
                    <a:p>
                      <a:r>
                        <a:rPr sz="2025" b="1">
                          <a:solidFill>
                            <a:srgbClr val="FFFFFF"/>
                          </a:solidFill>
                          <a:latin typeface="Helvetica Neue"/>
                          <a:ea typeface="Helvetica Neue"/>
                          <a:cs typeface="Helvetica Neue"/>
                        </a:rPr>
                        <a:t>Member slopes</a:t>
                      </a:r>
                    </a:p>
                  </a:txBody>
                  <a:tcPr marL="91440" marR="91440" marT="45720" marB="45720">
                    <a:solidFill>
                      <a:srgbClr val="112B36"/>
                    </a:solidFill>
                  </a:tcPr>
                </a:tc>
                <a:tc>
                  <a:txBody>
                    <a:bodyPr lIns="95250" tIns="95250" rIns="95250" bIns="95250"/>
                    <a:lstStyle/>
                    <a:p>
                      <a:r>
                        <a:rPr sz="2025" b="1">
                          <a:solidFill>
                            <a:srgbClr val="FFFFFF"/>
                          </a:solidFill>
                          <a:latin typeface="Helvetica Neue"/>
                          <a:ea typeface="Helvetica Neue"/>
                          <a:cs typeface="Helvetica Neue"/>
                        </a:rPr>
                        <a:t>Mean prediction</a:t>
                      </a:r>
                    </a:p>
                  </a:txBody>
                  <a:tcPr marL="91440" marR="91440" marT="45720" marB="45720">
                    <a:solidFill>
                      <a:srgbClr val="112B36"/>
                    </a:solidFill>
                  </a:tcPr>
                </a:tc>
              </a:tr>
              <a:tr h="685800">
                <a:tc>
                  <a:txBody>
                    <a:bodyPr lIns="95250" tIns="95250" rIns="95250" bIns="95250"/>
                    <a:lstStyle/>
                    <a:p>
                      <a:r>
                        <a:rPr sz="2175" b="0">
                          <a:solidFill>
                            <a:srgbClr val="16313A"/>
                          </a:solidFill>
                          <a:latin typeface="Helvetica Neue"/>
                          <a:ea typeface="Helvetica Neue"/>
                          <a:cs typeface="Helvetica Neue"/>
                        </a:rPr>
                        <a:t>M from X</a:t>
                      </a:r>
                    </a:p>
                  </a:txBody>
                  <a:tcPr marL="91440" marR="91440" marT="45720" marB="45720">
                    <a:solidFill>
                      <a:srgbClr val="EDF3EF"/>
                    </a:solidFill>
                  </a:tcPr>
                </a:tc>
                <a:tc>
                  <a:txBody>
                    <a:bodyPr lIns="95250" tIns="95250" rIns="95250" bIns="95250"/>
                    <a:lstStyle/>
                    <a:p>
                      <a:r>
                        <a:rPr sz="2175" b="0">
                          <a:solidFill>
                            <a:srgbClr val="16313A"/>
                          </a:solidFill>
                          <a:latin typeface="Helvetica Neue"/>
                          <a:ea typeface="Helvetica Neue"/>
                          <a:cs typeface="Helvetica Neue"/>
                        </a:rPr>
                        <a:t>1, 2, 3</a:t>
                      </a:r>
                    </a:p>
                  </a:txBody>
                  <a:tcPr marL="91440" marR="91440" marT="45720" marB="45720">
                    <a:solidFill>
                      <a:srgbClr val="EDF3EF"/>
                    </a:solidFill>
                  </a:tcPr>
                </a:tc>
                <a:tc>
                  <a:txBody>
                    <a:bodyPr lIns="95250" tIns="95250" rIns="95250" bIns="95250"/>
                    <a:lstStyle/>
                    <a:p>
                      <a:r>
                        <a:rPr sz="2175" b="0">
                          <a:solidFill>
                            <a:srgbClr val="16313A"/>
                          </a:solidFill>
                          <a:latin typeface="Helvetica Neue"/>
                          <a:ea typeface="Helvetica Neue"/>
                          <a:cs typeface="Helvetica Neue"/>
                        </a:rPr>
                        <a:t>M̂ = 2X</a:t>
                      </a:r>
                    </a:p>
                  </a:txBody>
                  <a:tcPr marL="91440" marR="91440" marT="45720" marB="45720">
                    <a:solidFill>
                      <a:srgbClr val="EDF3EF"/>
                    </a:solidFill>
                  </a:tcPr>
                </a:tc>
              </a:tr>
              <a:tr h="685800">
                <a:tc>
                  <a:txBody>
                    <a:bodyPr lIns="95250" tIns="95250" rIns="95250" bIns="95250"/>
                    <a:lstStyle/>
                    <a:p>
                      <a:r>
                        <a:rPr sz="2175" b="0">
                          <a:solidFill>
                            <a:srgbClr val="16313A"/>
                          </a:solidFill>
                          <a:latin typeface="Helvetica Neue"/>
                          <a:ea typeface="Helvetica Neue"/>
                          <a:cs typeface="Helvetica Neue"/>
                        </a:rPr>
                        <a:t>Y from M</a:t>
                      </a:r>
                    </a:p>
                  </a:txBody>
                  <a:tcPr marL="91440" marR="91440" marT="45720" marB="45720">
                    <a:solidFill>
                      <a:srgbClr val="FAF8F3"/>
                    </a:solidFill>
                  </a:tcPr>
                </a:tc>
                <a:tc>
                  <a:txBody>
                    <a:bodyPr lIns="95250" tIns="95250" rIns="95250" bIns="95250"/>
                    <a:lstStyle/>
                    <a:p>
                      <a:r>
                        <a:rPr sz="2175" b="0">
                          <a:solidFill>
                            <a:srgbClr val="16313A"/>
                          </a:solidFill>
                          <a:latin typeface="Helvetica Neue"/>
                          <a:ea typeface="Helvetica Neue"/>
                          <a:cs typeface="Helvetica Neue"/>
                        </a:rPr>
                        <a:t>2, 3, 4</a:t>
                      </a:r>
                    </a:p>
                  </a:txBody>
                  <a:tcPr marL="91440" marR="91440" marT="45720" marB="45720">
                    <a:solidFill>
                      <a:srgbClr val="FAF8F3"/>
                    </a:solidFill>
                  </a:tcPr>
                </a:tc>
                <a:tc>
                  <a:txBody>
                    <a:bodyPr lIns="95250" tIns="95250" rIns="95250" bIns="95250"/>
                    <a:lstStyle/>
                    <a:p>
                      <a:r>
                        <a:rPr sz="2175" b="0">
                          <a:solidFill>
                            <a:srgbClr val="16313A"/>
                          </a:solidFill>
                          <a:latin typeface="Helvetica Neue"/>
                          <a:ea typeface="Helvetica Neue"/>
                          <a:cs typeface="Helvetica Neue"/>
                        </a:rPr>
                        <a:t>Ŷ = 3M</a:t>
                      </a:r>
                    </a:p>
                  </a:txBody>
                  <a:tcPr marL="91440" marR="91440" marT="45720" marB="45720">
                    <a:solidFill>
                      <a:srgbClr val="FAF8F3"/>
                    </a:solidFill>
                  </a:tcPr>
                </a:tc>
              </a:tr>
            </a:tbl>
          </a:graphicData>
        </a:graphic>
      </p:graphicFrame>
      <p:sp>
        <p:nvSpPr>
          <p:cNvPr id="4" name="Actions: clamp X or M to −1,">
            <a:extLst xmlns:a="http://schemas.openxmlformats.org/drawingml/2006/main">
              <a:ext uri="{FF2B5EF4-FFF2-40B4-BE49-F238E27FC236}">
                <a16:creationId xmlns:a16="http://schemas.microsoft.com/office/drawing/2014/main" id="{F1A90D83-1C7B-4D11-B5E7-66E73A2E44CE}"/>
              </a:ext>
            </a:extLst>
          </p:cNvPr>
          <p:cNvSpPr>
            <a:spLocks xmlns:a="http://schemas.openxmlformats.org/drawingml/2006/main" noGrp="1"/>
          </p:cNvSpPr>
          <p:nvPr/>
        </p:nvSpPr>
        <p:spPr>
          <a:xfrm xmlns:a="http://schemas.openxmlformats.org/drawingml/2006/main">
            <a:off x="609600" y="4076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87F83"/>
                </a:solidFill>
                <a:latin typeface="Helvetica Neue"/>
                <a:ea typeface="Helvetica Neue"/>
                <a:cs typeface="Helvetica Neue"/>
              </a:defRPr>
            </a:defPPr>
          </a:lstStyle>
          <a:p xmlns:a="http://schemas.openxmlformats.org/drawingml/2006/main">
            <a:pPr>
              <a:buNone/>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Actions: clamp X or M to −1, 0 or +1</a:t>
            </a:r>
          </a:p>
        </p:txBody>
      </p:sp>
      <p:sp>
        <p:nvSpPr>
          <p:cNvPr id="5" name="References: −1, 0, +1     No">
            <a:extLst xmlns:a="http://schemas.openxmlformats.org/drawingml/2006/main">
              <a:ext uri="{FF2B5EF4-FFF2-40B4-BE49-F238E27FC236}">
                <a16:creationId xmlns:a16="http://schemas.microsoft.com/office/drawing/2014/main" id="{5A595FF1-3549-4521-A103-FD2DC66F99E6}"/>
              </a:ext>
            </a:extLst>
          </p:cNvPr>
          <p:cNvSpPr>
            <a:spLocks xmlns:a="http://schemas.openxmlformats.org/drawingml/2006/main" noGrp="1"/>
          </p:cNvSpPr>
          <p:nvPr/>
        </p:nvSpPr>
        <p:spPr>
          <a:xfrm xmlns:a="http://schemas.openxmlformats.org/drawingml/2006/main">
            <a:off x="6096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References: −1, 0, +1     Noise proxy: 0.05</a:t>
            </a:r>
          </a:p>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Budget: one response     Ties: first action in the list</a:t>
            </a:r>
          </a:p>
        </p:txBody>
      </p:sp>
      <p:sp>
        <p:nvSpPr>
          <p:cNvPr id="6" name="Simplified linear ensemble ·">
            <a:extLst xmlns:a="http://schemas.openxmlformats.org/drawingml/2006/main">
              <a:ext uri="{FF2B5EF4-FFF2-40B4-BE49-F238E27FC236}">
                <a16:creationId xmlns:a16="http://schemas.microsoft.com/office/drawing/2014/main" id="{BF7E5487-AC87-493D-BA1D-BBC9298EA17F}"/>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Simplified linear ensemble · six candidate actions · one response budget</a:t>
            </a:r>
          </a:p>
        </p:txBody>
      </p:sp>
    </p:spTree>
    <p:extLst>
      <p:ext uri="{BB962C8B-B14F-4D97-AF65-F5344CB8AC3E}">
        <p14:creationId xmlns:p14="http://schemas.microsoft.com/office/powerpoint/2010/main" val="906713139"/>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5C50A4C-5E4A-43BC-B348-E3DDE480929C}"/>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The score selects do(X = −1)</a:t>
            </a:r>
          </a:p>
        </p:txBody>
      </p:sp>
      <p:sp>
        <p:nvSpPr>
          <p:cNvPr id="2" name="page">
            <a:extLst xmlns:a="http://schemas.openxmlformats.org/drawingml/2006/main">
              <a:ext uri="{FF2B5EF4-FFF2-40B4-BE49-F238E27FC236}">
                <a16:creationId xmlns:a16="http://schemas.microsoft.com/office/drawing/2014/main" id="{9A395380-286F-4858-9B9F-8C152ED6FF20}"/>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21ED798D-2605-4CCE-A728-A6CED0A0851C}"/>
              </a:ext>
            </a:extLst>
          </p:cNvPr>
          <p:cNvGraphicFramePr/>
          <p:nvPr/>
        </p:nvGraphicFramePr>
        <p:xfrm>
          <a:off xmlns:a="http://schemas.openxmlformats.org/drawingml/2006/main" x="609600" y="1552575"/>
          <a:ext xmlns:a="http://schemas.openxmlformats.org/drawingml/2006/main" cx="10820400" cy="3600450"/>
        </p:xfrm>
        <a:graphic xmlns:a="http://schemas.openxmlformats.org/drawingml/2006/main">
          <a:graphicData uri="http://schemas.openxmlformats.org/drawingml/2006/table">
            <a:tbl>
              <a:tblPr firstRow="0" bandRow="0"/>
              <a:tblGrid>
                <a:gridCol w="3238500"/>
                <a:gridCol w="2533650"/>
                <a:gridCol w="2533650"/>
                <a:gridCol w="2514600"/>
              </a:tblGrid>
              <a:tr h="514350">
                <a:tc>
                  <a:txBody>
                    <a:bodyPr lIns="95250" tIns="95250" rIns="95250" bIns="95250"/>
                    <a:lstStyle/>
                    <a:p>
                      <a:r>
                        <a:rPr sz="1725" b="1">
                          <a:solidFill>
                            <a:srgbClr val="FFFFFF"/>
                          </a:solidFill>
                          <a:latin typeface="Helvetica Neue"/>
                          <a:ea typeface="Helvetica Neue"/>
                          <a:cs typeface="Helvetica Neue"/>
                        </a:rPr>
                        <a:t>Intervention</a:t>
                      </a:r>
                    </a:p>
                  </a:txBody>
                  <a:tcPr marL="91440" marR="91440" marT="45720" marB="45720">
                    <a:solidFill>
                      <a:srgbClr val="112B36"/>
                    </a:solidFill>
                  </a:tcPr>
                </a:tc>
                <a:tc>
                  <a:txBody>
                    <a:bodyPr lIns="95250" tIns="95250" rIns="95250" bIns="95250"/>
                    <a:lstStyle/>
                    <a:p>
                      <a:r>
                        <a:rPr sz="1725" b="1">
                          <a:solidFill>
                            <a:srgbClr val="FFFFFF"/>
                          </a:solidFill>
                          <a:latin typeface="Helvetica Neue"/>
                          <a:ea typeface="Helvetica Neue"/>
                          <a:cs typeface="Helvetica Neue"/>
                        </a:rPr>
                        <a:t>M contribution</a:t>
                      </a:r>
                    </a:p>
                  </a:txBody>
                  <a:tcPr marL="91440" marR="91440" marT="45720" marB="45720">
                    <a:solidFill>
                      <a:srgbClr val="112B36"/>
                    </a:solidFill>
                  </a:tcPr>
                </a:tc>
                <a:tc>
                  <a:txBody>
                    <a:bodyPr lIns="95250" tIns="95250" rIns="95250" bIns="95250"/>
                    <a:lstStyle/>
                    <a:p>
                      <a:r>
                        <a:rPr sz="1725" b="1">
                          <a:solidFill>
                            <a:srgbClr val="FFFFFF"/>
                          </a:solidFill>
                          <a:latin typeface="Helvetica Neue"/>
                          <a:ea typeface="Helvetica Neue"/>
                          <a:cs typeface="Helvetica Neue"/>
                        </a:rPr>
                        <a:t>Y contribution</a:t>
                      </a:r>
                    </a:p>
                  </a:txBody>
                  <a:tcPr marL="91440" marR="91440" marT="45720" marB="45720">
                    <a:solidFill>
                      <a:srgbClr val="112B36"/>
                    </a:solidFill>
                  </a:tcPr>
                </a:tc>
                <a:tc>
                  <a:txBody>
                    <a:bodyPr lIns="95250" tIns="95250" rIns="95250" bIns="95250"/>
                    <a:lstStyle/>
                    <a:p>
                      <a:r>
                        <a:rPr sz="1725" b="1">
                          <a:solidFill>
                            <a:srgbClr val="FFFFFF"/>
                          </a:solidFill>
                          <a:latin typeface="Helvetica Neue"/>
                          <a:ea typeface="Helvetica Neue"/>
                          <a:cs typeface="Helvetica Neue"/>
                        </a:rPr>
                        <a:t>Total</a:t>
                      </a:r>
                    </a:p>
                  </a:txBody>
                  <a:tcPr marL="91440" marR="91440" marT="45720" marB="45720">
                    <a:solidFill>
                      <a:srgbClr val="112B36"/>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EDF3EF"/>
                    </a:solidFill>
                  </a:tcPr>
                </a:tc>
              </a:tr>
              <a:tr h="514350">
                <a:tc>
                  <a:txBody>
                    <a:bodyPr lIns="95250" tIns="95250" rIns="95250" bIns="95250"/>
                    <a:lstStyle/>
                    <a:p>
                      <a:r>
                        <a:rPr sz="1875" b="0">
                          <a:solidFill>
                            <a:srgbClr val="16313A"/>
                          </a:solidFill>
                          <a:latin typeface="Helvetica Neue"/>
                          <a:ea typeface="Helvetica Neue"/>
                          <a:cs typeface="Helvetica Neue"/>
                        </a:rPr>
                        <a:t>do(X = 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EDF3EF"/>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do(M = 0)</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EDF3E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EDF3EF"/>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r>
            </a:tbl>
          </a:graphicData>
        </a:graphic>
      </p:graphicFrame>
      <p:sp>
        <p:nvSpPr>
          <p:cNvPr id="4" name="Selected prediction: M̂ = −2">
            <a:extLst xmlns:a="http://schemas.openxmlformats.org/drawingml/2006/main">
              <a:ext uri="{FF2B5EF4-FFF2-40B4-BE49-F238E27FC236}">
                <a16:creationId xmlns:a16="http://schemas.microsoft.com/office/drawing/2014/main" id="{51351594-E107-497E-AC21-C5DF7F2442F1}"/>
              </a:ext>
            </a:extLst>
          </p:cNvPr>
          <p:cNvSpPr>
            <a:spLocks xmlns:a="http://schemas.openxmlformats.org/drawingml/2006/main" noGrp="1"/>
          </p:cNvSpPr>
          <p:nvPr/>
        </p:nvSpPr>
        <p:spPr>
          <a:xfrm xmlns:a="http://schemas.openxmlformats.org/drawingml/2006/main">
            <a:off x="609600" y="532447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buNone/>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Selected prediction: M̂ = −2,  Ŷ = −6</a:t>
            </a:r>
          </a:p>
        </p:txBody>
      </p:sp>
      <p:sp>
        <p:nvSpPr>
          <p:cNvPr id="5" name="Score contribution: mean Cov">
            <a:extLst xmlns:a="http://schemas.openxmlformats.org/drawingml/2006/main">
              <a:ext uri="{FF2B5EF4-FFF2-40B4-BE49-F238E27FC236}">
                <a16:creationId xmlns:a16="http://schemas.microsoft.com/office/drawing/2014/main" id="{2DA0E289-BA82-4A28-9BBB-C3999A89D68E}"/>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Score contribution: mean Cov² / (Variance + noise proxy) · tied actions follow the declared order</a:t>
            </a:r>
          </a:p>
        </p:txBody>
      </p:sp>
    </p:spTree>
    <p:extLst>
      <p:ext uri="{BB962C8B-B14F-4D97-AF65-F5344CB8AC3E}">
        <p14:creationId xmlns:p14="http://schemas.microsoft.com/office/powerpoint/2010/main" val="2042537614"/>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B0D20CA-C66A-4307-AF27-7E3AA2DB212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The response updates eligible mechanisms</a:t>
            </a:r>
          </a:p>
        </p:txBody>
      </p:sp>
      <p:sp>
        <p:nvSpPr>
          <p:cNvPr id="2" name="page">
            <a:extLst xmlns:a="http://schemas.openxmlformats.org/drawingml/2006/main">
              <a:ext uri="{FF2B5EF4-FFF2-40B4-BE49-F238E27FC236}">
                <a16:creationId xmlns:a16="http://schemas.microsoft.com/office/drawing/2014/main" id="{1B704EDA-3B72-42A2-A6B7-3A9B94D6F31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09</a:t>
            </a:r>
          </a:p>
        </p:txBody>
      </p:sp>
      <p:sp>
        <p:nvSpPr>
          <p:cNvPr id="3" name="Observed row: X = −1, M = −2">
            <a:extLst xmlns:a="http://schemas.openxmlformats.org/drawingml/2006/main">
              <a:ext uri="{FF2B5EF4-FFF2-40B4-BE49-F238E27FC236}">
                <a16:creationId xmlns:a16="http://schemas.microsoft.com/office/drawing/2014/main" id="{021F85B7-16ED-497C-B015-9DC3D8C64556}"/>
              </a:ext>
            </a:extLst>
          </p:cNvPr>
          <p:cNvSpPr>
            <a:spLocks xmlns:a="http://schemas.openxmlformats.org/drawingml/2006/main" noGrp="1"/>
          </p:cNvSpPr>
          <p:nvPr/>
        </p:nvSpPr>
        <p:spPr>
          <a:xfrm xmlns:a="http://schemas.openxmlformats.org/drawingml/2006/main">
            <a:off x="609600" y="15430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87F83"/>
                </a:solidFill>
                <a:latin typeface="Helvetica Neue"/>
                <a:ea typeface="Helvetica Neue"/>
                <a:cs typeface="Helvetica Neue"/>
              </a:defRPr>
            </a:defPPr>
          </a:lstStyle>
          <a:p xmlns:a="http://schemas.openxmlformats.org/drawingml/2006/main">
            <a:pPr>
              <a:buNone/>
              <a:defRPr sz="2775" b="1">
                <a:solidFill>
                  <a:srgbClr val="087F83"/>
                </a:solidFill>
                <a:latin typeface="Helvetica Neue"/>
                <a:ea typeface="Helvetica Neue"/>
                <a:cs typeface="Helvetica Neue"/>
              </a:defRPr>
            </a:pPr>
            <a:r>
              <a:rPr sz="2775" b="1">
                <a:solidFill>
                  <a:srgbClr val="087F83"/>
                </a:solidFill>
                <a:latin typeface="Helvetica Neue"/>
                <a:ea typeface="Helvetica Neue"/>
                <a:cs typeface="Helvetica Neue"/>
              </a:rPr>
              <a:t>Observed row: X = −1, M = −2.5, Y = −7.5</a:t>
            </a:r>
          </a:p>
        </p:txBody>
      </p:sp>
      <p:graphicFrame>
        <p:nvGraphicFramePr>
          <p:cNvPr id="4" name="">
            <a:extLst xmlns:a="http://schemas.openxmlformats.org/drawingml/2006/main">
              <a:ext uri="{FF2B5EF4-FFF2-40B4-BE49-F238E27FC236}">
                <a16:creationId xmlns:a16="http://schemas.microsoft.com/office/drawing/2014/main" id="{D65ECC0F-C4FA-4743-B4BE-44A8B5E83474}"/>
              </a:ext>
            </a:extLst>
          </p:cNvPr>
          <p:cNvGraphicFramePr/>
          <p:nvPr/>
        </p:nvGraphicFramePr>
        <p:xfrm>
          <a:off xmlns:a="http://schemas.openxmlformats.org/drawingml/2006/main" x="609600" y="2419350"/>
          <a:ext xmlns:a="http://schemas.openxmlformats.org/drawingml/2006/main" cx="10820400" cy="1943100"/>
        </p:xfrm>
        <a:graphic xmlns:a="http://schemas.openxmlformats.org/drawingml/2006/main">
          <a:graphicData uri="http://schemas.openxmlformats.org/drawingml/2006/table">
            <a:tbl>
              <a:tblPr firstRow="0" bandRow="0"/>
              <a:tblGrid>
                <a:gridCol w="3333750"/>
                <a:gridCol w="3771900"/>
                <a:gridCol w="3714750"/>
              </a:tblGrid>
              <a:tr h="647700">
                <a:tc>
                  <a:txBody>
                    <a:bodyPr lIns="95250" tIns="95250" rIns="95250" bIns="95250"/>
                    <a:lstStyle/>
                    <a:p>
                      <a:r>
                        <a:rPr sz="1950" b="1">
                          <a:solidFill>
                            <a:srgbClr val="FFFFFF"/>
                          </a:solidFill>
                          <a:latin typeface="Helvetica Neue"/>
                          <a:ea typeface="Helvetica Neue"/>
                          <a:cs typeface="Helvetica Neue"/>
                        </a:rPr>
                        <a:t>Natural mechanism</a:t>
                      </a:r>
                    </a:p>
                  </a:txBody>
                  <a:tcPr marL="91440" marR="91440" marT="45720" marB="45720">
                    <a:solidFill>
                      <a:srgbClr val="112B36"/>
                    </a:solidFill>
                  </a:tcPr>
                </a:tc>
                <a:tc>
                  <a:txBody>
                    <a:bodyPr lIns="95250" tIns="95250" rIns="95250" bIns="95250"/>
                    <a:lstStyle/>
                    <a:p>
                      <a:r>
                        <a:rPr sz="1950" b="1">
                          <a:solidFill>
                            <a:srgbClr val="FFFFFF"/>
                          </a:solidFill>
                          <a:latin typeface="Helvetica Neue"/>
                          <a:ea typeface="Helvetica Neue"/>
                          <a:cs typeface="Helvetica Neue"/>
                        </a:rPr>
                        <a:t>Training input</a:t>
                      </a:r>
                    </a:p>
                  </a:txBody>
                  <a:tcPr marL="91440" marR="91440" marT="45720" marB="45720">
                    <a:solidFill>
                      <a:srgbClr val="112B36"/>
                    </a:solidFill>
                  </a:tcPr>
                </a:tc>
                <a:tc>
                  <a:txBody>
                    <a:bodyPr lIns="95250" tIns="95250" rIns="95250" bIns="95250"/>
                    <a:lstStyle/>
                    <a:p>
                      <a:r>
                        <a:rPr sz="1950" b="1">
                          <a:solidFill>
                            <a:srgbClr val="FFFFFF"/>
                          </a:solidFill>
                          <a:latin typeface="Helvetica Neue"/>
                          <a:ea typeface="Helvetica Neue"/>
                          <a:cs typeface="Helvetica Neue"/>
                        </a:rPr>
                        <a:t>Training label</a:t>
                      </a:r>
                    </a:p>
                  </a:txBody>
                  <a:tcPr marL="91440" marR="91440" marT="45720" marB="45720">
                    <a:solidFill>
                      <a:srgbClr val="112B36"/>
                    </a:solidFill>
                  </a:tcPr>
                </a:tc>
              </a:tr>
              <a:tr h="647700">
                <a:tc>
                  <a:txBody>
                    <a:bodyPr lIns="95250" tIns="95250" rIns="95250" bIns="95250"/>
                    <a:lstStyle/>
                    <a:p>
                      <a:r>
                        <a:rPr sz="2100" b="0">
                          <a:solidFill>
                            <a:srgbClr val="16313A"/>
                          </a:solidFill>
                          <a:latin typeface="Helvetica Neue"/>
                          <a:ea typeface="Helvetica Neue"/>
                          <a:cs typeface="Helvetica Neue"/>
                        </a:rPr>
                        <a:t>M</a:t>
                      </a:r>
                    </a:p>
                  </a:txBody>
                  <a:tcPr marL="91440" marR="91440" marT="45720" marB="45720">
                    <a:solidFill>
                      <a:srgbClr val="EDF3EF"/>
                    </a:solidFill>
                  </a:tcPr>
                </a:tc>
                <a:tc>
                  <a:txBody>
                    <a:bodyPr lIns="95250" tIns="95250" rIns="95250" bIns="95250"/>
                    <a:lstStyle/>
                    <a:p>
                      <a:r>
                        <a:rPr sz="2100" b="0">
                          <a:solidFill>
                            <a:srgbClr val="16313A"/>
                          </a:solidFill>
                          <a:latin typeface="Helvetica Neue"/>
                          <a:ea typeface="Helvetica Neue"/>
                          <a:cs typeface="Helvetica Neue"/>
                        </a:rPr>
                        <a:t>Measured X = −1</a:t>
                      </a:r>
                    </a:p>
                  </a:txBody>
                  <a:tcPr marL="91440" marR="91440" marT="45720" marB="45720">
                    <a:solidFill>
                      <a:srgbClr val="EDF3EF"/>
                    </a:solidFill>
                  </a:tcPr>
                </a:tc>
                <a:tc>
                  <a:txBody>
                    <a:bodyPr lIns="95250" tIns="95250" rIns="95250" bIns="95250"/>
                    <a:lstStyle/>
                    <a:p>
                      <a:r>
                        <a:rPr sz="2100" b="0">
                          <a:solidFill>
                            <a:srgbClr val="16313A"/>
                          </a:solidFill>
                          <a:latin typeface="Helvetica Neue"/>
                          <a:ea typeface="Helvetica Neue"/>
                          <a:cs typeface="Helvetica Neue"/>
                        </a:rPr>
                        <a:t>M = −2.5</a:t>
                      </a:r>
                    </a:p>
                  </a:txBody>
                  <a:tcPr marL="91440" marR="91440" marT="45720" marB="45720">
                    <a:solidFill>
                      <a:srgbClr val="EDF3EF"/>
                    </a:solidFill>
                  </a:tcPr>
                </a:tc>
              </a:tr>
              <a:tr h="647700">
                <a:tc>
                  <a:txBody>
                    <a:bodyPr lIns="95250" tIns="95250" rIns="95250" bIns="95250"/>
                    <a:lstStyle/>
                    <a:p>
                      <a:r>
                        <a:rPr sz="2100" b="0">
                          <a:solidFill>
                            <a:srgbClr val="16313A"/>
                          </a:solidFill>
                          <a:latin typeface="Helvetica Neue"/>
                          <a:ea typeface="Helvetica Neue"/>
                          <a:cs typeface="Helvetica Neue"/>
                        </a:rPr>
                        <a:t>Y</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Measured M = −2.5</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Y = −7.5</a:t>
                      </a:r>
                    </a:p>
                  </a:txBody>
                  <a:tcPr marL="91440" marR="91440" marT="45720" marB="45720">
                    <a:solidFill>
                      <a:srgbClr val="FAF8F3"/>
                    </a:solidFill>
                  </a:tcPr>
                </a:tc>
              </a:tr>
            </a:tbl>
          </a:graphicData>
        </a:graphic>
      </p:graphicFrame>
      <p:sp>
        <p:nvSpPr>
          <p:cNvPr id="5" name="After one illustrative gradi">
            <a:extLst xmlns:a="http://schemas.openxmlformats.org/drawingml/2006/main">
              <a:ext uri="{FF2B5EF4-FFF2-40B4-BE49-F238E27FC236}">
                <a16:creationId xmlns:a16="http://schemas.microsoft.com/office/drawing/2014/main" id="{2ECBFE91-AE06-4B2C-B862-F546B08533F8}"/>
              </a:ext>
            </a:extLst>
          </p:cNvPr>
          <p:cNvSpPr>
            <a:spLocks xmlns:a="http://schemas.openxmlformats.org/drawingml/2006/main" noGrp="1"/>
          </p:cNvSpPr>
          <p:nvPr/>
        </p:nvSpPr>
        <p:spPr>
          <a:xfrm xmlns:a="http://schemas.openxmlformats.org/drawingml/2006/main">
            <a:off x="609600" y="46767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buNone/>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After one illustrative gradient update</a:t>
            </a:r>
          </a:p>
        </p:txBody>
      </p:sp>
      <p:sp>
        <p:nvSpPr>
          <p:cNvPr id="6" name="M̂ = −2.25       Ŷ = −6.75  ">
            <a:extLst xmlns:a="http://schemas.openxmlformats.org/drawingml/2006/main">
              <a:ext uri="{FF2B5EF4-FFF2-40B4-BE49-F238E27FC236}">
                <a16:creationId xmlns:a16="http://schemas.microsoft.com/office/drawing/2014/main" id="{68FCEA35-9884-409D-BD37-FDAD1F309CE3}"/>
              </a:ext>
            </a:extLst>
          </p:cNvPr>
          <p:cNvSpPr>
            <a:spLocks xmlns:a="http://schemas.openxmlformats.org/drawingml/2006/main" noGrp="1"/>
          </p:cNvSpPr>
          <p:nvPr/>
        </p:nvSpPr>
        <p:spPr>
          <a:xfrm xmlns:a="http://schemas.openxmlformats.org/drawingml/2006/main">
            <a:off x="609600" y="52482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buNone/>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M̂ = −2.25       Ŷ = −6.75       Budget left: 0</a:t>
            </a:r>
          </a:p>
        </p:txBody>
      </p:sp>
      <p:sp>
        <p:nvSpPr>
          <p:cNvPr id="7" name="Illustrative linear update ·">
            <a:extLst xmlns:a="http://schemas.openxmlformats.org/drawingml/2006/main">
              <a:ext uri="{FF2B5EF4-FFF2-40B4-BE49-F238E27FC236}">
                <a16:creationId xmlns:a16="http://schemas.microsoft.com/office/drawing/2014/main" id="{782F7D6C-256F-44E8-AC87-8269352CA712}"/>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Illustrative linear update · both natural mechanisms learn from the same paid response</a:t>
            </a:r>
          </a:p>
        </p:txBody>
      </p:sp>
    </p:spTree>
    <p:extLst>
      <p:ext uri="{BB962C8B-B14F-4D97-AF65-F5344CB8AC3E}">
        <p14:creationId xmlns:p14="http://schemas.microsoft.com/office/powerpoint/2010/main" val="551979486"/>
      </p:ext>
    </p:extLst>
  </p:cSld>
</p:sld>
</file>

<file path=ppt/slides/slide1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cxnSp>
        <p:nvCxnSpPr>
          <p:cNvPr id="72" name="">
            <a:extLst xmlns:a="http://schemas.openxmlformats.org/drawingml/2006/main">
              <a:ext uri="{FF2B5EF4-FFF2-40B4-BE49-F238E27FC236}">
                <a16:creationId xmlns:a16="http://schemas.microsoft.com/office/drawing/2014/main" id="{48256811-F0EA-4159-85B9-676F0E38D64C}"/>
              </a:ext>
            </a:extLst>
          </p:cNvPr>
          <p:cNvCxnSpPr>
            <a:stCxn xmlns:a="http://schemas.openxmlformats.org/drawingml/2006/main" id="4" idx="6"/>
            <a:endCxn xmlns:a="http://schemas.openxmlformats.org/drawingml/2006/main" id="11" idx="2"/>
          </p:cNvCxnSpPr>
          <p:nvPr/>
        </p:nvCxnSpPr>
        <p:spPr>
          <a:xfrm xmlns:a="http://schemas.openxmlformats.org/drawingml/2006/main">
            <a:off x="1428750" y="301942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71" name="">
            <a:extLst xmlns:a="http://schemas.openxmlformats.org/drawingml/2006/main">
              <a:ext uri="{FF2B5EF4-FFF2-40B4-BE49-F238E27FC236}">
                <a16:creationId xmlns:a16="http://schemas.microsoft.com/office/drawing/2014/main" id="{D4C93B05-221D-4841-B007-F7186D9D8849}"/>
              </a:ext>
            </a:extLst>
          </p:cNvPr>
          <p:cNvCxnSpPr>
            <a:stCxn xmlns:a="http://schemas.openxmlformats.org/drawingml/2006/main" id="5" idx="6"/>
            <a:endCxn xmlns:a="http://schemas.openxmlformats.org/drawingml/2006/main" id="11" idx="2"/>
          </p:cNvCxnSpPr>
          <p:nvPr/>
        </p:nvCxnSpPr>
        <p:spPr>
          <a:xfrm xmlns:a="http://schemas.openxmlformats.org/drawingml/2006/main">
            <a:off x="1428750" y="372427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70" name="">
            <a:extLst xmlns:a="http://schemas.openxmlformats.org/drawingml/2006/main">
              <a:ext uri="{FF2B5EF4-FFF2-40B4-BE49-F238E27FC236}">
                <a16:creationId xmlns:a16="http://schemas.microsoft.com/office/drawing/2014/main" id="{F32F40F3-2B11-4FCC-B05E-24949C9684C9}"/>
              </a:ext>
            </a:extLst>
          </p:cNvPr>
          <p:cNvCxnSpPr>
            <a:stCxn xmlns:a="http://schemas.openxmlformats.org/drawingml/2006/main" id="3" idx="6"/>
            <a:endCxn xmlns:a="http://schemas.openxmlformats.org/drawingml/2006/main" id="10" idx="2"/>
          </p:cNvCxnSpPr>
          <p:nvPr/>
        </p:nvCxnSpPr>
        <p:spPr>
          <a:xfrm xmlns:a="http://schemas.openxmlformats.org/drawingml/2006/main">
            <a:off x="1428750" y="23145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9" name="">
            <a:extLst xmlns:a="http://schemas.openxmlformats.org/drawingml/2006/main">
              <a:ext uri="{FF2B5EF4-FFF2-40B4-BE49-F238E27FC236}">
                <a16:creationId xmlns:a16="http://schemas.microsoft.com/office/drawing/2014/main" id="{3178EA19-1145-42A8-9248-E60CA977E610}"/>
              </a:ext>
            </a:extLst>
          </p:cNvPr>
          <p:cNvCxnSpPr>
            <a:stCxn xmlns:a="http://schemas.openxmlformats.org/drawingml/2006/main" id="7" idx="6"/>
            <a:endCxn xmlns:a="http://schemas.openxmlformats.org/drawingml/2006/main" id="10" idx="2"/>
          </p:cNvCxnSpPr>
          <p:nvPr/>
        </p:nvCxnSpPr>
        <p:spPr>
          <a:xfrm xmlns:a="http://schemas.openxmlformats.org/drawingml/2006/main" flipV="1">
            <a:off x="1428750" y="37242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8" name="">
            <a:extLst xmlns:a="http://schemas.openxmlformats.org/drawingml/2006/main">
              <a:ext uri="{FF2B5EF4-FFF2-40B4-BE49-F238E27FC236}">
                <a16:creationId xmlns:a16="http://schemas.microsoft.com/office/drawing/2014/main" id="{B4DACF18-424F-45E9-B0A4-3691C9761FAB}"/>
              </a:ext>
            </a:extLst>
          </p:cNvPr>
          <p:cNvCxnSpPr>
            <a:stCxn xmlns:a="http://schemas.openxmlformats.org/drawingml/2006/main" id="5" idx="6"/>
            <a:endCxn xmlns:a="http://schemas.openxmlformats.org/drawingml/2006/main" id="9" idx="2"/>
          </p:cNvCxnSpPr>
          <p:nvPr/>
        </p:nvCxnSpPr>
        <p:spPr>
          <a:xfrm xmlns:a="http://schemas.openxmlformats.org/drawingml/2006/main" flipV="1">
            <a:off x="1428750" y="301942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7" name="">
            <a:extLst xmlns:a="http://schemas.openxmlformats.org/drawingml/2006/main">
              <a:ext uri="{FF2B5EF4-FFF2-40B4-BE49-F238E27FC236}">
                <a16:creationId xmlns:a16="http://schemas.microsoft.com/office/drawing/2014/main" id="{53640F5C-DE13-4BAD-B2F3-FFBCDF7373C3}"/>
              </a:ext>
            </a:extLst>
          </p:cNvPr>
          <p:cNvCxnSpPr>
            <a:stCxn xmlns:a="http://schemas.openxmlformats.org/drawingml/2006/main" id="7" idx="6"/>
            <a:endCxn xmlns:a="http://schemas.openxmlformats.org/drawingml/2006/main" id="8" idx="2"/>
          </p:cNvCxnSpPr>
          <p:nvPr/>
        </p:nvCxnSpPr>
        <p:spPr>
          <a:xfrm xmlns:a="http://schemas.openxmlformats.org/drawingml/2006/main" flipV="1">
            <a:off x="1428750" y="2314575"/>
            <a:ext cx="1381125" cy="28194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6" name="">
            <a:extLst xmlns:a="http://schemas.openxmlformats.org/drawingml/2006/main">
              <a:ext uri="{FF2B5EF4-FFF2-40B4-BE49-F238E27FC236}">
                <a16:creationId xmlns:a16="http://schemas.microsoft.com/office/drawing/2014/main" id="{D696AA67-BE63-4CD8-87B2-19409022A2D1}"/>
              </a:ext>
            </a:extLst>
          </p:cNvPr>
          <p:cNvCxnSpPr>
            <a:stCxn xmlns:a="http://schemas.openxmlformats.org/drawingml/2006/main" id="3" idx="6"/>
            <a:endCxn xmlns:a="http://schemas.openxmlformats.org/drawingml/2006/main" id="8" idx="2"/>
          </p:cNvCxnSpPr>
          <p:nvPr/>
        </p:nvCxnSpPr>
        <p:spPr>
          <a:xfrm xmlns:a="http://schemas.openxmlformats.org/drawingml/2006/main">
            <a:off x="1428750" y="23145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5" name="">
            <a:extLst xmlns:a="http://schemas.openxmlformats.org/drawingml/2006/main">
              <a:ext uri="{FF2B5EF4-FFF2-40B4-BE49-F238E27FC236}">
                <a16:creationId xmlns:a16="http://schemas.microsoft.com/office/drawing/2014/main" id="{652CB66B-F86F-40C7-8B9E-AA4EBB65A8B9}"/>
              </a:ext>
            </a:extLst>
          </p:cNvPr>
          <p:cNvCxnSpPr>
            <a:stCxn xmlns:a="http://schemas.openxmlformats.org/drawingml/2006/main" id="27" idx="6"/>
            <a:endCxn xmlns:a="http://schemas.openxmlformats.org/drawingml/2006/main" id="32" idx="2"/>
          </p:cNvCxnSpPr>
          <p:nvPr/>
        </p:nvCxnSpPr>
        <p:spPr>
          <a:xfrm xmlns:a="http://schemas.openxmlformats.org/drawingml/2006/main">
            <a:off x="7286625" y="51339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4" name="">
            <a:extLst xmlns:a="http://schemas.openxmlformats.org/drawingml/2006/main">
              <a:ext uri="{FF2B5EF4-FFF2-40B4-BE49-F238E27FC236}">
                <a16:creationId xmlns:a16="http://schemas.microsoft.com/office/drawing/2014/main" id="{09EA8F8D-C4C8-4EAB-99BB-9B482D3887F7}"/>
              </a:ext>
            </a:extLst>
          </p:cNvPr>
          <p:cNvCxnSpPr>
            <a:stCxn xmlns:a="http://schemas.openxmlformats.org/drawingml/2006/main" id="23" idx="6"/>
            <a:endCxn xmlns:a="http://schemas.openxmlformats.org/drawingml/2006/main" id="31" idx="2"/>
          </p:cNvCxnSpPr>
          <p:nvPr/>
        </p:nvCxnSpPr>
        <p:spPr>
          <a:xfrm xmlns:a="http://schemas.openxmlformats.org/drawingml/2006/main">
            <a:off x="7286625" y="2314575"/>
            <a:ext cx="1381125" cy="21145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3" name="">
            <a:extLst xmlns:a="http://schemas.openxmlformats.org/drawingml/2006/main">
              <a:ext uri="{FF2B5EF4-FFF2-40B4-BE49-F238E27FC236}">
                <a16:creationId xmlns:a16="http://schemas.microsoft.com/office/drawing/2014/main" id="{AF093C4A-36BA-4F43-AF66-2D95C67E1BBB}"/>
              </a:ext>
            </a:extLst>
          </p:cNvPr>
          <p:cNvCxnSpPr>
            <a:stCxn xmlns:a="http://schemas.openxmlformats.org/drawingml/2006/main" id="27" idx="6"/>
            <a:endCxn xmlns:a="http://schemas.openxmlformats.org/drawingml/2006/main" id="30" idx="2"/>
          </p:cNvCxnSpPr>
          <p:nvPr/>
        </p:nvCxnSpPr>
        <p:spPr>
          <a:xfrm xmlns:a="http://schemas.openxmlformats.org/drawingml/2006/main" flipV="1">
            <a:off x="7286625" y="37242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2" name="">
            <a:extLst xmlns:a="http://schemas.openxmlformats.org/drawingml/2006/main">
              <a:ext uri="{FF2B5EF4-FFF2-40B4-BE49-F238E27FC236}">
                <a16:creationId xmlns:a16="http://schemas.microsoft.com/office/drawing/2014/main" id="{D994A483-BB2B-4EEC-8DDF-7A15EC6F9174}"/>
              </a:ext>
            </a:extLst>
          </p:cNvPr>
          <p:cNvCxnSpPr>
            <a:stCxn xmlns:a="http://schemas.openxmlformats.org/drawingml/2006/main" id="23" idx="6"/>
            <a:endCxn xmlns:a="http://schemas.openxmlformats.org/drawingml/2006/main" id="29" idx="2"/>
          </p:cNvCxnSpPr>
          <p:nvPr/>
        </p:nvCxnSpPr>
        <p:spPr>
          <a:xfrm xmlns:a="http://schemas.openxmlformats.org/drawingml/2006/main">
            <a:off x="7286625" y="231457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1" name="">
            <a:extLst xmlns:a="http://schemas.openxmlformats.org/drawingml/2006/main">
              <a:ext uri="{FF2B5EF4-FFF2-40B4-BE49-F238E27FC236}">
                <a16:creationId xmlns:a16="http://schemas.microsoft.com/office/drawing/2014/main" id="{ABCFF2E4-D3D3-4BC1-9385-C03458CF9D48}"/>
              </a:ext>
            </a:extLst>
          </p:cNvPr>
          <p:cNvCxnSpPr>
            <a:stCxn xmlns:a="http://schemas.openxmlformats.org/drawingml/2006/main" id="24" idx="6"/>
            <a:endCxn xmlns:a="http://schemas.openxmlformats.org/drawingml/2006/main" id="28" idx="2"/>
          </p:cNvCxnSpPr>
          <p:nvPr/>
        </p:nvCxnSpPr>
        <p:spPr>
          <a:xfrm xmlns:a="http://schemas.openxmlformats.org/drawingml/2006/main" flipV="1">
            <a:off x="7286625" y="2314575"/>
            <a:ext cx="1381125" cy="704850"/>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60" name="">
            <a:extLst xmlns:a="http://schemas.openxmlformats.org/drawingml/2006/main">
              <a:ext uri="{FF2B5EF4-FFF2-40B4-BE49-F238E27FC236}">
                <a16:creationId xmlns:a16="http://schemas.microsoft.com/office/drawing/2014/main" id="{20AEE7C0-B9F9-4002-847F-E2FF989BEF60}"/>
              </a:ext>
            </a:extLst>
          </p:cNvPr>
          <p:cNvCxnSpPr>
            <a:stCxn xmlns:a="http://schemas.openxmlformats.org/drawingml/2006/main" id="18" idx="6"/>
            <a:endCxn xmlns:a="http://schemas.openxmlformats.org/drawingml/2006/main" id="27" idx="2"/>
          </p:cNvCxnSpPr>
          <p:nvPr/>
        </p:nvCxnSpPr>
        <p:spPr>
          <a:xfrm xmlns:a="http://schemas.openxmlformats.org/drawingml/2006/main">
            <a:off x="5334000" y="3900488"/>
            <a:ext cx="1381125" cy="123348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9" name="">
            <a:extLst xmlns:a="http://schemas.openxmlformats.org/drawingml/2006/main">
              <a:ext uri="{FF2B5EF4-FFF2-40B4-BE49-F238E27FC236}">
                <a16:creationId xmlns:a16="http://schemas.microsoft.com/office/drawing/2014/main" id="{5F1BC249-BB4A-4763-809D-DCDA00E318F3}"/>
              </a:ext>
            </a:extLst>
          </p:cNvPr>
          <p:cNvCxnSpPr>
            <a:stCxn xmlns:a="http://schemas.openxmlformats.org/drawingml/2006/main" id="20" idx="6"/>
            <a:endCxn xmlns:a="http://schemas.openxmlformats.org/drawingml/2006/main" id="27" idx="2"/>
          </p:cNvCxnSpPr>
          <p:nvPr/>
        </p:nvCxnSpPr>
        <p:spPr>
          <a:xfrm xmlns:a="http://schemas.openxmlformats.org/drawingml/2006/main">
            <a:off x="5334000" y="4605338"/>
            <a:ext cx="1381125" cy="5286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8" name="">
            <a:extLst xmlns:a="http://schemas.openxmlformats.org/drawingml/2006/main">
              <a:ext uri="{FF2B5EF4-FFF2-40B4-BE49-F238E27FC236}">
                <a16:creationId xmlns:a16="http://schemas.microsoft.com/office/drawing/2014/main" id="{59CB2F3C-D440-45D5-9D5A-CE4A5754E0C4}"/>
              </a:ext>
            </a:extLst>
          </p:cNvPr>
          <p:cNvCxnSpPr>
            <a:stCxn xmlns:a="http://schemas.openxmlformats.org/drawingml/2006/main" id="19" idx="6"/>
            <a:endCxn xmlns:a="http://schemas.openxmlformats.org/drawingml/2006/main" id="26" idx="2"/>
          </p:cNvCxnSpPr>
          <p:nvPr/>
        </p:nvCxnSpPr>
        <p:spPr>
          <a:xfrm xmlns:a="http://schemas.openxmlformats.org/drawingml/2006/main">
            <a:off x="5334000" y="425291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7" name="">
            <a:extLst xmlns:a="http://schemas.openxmlformats.org/drawingml/2006/main">
              <a:ext uri="{FF2B5EF4-FFF2-40B4-BE49-F238E27FC236}">
                <a16:creationId xmlns:a16="http://schemas.microsoft.com/office/drawing/2014/main" id="{192D3D14-49AA-400A-863E-EA0768170022}"/>
              </a:ext>
            </a:extLst>
          </p:cNvPr>
          <p:cNvCxnSpPr>
            <a:stCxn xmlns:a="http://schemas.openxmlformats.org/drawingml/2006/main" id="14" idx="6"/>
            <a:endCxn xmlns:a="http://schemas.openxmlformats.org/drawingml/2006/main" id="26" idx="2"/>
          </p:cNvCxnSpPr>
          <p:nvPr/>
        </p:nvCxnSpPr>
        <p:spPr>
          <a:xfrm xmlns:a="http://schemas.openxmlformats.org/drawingml/2006/main">
            <a:off x="5334000" y="2490788"/>
            <a:ext cx="1381125" cy="19383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6" name="">
            <a:extLst xmlns:a="http://schemas.openxmlformats.org/drawingml/2006/main">
              <a:ext uri="{FF2B5EF4-FFF2-40B4-BE49-F238E27FC236}">
                <a16:creationId xmlns:a16="http://schemas.microsoft.com/office/drawing/2014/main" id="{35E19E2D-4B5B-443F-AA59-EFDBCD4B8A7F}"/>
              </a:ext>
            </a:extLst>
          </p:cNvPr>
          <p:cNvCxnSpPr>
            <a:stCxn xmlns:a="http://schemas.openxmlformats.org/drawingml/2006/main" id="17" idx="6"/>
            <a:endCxn xmlns:a="http://schemas.openxmlformats.org/drawingml/2006/main" id="26" idx="2"/>
          </p:cNvCxnSpPr>
          <p:nvPr/>
        </p:nvCxnSpPr>
        <p:spPr>
          <a:xfrm xmlns:a="http://schemas.openxmlformats.org/drawingml/2006/main">
            <a:off x="5334000" y="3548063"/>
            <a:ext cx="1381125" cy="88106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5" name="">
            <a:extLst xmlns:a="http://schemas.openxmlformats.org/drawingml/2006/main">
              <a:ext uri="{FF2B5EF4-FFF2-40B4-BE49-F238E27FC236}">
                <a16:creationId xmlns:a16="http://schemas.microsoft.com/office/drawing/2014/main" id="{FF119DCC-F493-41A9-96B5-D1B633CD08D1}"/>
              </a:ext>
            </a:extLst>
          </p:cNvPr>
          <p:cNvCxnSpPr>
            <a:stCxn xmlns:a="http://schemas.openxmlformats.org/drawingml/2006/main" id="22" idx="6"/>
            <a:endCxn xmlns:a="http://schemas.openxmlformats.org/drawingml/2006/main" id="25" idx="2"/>
          </p:cNvCxnSpPr>
          <p:nvPr/>
        </p:nvCxnSpPr>
        <p:spPr>
          <a:xfrm xmlns:a="http://schemas.openxmlformats.org/drawingml/2006/main" flipV="1">
            <a:off x="5334000" y="3724275"/>
            <a:ext cx="1381125" cy="1585913"/>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4" name="">
            <a:extLst xmlns:a="http://schemas.openxmlformats.org/drawingml/2006/main">
              <a:ext uri="{FF2B5EF4-FFF2-40B4-BE49-F238E27FC236}">
                <a16:creationId xmlns:a16="http://schemas.microsoft.com/office/drawing/2014/main" id="{548634E5-E995-4A0D-81BD-E93F3ECA89CC}"/>
              </a:ext>
            </a:extLst>
          </p:cNvPr>
          <p:cNvCxnSpPr>
            <a:stCxn xmlns:a="http://schemas.openxmlformats.org/drawingml/2006/main" id="13" idx="6"/>
            <a:endCxn xmlns:a="http://schemas.openxmlformats.org/drawingml/2006/main" id="25" idx="2"/>
          </p:cNvCxnSpPr>
          <p:nvPr/>
        </p:nvCxnSpPr>
        <p:spPr>
          <a:xfrm xmlns:a="http://schemas.openxmlformats.org/drawingml/2006/main">
            <a:off x="5334000" y="2138363"/>
            <a:ext cx="1381125" cy="1585912"/>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3" name="">
            <a:extLst xmlns:a="http://schemas.openxmlformats.org/drawingml/2006/main">
              <a:ext uri="{FF2B5EF4-FFF2-40B4-BE49-F238E27FC236}">
                <a16:creationId xmlns:a16="http://schemas.microsoft.com/office/drawing/2014/main" id="{E5DD3C7D-E292-44EC-9C93-2A21004147D4}"/>
              </a:ext>
            </a:extLst>
          </p:cNvPr>
          <p:cNvCxnSpPr>
            <a:stCxn xmlns:a="http://schemas.openxmlformats.org/drawingml/2006/main" id="19" idx="6"/>
            <a:endCxn xmlns:a="http://schemas.openxmlformats.org/drawingml/2006/main" id="24" idx="2"/>
          </p:cNvCxnSpPr>
          <p:nvPr/>
        </p:nvCxnSpPr>
        <p:spPr>
          <a:xfrm xmlns:a="http://schemas.openxmlformats.org/drawingml/2006/main" flipV="1">
            <a:off x="5334000" y="3019425"/>
            <a:ext cx="1381125" cy="123348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2" name="">
            <a:extLst xmlns:a="http://schemas.openxmlformats.org/drawingml/2006/main">
              <a:ext uri="{FF2B5EF4-FFF2-40B4-BE49-F238E27FC236}">
                <a16:creationId xmlns:a16="http://schemas.microsoft.com/office/drawing/2014/main" id="{8CAEAD77-6EC3-444F-B06D-C0AC11FCE078}"/>
              </a:ext>
            </a:extLst>
          </p:cNvPr>
          <p:cNvCxnSpPr>
            <a:stCxn xmlns:a="http://schemas.openxmlformats.org/drawingml/2006/main" id="18" idx="6"/>
            <a:endCxn xmlns:a="http://schemas.openxmlformats.org/drawingml/2006/main" id="24" idx="2"/>
          </p:cNvCxnSpPr>
          <p:nvPr/>
        </p:nvCxnSpPr>
        <p:spPr>
          <a:xfrm xmlns:a="http://schemas.openxmlformats.org/drawingml/2006/main" flipV="1">
            <a:off x="5334000" y="3019425"/>
            <a:ext cx="1381125" cy="8810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1" name="">
            <a:extLst xmlns:a="http://schemas.openxmlformats.org/drawingml/2006/main">
              <a:ext uri="{FF2B5EF4-FFF2-40B4-BE49-F238E27FC236}">
                <a16:creationId xmlns:a16="http://schemas.microsoft.com/office/drawing/2014/main" id="{D52885D5-2DB1-4BE6-AE47-6C0FE06CC336}"/>
              </a:ext>
            </a:extLst>
          </p:cNvPr>
          <p:cNvCxnSpPr>
            <a:stCxn xmlns:a="http://schemas.openxmlformats.org/drawingml/2006/main" id="14" idx="6"/>
            <a:endCxn xmlns:a="http://schemas.openxmlformats.org/drawingml/2006/main" id="24" idx="2"/>
          </p:cNvCxnSpPr>
          <p:nvPr/>
        </p:nvCxnSpPr>
        <p:spPr>
          <a:xfrm xmlns:a="http://schemas.openxmlformats.org/drawingml/2006/main">
            <a:off x="5334000" y="2490788"/>
            <a:ext cx="1381125" cy="5286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0" name="">
            <a:extLst xmlns:a="http://schemas.openxmlformats.org/drawingml/2006/main">
              <a:ext uri="{FF2B5EF4-FFF2-40B4-BE49-F238E27FC236}">
                <a16:creationId xmlns:a16="http://schemas.microsoft.com/office/drawing/2014/main" id="{7E6B46BC-722A-4ABC-8251-1A19160E19C7}"/>
              </a:ext>
            </a:extLst>
          </p:cNvPr>
          <p:cNvCxnSpPr>
            <a:stCxn xmlns:a="http://schemas.openxmlformats.org/drawingml/2006/main" id="16" idx="6"/>
            <a:endCxn xmlns:a="http://schemas.openxmlformats.org/drawingml/2006/main" id="23" idx="2"/>
          </p:cNvCxnSpPr>
          <p:nvPr/>
        </p:nvCxnSpPr>
        <p:spPr>
          <a:xfrm xmlns:a="http://schemas.openxmlformats.org/drawingml/2006/main" flipV="1">
            <a:off x="5334000" y="2314575"/>
            <a:ext cx="1381125" cy="8810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9" name="">
            <a:extLst xmlns:a="http://schemas.openxmlformats.org/drawingml/2006/main">
              <a:ext uri="{FF2B5EF4-FFF2-40B4-BE49-F238E27FC236}">
                <a16:creationId xmlns:a16="http://schemas.microsoft.com/office/drawing/2014/main" id="{8F3A2A9C-0251-4BD8-9293-3A1918F77B30}"/>
              </a:ext>
            </a:extLst>
          </p:cNvPr>
          <p:cNvCxnSpPr>
            <a:stCxn xmlns:a="http://schemas.openxmlformats.org/drawingml/2006/main" id="18" idx="6"/>
            <a:endCxn xmlns:a="http://schemas.openxmlformats.org/drawingml/2006/main" id="23" idx="2"/>
          </p:cNvCxnSpPr>
          <p:nvPr/>
        </p:nvCxnSpPr>
        <p:spPr>
          <a:xfrm xmlns:a="http://schemas.openxmlformats.org/drawingml/2006/main" flipV="1">
            <a:off x="5334000" y="2314575"/>
            <a:ext cx="1381125" cy="158591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8" name="">
            <a:extLst xmlns:a="http://schemas.openxmlformats.org/drawingml/2006/main">
              <a:ext uri="{FF2B5EF4-FFF2-40B4-BE49-F238E27FC236}">
                <a16:creationId xmlns:a16="http://schemas.microsoft.com/office/drawing/2014/main" id="{4286D9DA-DC47-4044-8C07-01957F2D7E7F}"/>
              </a:ext>
            </a:extLst>
          </p:cNvPr>
          <p:cNvCxnSpPr>
            <a:stCxn xmlns:a="http://schemas.openxmlformats.org/drawingml/2006/main" id="17" idx="6"/>
            <a:endCxn xmlns:a="http://schemas.openxmlformats.org/drawingml/2006/main" id="23" idx="2"/>
          </p:cNvCxnSpPr>
          <p:nvPr/>
        </p:nvCxnSpPr>
        <p:spPr>
          <a:xfrm xmlns:a="http://schemas.openxmlformats.org/drawingml/2006/main" flipV="1">
            <a:off x="5334000" y="2314575"/>
            <a:ext cx="1381125" cy="123348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7" name="">
            <a:extLst xmlns:a="http://schemas.openxmlformats.org/drawingml/2006/main">
              <a:ext uri="{FF2B5EF4-FFF2-40B4-BE49-F238E27FC236}">
                <a16:creationId xmlns:a16="http://schemas.microsoft.com/office/drawing/2014/main" id="{E6A871D6-CBC6-42EB-A151-E4FB1E0B4273}"/>
              </a:ext>
            </a:extLst>
          </p:cNvPr>
          <p:cNvCxnSpPr>
            <a:stCxn xmlns:a="http://schemas.openxmlformats.org/drawingml/2006/main" id="9" idx="6"/>
            <a:endCxn xmlns:a="http://schemas.openxmlformats.org/drawingml/2006/main" id="22" idx="2"/>
          </p:cNvCxnSpPr>
          <p:nvPr/>
        </p:nvCxnSpPr>
        <p:spPr>
          <a:xfrm xmlns:a="http://schemas.openxmlformats.org/drawingml/2006/main">
            <a:off x="3381375" y="3019425"/>
            <a:ext cx="1381125" cy="2290763"/>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46" name="">
            <a:extLst xmlns:a="http://schemas.openxmlformats.org/drawingml/2006/main">
              <a:ext uri="{FF2B5EF4-FFF2-40B4-BE49-F238E27FC236}">
                <a16:creationId xmlns:a16="http://schemas.microsoft.com/office/drawing/2014/main" id="{992F8C86-49E0-43D6-A4E8-7BBE3927C3CF}"/>
              </a:ext>
            </a:extLst>
          </p:cNvPr>
          <p:cNvCxnSpPr>
            <a:stCxn xmlns:a="http://schemas.openxmlformats.org/drawingml/2006/main" id="11" idx="6"/>
            <a:endCxn xmlns:a="http://schemas.openxmlformats.org/drawingml/2006/main" id="21" idx="2"/>
          </p:cNvCxnSpPr>
          <p:nvPr/>
        </p:nvCxnSpPr>
        <p:spPr>
          <a:xfrm xmlns:a="http://schemas.openxmlformats.org/drawingml/2006/main">
            <a:off x="3381375" y="4429125"/>
            <a:ext cx="1381125" cy="52863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5" name="">
            <a:extLst xmlns:a="http://schemas.openxmlformats.org/drawingml/2006/main">
              <a:ext uri="{FF2B5EF4-FFF2-40B4-BE49-F238E27FC236}">
                <a16:creationId xmlns:a16="http://schemas.microsoft.com/office/drawing/2014/main" id="{333D7111-FCB1-410A-8EB3-7B2ACD8729D0}"/>
              </a:ext>
            </a:extLst>
          </p:cNvPr>
          <p:cNvCxnSpPr>
            <a:stCxn xmlns:a="http://schemas.openxmlformats.org/drawingml/2006/main" id="8" idx="6"/>
            <a:endCxn xmlns:a="http://schemas.openxmlformats.org/drawingml/2006/main" id="20" idx="2"/>
          </p:cNvCxnSpPr>
          <p:nvPr/>
        </p:nvCxnSpPr>
        <p:spPr>
          <a:xfrm xmlns:a="http://schemas.openxmlformats.org/drawingml/2006/main">
            <a:off x="3381375" y="2314575"/>
            <a:ext cx="1381125" cy="22907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4" name="">
            <a:extLst xmlns:a="http://schemas.openxmlformats.org/drawingml/2006/main">
              <a:ext uri="{FF2B5EF4-FFF2-40B4-BE49-F238E27FC236}">
                <a16:creationId xmlns:a16="http://schemas.microsoft.com/office/drawing/2014/main" id="{1DEB08C7-5BE1-4F66-B38A-817AA3D395C8}"/>
              </a:ext>
            </a:extLst>
          </p:cNvPr>
          <p:cNvCxnSpPr>
            <a:stCxn xmlns:a="http://schemas.openxmlformats.org/drawingml/2006/main" id="12" idx="6"/>
            <a:endCxn xmlns:a="http://schemas.openxmlformats.org/drawingml/2006/main" id="20" idx="2"/>
          </p:cNvCxnSpPr>
          <p:nvPr/>
        </p:nvCxnSpPr>
        <p:spPr>
          <a:xfrm xmlns:a="http://schemas.openxmlformats.org/drawingml/2006/main" flipV="1">
            <a:off x="3381375" y="4605338"/>
            <a:ext cx="1381125" cy="5286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3" name="">
            <a:extLst xmlns:a="http://schemas.openxmlformats.org/drawingml/2006/main">
              <a:ext uri="{FF2B5EF4-FFF2-40B4-BE49-F238E27FC236}">
                <a16:creationId xmlns:a16="http://schemas.microsoft.com/office/drawing/2014/main" id="{92D60B11-0F31-49C1-9F82-B90BC75D37F4}"/>
              </a:ext>
            </a:extLst>
          </p:cNvPr>
          <p:cNvCxnSpPr>
            <a:stCxn xmlns:a="http://schemas.openxmlformats.org/drawingml/2006/main" id="11" idx="6"/>
            <a:endCxn xmlns:a="http://schemas.openxmlformats.org/drawingml/2006/main" id="19" idx="2"/>
          </p:cNvCxnSpPr>
          <p:nvPr/>
        </p:nvCxnSpPr>
        <p:spPr>
          <a:xfrm xmlns:a="http://schemas.openxmlformats.org/drawingml/2006/main" flipV="1">
            <a:off x="3381375" y="425291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2" name="">
            <a:extLst xmlns:a="http://schemas.openxmlformats.org/drawingml/2006/main">
              <a:ext uri="{FF2B5EF4-FFF2-40B4-BE49-F238E27FC236}">
                <a16:creationId xmlns:a16="http://schemas.microsoft.com/office/drawing/2014/main" id="{EC25AFBB-F7F0-4C29-BD7C-B6B792D86847}"/>
              </a:ext>
            </a:extLst>
          </p:cNvPr>
          <p:cNvCxnSpPr>
            <a:stCxn xmlns:a="http://schemas.openxmlformats.org/drawingml/2006/main" id="8" idx="6"/>
            <a:endCxn xmlns:a="http://schemas.openxmlformats.org/drawingml/2006/main" id="18" idx="2"/>
          </p:cNvCxnSpPr>
          <p:nvPr/>
        </p:nvCxnSpPr>
        <p:spPr>
          <a:xfrm xmlns:a="http://schemas.openxmlformats.org/drawingml/2006/main">
            <a:off x="3381375" y="2314575"/>
            <a:ext cx="1381125" cy="158591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1" name="">
            <a:extLst xmlns:a="http://schemas.openxmlformats.org/drawingml/2006/main">
              <a:ext uri="{FF2B5EF4-FFF2-40B4-BE49-F238E27FC236}">
                <a16:creationId xmlns:a16="http://schemas.microsoft.com/office/drawing/2014/main" id="{F6B97B65-0B24-4A5A-8055-511F0F59B906}"/>
              </a:ext>
            </a:extLst>
          </p:cNvPr>
          <p:cNvCxnSpPr>
            <a:stCxn xmlns:a="http://schemas.openxmlformats.org/drawingml/2006/main" id="11" idx="6"/>
            <a:endCxn xmlns:a="http://schemas.openxmlformats.org/drawingml/2006/main" id="17" idx="2"/>
          </p:cNvCxnSpPr>
          <p:nvPr/>
        </p:nvCxnSpPr>
        <p:spPr>
          <a:xfrm xmlns:a="http://schemas.openxmlformats.org/drawingml/2006/main" flipV="1">
            <a:off x="3381375" y="3548063"/>
            <a:ext cx="1381125" cy="88106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0" name="">
            <a:extLst xmlns:a="http://schemas.openxmlformats.org/drawingml/2006/main">
              <a:ext uri="{FF2B5EF4-FFF2-40B4-BE49-F238E27FC236}">
                <a16:creationId xmlns:a16="http://schemas.microsoft.com/office/drawing/2014/main" id="{E2023618-12A0-4FFF-9EB8-4DEF92ED7DF9}"/>
              </a:ext>
            </a:extLst>
          </p:cNvPr>
          <p:cNvCxnSpPr>
            <a:stCxn xmlns:a="http://schemas.openxmlformats.org/drawingml/2006/main" id="10" idx="6"/>
            <a:endCxn xmlns:a="http://schemas.openxmlformats.org/drawingml/2006/main" id="17" idx="2"/>
          </p:cNvCxnSpPr>
          <p:nvPr/>
        </p:nvCxnSpPr>
        <p:spPr>
          <a:xfrm xmlns:a="http://schemas.openxmlformats.org/drawingml/2006/main" flipV="1">
            <a:off x="3381375" y="354806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9" name="">
            <a:extLst xmlns:a="http://schemas.openxmlformats.org/drawingml/2006/main">
              <a:ext uri="{FF2B5EF4-FFF2-40B4-BE49-F238E27FC236}">
                <a16:creationId xmlns:a16="http://schemas.microsoft.com/office/drawing/2014/main" id="{7FA2031B-DCA1-45F9-A4F2-491F453B9EE8}"/>
              </a:ext>
            </a:extLst>
          </p:cNvPr>
          <p:cNvCxnSpPr>
            <a:stCxn xmlns:a="http://schemas.openxmlformats.org/drawingml/2006/main" id="12" idx="6"/>
            <a:endCxn xmlns:a="http://schemas.openxmlformats.org/drawingml/2006/main" id="16" idx="2"/>
          </p:cNvCxnSpPr>
          <p:nvPr/>
        </p:nvCxnSpPr>
        <p:spPr>
          <a:xfrm xmlns:a="http://schemas.openxmlformats.org/drawingml/2006/main" flipV="1">
            <a:off x="3381375" y="3195638"/>
            <a:ext cx="1381125" cy="19383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8" name="">
            <a:extLst xmlns:a="http://schemas.openxmlformats.org/drawingml/2006/main">
              <a:ext uri="{FF2B5EF4-FFF2-40B4-BE49-F238E27FC236}">
                <a16:creationId xmlns:a16="http://schemas.microsoft.com/office/drawing/2014/main" id="{1D7EE326-7A62-49B4-9900-6F05044DEB09}"/>
              </a:ext>
            </a:extLst>
          </p:cNvPr>
          <p:cNvCxnSpPr>
            <a:stCxn xmlns:a="http://schemas.openxmlformats.org/drawingml/2006/main" id="8" idx="6"/>
            <a:endCxn xmlns:a="http://schemas.openxmlformats.org/drawingml/2006/main" id="15" idx="2"/>
          </p:cNvCxnSpPr>
          <p:nvPr/>
        </p:nvCxnSpPr>
        <p:spPr>
          <a:xfrm xmlns:a="http://schemas.openxmlformats.org/drawingml/2006/main">
            <a:off x="3381375" y="2314575"/>
            <a:ext cx="1381125" cy="52863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7" name="">
            <a:extLst xmlns:a="http://schemas.openxmlformats.org/drawingml/2006/main">
              <a:ext uri="{FF2B5EF4-FFF2-40B4-BE49-F238E27FC236}">
                <a16:creationId xmlns:a16="http://schemas.microsoft.com/office/drawing/2014/main" id="{1DE7723B-3ACD-49FA-B0D3-F4D239B1E2FD}"/>
              </a:ext>
            </a:extLst>
          </p:cNvPr>
          <p:cNvCxnSpPr>
            <a:stCxn xmlns:a="http://schemas.openxmlformats.org/drawingml/2006/main" id="9" idx="6"/>
            <a:endCxn xmlns:a="http://schemas.openxmlformats.org/drawingml/2006/main" id="14" idx="2"/>
          </p:cNvCxnSpPr>
          <p:nvPr/>
        </p:nvCxnSpPr>
        <p:spPr>
          <a:xfrm xmlns:a="http://schemas.openxmlformats.org/drawingml/2006/main" flipV="1">
            <a:off x="3381375" y="2490788"/>
            <a:ext cx="1381125" cy="5286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36" name="">
            <a:extLst xmlns:a="http://schemas.openxmlformats.org/drawingml/2006/main">
              <a:ext uri="{FF2B5EF4-FFF2-40B4-BE49-F238E27FC236}">
                <a16:creationId xmlns:a16="http://schemas.microsoft.com/office/drawing/2014/main" id="{76F868FA-8BA2-4531-B1D4-BD50E7E8B06E}"/>
              </a:ext>
            </a:extLst>
          </p:cNvPr>
          <p:cNvCxnSpPr>
            <a:stCxn xmlns:a="http://schemas.openxmlformats.org/drawingml/2006/main" id="11" idx="6"/>
            <a:endCxn xmlns:a="http://schemas.openxmlformats.org/drawingml/2006/main" id="14" idx="2"/>
          </p:cNvCxnSpPr>
          <p:nvPr/>
        </p:nvCxnSpPr>
        <p:spPr>
          <a:xfrm xmlns:a="http://schemas.openxmlformats.org/drawingml/2006/main" flipV="1">
            <a:off x="3381375" y="2490788"/>
            <a:ext cx="1381125" cy="19383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5" name="">
            <a:extLst xmlns:a="http://schemas.openxmlformats.org/drawingml/2006/main">
              <a:ext uri="{FF2B5EF4-FFF2-40B4-BE49-F238E27FC236}">
                <a16:creationId xmlns:a16="http://schemas.microsoft.com/office/drawing/2014/main" id="{7A2CBFDF-6EE6-48CF-9439-CB0AA9B05166}"/>
              </a:ext>
            </a:extLst>
          </p:cNvPr>
          <p:cNvCxnSpPr>
            <a:stCxn xmlns:a="http://schemas.openxmlformats.org/drawingml/2006/main" id="9" idx="6"/>
            <a:endCxn xmlns:a="http://schemas.openxmlformats.org/drawingml/2006/main" id="13" idx="2"/>
          </p:cNvCxnSpPr>
          <p:nvPr/>
        </p:nvCxnSpPr>
        <p:spPr>
          <a:xfrm xmlns:a="http://schemas.openxmlformats.org/drawingml/2006/main" flipV="1">
            <a:off x="3381375" y="2138363"/>
            <a:ext cx="1381125" cy="881062"/>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34" name="">
            <a:extLst xmlns:a="http://schemas.openxmlformats.org/drawingml/2006/main">
              <a:ext uri="{FF2B5EF4-FFF2-40B4-BE49-F238E27FC236}">
                <a16:creationId xmlns:a16="http://schemas.microsoft.com/office/drawing/2014/main" id="{8B7F9692-C7CA-4AA9-9A49-684D993961D4}"/>
              </a:ext>
            </a:extLst>
          </p:cNvPr>
          <p:cNvCxnSpPr>
            <a:stCxn xmlns:a="http://schemas.openxmlformats.org/drawingml/2006/main" id="6" idx="6"/>
            <a:endCxn xmlns:a="http://schemas.openxmlformats.org/drawingml/2006/main" id="12" idx="2"/>
          </p:cNvCxnSpPr>
          <p:nvPr/>
        </p:nvCxnSpPr>
        <p:spPr>
          <a:xfrm xmlns:a="http://schemas.openxmlformats.org/drawingml/2006/main">
            <a:off x="1428750" y="442912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3" name="">
            <a:extLst xmlns:a="http://schemas.openxmlformats.org/drawingml/2006/main">
              <a:ext uri="{FF2B5EF4-FFF2-40B4-BE49-F238E27FC236}">
                <a16:creationId xmlns:a16="http://schemas.microsoft.com/office/drawing/2014/main" id="{A12F9EAA-661F-42B5-9F30-CF534BC707EB}"/>
              </a:ext>
            </a:extLst>
          </p:cNvPr>
          <p:cNvCxnSpPr>
            <a:stCxn xmlns:a="http://schemas.openxmlformats.org/drawingml/2006/main" id="7" idx="6"/>
            <a:endCxn xmlns:a="http://schemas.openxmlformats.org/drawingml/2006/main" id="12" idx="2"/>
          </p:cNvCxnSpPr>
          <p:nvPr/>
        </p:nvCxnSpPr>
        <p:spPr>
          <a:xfrm xmlns:a="http://schemas.openxmlformats.org/drawingml/2006/main">
            <a:off x="1428750" y="51339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sp>
        <p:nvSpPr>
          <p:cNvPr id="75" name="title">
            <a:extLst xmlns:a="http://schemas.openxmlformats.org/drawingml/2006/main">
              <a:ext uri="{FF2B5EF4-FFF2-40B4-BE49-F238E27FC236}">
                <a16:creationId xmlns:a16="http://schemas.microsoft.com/office/drawing/2014/main" id="{0D2641F2-AB26-4E7C-B15D-208B5A87C432}"/>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 real scenario: 30 linked mechanisms</a:t>
            </a:r>
          </a:p>
        </p:txBody>
      </p:sp>
      <p:sp>
        <p:nvSpPr>
          <p:cNvPr id="2" name="page">
            <a:extLst xmlns:a="http://schemas.openxmlformats.org/drawingml/2006/main">
              <a:ext uri="{FF2B5EF4-FFF2-40B4-BE49-F238E27FC236}">
                <a16:creationId xmlns:a16="http://schemas.microsoft.com/office/drawing/2014/main" id="{91BF9899-6F6D-4404-807C-7CE9646F22B4}"/>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10</a:t>
            </a:r>
          </a:p>
        </p:txBody>
      </p:sp>
      <p:sp>
        <p:nvSpPr>
          <p:cNvPr id="3" name="SCM node X1">
            <a:extLst xmlns:a="http://schemas.openxmlformats.org/drawingml/2006/main">
              <a:ext uri="{FF2B5EF4-FFF2-40B4-BE49-F238E27FC236}">
                <a16:creationId xmlns:a16="http://schemas.microsoft.com/office/drawing/2014/main" id="{EDE1270E-E54B-4D45-83D8-A75FBD438AA8}"/>
              </a:ext>
            </a:extLst>
          </p:cNvPr>
          <p:cNvSpPr>
            <a:spLocks xmlns:a="http://schemas.openxmlformats.org/drawingml/2006/main" noGrp="1"/>
          </p:cNvSpPr>
          <p:nvPr/>
        </p:nvSpPr>
        <p:spPr>
          <a:xfrm xmlns:a="http://schemas.openxmlformats.org/drawingml/2006/main">
            <a:off x="857250"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a:t>
            </a:r>
          </a:p>
        </p:txBody>
      </p:sp>
      <p:sp>
        <p:nvSpPr>
          <p:cNvPr id="4" name="SCM node X2">
            <a:extLst xmlns:a="http://schemas.openxmlformats.org/drawingml/2006/main">
              <a:ext uri="{FF2B5EF4-FFF2-40B4-BE49-F238E27FC236}">
                <a16:creationId xmlns:a16="http://schemas.microsoft.com/office/drawing/2014/main" id="{E2A26913-85B0-4998-AD04-5F605C9F2441}"/>
              </a:ext>
            </a:extLst>
          </p:cNvPr>
          <p:cNvSpPr>
            <a:spLocks xmlns:a="http://schemas.openxmlformats.org/drawingml/2006/main" noGrp="1"/>
          </p:cNvSpPr>
          <p:nvPr/>
        </p:nvSpPr>
        <p:spPr>
          <a:xfrm xmlns:a="http://schemas.openxmlformats.org/drawingml/2006/main">
            <a:off x="857250"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a:t>
            </a:r>
          </a:p>
        </p:txBody>
      </p:sp>
      <p:sp>
        <p:nvSpPr>
          <p:cNvPr id="5" name="SCM node X3">
            <a:extLst xmlns:a="http://schemas.openxmlformats.org/drawingml/2006/main">
              <a:ext uri="{FF2B5EF4-FFF2-40B4-BE49-F238E27FC236}">
                <a16:creationId xmlns:a16="http://schemas.microsoft.com/office/drawing/2014/main" id="{95A6F1AC-B82C-4E74-8DDA-C19B3C667A19}"/>
              </a:ext>
            </a:extLst>
          </p:cNvPr>
          <p:cNvSpPr>
            <a:spLocks xmlns:a="http://schemas.openxmlformats.org/drawingml/2006/main" noGrp="1"/>
          </p:cNvSpPr>
          <p:nvPr/>
        </p:nvSpPr>
        <p:spPr>
          <a:xfrm xmlns:a="http://schemas.openxmlformats.org/drawingml/2006/main">
            <a:off x="857250"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X3</a:t>
            </a:r>
          </a:p>
        </p:txBody>
      </p:sp>
      <p:sp>
        <p:nvSpPr>
          <p:cNvPr id="6" name="SCM node X4">
            <a:extLst xmlns:a="http://schemas.openxmlformats.org/drawingml/2006/main">
              <a:ext uri="{FF2B5EF4-FFF2-40B4-BE49-F238E27FC236}">
                <a16:creationId xmlns:a16="http://schemas.microsoft.com/office/drawing/2014/main" id="{3995FDBF-3AF1-4D51-868B-DAEA160770E6}"/>
              </a:ext>
            </a:extLst>
          </p:cNvPr>
          <p:cNvSpPr>
            <a:spLocks xmlns:a="http://schemas.openxmlformats.org/drawingml/2006/main" noGrp="1"/>
          </p:cNvSpPr>
          <p:nvPr/>
        </p:nvSpPr>
        <p:spPr>
          <a:xfrm xmlns:a="http://schemas.openxmlformats.org/drawingml/2006/main">
            <a:off x="857250"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X4</a:t>
            </a:r>
          </a:p>
        </p:txBody>
      </p:sp>
      <p:sp>
        <p:nvSpPr>
          <p:cNvPr id="7" name="SCM node X5">
            <a:extLst xmlns:a="http://schemas.openxmlformats.org/drawingml/2006/main">
              <a:ext uri="{FF2B5EF4-FFF2-40B4-BE49-F238E27FC236}">
                <a16:creationId xmlns:a16="http://schemas.microsoft.com/office/drawing/2014/main" id="{CA4F4A95-D33E-438C-A439-D85E4F38EAE9}"/>
              </a:ext>
            </a:extLst>
          </p:cNvPr>
          <p:cNvSpPr>
            <a:spLocks xmlns:a="http://schemas.openxmlformats.org/drawingml/2006/main" noGrp="1"/>
          </p:cNvSpPr>
          <p:nvPr/>
        </p:nvSpPr>
        <p:spPr>
          <a:xfrm xmlns:a="http://schemas.openxmlformats.org/drawingml/2006/main">
            <a:off x="857250"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X5</a:t>
            </a:r>
          </a:p>
        </p:txBody>
      </p:sp>
      <p:sp>
        <p:nvSpPr>
          <p:cNvPr id="8" name="SCM node X6">
            <a:extLst xmlns:a="http://schemas.openxmlformats.org/drawingml/2006/main">
              <a:ext uri="{FF2B5EF4-FFF2-40B4-BE49-F238E27FC236}">
                <a16:creationId xmlns:a16="http://schemas.microsoft.com/office/drawing/2014/main" id="{613489C6-F96D-42E3-954F-45F0DB9832B9}"/>
              </a:ext>
            </a:extLst>
          </p:cNvPr>
          <p:cNvSpPr>
            <a:spLocks xmlns:a="http://schemas.openxmlformats.org/drawingml/2006/main" noGrp="1"/>
          </p:cNvSpPr>
          <p:nvPr/>
        </p:nvSpPr>
        <p:spPr>
          <a:xfrm xmlns:a="http://schemas.openxmlformats.org/drawingml/2006/main">
            <a:off x="2809875"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X6</a:t>
            </a:r>
          </a:p>
        </p:txBody>
      </p:sp>
      <p:sp>
        <p:nvSpPr>
          <p:cNvPr id="9" name="SCM node X7">
            <a:extLst xmlns:a="http://schemas.openxmlformats.org/drawingml/2006/main">
              <a:ext uri="{FF2B5EF4-FFF2-40B4-BE49-F238E27FC236}">
                <a16:creationId xmlns:a16="http://schemas.microsoft.com/office/drawing/2014/main" id="{377DE729-4BAF-436E-9389-C4EB4178C82A}"/>
              </a:ext>
            </a:extLst>
          </p:cNvPr>
          <p:cNvSpPr>
            <a:spLocks xmlns:a="http://schemas.openxmlformats.org/drawingml/2006/main" noGrp="1"/>
          </p:cNvSpPr>
          <p:nvPr/>
        </p:nvSpPr>
        <p:spPr>
          <a:xfrm xmlns:a="http://schemas.openxmlformats.org/drawingml/2006/main">
            <a:off x="2809875" y="2867025"/>
            <a:ext cx="571500" cy="304800"/>
          </a:xfrm>
          <a:prstGeom xmlns:a="http://schemas.openxmlformats.org/drawingml/2006/main" prst="ellipse">
            <a:avLst/>
          </a:prstGeom>
          <a:solidFill xmlns:a="http://schemas.openxmlformats.org/drawingml/2006/main">
            <a:srgbClr val="B95435"/>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X7</a:t>
            </a:r>
          </a:p>
        </p:txBody>
      </p:sp>
      <p:sp>
        <p:nvSpPr>
          <p:cNvPr id="10" name="SCM node X8">
            <a:extLst xmlns:a="http://schemas.openxmlformats.org/drawingml/2006/main">
              <a:ext uri="{FF2B5EF4-FFF2-40B4-BE49-F238E27FC236}">
                <a16:creationId xmlns:a16="http://schemas.microsoft.com/office/drawing/2014/main" id="{0431DACD-F0C5-4E9C-8F46-AC3E2D903A73}"/>
              </a:ext>
            </a:extLst>
          </p:cNvPr>
          <p:cNvSpPr>
            <a:spLocks xmlns:a="http://schemas.openxmlformats.org/drawingml/2006/main" noGrp="1"/>
          </p:cNvSpPr>
          <p:nvPr/>
        </p:nvSpPr>
        <p:spPr>
          <a:xfrm xmlns:a="http://schemas.openxmlformats.org/drawingml/2006/main">
            <a:off x="2809875"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X8</a:t>
            </a:r>
          </a:p>
        </p:txBody>
      </p:sp>
      <p:sp>
        <p:nvSpPr>
          <p:cNvPr id="11" name="SCM node X9">
            <a:extLst xmlns:a="http://schemas.openxmlformats.org/drawingml/2006/main">
              <a:ext uri="{FF2B5EF4-FFF2-40B4-BE49-F238E27FC236}">
                <a16:creationId xmlns:a16="http://schemas.microsoft.com/office/drawing/2014/main" id="{27F3CF54-1701-43B5-BAAC-14B5D95B57E6}"/>
              </a:ext>
            </a:extLst>
          </p:cNvPr>
          <p:cNvSpPr>
            <a:spLocks xmlns:a="http://schemas.openxmlformats.org/drawingml/2006/main" noGrp="1"/>
          </p:cNvSpPr>
          <p:nvPr/>
        </p:nvSpPr>
        <p:spPr>
          <a:xfrm xmlns:a="http://schemas.openxmlformats.org/drawingml/2006/main">
            <a:off x="2809875"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X9</a:t>
            </a:r>
          </a:p>
        </p:txBody>
      </p:sp>
      <p:sp>
        <p:nvSpPr>
          <p:cNvPr id="12" name="SCM node X10">
            <a:extLst xmlns:a="http://schemas.openxmlformats.org/drawingml/2006/main">
              <a:ext uri="{FF2B5EF4-FFF2-40B4-BE49-F238E27FC236}">
                <a16:creationId xmlns:a16="http://schemas.microsoft.com/office/drawing/2014/main" id="{23634AB5-D904-4549-8C72-068883401F8C}"/>
              </a:ext>
            </a:extLst>
          </p:cNvPr>
          <p:cNvSpPr>
            <a:spLocks xmlns:a="http://schemas.openxmlformats.org/drawingml/2006/main" noGrp="1"/>
          </p:cNvSpPr>
          <p:nvPr/>
        </p:nvSpPr>
        <p:spPr>
          <a:xfrm xmlns:a="http://schemas.openxmlformats.org/drawingml/2006/main">
            <a:off x="2809875"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X10</a:t>
            </a:r>
          </a:p>
        </p:txBody>
      </p:sp>
      <p:sp>
        <p:nvSpPr>
          <p:cNvPr id="13" name="SCM node X11">
            <a:extLst xmlns:a="http://schemas.openxmlformats.org/drawingml/2006/main">
              <a:ext uri="{FF2B5EF4-FFF2-40B4-BE49-F238E27FC236}">
                <a16:creationId xmlns:a16="http://schemas.microsoft.com/office/drawing/2014/main" id="{4B7B2745-7C6D-4094-9E23-0E5865EB92F8}"/>
              </a:ext>
            </a:extLst>
          </p:cNvPr>
          <p:cNvSpPr>
            <a:spLocks xmlns:a="http://schemas.openxmlformats.org/drawingml/2006/main" noGrp="1"/>
          </p:cNvSpPr>
          <p:nvPr/>
        </p:nvSpPr>
        <p:spPr>
          <a:xfrm xmlns:a="http://schemas.openxmlformats.org/drawingml/2006/main">
            <a:off x="4762500" y="19859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X11</a:t>
            </a:r>
          </a:p>
        </p:txBody>
      </p:sp>
      <p:sp>
        <p:nvSpPr>
          <p:cNvPr id="14" name="SCM node X12">
            <a:extLst xmlns:a="http://schemas.openxmlformats.org/drawingml/2006/main">
              <a:ext uri="{FF2B5EF4-FFF2-40B4-BE49-F238E27FC236}">
                <a16:creationId xmlns:a16="http://schemas.microsoft.com/office/drawing/2014/main" id="{D12AD5B0-DE42-41E9-8D5D-D7520E041B0D}"/>
              </a:ext>
            </a:extLst>
          </p:cNvPr>
          <p:cNvSpPr>
            <a:spLocks xmlns:a="http://schemas.openxmlformats.org/drawingml/2006/main" noGrp="1"/>
          </p:cNvSpPr>
          <p:nvPr/>
        </p:nvSpPr>
        <p:spPr>
          <a:xfrm xmlns:a="http://schemas.openxmlformats.org/drawingml/2006/main">
            <a:off x="4762500" y="23383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X12</a:t>
            </a:r>
          </a:p>
        </p:txBody>
      </p:sp>
      <p:sp>
        <p:nvSpPr>
          <p:cNvPr id="15" name="SCM node X13">
            <a:extLst xmlns:a="http://schemas.openxmlformats.org/drawingml/2006/main">
              <a:ext uri="{FF2B5EF4-FFF2-40B4-BE49-F238E27FC236}">
                <a16:creationId xmlns:a16="http://schemas.microsoft.com/office/drawing/2014/main" id="{05DDED23-6027-4CAB-88DB-8BA549EEA975}"/>
              </a:ext>
            </a:extLst>
          </p:cNvPr>
          <p:cNvSpPr>
            <a:spLocks xmlns:a="http://schemas.openxmlformats.org/drawingml/2006/main" noGrp="1"/>
          </p:cNvSpPr>
          <p:nvPr/>
        </p:nvSpPr>
        <p:spPr>
          <a:xfrm xmlns:a="http://schemas.openxmlformats.org/drawingml/2006/main">
            <a:off x="4762500" y="269081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X13</a:t>
            </a:r>
          </a:p>
        </p:txBody>
      </p:sp>
      <p:sp>
        <p:nvSpPr>
          <p:cNvPr id="16" name="SCM node X14">
            <a:extLst xmlns:a="http://schemas.openxmlformats.org/drawingml/2006/main">
              <a:ext uri="{FF2B5EF4-FFF2-40B4-BE49-F238E27FC236}">
                <a16:creationId xmlns:a16="http://schemas.microsoft.com/office/drawing/2014/main" id="{7E23D59A-FB34-4C57-874E-525EE5766F54}"/>
              </a:ext>
            </a:extLst>
          </p:cNvPr>
          <p:cNvSpPr>
            <a:spLocks xmlns:a="http://schemas.openxmlformats.org/drawingml/2006/main" noGrp="1"/>
          </p:cNvSpPr>
          <p:nvPr/>
        </p:nvSpPr>
        <p:spPr>
          <a:xfrm xmlns:a="http://schemas.openxmlformats.org/drawingml/2006/main">
            <a:off x="4762500" y="304323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X14</a:t>
            </a:r>
          </a:p>
        </p:txBody>
      </p:sp>
      <p:sp>
        <p:nvSpPr>
          <p:cNvPr id="17" name="SCM node X15">
            <a:extLst xmlns:a="http://schemas.openxmlformats.org/drawingml/2006/main">
              <a:ext uri="{FF2B5EF4-FFF2-40B4-BE49-F238E27FC236}">
                <a16:creationId xmlns:a16="http://schemas.microsoft.com/office/drawing/2014/main" id="{B6B43BEE-7A3D-4813-9759-621219C39936}"/>
              </a:ext>
            </a:extLst>
          </p:cNvPr>
          <p:cNvSpPr>
            <a:spLocks xmlns:a="http://schemas.openxmlformats.org/drawingml/2006/main" noGrp="1"/>
          </p:cNvSpPr>
          <p:nvPr/>
        </p:nvSpPr>
        <p:spPr>
          <a:xfrm xmlns:a="http://schemas.openxmlformats.org/drawingml/2006/main">
            <a:off x="4762500" y="33956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X15</a:t>
            </a:r>
          </a:p>
        </p:txBody>
      </p:sp>
      <p:sp>
        <p:nvSpPr>
          <p:cNvPr id="18" name="SCM node X16">
            <a:extLst xmlns:a="http://schemas.openxmlformats.org/drawingml/2006/main">
              <a:ext uri="{FF2B5EF4-FFF2-40B4-BE49-F238E27FC236}">
                <a16:creationId xmlns:a16="http://schemas.microsoft.com/office/drawing/2014/main" id="{2FAEFE0F-84FA-4367-8BE6-9C8E0479776B}"/>
              </a:ext>
            </a:extLst>
          </p:cNvPr>
          <p:cNvSpPr>
            <a:spLocks xmlns:a="http://schemas.openxmlformats.org/drawingml/2006/main" noGrp="1"/>
          </p:cNvSpPr>
          <p:nvPr/>
        </p:nvSpPr>
        <p:spPr>
          <a:xfrm xmlns:a="http://schemas.openxmlformats.org/drawingml/2006/main">
            <a:off x="4762500" y="37480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X16</a:t>
            </a:r>
          </a:p>
        </p:txBody>
      </p:sp>
      <p:sp>
        <p:nvSpPr>
          <p:cNvPr id="19" name="SCM node X17">
            <a:extLst xmlns:a="http://schemas.openxmlformats.org/drawingml/2006/main">
              <a:ext uri="{FF2B5EF4-FFF2-40B4-BE49-F238E27FC236}">
                <a16:creationId xmlns:a16="http://schemas.microsoft.com/office/drawing/2014/main" id="{DECDFBEA-9BA4-4EA9-9D7C-F1A98BDCF460}"/>
              </a:ext>
            </a:extLst>
          </p:cNvPr>
          <p:cNvSpPr>
            <a:spLocks xmlns:a="http://schemas.openxmlformats.org/drawingml/2006/main" noGrp="1"/>
          </p:cNvSpPr>
          <p:nvPr/>
        </p:nvSpPr>
        <p:spPr>
          <a:xfrm xmlns:a="http://schemas.openxmlformats.org/drawingml/2006/main">
            <a:off x="4762500" y="410051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X17</a:t>
            </a:r>
          </a:p>
        </p:txBody>
      </p:sp>
      <p:sp>
        <p:nvSpPr>
          <p:cNvPr id="20" name="SCM node X18">
            <a:extLst xmlns:a="http://schemas.openxmlformats.org/drawingml/2006/main">
              <a:ext uri="{FF2B5EF4-FFF2-40B4-BE49-F238E27FC236}">
                <a16:creationId xmlns:a16="http://schemas.microsoft.com/office/drawing/2014/main" id="{9DEEB74F-E3EF-466C-B9D8-A287B49B1518}"/>
              </a:ext>
            </a:extLst>
          </p:cNvPr>
          <p:cNvSpPr>
            <a:spLocks xmlns:a="http://schemas.openxmlformats.org/drawingml/2006/main" noGrp="1"/>
          </p:cNvSpPr>
          <p:nvPr/>
        </p:nvSpPr>
        <p:spPr>
          <a:xfrm xmlns:a="http://schemas.openxmlformats.org/drawingml/2006/main">
            <a:off x="4762500" y="445293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X18</a:t>
            </a:r>
          </a:p>
        </p:txBody>
      </p:sp>
      <p:sp>
        <p:nvSpPr>
          <p:cNvPr id="21" name="SCM node X19">
            <a:extLst xmlns:a="http://schemas.openxmlformats.org/drawingml/2006/main">
              <a:ext uri="{FF2B5EF4-FFF2-40B4-BE49-F238E27FC236}">
                <a16:creationId xmlns:a16="http://schemas.microsoft.com/office/drawing/2014/main" id="{19736E61-5589-442B-89F8-51B6FEAA0499}"/>
              </a:ext>
            </a:extLst>
          </p:cNvPr>
          <p:cNvSpPr>
            <a:spLocks xmlns:a="http://schemas.openxmlformats.org/drawingml/2006/main" noGrp="1"/>
          </p:cNvSpPr>
          <p:nvPr/>
        </p:nvSpPr>
        <p:spPr>
          <a:xfrm xmlns:a="http://schemas.openxmlformats.org/drawingml/2006/main">
            <a:off x="4762500" y="48053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X19</a:t>
            </a:r>
          </a:p>
        </p:txBody>
      </p:sp>
      <p:sp>
        <p:nvSpPr>
          <p:cNvPr id="22" name="SCM node X20">
            <a:extLst xmlns:a="http://schemas.openxmlformats.org/drawingml/2006/main">
              <a:ext uri="{FF2B5EF4-FFF2-40B4-BE49-F238E27FC236}">
                <a16:creationId xmlns:a16="http://schemas.microsoft.com/office/drawing/2014/main" id="{2244BD4E-4D39-4919-B76B-49F19FEFFB39}"/>
              </a:ext>
            </a:extLst>
          </p:cNvPr>
          <p:cNvSpPr>
            <a:spLocks xmlns:a="http://schemas.openxmlformats.org/drawingml/2006/main" noGrp="1"/>
          </p:cNvSpPr>
          <p:nvPr/>
        </p:nvSpPr>
        <p:spPr>
          <a:xfrm xmlns:a="http://schemas.openxmlformats.org/drawingml/2006/main">
            <a:off x="4762500" y="51577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X20</a:t>
            </a:r>
          </a:p>
        </p:txBody>
      </p:sp>
      <p:sp>
        <p:nvSpPr>
          <p:cNvPr id="23" name="SCM node X21">
            <a:extLst xmlns:a="http://schemas.openxmlformats.org/drawingml/2006/main">
              <a:ext uri="{FF2B5EF4-FFF2-40B4-BE49-F238E27FC236}">
                <a16:creationId xmlns:a16="http://schemas.microsoft.com/office/drawing/2014/main" id="{A933F78D-6A2E-474F-89E2-DB7666596A28}"/>
              </a:ext>
            </a:extLst>
          </p:cNvPr>
          <p:cNvSpPr>
            <a:spLocks xmlns:a="http://schemas.openxmlformats.org/drawingml/2006/main" noGrp="1"/>
          </p:cNvSpPr>
          <p:nvPr/>
        </p:nvSpPr>
        <p:spPr>
          <a:xfrm xmlns:a="http://schemas.openxmlformats.org/drawingml/2006/main">
            <a:off x="6715125"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X21</a:t>
            </a:r>
          </a:p>
        </p:txBody>
      </p:sp>
      <p:sp>
        <p:nvSpPr>
          <p:cNvPr id="24" name="SCM node X22">
            <a:extLst xmlns:a="http://schemas.openxmlformats.org/drawingml/2006/main">
              <a:ext uri="{FF2B5EF4-FFF2-40B4-BE49-F238E27FC236}">
                <a16:creationId xmlns:a16="http://schemas.microsoft.com/office/drawing/2014/main" id="{A582E7BA-8F90-4944-AD7F-E05A11A5CFD5}"/>
              </a:ext>
            </a:extLst>
          </p:cNvPr>
          <p:cNvSpPr>
            <a:spLocks xmlns:a="http://schemas.openxmlformats.org/drawingml/2006/main" noGrp="1"/>
          </p:cNvSpPr>
          <p:nvPr/>
        </p:nvSpPr>
        <p:spPr>
          <a:xfrm xmlns:a="http://schemas.openxmlformats.org/drawingml/2006/main">
            <a:off x="6715125"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X22</a:t>
            </a:r>
          </a:p>
        </p:txBody>
      </p:sp>
      <p:sp>
        <p:nvSpPr>
          <p:cNvPr id="25" name="SCM node X23">
            <a:extLst xmlns:a="http://schemas.openxmlformats.org/drawingml/2006/main">
              <a:ext uri="{FF2B5EF4-FFF2-40B4-BE49-F238E27FC236}">
                <a16:creationId xmlns:a16="http://schemas.microsoft.com/office/drawing/2014/main" id="{916D0B68-87B6-4631-A7DB-72E393E156D5}"/>
              </a:ext>
            </a:extLst>
          </p:cNvPr>
          <p:cNvSpPr>
            <a:spLocks xmlns:a="http://schemas.openxmlformats.org/drawingml/2006/main" noGrp="1"/>
          </p:cNvSpPr>
          <p:nvPr/>
        </p:nvSpPr>
        <p:spPr>
          <a:xfrm xmlns:a="http://schemas.openxmlformats.org/drawingml/2006/main">
            <a:off x="6715125"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X23</a:t>
            </a:r>
          </a:p>
        </p:txBody>
      </p:sp>
      <p:sp>
        <p:nvSpPr>
          <p:cNvPr id="26" name="SCM node X24">
            <a:extLst xmlns:a="http://schemas.openxmlformats.org/drawingml/2006/main">
              <a:ext uri="{FF2B5EF4-FFF2-40B4-BE49-F238E27FC236}">
                <a16:creationId xmlns:a16="http://schemas.microsoft.com/office/drawing/2014/main" id="{1C76702E-37F2-44A8-B900-D6E307DEF48F}"/>
              </a:ext>
            </a:extLst>
          </p:cNvPr>
          <p:cNvSpPr>
            <a:spLocks xmlns:a="http://schemas.openxmlformats.org/drawingml/2006/main" noGrp="1"/>
          </p:cNvSpPr>
          <p:nvPr/>
        </p:nvSpPr>
        <p:spPr>
          <a:xfrm xmlns:a="http://schemas.openxmlformats.org/drawingml/2006/main">
            <a:off x="6715125"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X24</a:t>
            </a:r>
          </a:p>
        </p:txBody>
      </p:sp>
      <p:sp>
        <p:nvSpPr>
          <p:cNvPr id="27" name="SCM node X25">
            <a:extLst xmlns:a="http://schemas.openxmlformats.org/drawingml/2006/main">
              <a:ext uri="{FF2B5EF4-FFF2-40B4-BE49-F238E27FC236}">
                <a16:creationId xmlns:a16="http://schemas.microsoft.com/office/drawing/2014/main" id="{8EA605AE-B4D0-4C5A-971F-4B7168FADF17}"/>
              </a:ext>
            </a:extLst>
          </p:cNvPr>
          <p:cNvSpPr>
            <a:spLocks xmlns:a="http://schemas.openxmlformats.org/drawingml/2006/main" noGrp="1"/>
          </p:cNvSpPr>
          <p:nvPr/>
        </p:nvSpPr>
        <p:spPr>
          <a:xfrm xmlns:a="http://schemas.openxmlformats.org/drawingml/2006/main">
            <a:off x="6715125"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X25</a:t>
            </a:r>
          </a:p>
        </p:txBody>
      </p:sp>
      <p:sp>
        <p:nvSpPr>
          <p:cNvPr id="28" name="SCM node X26">
            <a:extLst xmlns:a="http://schemas.openxmlformats.org/drawingml/2006/main">
              <a:ext uri="{FF2B5EF4-FFF2-40B4-BE49-F238E27FC236}">
                <a16:creationId xmlns:a16="http://schemas.microsoft.com/office/drawing/2014/main" id="{84CE7069-C03B-4787-86B6-D8C34480AD6B}"/>
              </a:ext>
            </a:extLst>
          </p:cNvPr>
          <p:cNvSpPr>
            <a:spLocks xmlns:a="http://schemas.openxmlformats.org/drawingml/2006/main" noGrp="1"/>
          </p:cNvSpPr>
          <p:nvPr/>
        </p:nvSpPr>
        <p:spPr>
          <a:xfrm xmlns:a="http://schemas.openxmlformats.org/drawingml/2006/main">
            <a:off x="8667750"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X26</a:t>
            </a:r>
          </a:p>
        </p:txBody>
      </p:sp>
      <p:sp>
        <p:nvSpPr>
          <p:cNvPr id="29" name="SCM node X27">
            <a:extLst xmlns:a="http://schemas.openxmlformats.org/drawingml/2006/main">
              <a:ext uri="{FF2B5EF4-FFF2-40B4-BE49-F238E27FC236}">
                <a16:creationId xmlns:a16="http://schemas.microsoft.com/office/drawing/2014/main" id="{AEE9990D-FA20-42AB-82DC-CC70B25B7A81}"/>
              </a:ext>
            </a:extLst>
          </p:cNvPr>
          <p:cNvSpPr>
            <a:spLocks xmlns:a="http://schemas.openxmlformats.org/drawingml/2006/main" noGrp="1"/>
          </p:cNvSpPr>
          <p:nvPr/>
        </p:nvSpPr>
        <p:spPr>
          <a:xfrm xmlns:a="http://schemas.openxmlformats.org/drawingml/2006/main">
            <a:off x="8667750"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X27</a:t>
            </a:r>
          </a:p>
        </p:txBody>
      </p:sp>
      <p:sp>
        <p:nvSpPr>
          <p:cNvPr id="30" name="SCM node X28">
            <a:extLst xmlns:a="http://schemas.openxmlformats.org/drawingml/2006/main">
              <a:ext uri="{FF2B5EF4-FFF2-40B4-BE49-F238E27FC236}">
                <a16:creationId xmlns:a16="http://schemas.microsoft.com/office/drawing/2014/main" id="{F7ACA518-DDEA-4D2E-964A-5DA933AC1F1E}"/>
              </a:ext>
            </a:extLst>
          </p:cNvPr>
          <p:cNvSpPr>
            <a:spLocks xmlns:a="http://schemas.openxmlformats.org/drawingml/2006/main" noGrp="1"/>
          </p:cNvSpPr>
          <p:nvPr/>
        </p:nvSpPr>
        <p:spPr>
          <a:xfrm xmlns:a="http://schemas.openxmlformats.org/drawingml/2006/main">
            <a:off x="8667750"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X28</a:t>
            </a:r>
          </a:p>
        </p:txBody>
      </p:sp>
      <p:sp>
        <p:nvSpPr>
          <p:cNvPr id="31" name="SCM node X29">
            <a:extLst xmlns:a="http://schemas.openxmlformats.org/drawingml/2006/main">
              <a:ext uri="{FF2B5EF4-FFF2-40B4-BE49-F238E27FC236}">
                <a16:creationId xmlns:a16="http://schemas.microsoft.com/office/drawing/2014/main" id="{BC51657B-7619-45A9-9A0D-599EEB262DDE}"/>
              </a:ext>
            </a:extLst>
          </p:cNvPr>
          <p:cNvSpPr>
            <a:spLocks xmlns:a="http://schemas.openxmlformats.org/drawingml/2006/main" noGrp="1"/>
          </p:cNvSpPr>
          <p:nvPr/>
        </p:nvSpPr>
        <p:spPr>
          <a:xfrm xmlns:a="http://schemas.openxmlformats.org/drawingml/2006/main">
            <a:off x="8667750"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X29</a:t>
            </a:r>
          </a:p>
        </p:txBody>
      </p:sp>
      <p:sp>
        <p:nvSpPr>
          <p:cNvPr id="32" name="SCM node X30">
            <a:extLst xmlns:a="http://schemas.openxmlformats.org/drawingml/2006/main">
              <a:ext uri="{FF2B5EF4-FFF2-40B4-BE49-F238E27FC236}">
                <a16:creationId xmlns:a16="http://schemas.microsoft.com/office/drawing/2014/main" id="{B65B8AE7-7EF4-4F5F-9A9F-091D981136FB}"/>
              </a:ext>
            </a:extLst>
          </p:cNvPr>
          <p:cNvSpPr>
            <a:spLocks xmlns:a="http://schemas.openxmlformats.org/drawingml/2006/main" noGrp="1"/>
          </p:cNvSpPr>
          <p:nvPr/>
        </p:nvSpPr>
        <p:spPr>
          <a:xfrm xmlns:a="http://schemas.openxmlformats.org/drawingml/2006/main">
            <a:off x="8667750"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X30</a:t>
            </a:r>
          </a:p>
        </p:txBody>
      </p:sp>
      <p:sp>
        <p:nvSpPr>
          <p:cNvPr id="73" name="First selected action: do(X7">
            <a:extLst xmlns:a="http://schemas.openxmlformats.org/drawingml/2006/main">
              <a:ext uri="{FF2B5EF4-FFF2-40B4-BE49-F238E27FC236}">
                <a16:creationId xmlns:a16="http://schemas.microsoft.com/office/drawing/2014/main" id="{D925E843-F1AA-469E-9742-CA8A52D6C531}"/>
              </a:ext>
            </a:extLst>
          </p:cNvPr>
          <p:cNvSpPr>
            <a:spLocks xmlns:a="http://schemas.openxmlformats.org/drawingml/2006/main" noGrp="1"/>
          </p:cNvSpPr>
          <p:nvPr/>
        </p:nvSpPr>
        <p:spPr>
          <a:xfrm xmlns:a="http://schemas.openxmlformats.org/drawingml/2006/main">
            <a:off x="609600" y="54102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First selected action: do(X7 = 3.8571)  →  50 responses</a:t>
            </a:r>
          </a:p>
        </p:txBody>
      </p:sp>
      <p:sp>
        <p:nvSpPr>
          <p:cNvPr id="74" name="Arrows point from cause to e">
            <a:extLst xmlns:a="http://schemas.openxmlformats.org/drawingml/2006/main">
              <a:ext uri="{FF2B5EF4-FFF2-40B4-BE49-F238E27FC236}">
                <a16:creationId xmlns:a16="http://schemas.microsoft.com/office/drawing/2014/main" id="{71184435-56D8-49AD-BCE5-191C630D5C96}"/>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Arrows point from cause to effect. Coral follows the X7 intervention downstream · archived seed 5000.</a:t>
            </a:r>
          </a:p>
        </p:txBody>
      </p:sp>
    </p:spTree>
    <p:extLst>
      <p:ext uri="{BB962C8B-B14F-4D97-AF65-F5344CB8AC3E}">
        <p14:creationId xmlns:p14="http://schemas.microsoft.com/office/powerpoint/2010/main" val="1397722643"/>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71E6861-A758-4115-977B-DC64D1A6EF3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65% lower final prediction error</a:t>
            </a:r>
          </a:p>
        </p:txBody>
      </p:sp>
      <p:sp>
        <p:nvSpPr>
          <p:cNvPr id="2" name="page">
            <a:extLst xmlns:a="http://schemas.openxmlformats.org/drawingml/2006/main">
              <a:ext uri="{FF2B5EF4-FFF2-40B4-BE49-F238E27FC236}">
                <a16:creationId xmlns:a16="http://schemas.microsoft.com/office/drawing/2014/main" id="{A365967A-7949-4DF4-BCBC-887969CC1D5C}"/>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11</a:t>
            </a:r>
          </a:p>
        </p:txBody>
      </p:sp>
      <p:sp>
        <p:nvSpPr>
          <p:cNvPr id="3" name="19 of 20 systems won · equal">
            <a:extLst xmlns:a="http://schemas.openxmlformats.org/drawingml/2006/main">
              <a:ext uri="{FF2B5EF4-FFF2-40B4-BE49-F238E27FC236}">
                <a16:creationId xmlns:a16="http://schemas.microsoft.com/office/drawing/2014/main" id="{043778FA-9411-4593-9525-BD819AC80017}"/>
              </a:ext>
            </a:extLst>
          </p:cNvPr>
          <p:cNvSpPr>
            <a:spLocks xmlns:a="http://schemas.openxmlformats.org/drawingml/2006/main" noGrp="1"/>
          </p:cNvSpPr>
          <p:nvPr/>
        </p:nvSpPr>
        <p:spPr>
          <a:xfrm xmlns:a="http://schemas.openxmlformats.org/drawingml/2006/main">
            <a:off x="609600" y="1476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19 of 20 systems won · equal budgets · lower error is better</a:t>
            </a:r>
          </a:p>
        </p:txBody>
      </p:sp>
      <p:sp>
        <p:nvSpPr>
          <p:cNvPr id="4" name="Full recorded curve">
            <a:extLst xmlns:a="http://schemas.openxmlformats.org/drawingml/2006/main">
              <a:ext uri="{FF2B5EF4-FFF2-40B4-BE49-F238E27FC236}">
                <a16:creationId xmlns:a16="http://schemas.microsoft.com/office/drawing/2014/main" id="{D03864F6-EA53-43B5-8033-C7E2EED8240E}"/>
              </a:ext>
            </a:extLst>
          </p:cNvPr>
          <p:cNvSpPr>
            <a:spLocks xmlns:a="http://schemas.openxmlformats.org/drawingml/2006/main" noGrp="1"/>
          </p:cNvSpPr>
          <p:nvPr/>
        </p:nvSpPr>
        <p:spPr>
          <a:xfrm xmlns:a="http://schemas.openxmlformats.org/drawingml/2006/main">
            <a:off x="609600" y="2085975"/>
            <a:ext cx="3667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13A"/>
                </a:solidFill>
                <a:latin typeface="Helvetica Neue"/>
                <a:ea typeface="Helvetica Neue"/>
                <a:cs typeface="Helvetica Neue"/>
              </a:defRPr>
            </a:defPPr>
          </a:lstStyle>
          <a:p xmlns:a="http://schemas.openxmlformats.org/drawingml/2006/main">
            <a:pPr>
              <a:buNone/>
              <a:defRPr sz="1875" b="1">
                <a:solidFill>
                  <a:srgbClr val="16313A"/>
                </a:solidFill>
                <a:latin typeface="Helvetica Neue"/>
                <a:ea typeface="Helvetica Neue"/>
                <a:cs typeface="Helvetica Neue"/>
              </a:defRPr>
            </a:pPr>
            <a:r>
              <a:rPr sz="1875" b="1">
                <a:solidFill>
                  <a:srgbClr val="16313A"/>
                </a:solidFill>
                <a:latin typeface="Helvetica Neue"/>
                <a:ea typeface="Helvetica Neue"/>
                <a:cs typeface="Helvetica Neue"/>
              </a:rPr>
              <a:t>Full recorded curve</a:t>
            </a:r>
          </a:p>
        </p:txBody>
      </p:sp>
      <p:sp>
        <p:nvSpPr>
          <p:cNvPr id="5" name="Detail: batches 4–32">
            <a:extLst xmlns:a="http://schemas.openxmlformats.org/drawingml/2006/main">
              <a:ext uri="{FF2B5EF4-FFF2-40B4-BE49-F238E27FC236}">
                <a16:creationId xmlns:a16="http://schemas.microsoft.com/office/drawing/2014/main" id="{A25E205F-83B9-4AED-9ACC-39658B911F38}"/>
              </a:ext>
            </a:extLst>
          </p:cNvPr>
          <p:cNvSpPr>
            <a:spLocks xmlns:a="http://schemas.openxmlformats.org/drawingml/2006/main" noGrp="1"/>
          </p:cNvSpPr>
          <p:nvPr/>
        </p:nvSpPr>
        <p:spPr>
          <a:xfrm xmlns:a="http://schemas.openxmlformats.org/drawingml/2006/main">
            <a:off x="4600575" y="208597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13A"/>
                </a:solidFill>
                <a:latin typeface="Helvetica Neue"/>
                <a:ea typeface="Helvetica Neue"/>
                <a:cs typeface="Helvetica Neue"/>
              </a:defRPr>
            </a:defPPr>
          </a:lstStyle>
          <a:p xmlns:a="http://schemas.openxmlformats.org/drawingml/2006/main">
            <a:pPr>
              <a:buNone/>
              <a:defRPr sz="1875" b="1">
                <a:solidFill>
                  <a:srgbClr val="16313A"/>
                </a:solidFill>
                <a:latin typeface="Helvetica Neue"/>
                <a:ea typeface="Helvetica Neue"/>
                <a:cs typeface="Helvetica Neue"/>
              </a:defRPr>
            </a:pPr>
            <a:r>
              <a:rPr sz="1875" b="1">
                <a:solidFill>
                  <a:srgbClr val="16313A"/>
                </a:solidFill>
                <a:latin typeface="Helvetica Neue"/>
                <a:ea typeface="Helvetica Neue"/>
                <a:cs typeface="Helvetica Neue"/>
              </a:rPr>
              <a:t>Detail: batches 4–32</a:t>
            </a:r>
          </a:p>
        </p:txBody>
      </p:sp>
      <p:graphicFrame>
        <p:nvGraphicFramePr>
          <p:cNvPr id="6" name="Chart">
            <a:extLst xmlns:a="http://schemas.openxmlformats.org/drawingml/2006/main">
              <a:ext uri="{FF2B5EF4-FFF2-40B4-BE49-F238E27FC236}">
                <a16:creationId xmlns:a16="http://schemas.microsoft.com/office/drawing/2014/main" id="{FFB24092-D4E3-40C8-8AAB-192FE1E589CF}"/>
              </a:ext>
            </a:extLst>
          </p:cNvPr>
          <p:cNvGraphicFramePr/>
          <p:nvPr/>
        </p:nvGraphicFramePr>
        <p:xfrm>
          <a:off xmlns:a="http://schemas.openxmlformats.org/drawingml/2006/main" x="609600" y="2524125"/>
          <a:ext xmlns:a="http://schemas.openxmlformats.org/drawingml/2006/main" cx="3429000" cy="2638425"/>
        </p:xfrm>
        <a:graphic xmlns:a="http://schemas.openxmlformats.org/drawingml/2006/main">
          <a:graphicData uri="http://schemas.openxmlformats.org/drawingml/2006/chart">
            <c:chart xmlns:r="http://schemas.openxmlformats.org/officeDocument/2006/relationships" xmlns:c="http://schemas.openxmlformats.org/drawingml/2006/chart" r:id="Rf97442746bc0426a"/>
          </a:graphicData>
        </a:graphic>
      </p:graphicFrame>
      <p:graphicFrame>
        <p:nvGraphicFramePr>
          <p:cNvPr id="7" name="Chart">
            <a:extLst xmlns:a="http://schemas.openxmlformats.org/drawingml/2006/main">
              <a:ext uri="{FF2B5EF4-FFF2-40B4-BE49-F238E27FC236}">
                <a16:creationId xmlns:a16="http://schemas.microsoft.com/office/drawing/2014/main" id="{9EE1A4A3-7B40-4DD9-B392-33B94E9E271C}"/>
              </a:ext>
            </a:extLst>
          </p:cNvPr>
          <p:cNvGraphicFramePr/>
          <p:nvPr/>
        </p:nvGraphicFramePr>
        <p:xfrm>
          <a:off xmlns:a="http://schemas.openxmlformats.org/drawingml/2006/main" x="4419600" y="2524125"/>
          <a:ext xmlns:a="http://schemas.openxmlformats.org/drawingml/2006/main" cx="7048500" cy="2638425"/>
        </p:xfrm>
        <a:graphic xmlns:a="http://schemas.openxmlformats.org/drawingml/2006/main">
          <a:graphicData uri="http://schemas.openxmlformats.org/drawingml/2006/chart">
            <c:chart xmlns:r="http://schemas.openxmlformats.org/officeDocument/2006/relationships" xmlns:c="http://schemas.openxmlformats.org/drawingml/2006/chart" r:id="R525e59b8f4cc4ced"/>
          </a:graphicData>
        </a:graphic>
      </p:graphicFrame>
      <p:sp>
        <p:nvSpPr>
          <p:cNvPr id="8" name="Final MSE: 0.01543 ACE vs 0.">
            <a:extLst xmlns:a="http://schemas.openxmlformats.org/drawingml/2006/main">
              <a:ext uri="{FF2B5EF4-FFF2-40B4-BE49-F238E27FC236}">
                <a16:creationId xmlns:a16="http://schemas.microsoft.com/office/drawing/2014/main" id="{F79EC544-11BE-48CF-A57B-E1424AC88484}"/>
              </a:ext>
            </a:extLst>
          </p:cNvPr>
          <p:cNvSpPr>
            <a:spLocks xmlns:a="http://schemas.openxmlformats.org/drawingml/2006/main" noGrp="1"/>
          </p:cNvSpPr>
          <p:nvPr/>
        </p:nvSpPr>
        <p:spPr>
          <a:xfrm xmlns:a="http://schemas.openxmlformats.org/drawingml/2006/main">
            <a:off x="609600" y="53435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Final MSE: 0.01543 ACE vs 0.04390 random  |  19 / 20 wins</a:t>
            </a:r>
          </a:p>
        </p:txBody>
      </p:sp>
      <p:sp>
        <p:nvSpPr>
          <p:cNvPr id="9" name="20 synthetic systems · 2,000">
            <a:extLst xmlns:a="http://schemas.openxmlformats.org/drawingml/2006/main">
              <a:ext uri="{FF2B5EF4-FFF2-40B4-BE49-F238E27FC236}">
                <a16:creationId xmlns:a16="http://schemas.microsoft.com/office/drawing/2014/main" id="{4AC7A210-596B-466E-8DA5-83B41669B023}"/>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20 synthetic systems · 2,000 responses per arm · random action selection with the same SCM learner</a:t>
            </a:r>
          </a:p>
        </p:txBody>
      </p:sp>
    </p:spTree>
    <p:extLst>
      <p:ext uri="{BB962C8B-B14F-4D97-AF65-F5344CB8AC3E}">
        <p14:creationId xmlns:p14="http://schemas.microsoft.com/office/powerpoint/2010/main" val="1822347325"/>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CD57019-FF5D-45F6-8423-DB2DDB0E05E6}"/>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buNone/>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64% fewer intervention batches</a:t>
            </a:r>
          </a:p>
        </p:txBody>
      </p:sp>
      <p:sp>
        <p:nvSpPr>
          <p:cNvPr id="2" name="page">
            <a:extLst xmlns:a="http://schemas.openxmlformats.org/drawingml/2006/main">
              <a:ext uri="{FF2B5EF4-FFF2-40B4-BE49-F238E27FC236}">
                <a16:creationId xmlns:a16="http://schemas.microsoft.com/office/drawing/2014/main" id="{92FD1E7C-D006-43FE-83AB-2B33BDF1F132}"/>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12</a:t>
            </a:r>
          </a:p>
        </p:txBody>
      </p:sp>
      <p:graphicFrame>
        <p:nvGraphicFramePr>
          <p:cNvPr id="4" name="Chart">
            <a:extLst xmlns:a="http://schemas.openxmlformats.org/drawingml/2006/main">
              <a:ext uri="{FF2B5EF4-FFF2-40B4-BE49-F238E27FC236}">
                <a16:creationId xmlns:a16="http://schemas.microsoft.com/office/drawing/2014/main" id="{F85D87F3-1420-465B-983B-B0E9548F73E8}"/>
              </a:ext>
            </a:extLst>
          </p:cNvPr>
          <p:cNvGraphicFramePr/>
          <p:nvPr/>
        </p:nvGraphicFramePr>
        <p:xfrm>
          <a:off xmlns:a="http://schemas.openxmlformats.org/drawingml/2006/main" x="609600" y="2266950"/>
          <a:ext xmlns:a="http://schemas.openxmlformats.org/drawingml/2006/main" cx="6381750" cy="2857500"/>
        </p:xfrm>
        <a:graphic xmlns:a="http://schemas.openxmlformats.org/drawingml/2006/main">
          <a:graphicData uri="http://schemas.openxmlformats.org/drawingml/2006/chart">
            <c:chart xmlns:r="http://schemas.openxmlformats.org/officeDocument/2006/relationships" xmlns:c="http://schemas.openxmlformats.org/drawingml/2006/chart" r:id="R4faa712eea9b49ad"/>
          </a:graphicData>
        </a:graphic>
      </p:graphicFrame>
      <p:sp>
        <p:nvSpPr>
          <p:cNvPr id="11" name="MEASURED INTERVENTION BATCHE">
            <a:extLst xmlns:a="http://schemas.openxmlformats.org/drawingml/2006/main">
              <a:ext uri="{FF2B5EF4-FFF2-40B4-BE49-F238E27FC236}">
                <a16:creationId xmlns:a16="http://schemas.microsoft.com/office/drawing/2014/main" id="{03932A5B-348A-4E5A-A9EA-09E7EE6C9963}"/>
              </a:ext>
            </a:extLst>
          </p:cNvPr>
          <p:cNvSpPr>
            <a:spLocks xmlns:a="http://schemas.openxmlformats.org/drawingml/2006/main" noGrp="1"/>
          </p:cNvSpPr>
          <p:nvPr/>
        </p:nvSpPr>
        <p:spPr>
          <a:xfrm xmlns:a="http://schemas.openxmlformats.org/drawingml/2006/main">
            <a:off x="609600" y="1504950"/>
            <a:ext cx="647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87F83"/>
                </a:solidFill>
                <a:latin typeface="Helvetica Neue"/>
                <a:ea typeface="Helvetica Neue"/>
                <a:cs typeface="Helvetica Neue"/>
              </a:defRPr>
            </a:defPPr>
          </a:lstStyle>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MEASURED INTERVENTION BATCHES</a:t>
            </a:r>
          </a:p>
        </p:txBody>
      </p:sp>
      <p:sp>
        <p:nvSpPr>
          <p:cNvPr id="12" name="First mean-curve crossing of">
            <a:extLst xmlns:a="http://schemas.openxmlformats.org/drawingml/2006/main">
              <a:ext uri="{FF2B5EF4-FFF2-40B4-BE49-F238E27FC236}">
                <a16:creationId xmlns:a16="http://schemas.microsoft.com/office/drawing/2014/main" id="{129746B9-AE44-45EE-8210-AA515175A9EA}"/>
              </a:ext>
            </a:extLst>
          </p:cNvPr>
          <p:cNvSpPr>
            <a:spLocks xmlns:a="http://schemas.openxmlformats.org/drawingml/2006/main" noGrp="1"/>
          </p:cNvSpPr>
          <p:nvPr/>
        </p:nvSpPr>
        <p:spPr>
          <a:xfrm xmlns:a="http://schemas.openxmlformats.org/drawingml/2006/main">
            <a:off x="609600" y="1905000"/>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66B"/>
                </a:solidFill>
                <a:latin typeface="Helvetica Neue"/>
                <a:ea typeface="Helvetica Neue"/>
                <a:cs typeface="Helvetica Neue"/>
              </a:defRPr>
            </a:defPPr>
          </a:lstStyle>
          <a:p xmlns:a="http://schemas.openxmlformats.org/drawingml/2006/main">
            <a:pPr>
              <a:defRPr sz="1875" b="0">
                <a:solidFill>
                  <a:srgbClr val="53666B"/>
                </a:solidFill>
                <a:latin typeface="Helvetica Neue"/>
                <a:ea typeface="Helvetica Neue"/>
                <a:cs typeface="Helvetica Neue"/>
              </a:defRPr>
            </a:pPr>
            <a:r>
              <a:rPr sz="1875" b="0">
                <a:solidFill>
                  <a:srgbClr val="53666B"/>
                </a:solidFill>
                <a:latin typeface="Helvetica Neue"/>
                <a:ea typeface="Helvetica Neue"/>
                <a:cs typeface="Helvetica Neue"/>
              </a:rPr>
              <a:t>First mean-curve crossing of MSE ≤ 0.04390</a:t>
            </a:r>
          </a:p>
        </p:txBody>
      </p:sp>
      <p:sp>
        <p:nvSpPr>
          <p:cNvPr id="13" name="64.3% fewer">
            <a:extLst xmlns:a="http://schemas.openxmlformats.org/drawingml/2006/main">
              <a:ext uri="{FF2B5EF4-FFF2-40B4-BE49-F238E27FC236}">
                <a16:creationId xmlns:a16="http://schemas.microsoft.com/office/drawing/2014/main" id="{F637A039-A234-44D1-9295-3E95B0B8A5FF}"/>
              </a:ext>
            </a:extLst>
          </p:cNvPr>
          <p:cNvSpPr>
            <a:spLocks xmlns:a="http://schemas.openxmlformats.org/drawingml/2006/main" noGrp="1"/>
          </p:cNvSpPr>
          <p:nvPr/>
        </p:nvSpPr>
        <p:spPr>
          <a:xfrm xmlns:a="http://schemas.openxmlformats.org/drawingml/2006/main">
            <a:off x="609600" y="529590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087F83"/>
                </a:solidFill>
                <a:latin typeface="Helvetica Neue"/>
                <a:ea typeface="Helvetica Neue"/>
                <a:cs typeface="Helvetica Neue"/>
              </a:defRPr>
            </a:defPPr>
          </a:lstStyle>
          <a:p xmlns:a="http://schemas.openxmlformats.org/drawingml/2006/main">
            <a:pPr>
              <a:defRPr sz="3375" b="1">
                <a:solidFill>
                  <a:srgbClr val="087F83"/>
                </a:solidFill>
                <a:latin typeface="Helvetica Neue"/>
                <a:ea typeface="Helvetica Neue"/>
                <a:cs typeface="Helvetica Neue"/>
              </a:defRPr>
            </a:pPr>
            <a:r>
              <a:rPr sz="3375" b="1">
                <a:solidFill>
                  <a:srgbClr val="087F83"/>
                </a:solidFill>
                <a:latin typeface="Helvetica Neue"/>
                <a:ea typeface="Helvetica Neue"/>
                <a:cs typeface="Helvetica Neue"/>
              </a:rPr>
              <a:t>64.3% fewer</a:t>
            </a:r>
          </a:p>
        </p:txBody>
      </p:sp>
      <p:sp>
        <p:nvSpPr>
          <p:cNvPr id="14" name="1,400 to 500&#10;intervention re">
            <a:extLst xmlns:a="http://schemas.openxmlformats.org/drawingml/2006/main">
              <a:ext uri="{FF2B5EF4-FFF2-40B4-BE49-F238E27FC236}">
                <a16:creationId xmlns:a16="http://schemas.microsoft.com/office/drawing/2014/main" id="{77E229A5-8D24-494D-8F12-6C66B636EE45}"/>
              </a:ext>
            </a:extLst>
          </p:cNvPr>
          <p:cNvSpPr>
            <a:spLocks xmlns:a="http://schemas.openxmlformats.org/drawingml/2006/main" noGrp="1"/>
          </p:cNvSpPr>
          <p:nvPr/>
        </p:nvSpPr>
        <p:spPr>
          <a:xfrm xmlns:a="http://schemas.openxmlformats.org/drawingml/2006/main">
            <a:off x="4095750" y="52768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13A"/>
                </a:solidFill>
                <a:latin typeface="Helvetica Neue"/>
                <a:ea typeface="Helvetica Neue"/>
                <a:cs typeface="Helvetica Neue"/>
              </a:defRPr>
            </a:defPPr>
          </a:lstStyle>
          <a:p xmlns:a="http://schemas.openxmlformats.org/drawingml/2006/main">
            <a:pPr>
              <a:defRPr sz="2025" b="1">
                <a:solidFill>
                  <a:srgbClr val="16313A"/>
                </a:solidFill>
                <a:latin typeface="Helvetica Neue"/>
                <a:ea typeface="Helvetica Neue"/>
                <a:cs typeface="Helvetica Neue"/>
              </a:defRPr>
            </a:pPr>
            <a:r>
              <a:rPr sz="2025" b="1">
                <a:solidFill>
                  <a:srgbClr val="16313A"/>
                </a:solidFill>
                <a:latin typeface="Helvetica Neue"/>
                <a:ea typeface="Helvetica Neue"/>
                <a:cs typeface="Helvetica Neue"/>
              </a:rPr>
              <a:t>1,400 to 500</a:t>
            </a:r>
          </a:p>
          <a:p xmlns:a="http://schemas.openxmlformats.org/drawingml/2006/main">
            <a:pPr>
              <a:defRPr sz="2025" b="1">
                <a:solidFill>
                  <a:srgbClr val="16313A"/>
                </a:solidFill>
                <a:latin typeface="Helvetica Neue"/>
                <a:ea typeface="Helvetica Neue"/>
                <a:cs typeface="Helvetica Neue"/>
              </a:defRPr>
            </a:pPr>
            <a:r>
              <a:rPr sz="2025" b="1">
                <a:solidFill>
                  <a:srgbClr val="16313A"/>
                </a:solidFill>
                <a:latin typeface="Helvetica Neue"/>
                <a:ea typeface="Helvetica Neue"/>
                <a:cs typeface="Helvetica Neue"/>
              </a:rPr>
              <a:t>intervention responses</a:t>
            </a:r>
          </a:p>
        </p:txBody>
      </p:sp>
      <p:sp>
        <p:nvSpPr>
          <p:cNvPr id="15" name="50 responses / batch. Includ">
            <a:extLst xmlns:a="http://schemas.openxmlformats.org/drawingml/2006/main">
              <a:ext uri="{FF2B5EF4-FFF2-40B4-BE49-F238E27FC236}">
                <a16:creationId xmlns:a16="http://schemas.microsoft.com/office/drawing/2014/main" id="{DA2DCCDA-6F7E-4C13-9114-A1120AA485D6}"/>
              </a:ext>
            </a:extLst>
          </p:cNvPr>
          <p:cNvSpPr>
            <a:spLocks xmlns:a="http://schemas.openxmlformats.org/drawingml/2006/main" noGrp="1"/>
          </p:cNvSpPr>
          <p:nvPr/>
        </p:nvSpPr>
        <p:spPr>
          <a:xfrm xmlns:a="http://schemas.openxmlformats.org/drawingml/2006/main">
            <a:off x="609600" y="6086475"/>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50 responses / batch. Including observations: 1,760 to 620.</a:t>
            </a:r>
          </a:p>
        </p:txBody>
      </p:sp>
      <p:sp>
        <p:nvSpPr>
          <p:cNvPr id="16" name="">
            <a:extLst xmlns:a="http://schemas.openxmlformats.org/drawingml/2006/main">
              <a:ext uri="{FF2B5EF4-FFF2-40B4-BE49-F238E27FC236}">
                <a16:creationId xmlns:a16="http://schemas.microsoft.com/office/drawing/2014/main" id="{34D3181C-FFE4-4E9D-A47D-B85B2A9D4FC1}"/>
              </a:ext>
            </a:extLst>
          </p:cNvPr>
          <p:cNvSpPr>
            <a:spLocks xmlns:a="http://schemas.openxmlformats.org/drawingml/2006/main" noGrp="1"/>
          </p:cNvSpPr>
          <p:nvPr/>
        </p:nvSpPr>
        <p:spPr>
          <a:xfrm xmlns:a="http://schemas.openxmlformats.org/drawingml/2006/main">
            <a:off x="7543800" y="1504950"/>
            <a:ext cx="0" cy="4486275"/>
          </a:xfrm>
          <a:prstGeom xmlns:a="http://schemas.openxmlformats.org/drawingml/2006/main" prst="line">
            <a:avLst/>
          </a:prstGeom>
          <a:ln xmlns:a="http://schemas.openxmlformats.org/drawingml/2006/main" w="19050">
            <a:solidFill>
              <a:srgbClr val="D3DDD9"/>
            </a:solidFill>
          </a:ln>
        </p:spPr>
      </p:sp>
      <p:sp>
        <p:nvSpPr>
          <p:cNvPr id="17" name="SCM-FREE JOINT TABLE">
            <a:extLst xmlns:a="http://schemas.openxmlformats.org/drawingml/2006/main">
              <a:ext uri="{FF2B5EF4-FFF2-40B4-BE49-F238E27FC236}">
                <a16:creationId xmlns:a16="http://schemas.microsoft.com/office/drawing/2014/main" id="{FE447C04-BB06-4AE5-99F8-EE92F483BDB9}"/>
              </a:ext>
            </a:extLst>
          </p:cNvPr>
          <p:cNvSpPr>
            <a:spLocks xmlns:a="http://schemas.openxmlformats.org/drawingml/2006/main" noGrp="1"/>
          </p:cNvSpPr>
          <p:nvPr/>
        </p:nvSpPr>
        <p:spPr>
          <a:xfrm xmlns:a="http://schemas.openxmlformats.org/drawingml/2006/main">
            <a:off x="7953375" y="15049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B95435"/>
                </a:solidFill>
                <a:latin typeface="Helvetica Neue"/>
                <a:ea typeface="Helvetica Neue"/>
                <a:cs typeface="Helvetica Neue"/>
              </a:defRPr>
            </a:defPPr>
          </a:lstStyle>
          <a:p xmlns:a="http://schemas.openxmlformats.org/drawingml/2006/main">
            <a:pPr>
              <a:defRPr sz="1875" b="1">
                <a:solidFill>
                  <a:srgbClr val="B95435"/>
                </a:solidFill>
                <a:latin typeface="Helvetica Neue"/>
                <a:ea typeface="Helvetica Neue"/>
                <a:cs typeface="Helvetica Neue"/>
              </a:defRPr>
            </a:pPr>
            <a:r>
              <a:rPr sz="1875" b="1">
                <a:solidFill>
                  <a:srgbClr val="B95435"/>
                </a:solidFill>
                <a:latin typeface="Helvetica Neue"/>
                <a:ea typeface="Helvetica Neue"/>
                <a:cs typeface="Helvetica Neue"/>
              </a:rPr>
              <a:t>SCM-FREE JOINT TABLE</a:t>
            </a:r>
          </a:p>
        </p:txBody>
      </p:sp>
      <p:sp>
        <p:nvSpPr>
          <p:cNvPr id="18" name="10 inputs × 5 settings">
            <a:extLst xmlns:a="http://schemas.openxmlformats.org/drawingml/2006/main">
              <a:ext uri="{FF2B5EF4-FFF2-40B4-BE49-F238E27FC236}">
                <a16:creationId xmlns:a16="http://schemas.microsoft.com/office/drawing/2014/main" id="{104609F3-E74E-41CD-88FB-8F3C3C07ABB2}"/>
              </a:ext>
            </a:extLst>
          </p:cNvPr>
          <p:cNvSpPr>
            <a:spLocks xmlns:a="http://schemas.openxmlformats.org/drawingml/2006/main" noGrp="1"/>
          </p:cNvSpPr>
          <p:nvPr/>
        </p:nvSpPr>
        <p:spPr>
          <a:xfrm xmlns:a="http://schemas.openxmlformats.org/drawingml/2006/main">
            <a:off x="7953375" y="1952625"/>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66B"/>
                </a:solidFill>
                <a:latin typeface="Helvetica Neue"/>
                <a:ea typeface="Helvetica Neue"/>
                <a:cs typeface="Helvetica Neue"/>
              </a:defRPr>
            </a:defPPr>
          </a:lstStyle>
          <a:p xmlns:a="http://schemas.openxmlformats.org/drawingml/2006/main">
            <a:pPr>
              <a:defRPr sz="1875" b="0">
                <a:solidFill>
                  <a:srgbClr val="53666B"/>
                </a:solidFill>
                <a:latin typeface="Helvetica Neue"/>
                <a:ea typeface="Helvetica Neue"/>
                <a:cs typeface="Helvetica Neue"/>
              </a:defRPr>
            </a:pPr>
            <a:r>
              <a:rPr sz="1875" b="0">
                <a:solidFill>
                  <a:srgbClr val="53666B"/>
                </a:solidFill>
                <a:latin typeface="Helvetica Neue"/>
                <a:ea typeface="Helvetica Neue"/>
                <a:cs typeface="Helvetica Neue"/>
              </a:rPr>
              <a:t>10 inputs × 5 settings</a:t>
            </a:r>
          </a:p>
        </p:txBody>
      </p:sp>
      <p:sp>
        <p:nvSpPr>
          <p:cNvPr id="19" name="9.77 million">
            <a:extLst xmlns:a="http://schemas.openxmlformats.org/drawingml/2006/main">
              <a:ext uri="{FF2B5EF4-FFF2-40B4-BE49-F238E27FC236}">
                <a16:creationId xmlns:a16="http://schemas.microsoft.com/office/drawing/2014/main" id="{AE486716-8967-4C97-8B97-37546C34CA7F}"/>
              </a:ext>
            </a:extLst>
          </p:cNvPr>
          <p:cNvSpPr>
            <a:spLocks xmlns:a="http://schemas.openxmlformats.org/drawingml/2006/main" noGrp="1"/>
          </p:cNvSpPr>
          <p:nvPr/>
        </p:nvSpPr>
        <p:spPr>
          <a:xfrm xmlns:a="http://schemas.openxmlformats.org/drawingml/2006/main">
            <a:off x="7953375" y="2381250"/>
            <a:ext cx="3590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B95435"/>
                </a:solidFill>
                <a:latin typeface="Helvetica Neue"/>
                <a:ea typeface="Helvetica Neue"/>
                <a:cs typeface="Helvetica Neue"/>
              </a:defRPr>
            </a:defPPr>
          </a:lstStyle>
          <a:p xmlns:a="http://schemas.openxmlformats.org/drawingml/2006/main">
            <a:pPr>
              <a:defRPr sz="3675" b="1">
                <a:solidFill>
                  <a:srgbClr val="B95435"/>
                </a:solidFill>
                <a:latin typeface="Helvetica Neue"/>
                <a:ea typeface="Helvetica Neue"/>
                <a:cs typeface="Helvetica Neue"/>
              </a:defRPr>
            </a:pPr>
            <a:r>
              <a:rPr sz="3675" b="1">
                <a:solidFill>
                  <a:srgbClr val="B95435"/>
                </a:solidFill>
                <a:latin typeface="Helvetica Neue"/>
                <a:ea typeface="Helvetica Neue"/>
                <a:cs typeface="Helvetica Neue"/>
              </a:rPr>
              <a:t>9.77 million</a:t>
            </a:r>
          </a:p>
        </p:txBody>
      </p:sp>
      <p:sp>
        <p:nvSpPr>
          <p:cNvPr id="20" name="entries for exhaustive cover">
            <a:extLst xmlns:a="http://schemas.openxmlformats.org/drawingml/2006/main">
              <a:ext uri="{FF2B5EF4-FFF2-40B4-BE49-F238E27FC236}">
                <a16:creationId xmlns:a16="http://schemas.microsoft.com/office/drawing/2014/main" id="{B415CB7C-A241-4E7A-A74A-FA9014CE4AE6}"/>
              </a:ext>
            </a:extLst>
          </p:cNvPr>
          <p:cNvSpPr>
            <a:spLocks xmlns:a="http://schemas.openxmlformats.org/drawingml/2006/main" noGrp="1"/>
          </p:cNvSpPr>
          <p:nvPr/>
        </p:nvSpPr>
        <p:spPr>
          <a:xfrm xmlns:a="http://schemas.openxmlformats.org/drawingml/2006/main">
            <a:off x="7953375" y="3076575"/>
            <a:ext cx="3600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6313A"/>
                </a:solidFill>
                <a:latin typeface="Helvetica Neue"/>
                <a:ea typeface="Helvetica Neue"/>
                <a:cs typeface="Helvetica Neue"/>
              </a:defRPr>
            </a:defPPr>
          </a:lstStyle>
          <a:p xmlns:a="http://schemas.openxmlformats.org/drawingml/2006/main">
            <a:pPr>
              <a:defRPr sz="1725" b="0">
                <a:solidFill>
                  <a:srgbClr val="16313A"/>
                </a:solidFill>
                <a:latin typeface="Helvetica Neue"/>
                <a:ea typeface="Helvetica Neue"/>
                <a:cs typeface="Helvetica Neue"/>
              </a:defRPr>
            </a:pPr>
            <a:r>
              <a:rPr sz="1725" b="0">
                <a:solidFill>
                  <a:srgbClr val="16313A"/>
                </a:solidFill>
                <a:latin typeface="Helvetica Neue"/>
                <a:ea typeface="Helvetica Neue"/>
                <a:cs typeface="Helvetica Neue"/>
              </a:rPr>
              <a:t>entries for exhaustive coverage</a:t>
            </a:r>
          </a:p>
        </p:txBody>
      </p:sp>
      <p:graphicFrame>
        <p:nvGraphicFramePr>
          <p:cNvPr id="21" name="">
            <a:extLst xmlns:a="http://schemas.openxmlformats.org/drawingml/2006/main">
              <a:ext uri="{FF2B5EF4-FFF2-40B4-BE49-F238E27FC236}">
                <a16:creationId xmlns:a16="http://schemas.microsoft.com/office/drawing/2014/main" id="{A0213C34-1CAF-4533-9D00-FFE128154C30}"/>
              </a:ext>
            </a:extLst>
          </p:cNvPr>
          <p:cNvGraphicFramePr/>
          <p:nvPr/>
        </p:nvGraphicFramePr>
        <p:xfrm>
          <a:off xmlns:a="http://schemas.openxmlformats.org/drawingml/2006/main" x="7953375" y="3724275"/>
          <a:ext xmlns:a="http://schemas.openxmlformats.org/drawingml/2006/main" cx="3581400" cy="1333500"/>
        </p:xfrm>
        <a:graphic xmlns:a="http://schemas.openxmlformats.org/drawingml/2006/main">
          <a:graphicData uri="http://schemas.openxmlformats.org/drawingml/2006/table">
            <a:tbl>
              <a:tblPr firstRow="0" bandRow="0"/>
              <a:tblGrid>
                <a:gridCol w="2600325"/>
                <a:gridCol w="981075"/>
              </a:tblGrid>
              <a:tr h="333375">
                <a:tc>
                  <a:txBody>
                    <a:bodyPr lIns="76200" tIns="76200" rIns="76200" bIns="76200"/>
                    <a:lstStyle/>
                    <a:p>
                      <a:r>
                        <a:rPr sz="1650" b="1">
                          <a:solidFill>
                            <a:srgbClr val="FFFFFF"/>
                          </a:solidFill>
                          <a:latin typeface="Helvetica Neue"/>
                          <a:ea typeface="Helvetica Neue"/>
                          <a:cs typeface="Helvetica Neue"/>
                        </a:rPr>
                        <a:t>Input settings</a:t>
                      </a:r>
                    </a:p>
                  </a:txBody>
                  <a:tcPr marL="91440" marR="91440" marT="45720" marB="45720">
                    <a:solidFill>
                      <a:srgbClr val="112B36"/>
                    </a:solidFill>
                  </a:tcPr>
                </a:tc>
                <a:tc>
                  <a:txBody>
                    <a:bodyPr lIns="76200" tIns="76200" rIns="76200" bIns="76200"/>
                    <a:lstStyle/>
                    <a:p>
                      <a:r>
                        <a:rPr sz="1650" b="1">
                          <a:solidFill>
                            <a:srgbClr val="FFFFFF"/>
                          </a:solidFill>
                          <a:latin typeface="Helvetica Neue"/>
                          <a:ea typeface="Helvetica Neue"/>
                          <a:cs typeface="Helvetica Neue"/>
                        </a:rPr>
                        <a:t>Y</a:t>
                      </a:r>
                    </a:p>
                  </a:txBody>
                  <a:tcPr marL="91440" marR="91440" marT="45720" marB="45720">
                    <a:solidFill>
                      <a:srgbClr val="112B36"/>
                    </a:solidFill>
                  </a:tcPr>
                </a:tc>
              </a:tr>
              <a:tr h="333375">
                <a:tc>
                  <a:txBody>
                    <a:bodyPr lIns="76200" tIns="76200" rIns="76200" bIns="76200"/>
                    <a:lstStyle/>
                    <a:p>
                      <a:r>
                        <a:rPr sz="1650" b="0">
                          <a:solidFill>
                            <a:srgbClr val="16313A"/>
                          </a:solidFill>
                          <a:latin typeface="Helvetica Neue"/>
                          <a:ea typeface="Helvetica Neue"/>
                          <a:cs typeface="Helvetica Neue"/>
                        </a:rPr>
                        <a:t>0, 0, …, 0</a:t>
                      </a:r>
                    </a:p>
                  </a:txBody>
                  <a:tcPr marL="91440" marR="91440" marT="45720" marB="45720">
                    <a:solidFill>
                      <a:srgbClr val="EDF3EF"/>
                    </a:solidFill>
                  </a:tcPr>
                </a:tc>
                <a:tc>
                  <a:txBody>
                    <a:bodyPr lIns="76200" tIns="76200" rIns="76200" bIns="76200"/>
                    <a:lstStyle/>
                    <a:p>
                      <a:r>
                        <a:rPr sz="1650" b="0">
                          <a:solidFill>
                            <a:srgbClr val="16313A"/>
                          </a:solidFill>
                          <a:latin typeface="Helvetica Neue"/>
                          <a:ea typeface="Helvetica Neue"/>
                          <a:cs typeface="Helvetica Neue"/>
                        </a:rPr>
                        <a:t>y₁</a:t>
                      </a:r>
                    </a:p>
                  </a:txBody>
                  <a:tcPr marL="91440" marR="91440" marT="45720" marB="45720">
                    <a:solidFill>
                      <a:srgbClr val="EDF3EF"/>
                    </a:solidFill>
                  </a:tcPr>
                </a:tc>
              </a:tr>
              <a:tr h="333375">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AF8F3"/>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AF8F3"/>
                    </a:solidFill>
                  </a:tcPr>
                </a:tc>
              </a:tr>
              <a:tr h="333375">
                <a:tc>
                  <a:txBody>
                    <a:bodyPr lIns="76200" tIns="76200" rIns="76200" bIns="76200"/>
                    <a:lstStyle/>
                    <a:p>
                      <a:r>
                        <a:rPr sz="1650" b="0">
                          <a:solidFill>
                            <a:srgbClr val="16313A"/>
                          </a:solidFill>
                          <a:latin typeface="Helvetica Neue"/>
                          <a:ea typeface="Helvetica Neue"/>
                          <a:cs typeface="Helvetica Neue"/>
                        </a:rPr>
                        <a:t>4, 4, …, 4</a:t>
                      </a:r>
                    </a:p>
                  </a:txBody>
                  <a:tcPr marL="91440" marR="91440" marT="45720" marB="45720">
                    <a:solidFill>
                      <a:srgbClr val="EDF3EF"/>
                    </a:solidFill>
                  </a:tcPr>
                </a:tc>
                <a:tc>
                  <a:txBody>
                    <a:bodyPr lIns="76200" tIns="76200" rIns="76200" bIns="76200"/>
                    <a:lstStyle/>
                    <a:p>
                      <a:r>
                        <a:rPr sz="1650" b="0">
                          <a:solidFill>
                            <a:srgbClr val="16313A"/>
                          </a:solidFill>
                          <a:latin typeface="Helvetica Neue"/>
                          <a:ea typeface="Helvetica Neue"/>
                          <a:cs typeface="Helvetica Neue"/>
                        </a:rPr>
                        <a:t>yₙ</a:t>
                      </a:r>
                    </a:p>
                  </a:txBody>
                  <a:tcPr marL="91440" marR="91440" marT="45720" marB="45720">
                    <a:solidFill>
                      <a:srgbClr val="EDF3EF"/>
                    </a:solidFill>
                  </a:tcPr>
                </a:tc>
              </a:tr>
            </a:tbl>
          </a:graphicData>
        </a:graphic>
      </p:graphicFrame>
      <p:sp>
        <p:nvSpPr>
          <p:cNvPr id="22" name="29.26 million random draws">
            <a:extLst xmlns:a="http://schemas.openxmlformats.org/drawingml/2006/main">
              <a:ext uri="{FF2B5EF4-FFF2-40B4-BE49-F238E27FC236}">
                <a16:creationId xmlns:a16="http://schemas.microsoft.com/office/drawing/2014/main" id="{B8E5C767-7B0B-4BFE-859B-EB2E6DAF7EB0}"/>
              </a:ext>
            </a:extLst>
          </p:cNvPr>
          <p:cNvSpPr>
            <a:spLocks xmlns:a="http://schemas.openxmlformats.org/drawingml/2006/main" noGrp="1"/>
          </p:cNvSpPr>
          <p:nvPr/>
        </p:nvSpPr>
        <p:spPr>
          <a:xfrm xmlns:a="http://schemas.openxmlformats.org/drawingml/2006/main">
            <a:off x="7953375" y="5238750"/>
            <a:ext cx="3600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95435"/>
                </a:solidFill>
                <a:latin typeface="Helvetica Neue"/>
                <a:ea typeface="Helvetica Neue"/>
                <a:cs typeface="Helvetica Neue"/>
              </a:defRPr>
            </a:defPPr>
          </a:lstStyle>
          <a:p xmlns:a="http://schemas.openxmlformats.org/drawingml/2006/main">
            <a:pPr>
              <a:defRPr sz="2175" b="1">
                <a:solidFill>
                  <a:srgbClr val="B95435"/>
                </a:solidFill>
                <a:latin typeface="Helvetica Neue"/>
                <a:ea typeface="Helvetica Neue"/>
                <a:cs typeface="Helvetica Neue"/>
              </a:defRPr>
            </a:pPr>
            <a:r>
              <a:rPr sz="2175" b="1">
                <a:solidFill>
                  <a:srgbClr val="B95435"/>
                </a:solidFill>
                <a:latin typeface="Helvetica Neue"/>
                <a:ea typeface="Helvetica Neue"/>
                <a:cs typeface="Helvetica Neue"/>
              </a:rPr>
              <a:t>29.26 million random draws</a:t>
            </a:r>
          </a:p>
        </p:txBody>
      </p:sp>
      <p:sp>
        <p:nvSpPr>
          <p:cNvPr id="23" name="95% expected grid coverage">
            <a:extLst xmlns:a="http://schemas.openxmlformats.org/drawingml/2006/main">
              <a:ext uri="{FF2B5EF4-FFF2-40B4-BE49-F238E27FC236}">
                <a16:creationId xmlns:a16="http://schemas.microsoft.com/office/drawing/2014/main" id="{7E124DC8-94F0-4955-95BE-823790506FBF}"/>
              </a:ext>
            </a:extLst>
          </p:cNvPr>
          <p:cNvSpPr>
            <a:spLocks xmlns:a="http://schemas.openxmlformats.org/drawingml/2006/main" noGrp="1"/>
          </p:cNvSpPr>
          <p:nvPr/>
        </p:nvSpPr>
        <p:spPr>
          <a:xfrm xmlns:a="http://schemas.openxmlformats.org/drawingml/2006/main">
            <a:off x="7953375" y="58864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95% expected grid coverage</a:t>
            </a:r>
          </a:p>
        </p:txBody>
      </p:sp>
      <p:sp>
        <p:nvSpPr>
          <p:cNvPr id="24" name="Retrospective curve comparis">
            <a:extLst xmlns:a="http://schemas.openxmlformats.org/drawingml/2006/main">
              <a:ext uri="{FF2B5EF4-FFF2-40B4-BE49-F238E27FC236}">
                <a16:creationId xmlns:a16="http://schemas.microsoft.com/office/drawing/2014/main" id="{284982EB-FBAD-4E98-A37B-FC3E0CA0FA57}"/>
              </a:ext>
            </a:extLst>
          </p:cNvPr>
          <p:cNvSpPr>
            <a:spLocks xmlns:a="http://schemas.openxmlformats.org/drawingml/2006/main" noGrp="1"/>
          </p:cNvSpPr>
          <p:nvPr/>
        </p:nvSpPr>
        <p:spPr>
          <a:xfrm xmlns:a="http://schemas.openxmlformats.org/drawingml/2006/main">
            <a:off x="609600" y="648652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66B"/>
                </a:solidFill>
                <a:latin typeface="Helvetica Neue"/>
                <a:ea typeface="Helvetica Neue"/>
                <a:cs typeface="Helvetica Neue"/>
              </a:defRPr>
            </a:defPPr>
          </a:lstStyle>
          <a:p xmlns:a="http://schemas.openxmlformats.org/drawingml/2006/main">
            <a:pPr>
              <a:defRPr sz="1275" b="0">
                <a:solidFill>
                  <a:srgbClr val="53666B"/>
                </a:solidFill>
                <a:latin typeface="Helvetica Neue"/>
                <a:ea typeface="Helvetica Neue"/>
                <a:cs typeface="Helvetica Neue"/>
              </a:defRPr>
            </a:pPr>
            <a:r>
              <a:rPr sz="1275" b="0">
                <a:solidFill>
                  <a:srgbClr val="53666B"/>
                </a:solidFill>
                <a:latin typeface="Helvetica Neue"/>
                <a:ea typeface="Helvetica Neue"/>
                <a:cs typeface="Helvetica Neue"/>
              </a:rPr>
              <a:t>Retrospective curve comparison</a:t>
            </a:r>
          </a:p>
        </p:txBody>
      </p:sp>
      <p:sp>
        <p:nvSpPr>
          <p:cNvPr id="25" name="Analytic illustration, separ">
            <a:extLst xmlns:a="http://schemas.openxmlformats.org/drawingml/2006/main">
              <a:ext uri="{FF2B5EF4-FFF2-40B4-BE49-F238E27FC236}">
                <a16:creationId xmlns:a16="http://schemas.microsoft.com/office/drawing/2014/main" id="{3DDE3A28-A327-47E2-972A-AE4DCF160CD0}"/>
              </a:ext>
            </a:extLst>
          </p:cNvPr>
          <p:cNvSpPr>
            <a:spLocks xmlns:a="http://schemas.openxmlformats.org/drawingml/2006/main" noGrp="1"/>
          </p:cNvSpPr>
          <p:nvPr/>
        </p:nvSpPr>
        <p:spPr>
          <a:xfrm xmlns:a="http://schemas.openxmlformats.org/drawingml/2006/main">
            <a:off x="7953375" y="6267450"/>
            <a:ext cx="3162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Analytic illustration, separate units</a:t>
            </a:r>
          </a:p>
        </p:txBody>
      </p:sp>
    </p:spTree>
    <p:extLst>
      <p:ext uri="{BB962C8B-B14F-4D97-AF65-F5344CB8AC3E}">
        <p14:creationId xmlns:p14="http://schemas.microsoft.com/office/powerpoint/2010/main" val="46689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2026-10-10T15:44:15.9250000Z</dcterms:created>
  <dcterms:modified xsi:type="dcterms:W3CDTF">2026-10-10T15:44:15.9250000Z</dcterms:modified>
</coreProperties>
</file>