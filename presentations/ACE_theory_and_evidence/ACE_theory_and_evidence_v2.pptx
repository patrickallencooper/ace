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9a5837e93141ed" /><Relationship Type="http://schemas.openxmlformats.org/officeDocument/2006/relationships/extended-properties" Target="/docProps/app.xml" Id="Rdcd2e88e4c784903" /><Relationship Type="http://schemas.openxmlformats.org/officeDocument/2006/relationships/officeDocument" Target="/ppt/presentation.xml" Id="R44f06bd001bd45d3" /></Relationships>
</file>

<file path=ppt/presentation.xml><?xml version="1.0" encoding="utf-8"?>
<p:presentation xmlns:p="http://schemas.openxmlformats.org/presentationml/2006/main">
  <p:sldMasterIdLst>
    <p:sldMasterId xmlns:r="http://schemas.openxmlformats.org/officeDocument/2006/relationships" id="2147483648" r:id="R47b0c27f31c84fa1"/>
  </p:sldMasterIdLst>
  <p:notesMasterIdLst>
    <p:notesMasterId xmlns:r="http://schemas.openxmlformats.org/officeDocument/2006/relationships" r:id="R110ff68936024d60"/>
  </p:notesMasterIdLst>
  <p:sldIdLst>
    <p:sldId xmlns:r="http://schemas.openxmlformats.org/officeDocument/2006/relationships" id="256" r:id="R197153d4b68a4eb8"/>
    <p:sldId xmlns:r="http://schemas.openxmlformats.org/officeDocument/2006/relationships" id="257" r:id="Re7c68cf300394929"/>
    <p:sldId xmlns:r="http://schemas.openxmlformats.org/officeDocument/2006/relationships" id="258" r:id="R38635512d598461a"/>
    <p:sldId xmlns:r="http://schemas.openxmlformats.org/officeDocument/2006/relationships" id="259" r:id="R362130864fbb4574"/>
    <p:sldId xmlns:r="http://schemas.openxmlformats.org/officeDocument/2006/relationships" id="260" r:id="R8d1f5646369f4280"/>
    <p:sldId xmlns:r="http://schemas.openxmlformats.org/officeDocument/2006/relationships" id="261" r:id="R5cad60cfb063479f"/>
    <p:sldId xmlns:r="http://schemas.openxmlformats.org/officeDocument/2006/relationships" id="262" r:id="Rdf94c95154634312"/>
    <p:sldId xmlns:r="http://schemas.openxmlformats.org/officeDocument/2006/relationships" id="263" r:id="Rb3f2b21d871d4cc2"/>
    <p:sldId xmlns:r="http://schemas.openxmlformats.org/officeDocument/2006/relationships" id="264" r:id="R5cffce04457e46ff"/>
    <p:sldId xmlns:r="http://schemas.openxmlformats.org/officeDocument/2006/relationships" id="265" r:id="R8b27cc10aa4742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88260c5c2b4d3f" /><Relationship Type="http://schemas.openxmlformats.org/officeDocument/2006/relationships/slideMaster" Target="/ppt/slideMasters/slideMaster1.xml" Id="R47b0c27f31c84fa1" /><Relationship Type="http://schemas.openxmlformats.org/officeDocument/2006/relationships/notesMaster" Target="/ppt/notesMasters/notesMaster1.xml" Id="R110ff68936024d60" /><Relationship Type="http://schemas.openxmlformats.org/officeDocument/2006/relationships/presProps" Target="/ppt/presProps.xml" Id="Raf83ead4726b453c" /><Relationship Type="http://schemas.openxmlformats.org/officeDocument/2006/relationships/tableStyles" Target="/ppt/tableStyles.xml" Id="R9e2afc2805a1487d" /><Relationship Type="http://schemas.openxmlformats.org/officeDocument/2006/relationships/slide" Target="/ppt/slides/slide1.xml" Id="R197153d4b68a4eb8" /><Relationship Type="http://schemas.openxmlformats.org/officeDocument/2006/relationships/slide" Target="/ppt/slides/slide2.xml" Id="Re7c68cf300394929" /><Relationship Type="http://schemas.openxmlformats.org/officeDocument/2006/relationships/slide" Target="/ppt/slides/slide3.xml" Id="R38635512d598461a" /><Relationship Type="http://schemas.openxmlformats.org/officeDocument/2006/relationships/slide" Target="/ppt/slides/slide4.xml" Id="R362130864fbb4574" /><Relationship Type="http://schemas.openxmlformats.org/officeDocument/2006/relationships/slide" Target="/ppt/slides/slide5.xml" Id="R8d1f5646369f4280" /><Relationship Type="http://schemas.openxmlformats.org/officeDocument/2006/relationships/slide" Target="/ppt/slides/slide6.xml" Id="R5cad60cfb063479f" /><Relationship Type="http://schemas.openxmlformats.org/officeDocument/2006/relationships/slide" Target="/ppt/slides/slide7.xml" Id="Rdf94c95154634312" /><Relationship Type="http://schemas.openxmlformats.org/officeDocument/2006/relationships/slide" Target="/ppt/slides/slide8.xml" Id="Rb3f2b21d871d4cc2" /><Relationship Type="http://schemas.openxmlformats.org/officeDocument/2006/relationships/slide" Target="/ppt/slides/slide9.xml" Id="R5cffce04457e46ff" /><Relationship Type="http://schemas.openxmlformats.org/officeDocument/2006/relationships/slide" Target="/ppt/slides/slide10.xml" Id="R8b27cc10aa4742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025a5906464f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6c72d57aa84f0f" /><Relationship Type="http://schemas.openxmlformats.org/officeDocument/2006/relationships/notesMaster" Target="/ppt/notesMasters/notesMaster1.xml" Id="R192fbbbff25440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b8492fa1a0424d" /><Relationship Type="http://schemas.openxmlformats.org/officeDocument/2006/relationships/notesMaster" Target="/ppt/notesMasters/notesMaster1.xml" Id="R4fdf805ab9e946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7d46fee9e5481d" /><Relationship Type="http://schemas.openxmlformats.org/officeDocument/2006/relationships/notesMaster" Target="/ppt/notesMasters/notesMaster1.xml" Id="R203333c140ba43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0154ac6c7c4a31" /><Relationship Type="http://schemas.openxmlformats.org/officeDocument/2006/relationships/notesMaster" Target="/ppt/notesMasters/notesMaster1.xml" Id="Re4d874b0c9db4f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210a51f8f84721" /><Relationship Type="http://schemas.openxmlformats.org/officeDocument/2006/relationships/notesMaster" Target="/ppt/notesMasters/notesMaster1.xml" Id="Rbf1ab0ea6ada44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99e90c958a4644" /><Relationship Type="http://schemas.openxmlformats.org/officeDocument/2006/relationships/notesMaster" Target="/ppt/notesMasters/notesMaster1.xml" Id="Rc161b859e50c4c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3e9aac2bd74ffe" /><Relationship Type="http://schemas.openxmlformats.org/officeDocument/2006/relationships/notesMaster" Target="/ppt/notesMasters/notesMaster1.xml" Id="R65747a68e26f42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8cff31238b4eb1" /><Relationship Type="http://schemas.openxmlformats.org/officeDocument/2006/relationships/notesMaster" Target="/ppt/notesMasters/notesMaster1.xml" Id="Rcd12cd12115e4b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f65aafaef441c8" /><Relationship Type="http://schemas.openxmlformats.org/officeDocument/2006/relationships/notesMaster" Target="/ppt/notesMasters/notesMaster1.xml" Id="R73d15e12c58141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2591098f214764" /><Relationship Type="http://schemas.openxmlformats.org/officeDocument/2006/relationships/notesMaster" Target="/ppt/notesMasters/notesMaster1.xml" Id="R55bbebbc1c0348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Organizing principle: choose experimental and fitting decisions to reduce error in the model we will actually use, under the actions we intend to take. This is a research objective, not an optimality theorem. Acquisition determines usable observations. Final fitting determines how the deployed predictor uses them. The tagline expresses an aspiration and guarantees no per-experiment improvement. Slides1–4 are theory,5–7 a purely illustrative example,8–10 evidence and limits. No unqualified prospective Stage B performance is included.</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/Users/pat/code/ACE/docs/ACE_evidence_and_public_claims_2026-10-08.md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correctly specified linear Gaussian mechanism with proper Gaussian prior and independent Gaussian observation noise, posterior precision equals prior precision plus the eligible design information. Adding eligible observations yields a positive semidefinite precision increment and cannot increase posterior variance for a fixed linear target. This is not monotonic realized frequentist error or a guarantee for a neural optimizer. Eligibility: clamping a node removes its natural mechanism label, although other naturally operating heads can retain usable labels under the stated assumptions. Reusing eligible observations can reduce optimization or retention deficits at additional computation cost. The existing studies do not isolate data retention from extra fitting effort.</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/Users/pat/code/ACE/paper/aistats_ace_2027/delivery_theory.tex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two-stage linear toy chain, b is the LEARNED downstream predictor slope. Define δM=Mhat−M, δY=Yhat−Y and eY=fhatY(M)−fY(M), the downstream predictor residual at the true intermediate value. Then δY=bδM+eY exactly. The true downstream slope generally does not yield this identity if learned and true slopes differ. For a differentiable nonlinear DAG the corresponding local secant/Jacobian path identity requires explicit segment assumptions. Signed residuals can reinforce or cancel, so local error magnitudes alone do not determine terminal error. This motivates inspection of composed prediction and is not evidence for the cause of the known worsening history.</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/Users/pat/code/ACE/paper/aistats_ace_2027/delivery_theory.tex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Conditional linear Gaussian illustration: target T=gᵀθ, candidate latent observation Z=xᵀθ, covariance Σ and additive independent Gaussian noise variance σ²&gt;0. Target posterior variance reduction equals Cov(T,Z)²/[Var(Z)+σ²]. Example Σ=diag(9,1), T=θ2, σ²=1. Measuring θ1 has latent variance9 but target gain0. Measuring θ2 has latent variance1 but target gain1/2. Thus choosing largest observation variance can fail for a target-specific posterior objective. This exact model does not establish nonlinear ACE superiority or an optimal adaptive experimental policy. Real interventions may induce random designs, requiring expected posterior target risk rather than plugging in simulated mean features.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https://papers.nips.cc/paper/1011-active-learning-with-statistical-models.pdf</a:t>
            </a:r>
          </a:p>
          <a:p xmlns:a="http://schemas.openxmlformats.org/drawingml/2006/main">
            <a:r>
              <a:t>https://arxiv.org/html/2411.02740v5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Purely illustrative algebra using dimensionless response variables. This is not a physical model or an ACE laboratory result. At input u=1, first stage M=2u yields M=2, downstream Y=3M yields Y=6. Ask the audience for the output, reveal the intermediate value, then the final value. The nonlinear or physical relevance must be tested separately. Illustration: AI-generated cutaway of a fictional two-stage heater, not a photograph of a recorded apparatus. Source image /Users/pat/.codex/generated_images/01a0b23b-f609-70c3-880d-2f3eb04d9ce3/exec-8f98eb96-8f60-4728-b06e-ccb734f3f890.png.</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true rules M=2u and Y=3M. Let the learned first stage predict Mhat=2.2 at u=1, while the downstream rule remains exact. Yhat=3×2.2=6.6, intermediate error0.2 and output error0.6. A downstream head evaluated with measured M=2 predicts6 exactly, which can conceal the free-running chain error. No model was fitted to generate these values. A cancellation example, only for discussion: if the downstream residual at true M were−0.6, the same intermediate error could cancel to zero terminal error; therefore do not infer universal error ordering from local fits.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persistent SCM confirmationv1:40 fresh30-node systems,20 each homogeneous and heterogeneous, four policies and160 completed cells. All arms used32steps/exactly2000 environmental samples including observational refreshes, shared within-system serialized environments and zero candidate-probe samples. Primary endpoint final feasible-intervention non-root mechanism loss. PEV minus graph-matched non-leaf coverage: homogeneous−0.01360,95% paired t interval[−0.02151,−0.00569],Holm-adjustedp0.00384,20/20 favorPEV. Heterogeneous−0.10919,interval[−0.18856,−0.02981],Holm-adjustedp0.00961,16/20 favorPEV. Both primary contrasts passed. This is separate from slide9 shifted-mechanism study, whose primary coverage gate failed. Do not pool studies or select the best of them as a new scientific success rule. Known fully observed graphs, fixed learner/cost model/evaluation panel, no external-domain claim. Simpler variance scoring comparisons unresolved and observational loss similar. No new test or experiment.</a:t>
            </a:r>
          </a:p>
          <a:p xmlns:a="http://schemas.openxmlformats.org/drawingml/2006/main">
            <a:r>
              <a:t/>
            </a:r>
          </a:p>
          <a:p xmlns:a="http://schemas.openxmlformats.org/drawingml/2006/main">
            <a:r>
              <a:t>Sources</a:t>
            </a:r>
          </a:p>
          <a:p xmlns:a="http://schemas.openxmlformats.org/drawingml/2006/main">
            <a:r>
              <a:t>/Users/pat/code/ACE/results/research_persistent_confirmation_v1/README.md</a:t>
            </a:r>
          </a:p>
          <a:p xmlns:a="http://schemas.openxmlformats.org/drawingml/2006/main">
            <a:r>
              <a:t>/Users/pat/code/ACE/docs/development/guidance/protocol_persistent_confirmation_v1.json</a:t>
            </a:r>
          </a:p>
          <a:p xmlns:a="http://schemas.openxmlformats.org/drawingml/2006/main">
            <a:r>
              <a:t>/Users/pat/code/ACE/docs/ACE_evidence_and_public_claims_2026-10-08.md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confirmation in one deterministic emulator with12 collected histories. Geometric mean paired exact-level error ratio0.183 with95% interval[0.102,0.327], sign-flip p0.00146484. Chart normalizes unchanged online error to1 and displays the geometric delivery/online ratio, not arithmetic absolute errors. Numerator is median of three scored refit initializations, evaluation on the full exposed grid including acquired inputs, with unequal fitting computation. It supports the bundled refit procedure, not an acquisition, equal-compute, architecture or independent-world claim. Retained worsening history124753321 has online0.196339 and delivered median0.395658, ratio2.015177. All12 histories contribute to the aggregate.</a:t>
            </a:r>
          </a:p>
          <a:p xmlns:a="http://schemas.openxmlformats.org/drawingml/2006/main">
            <a:r>
              <a:t/>
            </a:r>
          </a:p>
          <a:p xmlns:a="http://schemas.openxmlformats.org/drawingml/2006/main">
            <a:r>
              <a:t>Sources</a:t>
            </a:r>
          </a:p>
          <a:p xmlns:a="http://schemas.openxmlformats.org/drawingml/2006/main">
            <a:r>
              <a:t>/Users/pat/code/ACE/paper/aistats_ace_2027/claim_index.json</a:t>
            </a:r>
          </a:p>
          <a:p xmlns:a="http://schemas.openxmlformats.org/drawingml/2006/main">
            <a:r>
              <a:t>/Users/pat/code/ACE/paper/aistats_ace_2027/paper.tex</a:t>
            </a:r>
          </a:p>
          <a:p xmlns:a="http://schemas.openxmlformats.org/drawingml/2006/main">
            <a:r>
              <a:t>/Users/pat/code/ACE/docs/ACE_evidence_and_public_claims_2026-10-08.md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shifted-mechanism confirmation20 fresh systems and four arms,2000 environment samples per arm/system, shared within-system graph/mechanisms and persistent learner. Endpoint: final held-out noise-free feasible non-root mechanism MSE. Chart uses recorded arithmetic means0.043898 random,0.039791 coverage,0.015430 IVR PEV,0.015871 simpler variance. PEV lower than random19/20. Secondary paired difference−0.028468,95% t interval[−0.048386,−0.008550],two-sided p0.00750, not multiplicity-adjusted primary success. Descriptive group-mean reduction64.85%=1−.0154302049/.0438980071; not a paired geometric ratio, confidence bound or increased accuracy. Primary PEV minus coverage failed p0.05108, interval crosses0. PEV vs simpler variance unresolved p0.62176, not equivalence. Corrected provenance20 distinct DAGs within one fixed hierarchical generator; does not establish graph-family or external laboratory transfer. Random uses same eligible targets, random target/uniform−5…+5 values. Equal measurement budget, not equal compute. No new hypothesis test or stopped acquisition agenda restart. Other fresh primary coverage confirmations were favorable in homogeneous/heterogeneous families (40 systems), but they are different studies and are not pooled into this chart.</a:t>
            </a:r>
          </a:p>
          <a:p xmlns:a="http://schemas.openxmlformats.org/drawingml/2006/main">
            <a:r>
              <a:t/>
            </a:r>
          </a:p>
          <a:p xmlns:a="http://schemas.openxmlformats.org/drawingml/2006/main">
            <a:r>
              <a:t>Sources</a:t>
            </a:r>
          </a:p>
          <a:p xmlns:a="http://schemas.openxmlformats.org/drawingml/2006/main">
            <a:r>
              <a:t>/Users/pat/code/ACE/results/research_pev_shift30_mean_confirmation/README.md</a:t>
            </a:r>
          </a:p>
          <a:p xmlns:a="http://schemas.openxmlformats.org/drawingml/2006/main">
            <a:r>
              <a:t>/Users/pat/code/ACE/docs/development/guidance/protocol_pev_shift30_mean_confirmation.json</a:t>
            </a:r>
          </a:p>
          <a:p xmlns:a="http://schemas.openxmlformats.org/drawingml/2006/main">
            <a:r>
              <a:t>/Users/pat/code/ACE/docs/development/guidance/erratum_shift_graph_provenance_2026-09-27.md</a:t>
            </a:r>
          </a:p>
          <a:p xmlns:a="http://schemas.openxmlformats.org/drawingml/2006/main">
            <a:r>
              <a:t>/Users/pat/code/ACE/docs/ACE_evidence_and_public_claims_2026-10-08.md</a:t>
            </a:r>
          </a:p>
          <a:p xmlns:a="http://schemas.openxmlformats.org/drawingml/2006/main">
            <a:r>
              <a:t>/Users/pat/code/ACE/results/research_persistent_confirmation_v1/README.md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physical prediction study: neural delivery beats rolling in7/11, physics regression3/11, Fourier0/11. All eleven evaluation conditions of one apparatus, not independent worlds. Training-only white_64 excluded from evaluation conditions. These are comparator-specific descriptive wins, not a population significance test or proved physics explanation. A suitable periodic representation plausibly reduces approximation/optimization burden; that explanation remains a hypothesis. Proposed direction: mechanism-plus-terminal fitting, structured alternative models and reserved validation against the baseline. No tested superiority, universal acceptance or automatic new experiment follows. Prospective Stage B original acceptance is complete but supplemental exact-runtime numerical replay and reporting remain unqualified, so no Stage B performance appears.</a:t>
            </a:r>
          </a:p>
          <a:p xmlns:a="http://schemas.openxmlformats.org/drawingml/2006/main">
            <a:r>
              <a:t/>
            </a:r>
          </a:p>
          <a:p xmlns:a="http://schemas.openxmlformats.org/drawingml/2006/main">
            <a:r>
              <a:t>Sources</a:t>
            </a:r>
          </a:p>
          <a:p xmlns:a="http://schemas.openxmlformats.org/drawingml/2006/main">
            <a:r>
              <a:t>/Users/pat/code/ACE/paper/aistats_ace_2027/claim_index.json</a:t>
            </a:r>
          </a:p>
          <a:p xmlns:a="http://schemas.openxmlformats.org/drawingml/2006/main">
            <a:r>
              <a:t>/Users/pat/code/ACE/paper/aistats_ace_2027/paper.tex</a:t>
            </a:r>
          </a:p>
          <a:p xmlns:a="http://schemas.openxmlformats.org/drawingml/2006/main">
            <a:r>
              <a:t>/Users/pat/code/ACE/docs/development/guidance/ace_theoretical_ideation_2026-10-08.md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649dd9b0884f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6b83180dc44d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c74df9fcc147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9208d5891248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e66d5bb5c54a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5bc49b80ae4e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0045C9-BF87-4EFE-868D-D5F81C3EA1B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7D9A8B-F40B-4BAF-AE1D-3611BA882A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54FE54-76CF-47DD-A29B-071ACD5537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9CDFAE-DB78-4664-9802-8290BCE57E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D17F9C-BA82-4259-A522-A49A63BBA8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E5F02E-2A2E-4209-B7DB-A5023DCADB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9B1AEC-4F52-4047-91DE-3705B72D0B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2248A8-E5CE-4F32-81A8-B91A515180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D2D952-ACC5-4F61-AE6A-8720922566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00CDB9-8422-4455-BAC6-74B391AFDB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99a2c2d89340d3" /><Relationship Type="http://schemas.openxmlformats.org/officeDocument/2006/relationships/slideLayout" Target="/ppt/slideLayouts/slideLayout1.xml" Id="R046f93dc25184643" /><Relationship Type="http://schemas.openxmlformats.org/officeDocument/2006/relationships/slideLayout" Target="/ppt/slideLayouts/slideLayout2.xml" Id="Rf6518007bbe441eb" /><Relationship Type="http://schemas.openxmlformats.org/officeDocument/2006/relationships/slideLayout" Target="/ppt/slideLayouts/slideLayout3.xml" Id="R913e596e18c94377" /><Relationship Type="http://schemas.openxmlformats.org/officeDocument/2006/relationships/slideLayout" Target="/ppt/slideLayouts/slideLayout4.xml" Id="Raa467d7ebd0a4309" /><Relationship Type="http://schemas.openxmlformats.org/officeDocument/2006/relationships/slideLayout" Target="/ppt/slideLayouts/slideLayout5.xml" Id="Rde01f4810c6948bd" /><Relationship Type="http://schemas.openxmlformats.org/officeDocument/2006/relationships/slideLayout" Target="/ppt/slideLayouts/slideLayout6.xml" Id="Rab33345580b648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6f93dc25184643"/>
    <p:sldLayoutId xmlns:r="http://schemas.openxmlformats.org/officeDocument/2006/relationships" id="2147483650" r:id="Rf6518007bbe441eb"/>
    <p:sldLayoutId xmlns:r="http://schemas.openxmlformats.org/officeDocument/2006/relationships" id="2147483651" r:id="R913e596e18c94377"/>
    <p:sldLayoutId xmlns:r="http://schemas.openxmlformats.org/officeDocument/2006/relationships" id="2147483652" r:id="Raa467d7ebd0a4309"/>
    <p:sldLayoutId xmlns:r="http://schemas.openxmlformats.org/officeDocument/2006/relationships" id="2147483653" r:id="Rde01f4810c6948bd"/>
    <p:sldLayoutId xmlns:r="http://schemas.openxmlformats.org/officeDocument/2006/relationships" id="2147483654" r:id="Rab33345580b648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af5027534f4c77" /><Relationship Type="http://schemas.openxmlformats.org/officeDocument/2006/relationships/notesSlide" Target="/ppt/notesSlides/notesSlide1.xml" Id="R17c0d98daec94a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874d07f4e747d0" /><Relationship Type="http://schemas.openxmlformats.org/officeDocument/2006/relationships/notesSlide" Target="/ppt/notesSlides/notesSlide2.xml" Id="Re474e8d9a3fa4e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c3f8a3ffbd4129" /><Relationship Type="http://schemas.openxmlformats.org/officeDocument/2006/relationships/notesSlide" Target="/ppt/notesSlides/notesSlide3.xml" Id="Rcecb82b4192a49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e0f751d0ec4f2b" /><Relationship Type="http://schemas.openxmlformats.org/officeDocument/2006/relationships/notesSlide" Target="/ppt/notesSlides/notesSlide4.xml" Id="Re42e16425ace4e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bbf684640894057" /><Relationship Type="http://schemas.openxmlformats.org/officeDocument/2006/relationships/image" Target="/ppt/media/image.png" Id="R62448e7206b248e7" /><Relationship Type="http://schemas.openxmlformats.org/officeDocument/2006/relationships/notesSlide" Target="/ppt/notesSlides/notesSlide5.xml" Id="R714b077a23ea43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fcea82e4fc4ed8" /><Relationship Type="http://schemas.openxmlformats.org/officeDocument/2006/relationships/notesSlide" Target="/ppt/notesSlides/notesSlide6.xml" Id="R0af81be3e7d848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0ac43fb1a24d2d" /><Relationship Type="http://schemas.openxmlformats.org/officeDocument/2006/relationships/notesSlide" Target="/ppt/notesSlides/notesSlide7.xml" Id="R6a581588cac244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d043bef60f45a4" /><Relationship Type="http://schemas.openxmlformats.org/officeDocument/2006/relationships/chart" Target="/ppt/slides/charts/chart1.xml" Id="R824bf21b0dab47c9" /><Relationship Type="http://schemas.openxmlformats.org/officeDocument/2006/relationships/notesSlide" Target="/ppt/notesSlides/notesSlide8.xml" Id="R3828067e325542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5a0df5aa31400d" /><Relationship Type="http://schemas.openxmlformats.org/officeDocument/2006/relationships/chart" Target="/ppt/slides/charts/chart2.xml" Id="Rd21bea7c69364f7f" /><Relationship Type="http://schemas.openxmlformats.org/officeDocument/2006/relationships/notesSlide" Target="/ppt/notesSlides/notesSlide9.xml" Id="R7ea89b3118b44c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8ee794fca94bfe" /><Relationship Type="http://schemas.openxmlformats.org/officeDocument/2006/relationships/chart" Target="/ppt/slides/charts/chart3.xml" Id="R90820c77cbc84cb4" /><Relationship Type="http://schemas.openxmlformats.org/officeDocument/2006/relationships/notesSlide" Target="/ppt/notesSlides/notesSlide10.xml" Id="R57ddb088cf6d4a4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Result</c:v>
          </c:tx>
          <c:spPr>
            <a:solidFill xmlns:a="http://schemas.openxmlformats.org/drawingml/2006/main">
              <a:srgbClr val="087F83"/>
            </a:solidFill>
          </c:spPr>
          <c:dPt>
            <c:idx val="0"/>
            <c:invertIfNegative val="0"/>
            <c:spPr>
              <a:solidFill xmlns:a="http://schemas.openxmlformats.org/drawingml/2006/main">
                <a:srgbClr val="A5B5B8"/>
              </a:solidFill>
            </c:spPr>
          </c:dPt>
          <c:dPt>
            <c:idx val="1"/>
            <c:invertIfNegative val="0"/>
            <c:spPr>
              <a:solidFill xmlns:a="http://schemas.openxmlformats.org/drawingml/2006/main">
                <a:srgbClr val="087F83"/>
              </a:solidFill>
            </c:spPr>
          </c:dPt>
          <c:cat>
            <c:strRef>
              <c:f>'Chart Data'!$A$2:$A$3</c:f>
              <c:strCache>
                <c:ptCount val="2"/>
                <c:pt idx="0">
                  <c:v>Online reference</c:v>
                </c:pt>
                <c:pt idx="1">
                  <c:v>Final refit</c:v>
                </c:pt>
              </c:strCache>
            </c:strRef>
          </c:cat>
          <c:val>
            <c:numRef>
              <c:f>'Chart Data'!$B$2:$B$3</c:f>
              <c:numCache>
                <c:formatCode>0.000</c:formatCode>
                <c:ptCount val="2"/>
                <c:pt idx="0">
                  <c:v>1</c:v>
                </c:pt>
                <c:pt idx="1">
                  <c:v>0.183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1631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D9"/>
            </a:solidFill>
          </a:ln>
        </c:spPr>
        <c:txPr>
          <a:bodyPr xmlns:a="http://schemas.openxmlformats.org/drawingml/2006/main" anchorCtr="1"/>
          <a:lstStyle xmlns:a="http://schemas.openxmlformats.org/drawingml/2006/main"/>
          <a:p xmlns:a="http://schemas.openxmlformats.org/drawingml/2006/main">
            <a:pPr>
              <a:defRPr sz="1725">
                <a:solidFill>
                  <a:srgbClr val="16313A"/>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D3DDD9"/>
              </a:solidFill>
            </a:ln>
          </c:spPr>
        </c:majorGridlines>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66B"/>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Result</c:v>
          </c:tx>
          <c:spPr>
            <a:solidFill xmlns:a="http://schemas.openxmlformats.org/drawingml/2006/main">
              <a:srgbClr val="087F83"/>
            </a:solidFill>
          </c:spPr>
          <c:dPt>
            <c:idx val="0"/>
            <c:invertIfNegative val="0"/>
            <c:spPr>
              <a:solidFill xmlns:a="http://schemas.openxmlformats.org/drawingml/2006/main">
                <a:srgbClr val="A5B5B8"/>
              </a:solidFill>
            </c:spPr>
          </c:dPt>
          <c:dPt>
            <c:idx val="1"/>
            <c:invertIfNegative val="0"/>
            <c:spPr>
              <a:solidFill xmlns:a="http://schemas.openxmlformats.org/drawingml/2006/main">
                <a:srgbClr val="A5B5B8"/>
              </a:solidFill>
            </c:spPr>
          </c:dPt>
          <c:dPt>
            <c:idx val="2"/>
            <c:invertIfNegative val="0"/>
            <c:spPr>
              <a:solidFill xmlns:a="http://schemas.openxmlformats.org/drawingml/2006/main">
                <a:srgbClr val="087F83"/>
              </a:solidFill>
            </c:spPr>
          </c:dPt>
          <c:dPt>
            <c:idx val="3"/>
            <c:invertIfNegative val="0"/>
            <c:spPr>
              <a:solidFill xmlns:a="http://schemas.openxmlformats.org/drawingml/2006/main">
                <a:srgbClr val="619A9A"/>
              </a:solidFill>
            </c:spPr>
          </c:dPt>
          <c:cat>
            <c:strRef>
              <c:f>'Chart Data'!$A$2:$A$5</c:f>
              <c:strCache>
                <c:ptCount val="4"/>
                <c:pt idx="0">
                  <c:v>Random</c:v>
                </c:pt>
                <c:pt idx="1">
                  <c:v>Coverage</c:v>
                </c:pt>
                <c:pt idx="2">
                  <c:v>PEV / IVR</c:v>
                </c:pt>
                <c:pt idx="3">
                  <c:v>Variance</c:v>
                </c:pt>
              </c:strCache>
            </c:strRef>
          </c:cat>
          <c:val>
            <c:numRef>
              <c:f>'Chart Data'!$B$2:$B$5</c:f>
              <c:numCache>
                <c:formatCode>0.000000</c:formatCode>
                <c:ptCount val="4"/>
                <c:pt idx="0">
                  <c:v>0.043898</c:v>
                </c:pt>
                <c:pt idx="1">
                  <c:v>0.039791</c:v>
                </c:pt>
                <c:pt idx="2">
                  <c:v>0.01543</c:v>
                </c:pt>
                <c:pt idx="3">
                  <c:v>0.015871</c:v>
                </c:pt>
              </c:numCache>
            </c:numRef>
          </c:val>
        </c:ser>
        <c:dLbls>
          <c:numFmt formatCode="0.000000" sourceLinked="0"/>
          <c:txPr>
            <a:bodyPr xmlns:a="http://schemas.openxmlformats.org/drawingml/2006/main" anchorCtr="1"/>
            <a:lstStyle xmlns:a="http://schemas.openxmlformats.org/drawingml/2006/main"/>
            <a:p xmlns:a="http://schemas.openxmlformats.org/drawingml/2006/main">
              <a:pPr>
                <a:defRPr sz="1875" b="1">
                  <a:solidFill>
                    <a:srgbClr val="1631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D9"/>
            </a:solidFill>
          </a:ln>
        </c:spPr>
        <c:txPr>
          <a:bodyPr xmlns:a="http://schemas.openxmlformats.org/drawingml/2006/main" anchorCtr="1"/>
          <a:lstStyle xmlns:a="http://schemas.openxmlformats.org/drawingml/2006/main"/>
          <a:p xmlns:a="http://schemas.openxmlformats.org/drawingml/2006/main">
            <a:pPr>
              <a:defRPr sz="1725">
                <a:solidFill>
                  <a:srgbClr val="16313A"/>
                </a:solidFill>
                <a:latin typeface="Helvetica Neue"/>
                <a:ea typeface="Helvetica Neue"/>
                <a:cs typeface="Helvetica Neue"/>
              </a:defRPr>
            </a:pPr>
          </a:p>
        </c:txPr>
        <c:crossAx val="48672768"/>
      </c:catAx>
      <c:valAx>
        <c:axId val="48672768"/>
        <c:scaling>
          <c:orientation val="minMax"/>
          <c:max val="0.055"/>
          <c:min val="0"/>
        </c:scaling>
        <c:delete val="0"/>
        <c:axPos val="l"/>
        <c:majorGridlines>
          <c:spPr>
            <a:ln xmlns:a="http://schemas.openxmlformats.org/drawingml/2006/main" w="9525">
              <a:solidFill>
                <a:srgbClr val="D3DDD9"/>
              </a:solidFill>
            </a:ln>
          </c:spPr>
        </c:majorGridlines>
        <c:numFmt formatCode="0.00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66B"/>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Result</c:v>
          </c:tx>
          <c:spPr>
            <a:solidFill xmlns:a="http://schemas.openxmlformats.org/drawingml/2006/main">
              <a:srgbClr val="087F83"/>
            </a:solidFill>
          </c:spPr>
          <c:dPt>
            <c:idx val="0"/>
            <c:invertIfNegative val="0"/>
            <c:spPr>
              <a:solidFill xmlns:a="http://schemas.openxmlformats.org/drawingml/2006/main">
                <a:srgbClr val="087F83"/>
              </a:solidFill>
            </c:spPr>
          </c:dPt>
          <c:dPt>
            <c:idx val="1"/>
            <c:invertIfNegative val="0"/>
            <c:spPr>
              <a:solidFill xmlns:a="http://schemas.openxmlformats.org/drawingml/2006/main">
                <a:srgbClr val="619A9A"/>
              </a:solidFill>
            </c:spPr>
          </c:dPt>
          <c:dPt>
            <c:idx val="2"/>
            <c:invertIfNegative val="0"/>
            <c:spPr>
              <a:solidFill xmlns:a="http://schemas.openxmlformats.org/drawingml/2006/main">
                <a:srgbClr val="B95435"/>
              </a:solidFill>
            </c:spPr>
          </c:dPt>
          <c:dLbls>
            <c:dLbl>
              <c:idx val="0"/>
              <c:tx>
                <c:rich>
                  <a:bodyPr xmlns:a="http://schemas.openxmlformats.org/drawingml/2006/main"/>
                  <a:lstStyle xmlns:a="http://schemas.openxmlformats.org/drawingml/2006/main"/>
                  <a:p xmlns:a="http://schemas.openxmlformats.org/drawingml/2006/main">
                    <a:r>
                      <a:rPr/>
                      <a:t>7 / 11</a:t>
                    </a:r>
                  </a:p>
                </c:rich>
              </c:tx>
              <c:showVal val="0"/>
            </c:dLbl>
            <c:dLbl>
              <c:idx val="1"/>
              <c:tx>
                <c:rich>
                  <a:bodyPr xmlns:a="http://schemas.openxmlformats.org/drawingml/2006/main"/>
                  <a:lstStyle xmlns:a="http://schemas.openxmlformats.org/drawingml/2006/main"/>
                  <a:p xmlns:a="http://schemas.openxmlformats.org/drawingml/2006/main">
                    <a:r>
                      <a:rPr/>
                      <a:t>3 / 11</a:t>
                    </a:r>
                  </a:p>
                </c:rich>
              </c:tx>
              <c:showVal val="0"/>
            </c:dLbl>
            <c:dLbl>
              <c:idx val="2"/>
              <c:tx>
                <c:rich>
                  <a:bodyPr xmlns:a="http://schemas.openxmlformats.org/drawingml/2006/main"/>
                  <a:lstStyle xmlns:a="http://schemas.openxmlformats.org/drawingml/2006/main"/>
                  <a:p xmlns:a="http://schemas.openxmlformats.org/drawingml/2006/main">
                    <a:r>
                      <a:rPr/>
                      <a:t>0 / 11</a:t>
                    </a:r>
                  </a:p>
                </c:rich>
              </c:tx>
              <c:showVal val="0"/>
            </c:dLbl>
          </c:dLbls>
          <c:cat>
            <c:strRef>
              <c:f>'Chart Data'!$A$2:$A$4</c:f>
              <c:strCache>
                <c:ptCount val="3"/>
                <c:pt idx="0">
                  <c:v>Rolling prediction</c:v>
                </c:pt>
                <c:pt idx="1">
                  <c:v>Physics regression</c:v>
                </c:pt>
                <c:pt idx="2">
                  <c:v>Fourier regression</c:v>
                </c:pt>
              </c:strCache>
            </c:strRef>
          </c:cat>
          <c:val>
            <c:numRef>
              <c:f>'Chart Data'!$B$2:$B$4</c:f>
              <c:numCache>
                <c:formatCode>0</c:formatCode>
                <c:ptCount val="3"/>
                <c:pt idx="0">
                  <c:v>7</c:v>
                </c:pt>
                <c:pt idx="1">
                  <c:v>3</c:v>
                </c:pt>
                <c:pt idx="2">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631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D9"/>
            </a:solidFill>
          </a:ln>
        </c:spPr>
        <c:txPr>
          <a:bodyPr xmlns:a="http://schemas.openxmlformats.org/drawingml/2006/main" anchorCtr="1"/>
          <a:lstStyle xmlns:a="http://schemas.openxmlformats.org/drawingml/2006/main"/>
          <a:p xmlns:a="http://schemas.openxmlformats.org/drawingml/2006/main">
            <a:pPr>
              <a:defRPr sz="1725">
                <a:solidFill>
                  <a:srgbClr val="16313A"/>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D3DD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66B"/>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B36"/>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9F33DED-B955-4F66-8B9B-360E3883C13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ACE</a:t>
            </a:r>
          </a:p>
        </p:txBody>
      </p:sp>
      <p:sp>
        <p:nvSpPr>
          <p:cNvPr id="2" name="page">
            <a:extLst xmlns:a="http://schemas.openxmlformats.org/drawingml/2006/main">
              <a:ext uri="{FF2B5EF4-FFF2-40B4-BE49-F238E27FC236}">
                <a16:creationId xmlns:a16="http://schemas.microsoft.com/office/drawing/2014/main" id="{825D2A97-E4D6-4A9A-A8C0-87B70CC58CC4}"/>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DD4CD"/>
                </a:solidFill>
                <a:latin typeface="Helvetica Neue"/>
                <a:ea typeface="Helvetica Neue"/>
                <a:cs typeface="Helvetica Neue"/>
              </a:defRPr>
            </a:defPPr>
          </a:lstStyle>
          <a:p xmlns:a="http://schemas.openxmlformats.org/drawingml/2006/main">
            <a:pPr>
              <a:defRPr sz="1500" b="0">
                <a:solidFill>
                  <a:srgbClr val="9DD4CD"/>
                </a:solidFill>
                <a:latin typeface="Helvetica Neue"/>
                <a:ea typeface="Helvetica Neue"/>
                <a:cs typeface="Helvetica Neue"/>
              </a:defRPr>
            </a:pPr>
            <a:r>
              <a:rPr sz="1500" b="0">
                <a:solidFill>
                  <a:srgbClr val="9DD4CD"/>
                </a:solidFill>
                <a:latin typeface="Helvetica Neue"/>
                <a:ea typeface="Helvetica Neue"/>
                <a:cs typeface="Helvetica Neue"/>
              </a:rPr>
              <a:t>01</a:t>
            </a:r>
          </a:p>
        </p:txBody>
      </p:sp>
      <p:sp>
        <p:nvSpPr>
          <p:cNvPr id="3" name="Learning for the&#10;prediction ">
            <a:extLst xmlns:a="http://schemas.openxmlformats.org/drawingml/2006/main">
              <a:ext uri="{FF2B5EF4-FFF2-40B4-BE49-F238E27FC236}">
                <a16:creationId xmlns:a16="http://schemas.microsoft.com/office/drawing/2014/main" id="{7D9D81CB-C33B-45BE-B4E1-337B11351892}"/>
              </a:ext>
            </a:extLst>
          </p:cNvPr>
          <p:cNvSpPr>
            <a:spLocks xmlns:a="http://schemas.openxmlformats.org/drawingml/2006/main" noGrp="1"/>
          </p:cNvSpPr>
          <p:nvPr/>
        </p:nvSpPr>
        <p:spPr>
          <a:xfrm xmlns:a="http://schemas.openxmlformats.org/drawingml/2006/main">
            <a:off x="609600" y="1714500"/>
            <a:ext cx="1047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Helvetica Neue"/>
                <a:ea typeface="Helvetica Neue"/>
                <a:cs typeface="Helvetica Neue"/>
              </a:defRPr>
            </a:defPPr>
          </a:lstStyle>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Learning for the</a:t>
            </a:r>
          </a:p>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prediction we use</a:t>
            </a:r>
          </a:p>
        </p:txBody>
      </p:sp>
      <p:sp>
        <p:nvSpPr>
          <p:cNvPr id="4" name="An experiment helps when its">
            <a:extLst xmlns:a="http://schemas.openxmlformats.org/drawingml/2006/main">
              <a:ext uri="{FF2B5EF4-FFF2-40B4-BE49-F238E27FC236}">
                <a16:creationId xmlns:a16="http://schemas.microsoft.com/office/drawing/2014/main" id="{BC2EC258-A5B9-4E4D-9D36-B04B931F0373}"/>
              </a:ext>
            </a:extLst>
          </p:cNvPr>
          <p:cNvSpPr>
            <a:spLocks xmlns:a="http://schemas.openxmlformats.org/drawingml/2006/main" noGrp="1"/>
          </p:cNvSpPr>
          <p:nvPr/>
        </p:nvSpPr>
        <p:spPr>
          <a:xfrm xmlns:a="http://schemas.openxmlformats.org/drawingml/2006/main">
            <a:off x="647700" y="40957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9DD4CD"/>
                </a:solidFill>
                <a:latin typeface="Helvetica Neue"/>
                <a:ea typeface="Helvetica Neue"/>
                <a:cs typeface="Helvetica Neue"/>
              </a:defRPr>
            </a:defPPr>
          </a:lstStyle>
          <a:p xmlns:a="http://schemas.openxmlformats.org/drawingml/2006/main">
            <a:pPr>
              <a:defRPr sz="2400" b="0">
                <a:solidFill>
                  <a:srgbClr val="9DD4CD"/>
                </a:solidFill>
                <a:latin typeface="Helvetica Neue"/>
                <a:ea typeface="Helvetica Neue"/>
                <a:cs typeface="Helvetica Neue"/>
              </a:defRPr>
            </a:pPr>
            <a:r>
              <a:rPr sz="2400" b="0">
                <a:solidFill>
                  <a:srgbClr val="9DD4CD"/>
                </a:solidFill>
                <a:latin typeface="Helvetica Neue"/>
                <a:ea typeface="Helvetica Neue"/>
                <a:cs typeface="Helvetica Neue"/>
              </a:rPr>
              <a:t>An experiment helps when its observations can</a:t>
            </a:r>
          </a:p>
          <a:p xmlns:a="http://schemas.openxmlformats.org/drawingml/2006/main">
            <a:pPr>
              <a:defRPr sz="2400" b="0">
                <a:solidFill>
                  <a:srgbClr val="9DD4CD"/>
                </a:solidFill>
                <a:latin typeface="Helvetica Neue"/>
                <a:ea typeface="Helvetica Neue"/>
                <a:cs typeface="Helvetica Neue"/>
              </a:defRPr>
            </a:pPr>
            <a:r>
              <a:rPr sz="2400" b="0">
                <a:solidFill>
                  <a:srgbClr val="9DD4CD"/>
                </a:solidFill>
                <a:latin typeface="Helvetica Neue"/>
                <a:ea typeface="Helvetica Neue"/>
                <a:cs typeface="Helvetica Neue"/>
              </a:rPr>
              <a:t>improve the model’s final prediction.</a:t>
            </a:r>
          </a:p>
        </p:txBody>
      </p:sp>
      <p:sp>
        <p:nvSpPr>
          <p:cNvPr id="5" name="Make every experiment count.">
            <a:extLst xmlns:a="http://schemas.openxmlformats.org/drawingml/2006/main">
              <a:ext uri="{FF2B5EF4-FFF2-40B4-BE49-F238E27FC236}">
                <a16:creationId xmlns:a16="http://schemas.microsoft.com/office/drawing/2014/main" id="{AAE6FDED-4D67-4AC4-BA62-912FB9800EEA}"/>
              </a:ext>
            </a:extLst>
          </p:cNvPr>
          <p:cNvSpPr>
            <a:spLocks xmlns:a="http://schemas.openxmlformats.org/drawingml/2006/main" noGrp="1"/>
          </p:cNvSpPr>
          <p:nvPr/>
        </p:nvSpPr>
        <p:spPr>
          <a:xfrm xmlns:a="http://schemas.openxmlformats.org/drawingml/2006/main">
            <a:off x="647700" y="564832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Helvetica Neue"/>
                <a:ea typeface="Helvetica Neue"/>
                <a:cs typeface="Helvetica Neue"/>
              </a:defRPr>
            </a:defPPr>
          </a:lstStyle>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Make every experiment count.</a:t>
            </a:r>
          </a:p>
        </p:txBody>
      </p:sp>
    </p:spTree>
    <p:extLst>
      <p:ext uri="{BB962C8B-B14F-4D97-AF65-F5344CB8AC3E}">
        <p14:creationId xmlns:p14="http://schemas.microsoft.com/office/powerpoint/2010/main" val="1378284745"/>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AC5E390-E996-4BDD-AE9F-DE3EB65EA731}"/>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Information and fitting effort</a:t>
            </a:r>
          </a:p>
        </p:txBody>
      </p:sp>
      <p:sp>
        <p:nvSpPr>
          <p:cNvPr id="2" name="page">
            <a:extLst xmlns:a="http://schemas.openxmlformats.org/drawingml/2006/main">
              <a:ext uri="{FF2B5EF4-FFF2-40B4-BE49-F238E27FC236}">
                <a16:creationId xmlns:a16="http://schemas.microsoft.com/office/drawing/2014/main" id="{69FD6A61-D9F1-40B0-B38D-F509ECD80EB9}"/>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02</a:t>
            </a:r>
          </a:p>
        </p:txBody>
      </p:sp>
      <p:sp>
        <p:nvSpPr>
          <p:cNvPr id="3" name="More eligible observations">
            <a:extLst xmlns:a="http://schemas.openxmlformats.org/drawingml/2006/main">
              <a:ext uri="{FF2B5EF4-FFF2-40B4-BE49-F238E27FC236}">
                <a16:creationId xmlns:a16="http://schemas.microsoft.com/office/drawing/2014/main" id="{8A6C8BF9-AD24-4A93-B4A8-FE22452AF2A0}"/>
              </a:ext>
            </a:extLst>
          </p:cNvPr>
          <p:cNvSpPr>
            <a:spLocks xmlns:a="http://schemas.openxmlformats.org/drawingml/2006/main" noGrp="1"/>
          </p:cNvSpPr>
          <p:nvPr/>
        </p:nvSpPr>
        <p:spPr>
          <a:xfrm xmlns:a="http://schemas.openxmlformats.org/drawingml/2006/main">
            <a:off x="609600" y="1790700"/>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F83"/>
                </a:solidFill>
                <a:latin typeface="Helvetica Neue"/>
                <a:ea typeface="Helvetica Neue"/>
                <a:cs typeface="Helvetica Neue"/>
              </a:defRPr>
            </a:defPPr>
          </a:lstStyle>
          <a:p xmlns:a="http://schemas.openxmlformats.org/drawingml/2006/main">
            <a:pPr>
              <a:defRPr sz="2550" b="1">
                <a:solidFill>
                  <a:srgbClr val="087F83"/>
                </a:solidFill>
                <a:latin typeface="Helvetica Neue"/>
                <a:ea typeface="Helvetica Neue"/>
                <a:cs typeface="Helvetica Neue"/>
              </a:defRPr>
            </a:pPr>
            <a:r>
              <a:rPr sz="2550" b="1">
                <a:solidFill>
                  <a:srgbClr val="087F83"/>
                </a:solidFill>
                <a:latin typeface="Helvetica Neue"/>
                <a:ea typeface="Helvetica Neue"/>
                <a:cs typeface="Helvetica Neue"/>
              </a:rPr>
              <a:t>More eligible observations</a:t>
            </a:r>
          </a:p>
        </p:txBody>
      </p:sp>
      <p:sp>
        <p:nvSpPr>
          <p:cNvPr id="4" name="They can reduce uncertainty ">
            <a:extLst xmlns:a="http://schemas.openxmlformats.org/drawingml/2006/main">
              <a:ext uri="{FF2B5EF4-FFF2-40B4-BE49-F238E27FC236}">
                <a16:creationId xmlns:a16="http://schemas.microsoft.com/office/drawing/2014/main" id="{DC3FFA94-99AD-4F37-9BBF-1D77BC900583}"/>
              </a:ext>
            </a:extLst>
          </p:cNvPr>
          <p:cNvSpPr>
            <a:spLocks xmlns:a="http://schemas.openxmlformats.org/drawingml/2006/main" noGrp="1"/>
          </p:cNvSpPr>
          <p:nvPr/>
        </p:nvSpPr>
        <p:spPr>
          <a:xfrm xmlns:a="http://schemas.openxmlformats.org/drawingml/2006/main">
            <a:off x="609600" y="2619375"/>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13A"/>
                </a:solidFill>
                <a:latin typeface="Helvetica Neue"/>
                <a:ea typeface="Helvetica Neue"/>
                <a:cs typeface="Helvetica Neue"/>
              </a:defRPr>
            </a:defPPr>
          </a:lstStyle>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They can reduce uncertainty about</a:t>
            </a:r>
          </a:p>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a correctly specified mechanism.</a:t>
            </a:r>
          </a:p>
        </p:txBody>
      </p:sp>
      <p:sp>
        <p:nvSpPr>
          <p:cNvPr id="5" name="Posterior variance can decre">
            <a:extLst xmlns:a="http://schemas.openxmlformats.org/drawingml/2006/main">
              <a:ext uri="{FF2B5EF4-FFF2-40B4-BE49-F238E27FC236}">
                <a16:creationId xmlns:a16="http://schemas.microsoft.com/office/drawing/2014/main" id="{E52A3EEF-AD4E-4C1F-9C56-02E4D46E801C}"/>
              </a:ext>
            </a:extLst>
          </p:cNvPr>
          <p:cNvSpPr>
            <a:spLocks xmlns:a="http://schemas.openxmlformats.org/drawingml/2006/main" noGrp="1"/>
          </p:cNvSpPr>
          <p:nvPr/>
        </p:nvSpPr>
        <p:spPr>
          <a:xfrm xmlns:a="http://schemas.openxmlformats.org/drawingml/2006/main">
            <a:off x="609600" y="423862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F83"/>
                </a:solidFill>
                <a:latin typeface="Helvetica Neue"/>
                <a:ea typeface="Helvetica Neue"/>
                <a:cs typeface="Helvetica Neue"/>
              </a:defRPr>
            </a:defPPr>
          </a:lstStyle>
          <a:p xmlns:a="http://schemas.openxmlformats.org/drawingml/2006/main">
            <a:pPr>
              <a:defRPr sz="2400" b="1">
                <a:solidFill>
                  <a:srgbClr val="087F83"/>
                </a:solidFill>
                <a:latin typeface="Helvetica Neue"/>
                <a:ea typeface="Helvetica Neue"/>
                <a:cs typeface="Helvetica Neue"/>
              </a:defRPr>
            </a:pPr>
            <a:r>
              <a:rPr sz="2400" b="1">
                <a:solidFill>
                  <a:srgbClr val="087F83"/>
                </a:solidFill>
                <a:latin typeface="Helvetica Neue"/>
                <a:ea typeface="Helvetica Neue"/>
                <a:cs typeface="Helvetica Neue"/>
              </a:rPr>
              <a:t>Posterior variance can decrease</a:t>
            </a:r>
          </a:p>
        </p:txBody>
      </p:sp>
      <p:sp>
        <p:nvSpPr>
          <p:cNvPr id="6" name="More fitting on saved observ">
            <a:extLst xmlns:a="http://schemas.openxmlformats.org/drawingml/2006/main">
              <a:ext uri="{FF2B5EF4-FFF2-40B4-BE49-F238E27FC236}">
                <a16:creationId xmlns:a16="http://schemas.microsoft.com/office/drawing/2014/main" id="{EC9549C0-017B-4E72-8001-0DC17F8ECADB}"/>
              </a:ext>
            </a:extLst>
          </p:cNvPr>
          <p:cNvSpPr>
            <a:spLocks xmlns:a="http://schemas.openxmlformats.org/drawingml/2006/main" noGrp="1"/>
          </p:cNvSpPr>
          <p:nvPr/>
        </p:nvSpPr>
        <p:spPr>
          <a:xfrm xmlns:a="http://schemas.openxmlformats.org/drawingml/2006/main">
            <a:off x="6515100" y="1790700"/>
            <a:ext cx="5000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B95435"/>
                </a:solidFill>
                <a:latin typeface="Helvetica Neue"/>
                <a:ea typeface="Helvetica Neue"/>
                <a:cs typeface="Helvetica Neue"/>
              </a:defRPr>
            </a:defPPr>
          </a:lstStyle>
          <a:p xmlns:a="http://schemas.openxmlformats.org/drawingml/2006/main">
            <a:pPr>
              <a:defRPr sz="2550" b="1">
                <a:solidFill>
                  <a:srgbClr val="B95435"/>
                </a:solidFill>
                <a:latin typeface="Helvetica Neue"/>
                <a:ea typeface="Helvetica Neue"/>
                <a:cs typeface="Helvetica Neue"/>
              </a:defRPr>
            </a:pPr>
            <a:r>
              <a:rPr sz="2550" b="1">
                <a:solidFill>
                  <a:srgbClr val="B95435"/>
                </a:solidFill>
                <a:latin typeface="Helvetica Neue"/>
                <a:ea typeface="Helvetica Neue"/>
                <a:cs typeface="Helvetica Neue"/>
              </a:rPr>
              <a:t>More fitting on saved observations</a:t>
            </a:r>
          </a:p>
        </p:txBody>
      </p:sp>
      <p:sp>
        <p:nvSpPr>
          <p:cNvPr id="7" name="It can reduce error left by&#10;">
            <a:extLst xmlns:a="http://schemas.openxmlformats.org/drawingml/2006/main">
              <a:ext uri="{FF2B5EF4-FFF2-40B4-BE49-F238E27FC236}">
                <a16:creationId xmlns:a16="http://schemas.microsoft.com/office/drawing/2014/main" id="{D8920A1A-AD15-488A-AC20-B698AEA8418F}"/>
              </a:ext>
            </a:extLst>
          </p:cNvPr>
          <p:cNvSpPr>
            <a:spLocks xmlns:a="http://schemas.openxmlformats.org/drawingml/2006/main" noGrp="1"/>
          </p:cNvSpPr>
          <p:nvPr/>
        </p:nvSpPr>
        <p:spPr>
          <a:xfrm xmlns:a="http://schemas.openxmlformats.org/drawingml/2006/main">
            <a:off x="6515100" y="295275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13A"/>
                </a:solidFill>
                <a:latin typeface="Helvetica Neue"/>
                <a:ea typeface="Helvetica Neue"/>
                <a:cs typeface="Helvetica Neue"/>
              </a:defRPr>
            </a:defPPr>
          </a:lstStyle>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It can reduce error left by</a:t>
            </a:r>
          </a:p>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the online optimizer.</a:t>
            </a:r>
          </a:p>
        </p:txBody>
      </p:sp>
      <p:sp>
        <p:nvSpPr>
          <p:cNvPr id="8" name="Neural test error can still ">
            <a:extLst xmlns:a="http://schemas.openxmlformats.org/drawingml/2006/main">
              <a:ext uri="{FF2B5EF4-FFF2-40B4-BE49-F238E27FC236}">
                <a16:creationId xmlns:a16="http://schemas.microsoft.com/office/drawing/2014/main" id="{D1F88E92-360F-4D1A-887A-4C1575ADCCAC}"/>
              </a:ext>
            </a:extLst>
          </p:cNvPr>
          <p:cNvSpPr>
            <a:spLocks xmlns:a="http://schemas.openxmlformats.org/drawingml/2006/main" noGrp="1"/>
          </p:cNvSpPr>
          <p:nvPr/>
        </p:nvSpPr>
        <p:spPr>
          <a:xfrm xmlns:a="http://schemas.openxmlformats.org/drawingml/2006/main">
            <a:off x="6515100" y="423862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95435"/>
                </a:solidFill>
                <a:latin typeface="Helvetica Neue"/>
                <a:ea typeface="Helvetica Neue"/>
                <a:cs typeface="Helvetica Neue"/>
              </a:defRPr>
            </a:defPPr>
          </a:lstStyle>
          <a:p xmlns:a="http://schemas.openxmlformats.org/drawingml/2006/main">
            <a:pPr>
              <a:defRPr sz="2400" b="1">
                <a:solidFill>
                  <a:srgbClr val="B95435"/>
                </a:solidFill>
                <a:latin typeface="Helvetica Neue"/>
                <a:ea typeface="Helvetica Neue"/>
                <a:cs typeface="Helvetica Neue"/>
              </a:defRPr>
            </a:pPr>
            <a:r>
              <a:rPr sz="2400" b="1">
                <a:solidFill>
                  <a:srgbClr val="B95435"/>
                </a:solidFill>
                <a:latin typeface="Helvetica Neue"/>
                <a:ea typeface="Helvetica Neue"/>
                <a:cs typeface="Helvetica Neue"/>
              </a:rPr>
              <a:t>Neural test error can still increase</a:t>
            </a:r>
          </a:p>
        </p:txBody>
      </p:sp>
      <p:sp>
        <p:nvSpPr>
          <p:cNvPr id="9" name="The information result assum">
            <a:extLst xmlns:a="http://schemas.openxmlformats.org/drawingml/2006/main">
              <a:ext uri="{FF2B5EF4-FFF2-40B4-BE49-F238E27FC236}">
                <a16:creationId xmlns:a16="http://schemas.microsoft.com/office/drawing/2014/main" id="{53C5AE2A-790B-4F51-93F4-10EAA6C40031}"/>
              </a:ext>
            </a:extLst>
          </p:cNvPr>
          <p:cNvSpPr>
            <a:spLocks xmlns:a="http://schemas.openxmlformats.org/drawingml/2006/main" noGrp="1"/>
          </p:cNvSpPr>
          <p:nvPr/>
        </p:nvSpPr>
        <p:spPr>
          <a:xfrm xmlns:a="http://schemas.openxmlformats.org/drawingml/2006/main">
            <a:off x="609600" y="579120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The information result assumes a linear Gaussian model. Final fitting costs computation.</a:t>
            </a:r>
          </a:p>
        </p:txBody>
      </p:sp>
    </p:spTree>
    <p:extLst>
      <p:ext uri="{BB962C8B-B14F-4D97-AF65-F5344CB8AC3E}">
        <p14:creationId xmlns:p14="http://schemas.microsoft.com/office/powerpoint/2010/main" val="1906003484"/>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DD66927-6C54-4327-AC40-927B00505121}"/>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Error propagation through a causal model</a:t>
            </a:r>
          </a:p>
        </p:txBody>
      </p:sp>
      <p:sp>
        <p:nvSpPr>
          <p:cNvPr id="2" name="page">
            <a:extLst xmlns:a="http://schemas.openxmlformats.org/drawingml/2006/main">
              <a:ext uri="{FF2B5EF4-FFF2-40B4-BE49-F238E27FC236}">
                <a16:creationId xmlns:a16="http://schemas.microsoft.com/office/drawing/2014/main" id="{65B56761-5296-406B-9885-2F63F128F8B8}"/>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03</a:t>
            </a:r>
          </a:p>
        </p:txBody>
      </p:sp>
      <p:sp>
        <p:nvSpPr>
          <p:cNvPr id="3" name="Final error = amplified inte">
            <a:extLst xmlns:a="http://schemas.openxmlformats.org/drawingml/2006/main">
              <a:ext uri="{FF2B5EF4-FFF2-40B4-BE49-F238E27FC236}">
                <a16:creationId xmlns:a16="http://schemas.microsoft.com/office/drawing/2014/main" id="{F25585B3-3171-4437-9E91-480251DF6EE8}"/>
              </a:ext>
            </a:extLst>
          </p:cNvPr>
          <p:cNvSpPr>
            <a:spLocks xmlns:a="http://schemas.openxmlformats.org/drawingml/2006/main" noGrp="1"/>
          </p:cNvSpPr>
          <p:nvPr/>
        </p:nvSpPr>
        <p:spPr>
          <a:xfrm xmlns:a="http://schemas.openxmlformats.org/drawingml/2006/main">
            <a:off x="609600" y="1657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3666B"/>
                </a:solidFill>
                <a:latin typeface="Helvetica Neue"/>
                <a:ea typeface="Helvetica Neue"/>
                <a:cs typeface="Helvetica Neue"/>
              </a:defRPr>
            </a:defPPr>
          </a:lstStyle>
          <a:p xmlns:a="http://schemas.openxmlformats.org/drawingml/2006/main">
            <a:pPr>
              <a:defRPr sz="2250" b="0">
                <a:solidFill>
                  <a:srgbClr val="53666B"/>
                </a:solidFill>
                <a:latin typeface="Helvetica Neue"/>
                <a:ea typeface="Helvetica Neue"/>
                <a:cs typeface="Helvetica Neue"/>
              </a:defRPr>
            </a:pPr>
            <a:r>
              <a:rPr sz="2250" b="0">
                <a:solidFill>
                  <a:srgbClr val="53666B"/>
                </a:solidFill>
                <a:latin typeface="Helvetica Neue"/>
                <a:ea typeface="Helvetica Neue"/>
                <a:cs typeface="Helvetica Neue"/>
              </a:rPr>
              <a:t>Final error = amplified intermediate error + local error</a:t>
            </a:r>
          </a:p>
        </p:txBody>
      </p:sp>
      <p:sp>
        <p:nvSpPr>
          <p:cNvPr id="4" name="δY = b × δM + eY">
            <a:extLst xmlns:a="http://schemas.openxmlformats.org/drawingml/2006/main">
              <a:ext uri="{FF2B5EF4-FFF2-40B4-BE49-F238E27FC236}">
                <a16:creationId xmlns:a16="http://schemas.microsoft.com/office/drawing/2014/main" id="{6D7687E7-A80F-4DCE-AF9E-D2CBB878082A}"/>
              </a:ext>
            </a:extLst>
          </p:cNvPr>
          <p:cNvSpPr>
            <a:spLocks xmlns:a="http://schemas.openxmlformats.org/drawingml/2006/main" noGrp="1"/>
          </p:cNvSpPr>
          <p:nvPr/>
        </p:nvSpPr>
        <p:spPr>
          <a:xfrm xmlns:a="http://schemas.openxmlformats.org/drawingml/2006/main">
            <a:off x="609600" y="2819400"/>
            <a:ext cx="10839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087F83"/>
                </a:solidFill>
                <a:latin typeface="Helvetica Neue"/>
                <a:ea typeface="Helvetica Neue"/>
                <a:cs typeface="Helvetica Neue"/>
              </a:defRPr>
            </a:defPPr>
          </a:lstStyle>
          <a:p xmlns:a="http://schemas.openxmlformats.org/drawingml/2006/main">
            <a:pPr>
              <a:defRPr sz="5700" b="1">
                <a:solidFill>
                  <a:srgbClr val="087F83"/>
                </a:solidFill>
                <a:latin typeface="Helvetica Neue"/>
                <a:ea typeface="Helvetica Neue"/>
                <a:cs typeface="Helvetica Neue"/>
              </a:defRPr>
            </a:pPr>
            <a:r>
              <a:rPr sz="5700" b="1">
                <a:solidFill>
                  <a:srgbClr val="087F83"/>
                </a:solidFill>
                <a:latin typeface="Helvetica Neue"/>
                <a:ea typeface="Helvetica Neue"/>
                <a:cs typeface="Helvetica Neue"/>
              </a:rPr>
              <a:t>δY = b × δM + eY</a:t>
            </a:r>
          </a:p>
        </p:txBody>
      </p:sp>
      <p:sp>
        <p:nvSpPr>
          <p:cNvPr id="5" name="δM&#10;Intermediate error">
            <a:extLst xmlns:a="http://schemas.openxmlformats.org/drawingml/2006/main">
              <a:ext uri="{FF2B5EF4-FFF2-40B4-BE49-F238E27FC236}">
                <a16:creationId xmlns:a16="http://schemas.microsoft.com/office/drawing/2014/main" id="{377ACEAA-605B-486D-A336-A7ADCFE8C3DA}"/>
              </a:ext>
            </a:extLst>
          </p:cNvPr>
          <p:cNvSpPr>
            <a:spLocks xmlns:a="http://schemas.openxmlformats.org/drawingml/2006/main" noGrp="1"/>
          </p:cNvSpPr>
          <p:nvPr/>
        </p:nvSpPr>
        <p:spPr>
          <a:xfrm xmlns:a="http://schemas.openxmlformats.org/drawingml/2006/main">
            <a:off x="647700" y="4438650"/>
            <a:ext cx="309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13A"/>
                </a:solidFill>
                <a:latin typeface="Helvetica Neue"/>
                <a:ea typeface="Helvetica Neue"/>
                <a:cs typeface="Helvetica Neue"/>
              </a:defRPr>
            </a:defPPr>
          </a:lstStyle>
          <a:p xmlns:a="http://schemas.openxmlformats.org/drawingml/2006/main">
            <a:pPr>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δM</a:t>
            </a:r>
          </a:p>
          <a:p xmlns:a="http://schemas.openxmlformats.org/drawingml/2006/main">
            <a:pPr>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Intermediate error</a:t>
            </a:r>
          </a:p>
        </p:txBody>
      </p:sp>
      <p:sp>
        <p:nvSpPr>
          <p:cNvPr id="6" name="b&#10;Learned slope">
            <a:extLst xmlns:a="http://schemas.openxmlformats.org/drawingml/2006/main">
              <a:ext uri="{FF2B5EF4-FFF2-40B4-BE49-F238E27FC236}">
                <a16:creationId xmlns:a16="http://schemas.microsoft.com/office/drawing/2014/main" id="{A8C81911-9AB8-4F23-A3B5-44EC67501E99}"/>
              </a:ext>
            </a:extLst>
          </p:cNvPr>
          <p:cNvSpPr>
            <a:spLocks xmlns:a="http://schemas.openxmlformats.org/drawingml/2006/main" noGrp="1"/>
          </p:cNvSpPr>
          <p:nvPr/>
        </p:nvSpPr>
        <p:spPr>
          <a:xfrm xmlns:a="http://schemas.openxmlformats.org/drawingml/2006/main">
            <a:off x="4171950" y="4438650"/>
            <a:ext cx="309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13A"/>
                </a:solidFill>
                <a:latin typeface="Helvetica Neue"/>
                <a:ea typeface="Helvetica Neue"/>
                <a:cs typeface="Helvetica Neue"/>
              </a:defRPr>
            </a:defPPr>
          </a:lstStyle>
          <a:p xmlns:a="http://schemas.openxmlformats.org/drawingml/2006/main">
            <a:pPr>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b</a:t>
            </a:r>
          </a:p>
          <a:p xmlns:a="http://schemas.openxmlformats.org/drawingml/2006/main">
            <a:pPr>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Learned slope</a:t>
            </a:r>
          </a:p>
        </p:txBody>
      </p:sp>
      <p:sp>
        <p:nvSpPr>
          <p:cNvPr id="7" name="eY&#10;Downstream residual">
            <a:extLst xmlns:a="http://schemas.openxmlformats.org/drawingml/2006/main">
              <a:ext uri="{FF2B5EF4-FFF2-40B4-BE49-F238E27FC236}">
                <a16:creationId xmlns:a16="http://schemas.microsoft.com/office/drawing/2014/main" id="{3F83F428-6C4B-4AB6-99EE-FA793D88E5AF}"/>
              </a:ext>
            </a:extLst>
          </p:cNvPr>
          <p:cNvSpPr>
            <a:spLocks xmlns:a="http://schemas.openxmlformats.org/drawingml/2006/main" noGrp="1"/>
          </p:cNvSpPr>
          <p:nvPr/>
        </p:nvSpPr>
        <p:spPr>
          <a:xfrm xmlns:a="http://schemas.openxmlformats.org/drawingml/2006/main">
            <a:off x="7686675" y="443865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13A"/>
                </a:solidFill>
                <a:latin typeface="Helvetica Neue"/>
                <a:ea typeface="Helvetica Neue"/>
                <a:cs typeface="Helvetica Neue"/>
              </a:defRPr>
            </a:defPPr>
          </a:lstStyle>
          <a:p xmlns:a="http://schemas.openxmlformats.org/drawingml/2006/main">
            <a:pPr>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eY</a:t>
            </a:r>
          </a:p>
          <a:p xmlns:a="http://schemas.openxmlformats.org/drawingml/2006/main">
            <a:pPr>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Downstream residual</a:t>
            </a:r>
          </a:p>
        </p:txBody>
      </p:sp>
      <p:sp>
        <p:nvSpPr>
          <p:cNvPr id="8" name="Signed errors can reinforce ">
            <a:extLst xmlns:a="http://schemas.openxmlformats.org/drawingml/2006/main">
              <a:ext uri="{FF2B5EF4-FFF2-40B4-BE49-F238E27FC236}">
                <a16:creationId xmlns:a16="http://schemas.microsoft.com/office/drawing/2014/main" id="{247B9B8F-36A2-4051-9328-87798595D005}"/>
              </a:ext>
            </a:extLst>
          </p:cNvPr>
          <p:cNvSpPr>
            <a:spLocks xmlns:a="http://schemas.openxmlformats.org/drawingml/2006/main" noGrp="1"/>
          </p:cNvSpPr>
          <p:nvPr/>
        </p:nvSpPr>
        <p:spPr>
          <a:xfrm xmlns:a="http://schemas.openxmlformats.org/drawingml/2006/main">
            <a:off x="609600" y="58293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Signed errors can reinforce or cancel. A good local fit may still compose poorly.</a:t>
            </a:r>
          </a:p>
        </p:txBody>
      </p:sp>
    </p:spTree>
    <p:extLst>
      <p:ext uri="{BB962C8B-B14F-4D97-AF65-F5344CB8AC3E}">
        <p14:creationId xmlns:p14="http://schemas.microsoft.com/office/powerpoint/2010/main" val="1738567559"/>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B1CAF71-CCBB-4B66-BC92-01666BA35EA3}"/>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An experiment’s value depends on the target</a:t>
            </a:r>
          </a:p>
        </p:txBody>
      </p:sp>
      <p:sp>
        <p:nvSpPr>
          <p:cNvPr id="2" name="page">
            <a:extLst xmlns:a="http://schemas.openxmlformats.org/drawingml/2006/main">
              <a:ext uri="{FF2B5EF4-FFF2-40B4-BE49-F238E27FC236}">
                <a16:creationId xmlns:a16="http://schemas.microsoft.com/office/drawing/2014/main" id="{516B8A79-58BB-4D13-9D7A-6A8EC0BAD274}"/>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04</a:t>
            </a:r>
          </a:p>
        </p:txBody>
      </p:sp>
      <p:sp>
        <p:nvSpPr>
          <p:cNvPr id="3" name="Useful information connects ">
            <a:extLst xmlns:a="http://schemas.openxmlformats.org/drawingml/2006/main">
              <a:ext uri="{FF2B5EF4-FFF2-40B4-BE49-F238E27FC236}">
                <a16:creationId xmlns:a16="http://schemas.microsoft.com/office/drawing/2014/main" id="{15E41344-B6A9-425C-B2DC-3D62A440DE05}"/>
              </a:ext>
            </a:extLst>
          </p:cNvPr>
          <p:cNvSpPr>
            <a:spLocks xmlns:a="http://schemas.openxmlformats.org/drawingml/2006/main" noGrp="1"/>
          </p:cNvSpPr>
          <p:nvPr/>
        </p:nvSpPr>
        <p:spPr>
          <a:xfrm xmlns:a="http://schemas.openxmlformats.org/drawingml/2006/main">
            <a:off x="609600" y="1619250"/>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6313A"/>
                </a:solidFill>
                <a:latin typeface="Helvetica Neue"/>
                <a:ea typeface="Helvetica Neue"/>
                <a:cs typeface="Helvetica Neue"/>
              </a:defRPr>
            </a:defPPr>
          </a:lstStyle>
          <a:p xmlns:a="http://schemas.openxmlformats.org/drawingml/2006/main">
            <a:pPr>
              <a:defRPr sz="2400" b="0">
                <a:solidFill>
                  <a:srgbClr val="16313A"/>
                </a:solidFill>
                <a:latin typeface="Helvetica Neue"/>
                <a:ea typeface="Helvetica Neue"/>
                <a:cs typeface="Helvetica Neue"/>
              </a:defRPr>
            </a:pPr>
            <a:r>
              <a:rPr sz="2400" b="0">
                <a:solidFill>
                  <a:srgbClr val="16313A"/>
                </a:solidFill>
                <a:latin typeface="Helvetica Neue"/>
                <a:ea typeface="Helvetica Neue"/>
                <a:cs typeface="Helvetica Neue"/>
              </a:rPr>
              <a:t>Useful information connects an observation to the outcome we care about.</a:t>
            </a:r>
          </a:p>
        </p:txBody>
      </p:sp>
      <p:sp>
        <p:nvSpPr>
          <p:cNvPr id="4" name="T: target. Z: measurement si">
            <a:extLst xmlns:a="http://schemas.openxmlformats.org/drawingml/2006/main">
              <a:ext uri="{FF2B5EF4-FFF2-40B4-BE49-F238E27FC236}">
                <a16:creationId xmlns:a16="http://schemas.microsoft.com/office/drawing/2014/main" id="{40C4704C-8DF9-438B-980E-9C6D722EE863}"/>
              </a:ext>
            </a:extLst>
          </p:cNvPr>
          <p:cNvSpPr>
            <a:spLocks xmlns:a="http://schemas.openxmlformats.org/drawingml/2006/main" noGrp="1"/>
          </p:cNvSpPr>
          <p:nvPr/>
        </p:nvSpPr>
        <p:spPr>
          <a:xfrm xmlns:a="http://schemas.openxmlformats.org/drawingml/2006/main">
            <a:off x="609600" y="278130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T: target. Z: measurement signal. σ²: noise variance.</a:t>
            </a:r>
          </a:p>
        </p:txBody>
      </p:sp>
      <p:sp>
        <p:nvSpPr>
          <p:cNvPr id="5" name="ΔR = Cov(T, Z)² / (Var(Z) + ">
            <a:extLst xmlns:a="http://schemas.openxmlformats.org/drawingml/2006/main">
              <a:ext uri="{FF2B5EF4-FFF2-40B4-BE49-F238E27FC236}">
                <a16:creationId xmlns:a16="http://schemas.microsoft.com/office/drawing/2014/main" id="{AE9876B0-F2FF-48D5-9B35-BF7A01856055}"/>
              </a:ext>
            </a:extLst>
          </p:cNvPr>
          <p:cNvSpPr>
            <a:spLocks xmlns:a="http://schemas.openxmlformats.org/drawingml/2006/main" noGrp="1"/>
          </p:cNvSpPr>
          <p:nvPr/>
        </p:nvSpPr>
        <p:spPr>
          <a:xfrm xmlns:a="http://schemas.openxmlformats.org/drawingml/2006/main">
            <a:off x="609600" y="340995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3"/>
                </a:solidFill>
                <a:latin typeface="Helvetica Neue"/>
                <a:ea typeface="Helvetica Neue"/>
                <a:cs typeface="Helvetica Neue"/>
              </a:defRPr>
            </a:defPPr>
          </a:lstStyle>
          <a:p xmlns:a="http://schemas.openxmlformats.org/drawingml/2006/main">
            <a:pPr>
              <a:defRPr sz="3825" b="1">
                <a:solidFill>
                  <a:srgbClr val="087F83"/>
                </a:solidFill>
                <a:latin typeface="Helvetica Neue"/>
                <a:ea typeface="Helvetica Neue"/>
                <a:cs typeface="Helvetica Neue"/>
              </a:defRPr>
            </a:pPr>
            <a:r>
              <a:rPr sz="3825" b="1">
                <a:solidFill>
                  <a:srgbClr val="087F83"/>
                </a:solidFill>
                <a:latin typeface="Helvetica Neue"/>
                <a:ea typeface="Helvetica Neue"/>
                <a:cs typeface="Helvetica Neue"/>
              </a:rPr>
              <a:t>ΔR = Cov(T, Z)² / (Var(Z) + σ²)</a:t>
            </a:r>
          </a:p>
        </p:txBody>
      </p:sp>
      <p:sp>
        <p:nvSpPr>
          <p:cNvPr id="6" name="Unrelated quantity: variance">
            <a:extLst xmlns:a="http://schemas.openxmlformats.org/drawingml/2006/main">
              <a:ext uri="{FF2B5EF4-FFF2-40B4-BE49-F238E27FC236}">
                <a16:creationId xmlns:a16="http://schemas.microsoft.com/office/drawing/2014/main" id="{3CC3BCCE-F0EE-4A0E-B756-FA60B80AF5F8}"/>
              </a:ext>
            </a:extLst>
          </p:cNvPr>
          <p:cNvSpPr>
            <a:spLocks xmlns:a="http://schemas.openxmlformats.org/drawingml/2006/main" noGrp="1"/>
          </p:cNvSpPr>
          <p:nvPr/>
        </p:nvSpPr>
        <p:spPr>
          <a:xfrm xmlns:a="http://schemas.openxmlformats.org/drawingml/2006/main">
            <a:off x="609600" y="4714875"/>
            <a:ext cx="5067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Unrelated quantity: variance 9</a:t>
            </a:r>
          </a:p>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Target gain: 0</a:t>
            </a:r>
          </a:p>
        </p:txBody>
      </p:sp>
      <p:sp>
        <p:nvSpPr>
          <p:cNvPr id="7" name="Target itself: variance 1&#10;Ta">
            <a:extLst xmlns:a="http://schemas.openxmlformats.org/drawingml/2006/main">
              <a:ext uri="{FF2B5EF4-FFF2-40B4-BE49-F238E27FC236}">
                <a16:creationId xmlns:a16="http://schemas.microsoft.com/office/drawing/2014/main" id="{B7D41559-FF4C-4D41-BE1C-F86D0EDEA505}"/>
              </a:ext>
            </a:extLst>
          </p:cNvPr>
          <p:cNvSpPr>
            <a:spLocks xmlns:a="http://schemas.openxmlformats.org/drawingml/2006/main" noGrp="1"/>
          </p:cNvSpPr>
          <p:nvPr/>
        </p:nvSpPr>
        <p:spPr>
          <a:xfrm xmlns:a="http://schemas.openxmlformats.org/drawingml/2006/main">
            <a:off x="6553200" y="4714875"/>
            <a:ext cx="5010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87F83"/>
                </a:solidFill>
                <a:latin typeface="Helvetica Neue"/>
                <a:ea typeface="Helvetica Neue"/>
                <a:cs typeface="Helvetica Neue"/>
              </a:defRPr>
            </a:defPPr>
          </a:lstStyle>
          <a:p xmlns:a="http://schemas.openxmlformats.org/drawingml/2006/main">
            <a:pPr>
              <a:defRPr sz="2175" b="0">
                <a:solidFill>
                  <a:srgbClr val="087F83"/>
                </a:solidFill>
                <a:latin typeface="Helvetica Neue"/>
                <a:ea typeface="Helvetica Neue"/>
                <a:cs typeface="Helvetica Neue"/>
              </a:defRPr>
            </a:pPr>
            <a:r>
              <a:rPr sz="2175" b="0">
                <a:solidFill>
                  <a:srgbClr val="087F83"/>
                </a:solidFill>
                <a:latin typeface="Helvetica Neue"/>
                <a:ea typeface="Helvetica Neue"/>
                <a:cs typeface="Helvetica Neue"/>
              </a:rPr>
              <a:t>Target itself: variance 1</a:t>
            </a:r>
          </a:p>
          <a:p xmlns:a="http://schemas.openxmlformats.org/drawingml/2006/main">
            <a:pPr>
              <a:defRPr sz="2175" b="0">
                <a:solidFill>
                  <a:srgbClr val="087F83"/>
                </a:solidFill>
                <a:latin typeface="Helvetica Neue"/>
                <a:ea typeface="Helvetica Neue"/>
                <a:cs typeface="Helvetica Neue"/>
              </a:defRPr>
            </a:pPr>
            <a:r>
              <a:rPr sz="2175" b="0">
                <a:solidFill>
                  <a:srgbClr val="087F83"/>
                </a:solidFill>
                <a:latin typeface="Helvetica Neue"/>
                <a:ea typeface="Helvetica Neue"/>
                <a:cs typeface="Helvetica Neue"/>
              </a:rPr>
              <a:t>Target gain: 0.5</a:t>
            </a:r>
          </a:p>
        </p:txBody>
      </p:sp>
      <p:sp>
        <p:nvSpPr>
          <p:cNvPr id="8" name="Example uses independent lin">
            <a:extLst xmlns:a="http://schemas.openxmlformats.org/drawingml/2006/main">
              <a:ext uri="{FF2B5EF4-FFF2-40B4-BE49-F238E27FC236}">
                <a16:creationId xmlns:a16="http://schemas.microsoft.com/office/drawing/2014/main" id="{37EC9EC7-3187-4A2F-B265-BED72D9FCE2E}"/>
              </a:ext>
            </a:extLst>
          </p:cNvPr>
          <p:cNvSpPr>
            <a:spLocks xmlns:a="http://schemas.openxmlformats.org/drawingml/2006/main" noGrp="1"/>
          </p:cNvSpPr>
          <p:nvPr/>
        </p:nvSpPr>
        <p:spPr>
          <a:xfrm xmlns:a="http://schemas.openxmlformats.org/drawingml/2006/main">
            <a:off x="609600" y="58388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Example uses independent linear Gaussian parameters and noise variance 1.</a:t>
            </a:r>
          </a:p>
        </p:txBody>
      </p:sp>
    </p:spTree>
    <p:extLst>
      <p:ext uri="{BB962C8B-B14F-4D97-AF65-F5344CB8AC3E}">
        <p14:creationId xmlns:p14="http://schemas.microsoft.com/office/powerpoint/2010/main" val="52109098"/>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900EB5F-72C7-42DE-9349-73E164AD3C5E}"/>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 two-stage heater</a:t>
            </a:r>
          </a:p>
        </p:txBody>
      </p:sp>
      <p:sp>
        <p:nvSpPr>
          <p:cNvPr id="2" name="page">
            <a:extLst xmlns:a="http://schemas.openxmlformats.org/drawingml/2006/main">
              <a:ext uri="{FF2B5EF4-FFF2-40B4-BE49-F238E27FC236}">
                <a16:creationId xmlns:a16="http://schemas.microsoft.com/office/drawing/2014/main" id="{181DA722-F574-41C5-AD68-82E0B6A299BB}"/>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05</a:t>
            </a:r>
          </a:p>
        </p:txBody>
      </p:sp>
      <p:pic>
        <p:nvPicPr>
          <p:cNvPr id="3" name="">
            <a:extLst xmlns:a="http://schemas.openxmlformats.org/drawingml/2006/main">
              <a:ext uri="{FF2B5EF4-FFF2-40B4-BE49-F238E27FC236}">
                <a16:creationId xmlns:a16="http://schemas.microsoft.com/office/drawing/2014/main" id="{44B18BB0-257F-4F0A-978C-FE38EB166454}"/>
              </a:ext>
            </a:extLst>
          </p:cNvPr>
          <p:cNvPicPr>
            <a:picLocks xmlns:a="http://schemas.openxmlformats.org/drawingml/2006/main" noChangeAspect="1"/>
          </p:cNvPicPr>
          <p:nvPr/>
        </p:nvPicPr>
        <p:blipFill>
          <a:blip xmlns:r="http://schemas.openxmlformats.org/officeDocument/2006/relationships" xmlns:a="http://schemas.openxmlformats.org/drawingml/2006/main" r:embed="R62448e7206b248e7"/>
          <a:stretch xmlns:a="http://schemas.openxmlformats.org/drawingml/2006/main"/>
        </p:blipFill>
        <p:spPr>
          <a:xfrm xmlns:a="http://schemas.openxmlformats.org/drawingml/2006/main">
            <a:off x="3112651" y="1333500"/>
            <a:ext cx="8309849" cy="4676775"/>
          </a:xfrm>
          <a:prstGeom xmlns:a="http://schemas.openxmlformats.org/drawingml/2006/main" prst="rect">
            <a:avLst/>
          </a:prstGeom>
        </p:spPr>
      </p:pic>
      <p:sp>
        <p:nvSpPr>
          <p:cNvPr id="4" name="Input u = 1">
            <a:extLst xmlns:a="http://schemas.openxmlformats.org/drawingml/2006/main">
              <a:ext uri="{FF2B5EF4-FFF2-40B4-BE49-F238E27FC236}">
                <a16:creationId xmlns:a16="http://schemas.microsoft.com/office/drawing/2014/main" id="{ADFB9B3F-1D2B-4B52-97E0-3F402789481E}"/>
              </a:ext>
            </a:extLst>
          </p:cNvPr>
          <p:cNvSpPr>
            <a:spLocks xmlns:a="http://schemas.openxmlformats.org/drawingml/2006/main" noGrp="1"/>
          </p:cNvSpPr>
          <p:nvPr/>
        </p:nvSpPr>
        <p:spPr>
          <a:xfrm xmlns:a="http://schemas.openxmlformats.org/drawingml/2006/main">
            <a:off x="609600" y="17811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87F83"/>
                </a:solidFill>
                <a:latin typeface="Helvetica Neue"/>
                <a:ea typeface="Helvetica Neue"/>
                <a:cs typeface="Helvetica Neue"/>
              </a:defRPr>
            </a:defPPr>
          </a:lstStyle>
          <a:p xmlns:a="http://schemas.openxmlformats.org/drawingml/2006/main">
            <a:pPr>
              <a:defRPr sz="2550" b="1">
                <a:solidFill>
                  <a:srgbClr val="087F83"/>
                </a:solidFill>
                <a:latin typeface="Helvetica Neue"/>
                <a:ea typeface="Helvetica Neue"/>
                <a:cs typeface="Helvetica Neue"/>
              </a:defRPr>
            </a:pPr>
            <a:r>
              <a:rPr sz="2550" b="1">
                <a:solidFill>
                  <a:srgbClr val="087F83"/>
                </a:solidFill>
                <a:latin typeface="Helvetica Neue"/>
                <a:ea typeface="Helvetica Neue"/>
                <a:cs typeface="Helvetica Neue"/>
              </a:rPr>
              <a:t>Input u = 1</a:t>
            </a:r>
          </a:p>
        </p:txBody>
      </p:sp>
      <p:sp>
        <p:nvSpPr>
          <p:cNvPr id="5" name="M = 2u&#10;Y = 3M">
            <a:extLst xmlns:a="http://schemas.openxmlformats.org/drawingml/2006/main">
              <a:ext uri="{FF2B5EF4-FFF2-40B4-BE49-F238E27FC236}">
                <a16:creationId xmlns:a16="http://schemas.microsoft.com/office/drawing/2014/main" id="{D1E204EC-49BD-4106-87A8-36FCB2F19C60}"/>
              </a:ext>
            </a:extLst>
          </p:cNvPr>
          <p:cNvSpPr>
            <a:spLocks xmlns:a="http://schemas.openxmlformats.org/drawingml/2006/main" noGrp="1"/>
          </p:cNvSpPr>
          <p:nvPr/>
        </p:nvSpPr>
        <p:spPr>
          <a:xfrm xmlns:a="http://schemas.openxmlformats.org/drawingml/2006/main">
            <a:off x="609600" y="271462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6313A"/>
                </a:solidFill>
                <a:latin typeface="Helvetica Neue"/>
                <a:ea typeface="Helvetica Neue"/>
                <a:cs typeface="Helvetica Neue"/>
              </a:defRPr>
            </a:defPPr>
          </a:lstStyle>
          <a:p xmlns:a="http://schemas.openxmlformats.org/drawingml/2006/main">
            <a:pPr>
              <a:defRPr sz="3150" b="0">
                <a:solidFill>
                  <a:srgbClr val="16313A"/>
                </a:solidFill>
                <a:latin typeface="Helvetica Neue"/>
                <a:ea typeface="Helvetica Neue"/>
                <a:cs typeface="Helvetica Neue"/>
              </a:defRPr>
            </a:pPr>
            <a:r>
              <a:rPr sz="3150" b="0">
                <a:solidFill>
                  <a:srgbClr val="16313A"/>
                </a:solidFill>
                <a:latin typeface="Helvetica Neue"/>
                <a:ea typeface="Helvetica Neue"/>
                <a:cs typeface="Helvetica Neue"/>
              </a:rPr>
              <a:t>M = 2u</a:t>
            </a:r>
          </a:p>
          <a:p xmlns:a="http://schemas.openxmlformats.org/drawingml/2006/main">
            <a:pPr>
              <a:defRPr sz="3150" b="0">
                <a:solidFill>
                  <a:srgbClr val="16313A"/>
                </a:solidFill>
                <a:latin typeface="Helvetica Neue"/>
                <a:ea typeface="Helvetica Neue"/>
                <a:cs typeface="Helvetica Neue"/>
              </a:defRPr>
            </a:pPr>
            <a:r>
              <a:rPr sz="3150" b="0">
                <a:solidFill>
                  <a:srgbClr val="16313A"/>
                </a:solidFill>
                <a:latin typeface="Helvetica Neue"/>
                <a:ea typeface="Helvetica Neue"/>
                <a:cs typeface="Helvetica Neue"/>
              </a:rPr>
              <a:t>Y = 3M</a:t>
            </a:r>
          </a:p>
        </p:txBody>
      </p:sp>
      <p:sp>
        <p:nvSpPr>
          <p:cNvPr id="6" name="Final output&#10;Y = 6">
            <a:extLst xmlns:a="http://schemas.openxmlformats.org/drawingml/2006/main">
              <a:ext uri="{FF2B5EF4-FFF2-40B4-BE49-F238E27FC236}">
                <a16:creationId xmlns:a16="http://schemas.microsoft.com/office/drawing/2014/main" id="{992633CB-E0C1-4634-85F3-EE941279445D}"/>
              </a:ext>
            </a:extLst>
          </p:cNvPr>
          <p:cNvSpPr>
            <a:spLocks xmlns:a="http://schemas.openxmlformats.org/drawingml/2006/main" noGrp="1"/>
          </p:cNvSpPr>
          <p:nvPr/>
        </p:nvSpPr>
        <p:spPr>
          <a:xfrm xmlns:a="http://schemas.openxmlformats.org/drawingml/2006/main">
            <a:off x="609600" y="4467225"/>
            <a:ext cx="2809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B95435"/>
                </a:solidFill>
                <a:latin typeface="Helvetica Neue"/>
                <a:ea typeface="Helvetica Neue"/>
                <a:cs typeface="Helvetica Neue"/>
              </a:defRPr>
            </a:defPPr>
          </a:lstStyle>
          <a:p xmlns:a="http://schemas.openxmlformats.org/drawingml/2006/main">
            <a:pPr>
              <a:defRPr sz="2775" b="1">
                <a:solidFill>
                  <a:srgbClr val="B95435"/>
                </a:solidFill>
                <a:latin typeface="Helvetica Neue"/>
                <a:ea typeface="Helvetica Neue"/>
                <a:cs typeface="Helvetica Neue"/>
              </a:defRPr>
            </a:pPr>
            <a:r>
              <a:rPr sz="2775" b="1">
                <a:solidFill>
                  <a:srgbClr val="B95435"/>
                </a:solidFill>
                <a:latin typeface="Helvetica Neue"/>
                <a:ea typeface="Helvetica Neue"/>
                <a:cs typeface="Helvetica Neue"/>
              </a:rPr>
              <a:t>Final output</a:t>
            </a:r>
          </a:p>
          <a:p xmlns:a="http://schemas.openxmlformats.org/drawingml/2006/main">
            <a:pPr>
              <a:defRPr sz="2775" b="1">
                <a:solidFill>
                  <a:srgbClr val="B95435"/>
                </a:solidFill>
                <a:latin typeface="Helvetica Neue"/>
                <a:ea typeface="Helvetica Neue"/>
                <a:cs typeface="Helvetica Neue"/>
              </a:defRPr>
            </a:pPr>
            <a:r>
              <a:rPr sz="2775" b="1">
                <a:solidFill>
                  <a:srgbClr val="B95435"/>
                </a:solidFill>
                <a:latin typeface="Helvetica Neue"/>
                <a:ea typeface="Helvetica Neue"/>
                <a:cs typeface="Helvetica Neue"/>
              </a:rPr>
              <a:t>Y = 6</a:t>
            </a:r>
          </a:p>
        </p:txBody>
      </p:sp>
      <p:sp>
        <p:nvSpPr>
          <p:cNvPr id="7" name="Illustrative model with dime">
            <a:extLst xmlns:a="http://schemas.openxmlformats.org/drawingml/2006/main">
              <a:ext uri="{FF2B5EF4-FFF2-40B4-BE49-F238E27FC236}">
                <a16:creationId xmlns:a16="http://schemas.microsoft.com/office/drawing/2014/main" id="{872CF6F7-EEC3-4D89-99AB-3F81AD99320F}"/>
              </a:ext>
            </a:extLst>
          </p:cNvPr>
          <p:cNvSpPr>
            <a:spLocks xmlns:a="http://schemas.openxmlformats.org/drawingml/2006/main" noGrp="1"/>
          </p:cNvSpPr>
          <p:nvPr/>
        </p:nvSpPr>
        <p:spPr>
          <a:xfrm xmlns:a="http://schemas.openxmlformats.org/drawingml/2006/main">
            <a:off x="609600" y="5943600"/>
            <a:ext cx="10001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Illustrative model with dimensionless values</a:t>
            </a:r>
          </a:p>
        </p:txBody>
      </p:sp>
    </p:spTree>
    <p:extLst>
      <p:ext uri="{BB962C8B-B14F-4D97-AF65-F5344CB8AC3E}">
        <p14:creationId xmlns:p14="http://schemas.microsoft.com/office/powerpoint/2010/main" val="427151355"/>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2B2792C-66B4-4910-932C-438CDCE5FDE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 small intermediate error changes the output</a:t>
            </a:r>
          </a:p>
        </p:txBody>
      </p:sp>
      <p:sp>
        <p:nvSpPr>
          <p:cNvPr id="2" name="page">
            <a:extLst xmlns:a="http://schemas.openxmlformats.org/drawingml/2006/main">
              <a:ext uri="{FF2B5EF4-FFF2-40B4-BE49-F238E27FC236}">
                <a16:creationId xmlns:a16="http://schemas.microsoft.com/office/drawing/2014/main" id="{E1CD1287-26FB-4AF4-8194-76B1D5871183}"/>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06</a:t>
            </a:r>
          </a:p>
        </p:txBody>
      </p:sp>
      <p:graphicFrame>
        <p:nvGraphicFramePr>
          <p:cNvPr id="3" name="">
            <a:extLst xmlns:a="http://schemas.openxmlformats.org/drawingml/2006/main">
              <a:ext uri="{FF2B5EF4-FFF2-40B4-BE49-F238E27FC236}">
                <a16:creationId xmlns:a16="http://schemas.microsoft.com/office/drawing/2014/main" id="{0F1528F3-6273-4FC5-B29C-963C9C4889BF}"/>
              </a:ext>
            </a:extLst>
          </p:cNvPr>
          <p:cNvGraphicFramePr/>
          <p:nvPr/>
        </p:nvGraphicFramePr>
        <p:xfrm>
          <a:off xmlns:a="http://schemas.openxmlformats.org/drawingml/2006/main" x="609600" y="1800225"/>
          <a:ext xmlns:a="http://schemas.openxmlformats.org/drawingml/2006/main" cx="10820400" cy="2790825"/>
        </p:xfrm>
        <a:graphic xmlns:a="http://schemas.openxmlformats.org/drawingml/2006/main">
          <a:graphicData uri="http://schemas.openxmlformats.org/drawingml/2006/table">
            <a:tbl>
              <a:tblPr firstRow="0" bandRow="0"/>
              <a:tblGrid>
                <a:gridCol w="3238500"/>
                <a:gridCol w="2362200"/>
                <a:gridCol w="2857500"/>
                <a:gridCol w="2362200"/>
              </a:tblGrid>
              <a:tr h="697706">
                <a:tc>
                  <a:txBody>
                    <a:bodyPr lIns="114300" tIns="114300" rIns="114300" bIns="114300"/>
                    <a:lstStyle/>
                    <a:p>
                      <a:r>
                        <a:rPr sz="1875" b="1">
                          <a:solidFill>
                            <a:srgbClr val="FFFFFF"/>
                          </a:solidFill>
                          <a:latin typeface="Helvetica Neue"/>
                          <a:ea typeface="Helvetica Neue"/>
                          <a:cs typeface="Helvetica Neue"/>
                        </a:rPr>
                        <a:t>Quantity</a:t>
                      </a:r>
                    </a:p>
                  </a:txBody>
                  <a:tcPr marL="91440" marR="91440" marT="45720" marB="45720">
                    <a:solidFill>
                      <a:srgbClr val="112B36"/>
                    </a:solidFill>
                  </a:tcPr>
                </a:tc>
                <a:tc>
                  <a:txBody>
                    <a:bodyPr lIns="114300" tIns="114300" rIns="114300" bIns="114300"/>
                    <a:lstStyle/>
                    <a:p>
                      <a:r>
                        <a:rPr sz="1875" b="1">
                          <a:solidFill>
                            <a:srgbClr val="FFFFFF"/>
                          </a:solidFill>
                          <a:latin typeface="Helvetica Neue"/>
                          <a:ea typeface="Helvetica Neue"/>
                          <a:cs typeface="Helvetica Neue"/>
                        </a:rPr>
                        <a:t>True system</a:t>
                      </a:r>
                    </a:p>
                  </a:txBody>
                  <a:tcPr marL="91440" marR="91440" marT="45720" marB="45720">
                    <a:solidFill>
                      <a:srgbClr val="112B36"/>
                    </a:solidFill>
                  </a:tcPr>
                </a:tc>
                <a:tc>
                  <a:txBody>
                    <a:bodyPr lIns="114300" tIns="114300" rIns="114300" bIns="114300"/>
                    <a:lstStyle/>
                    <a:p>
                      <a:r>
                        <a:rPr sz="1875" b="1">
                          <a:solidFill>
                            <a:srgbClr val="FFFFFF"/>
                          </a:solidFill>
                          <a:latin typeface="Helvetica Neue"/>
                          <a:ea typeface="Helvetica Neue"/>
                          <a:cs typeface="Helvetica Neue"/>
                        </a:rPr>
                        <a:t>Predicted chain</a:t>
                      </a:r>
                    </a:p>
                  </a:txBody>
                  <a:tcPr marL="91440" marR="91440" marT="45720" marB="45720">
                    <a:solidFill>
                      <a:srgbClr val="112B36"/>
                    </a:solidFill>
                  </a:tcPr>
                </a:tc>
                <a:tc>
                  <a:txBody>
                    <a:bodyPr lIns="114300" tIns="114300" rIns="114300" bIns="114300"/>
                    <a:lstStyle/>
                    <a:p>
                      <a:r>
                        <a:rPr sz="1875" b="1">
                          <a:solidFill>
                            <a:srgbClr val="FFFFFF"/>
                          </a:solidFill>
                          <a:latin typeface="Helvetica Neue"/>
                          <a:ea typeface="Helvetica Neue"/>
                          <a:cs typeface="Helvetica Neue"/>
                        </a:rPr>
                        <a:t>Error</a:t>
                      </a:r>
                    </a:p>
                  </a:txBody>
                  <a:tcPr marL="91440" marR="91440" marT="45720" marB="45720">
                    <a:solidFill>
                      <a:srgbClr val="112B36"/>
                    </a:solidFill>
                  </a:tcPr>
                </a:tc>
              </a:tr>
              <a:tr h="697706">
                <a:tc>
                  <a:txBody>
                    <a:bodyPr lIns="114300" tIns="114300" rIns="114300" bIns="114300"/>
                    <a:lstStyle/>
                    <a:p>
                      <a:r>
                        <a:rPr sz="2400" b="0">
                          <a:solidFill>
                            <a:srgbClr val="16313A"/>
                          </a:solidFill>
                          <a:latin typeface="Helvetica Neue"/>
                          <a:ea typeface="Helvetica Neue"/>
                          <a:cs typeface="Helvetica Neue"/>
                        </a:rPr>
                        <a:t>Input u</a:t>
                      </a:r>
                    </a:p>
                  </a:txBody>
                  <a:tcPr marL="91440" marR="91440" marT="45720" marB="45720">
                    <a:solidFill>
                      <a:srgbClr val="FAF8F3"/>
                    </a:solidFill>
                  </a:tcPr>
                </a:tc>
                <a:tc>
                  <a:txBody>
                    <a:bodyPr lIns="114300" tIns="114300" rIns="114300" bIns="114300"/>
                    <a:lstStyle/>
                    <a:p>
                      <a:r>
                        <a:rPr sz="2400" b="0">
                          <a:solidFill>
                            <a:srgbClr val="16313A"/>
                          </a:solidFill>
                          <a:latin typeface="Helvetica Neue"/>
                          <a:ea typeface="Helvetica Neue"/>
                          <a:cs typeface="Helvetica Neue"/>
                        </a:rPr>
                        <a:t>1</a:t>
                      </a:r>
                    </a:p>
                  </a:txBody>
                  <a:tcPr marL="91440" marR="91440" marT="45720" marB="45720">
                    <a:solidFill>
                      <a:srgbClr val="FAF8F3"/>
                    </a:solidFill>
                  </a:tcPr>
                </a:tc>
                <a:tc>
                  <a:txBody>
                    <a:bodyPr lIns="114300" tIns="114300" rIns="114300" bIns="114300"/>
                    <a:lstStyle/>
                    <a:p>
                      <a:r>
                        <a:rPr sz="2400" b="0">
                          <a:solidFill>
                            <a:srgbClr val="16313A"/>
                          </a:solidFill>
                          <a:latin typeface="Helvetica Neue"/>
                          <a:ea typeface="Helvetica Neue"/>
                          <a:cs typeface="Helvetica Neue"/>
                        </a:rPr>
                        <a:t>1</a:t>
                      </a:r>
                    </a:p>
                  </a:txBody>
                  <a:tcPr marL="91440" marR="91440" marT="45720" marB="45720">
                    <a:solidFill>
                      <a:srgbClr val="FAF8F3"/>
                    </a:solidFill>
                  </a:tcPr>
                </a:tc>
                <a:tc>
                  <a:txBody>
                    <a:bodyPr lIns="114300" tIns="114300" rIns="114300" bIns="114300"/>
                    <a:lstStyle/>
                    <a:p>
                      <a:r>
                        <a:rPr sz="2400" b="0">
                          <a:solidFill>
                            <a:srgbClr val="B95435"/>
                          </a:solidFill>
                          <a:latin typeface="Helvetica Neue"/>
                          <a:ea typeface="Helvetica Neue"/>
                          <a:cs typeface="Helvetica Neue"/>
                        </a:rPr>
                        <a:t>0</a:t>
                      </a:r>
                    </a:p>
                  </a:txBody>
                  <a:tcPr marL="91440" marR="91440" marT="45720" marB="45720">
                    <a:solidFill>
                      <a:srgbClr val="FAF8F3"/>
                    </a:solidFill>
                  </a:tcPr>
                </a:tc>
              </a:tr>
              <a:tr h="697706">
                <a:tc>
                  <a:txBody>
                    <a:bodyPr lIns="114300" tIns="114300" rIns="114300" bIns="114300"/>
                    <a:lstStyle/>
                    <a:p>
                      <a:r>
                        <a:rPr sz="2400" b="0">
                          <a:solidFill>
                            <a:srgbClr val="16313A"/>
                          </a:solidFill>
                          <a:latin typeface="Helvetica Neue"/>
                          <a:ea typeface="Helvetica Neue"/>
                          <a:cs typeface="Helvetica Neue"/>
                        </a:rPr>
                        <a:t>Intermediate M</a:t>
                      </a:r>
                    </a:p>
                  </a:txBody>
                  <a:tcPr marL="91440" marR="91440" marT="45720" marB="45720">
                    <a:solidFill>
                      <a:srgbClr val="FAF8F3"/>
                    </a:solidFill>
                  </a:tcPr>
                </a:tc>
                <a:tc>
                  <a:txBody>
                    <a:bodyPr lIns="114300" tIns="114300" rIns="114300" bIns="114300"/>
                    <a:lstStyle/>
                    <a:p>
                      <a:r>
                        <a:rPr sz="2400" b="0">
                          <a:solidFill>
                            <a:srgbClr val="16313A"/>
                          </a:solidFill>
                          <a:latin typeface="Helvetica Neue"/>
                          <a:ea typeface="Helvetica Neue"/>
                          <a:cs typeface="Helvetica Neue"/>
                        </a:rPr>
                        <a:t>2</a:t>
                      </a:r>
                    </a:p>
                  </a:txBody>
                  <a:tcPr marL="91440" marR="91440" marT="45720" marB="45720">
                    <a:solidFill>
                      <a:srgbClr val="FAF8F3"/>
                    </a:solidFill>
                  </a:tcPr>
                </a:tc>
                <a:tc>
                  <a:txBody>
                    <a:bodyPr lIns="114300" tIns="114300" rIns="114300" bIns="114300"/>
                    <a:lstStyle/>
                    <a:p>
                      <a:r>
                        <a:rPr sz="2400" b="0">
                          <a:solidFill>
                            <a:srgbClr val="16313A"/>
                          </a:solidFill>
                          <a:latin typeface="Helvetica Neue"/>
                          <a:ea typeface="Helvetica Neue"/>
                          <a:cs typeface="Helvetica Neue"/>
                        </a:rPr>
                        <a:t>2.2</a:t>
                      </a:r>
                    </a:p>
                  </a:txBody>
                  <a:tcPr marL="91440" marR="91440" marT="45720" marB="45720">
                    <a:solidFill>
                      <a:srgbClr val="FAF8F3"/>
                    </a:solidFill>
                  </a:tcPr>
                </a:tc>
                <a:tc>
                  <a:txBody>
                    <a:bodyPr lIns="114300" tIns="114300" rIns="114300" bIns="114300"/>
                    <a:lstStyle/>
                    <a:p>
                      <a:r>
                        <a:rPr sz="2400" b="0">
                          <a:solidFill>
                            <a:srgbClr val="B95435"/>
                          </a:solidFill>
                          <a:latin typeface="Helvetica Neue"/>
                          <a:ea typeface="Helvetica Neue"/>
                          <a:cs typeface="Helvetica Neue"/>
                        </a:rPr>
                        <a:t>+0.2</a:t>
                      </a:r>
                    </a:p>
                  </a:txBody>
                  <a:tcPr marL="91440" marR="91440" marT="45720" marB="45720">
                    <a:solidFill>
                      <a:srgbClr val="FAF8F3"/>
                    </a:solidFill>
                  </a:tcPr>
                </a:tc>
              </a:tr>
              <a:tr h="697706">
                <a:tc>
                  <a:txBody>
                    <a:bodyPr lIns="114300" tIns="114300" rIns="114300" bIns="114300"/>
                    <a:lstStyle/>
                    <a:p>
                      <a:r>
                        <a:rPr sz="2400" b="1">
                          <a:solidFill>
                            <a:srgbClr val="16313A"/>
                          </a:solidFill>
                          <a:latin typeface="Helvetica Neue"/>
                          <a:ea typeface="Helvetica Neue"/>
                          <a:cs typeface="Helvetica Neue"/>
                        </a:rPr>
                        <a:t>Final output Y</a:t>
                      </a:r>
                    </a:p>
                  </a:txBody>
                  <a:tcPr marL="91440" marR="91440" marT="45720" marB="45720">
                    <a:solidFill>
                      <a:srgbClr val="FAF8F3"/>
                    </a:solidFill>
                  </a:tcPr>
                </a:tc>
                <a:tc>
                  <a:txBody>
                    <a:bodyPr lIns="114300" tIns="114300" rIns="114300" bIns="114300"/>
                    <a:lstStyle/>
                    <a:p>
                      <a:r>
                        <a:rPr sz="2400" b="1">
                          <a:solidFill>
                            <a:srgbClr val="16313A"/>
                          </a:solidFill>
                          <a:latin typeface="Helvetica Neue"/>
                          <a:ea typeface="Helvetica Neue"/>
                          <a:cs typeface="Helvetica Neue"/>
                        </a:rPr>
                        <a:t>6</a:t>
                      </a:r>
                    </a:p>
                  </a:txBody>
                  <a:tcPr marL="91440" marR="91440" marT="45720" marB="45720">
                    <a:solidFill>
                      <a:srgbClr val="FAF8F3"/>
                    </a:solidFill>
                  </a:tcPr>
                </a:tc>
                <a:tc>
                  <a:txBody>
                    <a:bodyPr lIns="114300" tIns="114300" rIns="114300" bIns="114300"/>
                    <a:lstStyle/>
                    <a:p>
                      <a:r>
                        <a:rPr sz="2400" b="1">
                          <a:solidFill>
                            <a:srgbClr val="16313A"/>
                          </a:solidFill>
                          <a:latin typeface="Helvetica Neue"/>
                          <a:ea typeface="Helvetica Neue"/>
                          <a:cs typeface="Helvetica Neue"/>
                        </a:rPr>
                        <a:t>6.6</a:t>
                      </a:r>
                    </a:p>
                  </a:txBody>
                  <a:tcPr marL="91440" marR="91440" marT="45720" marB="45720">
                    <a:solidFill>
                      <a:srgbClr val="FAF8F3"/>
                    </a:solidFill>
                  </a:tcPr>
                </a:tc>
                <a:tc>
                  <a:txBody>
                    <a:bodyPr lIns="114300" tIns="114300" rIns="114300" bIns="114300"/>
                    <a:lstStyle/>
                    <a:p>
                      <a:r>
                        <a:rPr sz="2400" b="1">
                          <a:solidFill>
                            <a:srgbClr val="B95435"/>
                          </a:solidFill>
                          <a:latin typeface="Helvetica Neue"/>
                          <a:ea typeface="Helvetica Neue"/>
                          <a:cs typeface="Helvetica Neue"/>
                        </a:rPr>
                        <a:t>+0.6</a:t>
                      </a:r>
                    </a:p>
                  </a:txBody>
                  <a:tcPr marL="91440" marR="91440" marT="45720" marB="45720">
                    <a:solidFill>
                      <a:srgbClr val="FAF8F3"/>
                    </a:solidFill>
                  </a:tcPr>
                </a:tc>
              </a:tr>
            </a:tbl>
          </a:graphicData>
        </a:graphic>
      </p:graphicFrame>
      <p:sp>
        <p:nvSpPr>
          <p:cNvPr id="4" name="The downstream rule is exact">
            <a:extLst xmlns:a="http://schemas.openxmlformats.org/drawingml/2006/main">
              <a:ext uri="{FF2B5EF4-FFF2-40B4-BE49-F238E27FC236}">
                <a16:creationId xmlns:a16="http://schemas.microsoft.com/office/drawing/2014/main" id="{011C2646-85F2-45F9-BB5E-6A460513228E}"/>
              </a:ext>
            </a:extLst>
          </p:cNvPr>
          <p:cNvSpPr>
            <a:spLocks xmlns:a="http://schemas.openxmlformats.org/drawingml/2006/main" noGrp="1"/>
          </p:cNvSpPr>
          <p:nvPr/>
        </p:nvSpPr>
        <p:spPr>
          <a:xfrm xmlns:a="http://schemas.openxmlformats.org/drawingml/2006/main">
            <a:off x="609600" y="50577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3"/>
                </a:solidFill>
                <a:latin typeface="Helvetica Neue"/>
                <a:ea typeface="Helvetica Neue"/>
                <a:cs typeface="Helvetica Neue"/>
              </a:defRPr>
            </a:defPPr>
          </a:lstStyle>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The downstream rule is exact. It receives a predicted intermediate value.</a:t>
            </a:r>
          </a:p>
        </p:txBody>
      </p:sp>
      <p:sp>
        <p:nvSpPr>
          <p:cNvPr id="5" name="Checking the second stage at">
            <a:extLst xmlns:a="http://schemas.openxmlformats.org/drawingml/2006/main">
              <a:ext uri="{FF2B5EF4-FFF2-40B4-BE49-F238E27FC236}">
                <a16:creationId xmlns:a16="http://schemas.microsoft.com/office/drawing/2014/main" id="{72ED7BE2-4583-48BD-955C-9F43A17FB8F1}"/>
              </a:ext>
            </a:extLst>
          </p:cNvPr>
          <p:cNvSpPr>
            <a:spLocks xmlns:a="http://schemas.openxmlformats.org/drawingml/2006/main" noGrp="1"/>
          </p:cNvSpPr>
          <p:nvPr/>
        </p:nvSpPr>
        <p:spPr>
          <a:xfrm xmlns:a="http://schemas.openxmlformats.org/drawingml/2006/main">
            <a:off x="609600" y="60007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Checking the second stage at the measured value M = 2 hides this composed error.</a:t>
            </a:r>
          </a:p>
        </p:txBody>
      </p:sp>
    </p:spTree>
    <p:extLst>
      <p:ext uri="{BB962C8B-B14F-4D97-AF65-F5344CB8AC3E}">
        <p14:creationId xmlns:p14="http://schemas.microsoft.com/office/powerpoint/2010/main" val="1473692826"/>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02B5824-4A63-4DDD-A129-41E7D360F95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Primary gains in two synthetic families</a:t>
            </a:r>
          </a:p>
        </p:txBody>
      </p:sp>
      <p:sp>
        <p:nvSpPr>
          <p:cNvPr id="2" name="page">
            <a:extLst xmlns:a="http://schemas.openxmlformats.org/drawingml/2006/main">
              <a:ext uri="{FF2B5EF4-FFF2-40B4-BE49-F238E27FC236}">
                <a16:creationId xmlns:a16="http://schemas.microsoft.com/office/drawing/2014/main" id="{1683ABBE-E3D2-424A-9799-DBA2C3CF01E8}"/>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07</a:t>
            </a:r>
          </a:p>
        </p:txBody>
      </p:sp>
      <p:sp>
        <p:nvSpPr>
          <p:cNvPr id="3" name="PEV minus systematic coverag">
            <a:extLst xmlns:a="http://schemas.openxmlformats.org/drawingml/2006/main">
              <a:ext uri="{FF2B5EF4-FFF2-40B4-BE49-F238E27FC236}">
                <a16:creationId xmlns:a16="http://schemas.microsoft.com/office/drawing/2014/main" id="{2CB6186E-E164-4E61-971A-B5789B63E8E6}"/>
              </a:ext>
            </a:extLst>
          </p:cNvPr>
          <p:cNvSpPr>
            <a:spLocks xmlns:a="http://schemas.openxmlformats.org/drawingml/2006/main" noGrp="1"/>
          </p:cNvSpPr>
          <p:nvPr/>
        </p:nvSpPr>
        <p:spPr>
          <a:xfrm xmlns:a="http://schemas.openxmlformats.org/drawingml/2006/main">
            <a:off x="609600" y="157162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PEV minus systematic coverage. Negative means lower error.</a:t>
            </a:r>
          </a:p>
        </p:txBody>
      </p:sp>
      <p:graphicFrame>
        <p:nvGraphicFramePr>
          <p:cNvPr id="4" name="">
            <a:extLst xmlns:a="http://schemas.openxmlformats.org/drawingml/2006/main">
              <a:ext uri="{FF2B5EF4-FFF2-40B4-BE49-F238E27FC236}">
                <a16:creationId xmlns:a16="http://schemas.microsoft.com/office/drawing/2014/main" id="{602BED5E-AFD7-4162-99D1-33AF0187DAB5}"/>
              </a:ext>
            </a:extLst>
          </p:cNvPr>
          <p:cNvGraphicFramePr/>
          <p:nvPr/>
        </p:nvGraphicFramePr>
        <p:xfrm>
          <a:off xmlns:a="http://schemas.openxmlformats.org/drawingml/2006/main" x="609600" y="2676525"/>
          <a:ext xmlns:a="http://schemas.openxmlformats.org/drawingml/2006/main" cx="10820400" cy="2238375"/>
        </p:xfrm>
        <a:graphic xmlns:a="http://schemas.openxmlformats.org/drawingml/2006/main">
          <a:graphicData uri="http://schemas.openxmlformats.org/drawingml/2006/table">
            <a:tbl>
              <a:tblPr firstRow="0" bandRow="0"/>
              <a:tblGrid>
                <a:gridCol w="2714625"/>
                <a:gridCol w="2209800"/>
                <a:gridCol w="3648075"/>
                <a:gridCol w="2247900"/>
              </a:tblGrid>
              <a:tr h="746125">
                <a:tc>
                  <a:txBody>
                    <a:bodyPr lIns="95250" tIns="95250" rIns="95250" bIns="95250"/>
                    <a:lstStyle/>
                    <a:p>
                      <a:r>
                        <a:rPr sz="1875" b="1">
                          <a:solidFill>
                            <a:srgbClr val="FFFFFF"/>
                          </a:solidFill>
                          <a:latin typeface="Helvetica Neue"/>
                          <a:ea typeface="Helvetica Neue"/>
                          <a:cs typeface="Helvetica Neue"/>
                        </a:rPr>
                        <a:t>Synthetic family</a:t>
                      </a:r>
                    </a:p>
                  </a:txBody>
                  <a:tcPr marL="91440" marR="91440" marT="45720" marB="45720">
                    <a:solidFill>
                      <a:srgbClr val="112B36"/>
                    </a:solidFill>
                  </a:tcPr>
                </a:tc>
                <a:tc>
                  <a:txBody>
                    <a:bodyPr lIns="95250" tIns="95250" rIns="95250" bIns="95250"/>
                    <a:lstStyle/>
                    <a:p>
                      <a:r>
                        <a:rPr sz="1875" b="1">
                          <a:solidFill>
                            <a:srgbClr val="FFFFFF"/>
                          </a:solidFill>
                          <a:latin typeface="Helvetica Neue"/>
                          <a:ea typeface="Helvetica Neue"/>
                          <a:cs typeface="Helvetica Neue"/>
                        </a:rPr>
                        <a:t>Mean difference</a:t>
                      </a:r>
                    </a:p>
                  </a:txBody>
                  <a:tcPr marL="91440" marR="91440" marT="45720" marB="45720">
                    <a:solidFill>
                      <a:srgbClr val="112B36"/>
                    </a:solidFill>
                  </a:tcPr>
                </a:tc>
                <a:tc>
                  <a:txBody>
                    <a:bodyPr lIns="95250" tIns="95250" rIns="95250" bIns="95250"/>
                    <a:lstStyle/>
                    <a:p>
                      <a:r>
                        <a:rPr sz="1875" b="1">
                          <a:solidFill>
                            <a:srgbClr val="FFFFFF"/>
                          </a:solidFill>
                          <a:latin typeface="Helvetica Neue"/>
                          <a:ea typeface="Helvetica Neue"/>
                          <a:cs typeface="Helvetica Neue"/>
                        </a:rPr>
                        <a:t>95% interval</a:t>
                      </a:r>
                    </a:p>
                  </a:txBody>
                  <a:tcPr marL="91440" marR="91440" marT="45720" marB="45720">
                    <a:solidFill>
                      <a:srgbClr val="112B36"/>
                    </a:solidFill>
                  </a:tcPr>
                </a:tc>
                <a:tc>
                  <a:txBody>
                    <a:bodyPr lIns="95250" tIns="95250" rIns="95250" bIns="95250"/>
                    <a:lstStyle/>
                    <a:p>
                      <a:r>
                        <a:rPr sz="1875" b="1">
                          <a:solidFill>
                            <a:srgbClr val="FFFFFF"/>
                          </a:solidFill>
                          <a:latin typeface="Helvetica Neue"/>
                          <a:ea typeface="Helvetica Neue"/>
                          <a:cs typeface="Helvetica Neue"/>
                        </a:rPr>
                        <a:t>Holm p</a:t>
                      </a:r>
                    </a:p>
                  </a:txBody>
                  <a:tcPr marL="91440" marR="91440" marT="45720" marB="45720">
                    <a:solidFill>
                      <a:srgbClr val="112B36"/>
                    </a:solidFill>
                  </a:tcPr>
                </a:tc>
              </a:tr>
              <a:tr h="746125">
                <a:tc>
                  <a:txBody>
                    <a:bodyPr lIns="95250" tIns="95250" rIns="95250" bIns="95250"/>
                    <a:lstStyle/>
                    <a:p>
                      <a:r>
                        <a:rPr sz="2100" b="0">
                          <a:solidFill>
                            <a:srgbClr val="16313A"/>
                          </a:solidFill>
                          <a:latin typeface="Helvetica Neue"/>
                          <a:ea typeface="Helvetica Neue"/>
                          <a:cs typeface="Helvetica Neue"/>
                        </a:rPr>
                        <a:t>Homogeneous</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−0.01360</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−0.02151 to −0.00569</a:t>
                      </a:r>
                    </a:p>
                  </a:txBody>
                  <a:tcPr marL="91440" marR="91440" marT="45720" marB="45720">
                    <a:solidFill>
                      <a:srgbClr val="FAF8F3"/>
                    </a:solidFill>
                  </a:tcPr>
                </a:tc>
                <a:tc>
                  <a:txBody>
                    <a:bodyPr lIns="95250" tIns="95250" rIns="95250" bIns="95250"/>
                    <a:lstStyle/>
                    <a:p>
                      <a:r>
                        <a:rPr sz="2100" b="1">
                          <a:solidFill>
                            <a:srgbClr val="087F83"/>
                          </a:solidFill>
                          <a:latin typeface="Helvetica Neue"/>
                          <a:ea typeface="Helvetica Neue"/>
                          <a:cs typeface="Helvetica Neue"/>
                        </a:rPr>
                        <a:t>0.00384</a:t>
                      </a:r>
                    </a:p>
                  </a:txBody>
                  <a:tcPr marL="91440" marR="91440" marT="45720" marB="45720">
                    <a:solidFill>
                      <a:srgbClr val="FAF8F3"/>
                    </a:solidFill>
                  </a:tcPr>
                </a:tc>
              </a:tr>
              <a:tr h="746125">
                <a:tc>
                  <a:txBody>
                    <a:bodyPr lIns="95250" tIns="95250" rIns="95250" bIns="95250"/>
                    <a:lstStyle/>
                    <a:p>
                      <a:r>
                        <a:rPr sz="2100" b="0">
                          <a:solidFill>
                            <a:srgbClr val="16313A"/>
                          </a:solidFill>
                          <a:latin typeface="Helvetica Neue"/>
                          <a:ea typeface="Helvetica Neue"/>
                          <a:cs typeface="Helvetica Neue"/>
                        </a:rPr>
                        <a:t>Heterogeneous</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−0.10919</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−0.18856 to −0.02981</a:t>
                      </a:r>
                    </a:p>
                  </a:txBody>
                  <a:tcPr marL="91440" marR="91440" marT="45720" marB="45720">
                    <a:solidFill>
                      <a:srgbClr val="FAF8F3"/>
                    </a:solidFill>
                  </a:tcPr>
                </a:tc>
                <a:tc>
                  <a:txBody>
                    <a:bodyPr lIns="95250" tIns="95250" rIns="95250" bIns="95250"/>
                    <a:lstStyle/>
                    <a:p>
                      <a:r>
                        <a:rPr sz="2100" b="1">
                          <a:solidFill>
                            <a:srgbClr val="087F83"/>
                          </a:solidFill>
                          <a:latin typeface="Helvetica Neue"/>
                          <a:ea typeface="Helvetica Neue"/>
                          <a:cs typeface="Helvetica Neue"/>
                        </a:rPr>
                        <a:t>0.00961</a:t>
                      </a:r>
                    </a:p>
                  </a:txBody>
                  <a:tcPr marL="91440" marR="91440" marT="45720" marB="45720">
                    <a:solidFill>
                      <a:srgbClr val="FAF8F3"/>
                    </a:solidFill>
                  </a:tcPr>
                </a:tc>
              </a:tr>
            </a:tbl>
          </a:graphicData>
        </a:graphic>
      </p:graphicFrame>
      <p:sp>
        <p:nvSpPr>
          <p:cNvPr id="5" name="20 systems per family. 2,000">
            <a:extLst xmlns:a="http://schemas.openxmlformats.org/drawingml/2006/main">
              <a:ext uri="{FF2B5EF4-FFF2-40B4-BE49-F238E27FC236}">
                <a16:creationId xmlns:a16="http://schemas.microsoft.com/office/drawing/2014/main" id="{82B4CA21-CE6B-4EEB-9DF3-80CA1B20BDFD}"/>
              </a:ext>
            </a:extLst>
          </p:cNvPr>
          <p:cNvSpPr>
            <a:spLocks xmlns:a="http://schemas.openxmlformats.org/drawingml/2006/main" noGrp="1"/>
          </p:cNvSpPr>
          <p:nvPr/>
        </p:nvSpPr>
        <p:spPr>
          <a:xfrm xmlns:a="http://schemas.openxmlformats.org/drawingml/2006/main">
            <a:off x="609600" y="5295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20 systems per family. 2,000 samples per arm and system.</a:t>
            </a:r>
          </a:p>
        </p:txBody>
      </p:sp>
      <p:sp>
        <p:nvSpPr>
          <p:cNvPr id="6" name="Known graphs and one learner">
            <a:extLst xmlns:a="http://schemas.openxmlformats.org/drawingml/2006/main">
              <a:ext uri="{FF2B5EF4-FFF2-40B4-BE49-F238E27FC236}">
                <a16:creationId xmlns:a16="http://schemas.microsoft.com/office/drawing/2014/main" id="{62CE34D4-4CC9-4178-9556-E69B7F5FEBFD}"/>
              </a:ext>
            </a:extLst>
          </p:cNvPr>
          <p:cNvSpPr>
            <a:spLocks xmlns:a="http://schemas.openxmlformats.org/drawingml/2006/main" noGrp="1"/>
          </p:cNvSpPr>
          <p:nvPr/>
        </p:nvSpPr>
        <p:spPr>
          <a:xfrm xmlns:a="http://schemas.openxmlformats.org/drawingml/2006/main">
            <a:off x="609600" y="60579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Known graphs and one learner. Scoring ablation unresolved. External transfer remains open.</a:t>
            </a:r>
          </a:p>
        </p:txBody>
      </p:sp>
    </p:spTree>
    <p:extLst>
      <p:ext uri="{BB962C8B-B14F-4D97-AF65-F5344CB8AC3E}">
        <p14:creationId xmlns:p14="http://schemas.microsoft.com/office/powerpoint/2010/main" val="990759402"/>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A26788D-93BC-43CB-88FB-D3C9D3268AEE}"/>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Final fitting improved 11 of 12 histories</a:t>
            </a:r>
          </a:p>
        </p:txBody>
      </p:sp>
      <p:sp>
        <p:nvSpPr>
          <p:cNvPr id="2" name="page">
            <a:extLst xmlns:a="http://schemas.openxmlformats.org/drawingml/2006/main">
              <a:ext uri="{FF2B5EF4-FFF2-40B4-BE49-F238E27FC236}">
                <a16:creationId xmlns:a16="http://schemas.microsoft.com/office/drawing/2014/main" id="{0665897F-0BEE-4886-A6E0-0219F8034149}"/>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08</a:t>
            </a:r>
          </a:p>
        </p:txBody>
      </p:sp>
      <p:sp>
        <p:nvSpPr>
          <p:cNvPr id="3" name="Geometric exact-level error ">
            <a:extLst xmlns:a="http://schemas.openxmlformats.org/drawingml/2006/main">
              <a:ext uri="{FF2B5EF4-FFF2-40B4-BE49-F238E27FC236}">
                <a16:creationId xmlns:a16="http://schemas.microsoft.com/office/drawing/2014/main" id="{4C53B8F2-5085-4770-9455-A5826622F696}"/>
              </a:ext>
            </a:extLst>
          </p:cNvPr>
          <p:cNvSpPr>
            <a:spLocks xmlns:a="http://schemas.openxmlformats.org/drawingml/2006/main" noGrp="1"/>
          </p:cNvSpPr>
          <p:nvPr/>
        </p:nvSpPr>
        <p:spPr>
          <a:xfrm xmlns:a="http://schemas.openxmlformats.org/drawingml/2006/main">
            <a:off x="609600" y="1562100"/>
            <a:ext cx="6238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66B"/>
                </a:solidFill>
                <a:latin typeface="Helvetica Neue"/>
                <a:ea typeface="Helvetica Neue"/>
                <a:cs typeface="Helvetica Neue"/>
              </a:defRPr>
            </a:defPPr>
          </a:lstStyle>
          <a:p xmlns:a="http://schemas.openxmlformats.org/drawingml/2006/main">
            <a:pPr>
              <a:defRPr sz="1875" b="0">
                <a:solidFill>
                  <a:srgbClr val="53666B"/>
                </a:solidFill>
                <a:latin typeface="Helvetica Neue"/>
                <a:ea typeface="Helvetica Neue"/>
                <a:cs typeface="Helvetica Neue"/>
              </a:defRPr>
            </a:pPr>
            <a:r>
              <a:rPr sz="1875" b="0">
                <a:solidFill>
                  <a:srgbClr val="53666B"/>
                </a:solidFill>
                <a:latin typeface="Helvetica Neue"/>
                <a:ea typeface="Helvetica Neue"/>
                <a:cs typeface="Helvetica Neue"/>
              </a:rPr>
              <a:t>Geometric exact-level error ratio</a:t>
            </a:r>
          </a:p>
        </p:txBody>
      </p:sp>
      <p:graphicFrame>
        <p:nvGraphicFramePr>
          <p:cNvPr id="4" name="Chart">
            <a:extLst xmlns:a="http://schemas.openxmlformats.org/drawingml/2006/main">
              <a:ext uri="{FF2B5EF4-FFF2-40B4-BE49-F238E27FC236}">
                <a16:creationId xmlns:a16="http://schemas.microsoft.com/office/drawing/2014/main" id="{D4A33355-115C-4D4A-94E4-A43DC6656877}"/>
              </a:ext>
            </a:extLst>
          </p:cNvPr>
          <p:cNvGraphicFramePr/>
          <p:nvPr/>
        </p:nvGraphicFramePr>
        <p:xfrm>
          <a:off xmlns:a="http://schemas.openxmlformats.org/drawingml/2006/main" x="523875" y="2057400"/>
          <a:ext xmlns:a="http://schemas.openxmlformats.org/drawingml/2006/main" cx="6096000" cy="3133725"/>
        </p:xfrm>
        <a:graphic xmlns:a="http://schemas.openxmlformats.org/drawingml/2006/main">
          <a:graphicData uri="http://schemas.openxmlformats.org/drawingml/2006/chart">
            <c:chart xmlns:r="http://schemas.openxmlformats.org/officeDocument/2006/relationships" xmlns:c="http://schemas.openxmlformats.org/drawingml/2006/chart" r:id="R824bf21b0dab47c9"/>
          </a:graphicData>
        </a:graphic>
      </p:graphicFrame>
      <p:sp>
        <p:nvSpPr>
          <p:cNvPr id="5" name="0.183">
            <a:extLst xmlns:a="http://schemas.openxmlformats.org/drawingml/2006/main">
              <a:ext uri="{FF2B5EF4-FFF2-40B4-BE49-F238E27FC236}">
                <a16:creationId xmlns:a16="http://schemas.microsoft.com/office/drawing/2014/main" id="{FA8021BA-4E75-4FB7-B159-F25DD748B7B7}"/>
              </a:ext>
            </a:extLst>
          </p:cNvPr>
          <p:cNvSpPr>
            <a:spLocks xmlns:a="http://schemas.openxmlformats.org/drawingml/2006/main" noGrp="1"/>
          </p:cNvSpPr>
          <p:nvPr/>
        </p:nvSpPr>
        <p:spPr>
          <a:xfrm xmlns:a="http://schemas.openxmlformats.org/drawingml/2006/main">
            <a:off x="7286625" y="1885950"/>
            <a:ext cx="4191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087F83"/>
                </a:solidFill>
                <a:latin typeface="Helvetica Neue"/>
                <a:ea typeface="Helvetica Neue"/>
                <a:cs typeface="Helvetica Neue"/>
              </a:defRPr>
            </a:defPPr>
          </a:lstStyle>
          <a:p xmlns:a="http://schemas.openxmlformats.org/drawingml/2006/main">
            <a:pPr>
              <a:defRPr sz="6150" b="1">
                <a:solidFill>
                  <a:srgbClr val="087F83"/>
                </a:solidFill>
                <a:latin typeface="Helvetica Neue"/>
                <a:ea typeface="Helvetica Neue"/>
                <a:cs typeface="Helvetica Neue"/>
              </a:defRPr>
            </a:pPr>
            <a:r>
              <a:rPr sz="6150" b="1">
                <a:solidFill>
                  <a:srgbClr val="087F83"/>
                </a:solidFill>
                <a:latin typeface="Helvetica Neue"/>
                <a:ea typeface="Helvetica Neue"/>
                <a:cs typeface="Helvetica Neue"/>
              </a:rPr>
              <a:t>0.183</a:t>
            </a:r>
          </a:p>
        </p:txBody>
      </p:sp>
      <p:sp>
        <p:nvSpPr>
          <p:cNvPr id="6" name="95% interval&#10;0.102 to 0.327">
            <a:extLst xmlns:a="http://schemas.openxmlformats.org/drawingml/2006/main">
              <a:ext uri="{FF2B5EF4-FFF2-40B4-BE49-F238E27FC236}">
                <a16:creationId xmlns:a16="http://schemas.microsoft.com/office/drawing/2014/main" id="{F696F564-0475-48A1-8242-65BE6FF9A23C}"/>
              </a:ext>
            </a:extLst>
          </p:cNvPr>
          <p:cNvSpPr>
            <a:spLocks xmlns:a="http://schemas.openxmlformats.org/drawingml/2006/main" noGrp="1"/>
          </p:cNvSpPr>
          <p:nvPr/>
        </p:nvSpPr>
        <p:spPr>
          <a:xfrm xmlns:a="http://schemas.openxmlformats.org/drawingml/2006/main">
            <a:off x="7324725" y="3009900"/>
            <a:ext cx="41624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95% interval</a:t>
            </a:r>
          </a:p>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0.102 to 0.327</a:t>
            </a:r>
          </a:p>
        </p:txBody>
      </p:sp>
      <p:sp>
        <p:nvSpPr>
          <p:cNvPr id="7" name="One history worsened&#10;2.015 ×">
            <a:extLst xmlns:a="http://schemas.openxmlformats.org/drawingml/2006/main">
              <a:ext uri="{FF2B5EF4-FFF2-40B4-BE49-F238E27FC236}">
                <a16:creationId xmlns:a16="http://schemas.microsoft.com/office/drawing/2014/main" id="{4435BF7B-9A20-45CC-B2C1-EBC88DE2DD6D}"/>
              </a:ext>
            </a:extLst>
          </p:cNvPr>
          <p:cNvSpPr>
            <a:spLocks xmlns:a="http://schemas.openxmlformats.org/drawingml/2006/main" noGrp="1"/>
          </p:cNvSpPr>
          <p:nvPr/>
        </p:nvSpPr>
        <p:spPr>
          <a:xfrm xmlns:a="http://schemas.openxmlformats.org/drawingml/2006/main">
            <a:off x="7286625" y="422910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B95435"/>
                </a:solidFill>
                <a:latin typeface="Helvetica Neue"/>
                <a:ea typeface="Helvetica Neue"/>
                <a:cs typeface="Helvetica Neue"/>
              </a:defRPr>
            </a:defPPr>
          </a:lstStyle>
          <a:p xmlns:a="http://schemas.openxmlformats.org/drawingml/2006/main">
            <a:pPr>
              <a:defRPr sz="2250" b="1">
                <a:solidFill>
                  <a:srgbClr val="B95435"/>
                </a:solidFill>
                <a:latin typeface="Helvetica Neue"/>
                <a:ea typeface="Helvetica Neue"/>
                <a:cs typeface="Helvetica Neue"/>
              </a:defRPr>
            </a:pPr>
            <a:r>
              <a:rPr sz="2250" b="1">
                <a:solidFill>
                  <a:srgbClr val="B95435"/>
                </a:solidFill>
                <a:latin typeface="Helvetica Neue"/>
                <a:ea typeface="Helvetica Neue"/>
                <a:cs typeface="Helvetica Neue"/>
              </a:rPr>
              <a:t>One history worsened</a:t>
            </a:r>
          </a:p>
          <a:p xmlns:a="http://schemas.openxmlformats.org/drawingml/2006/main">
            <a:pPr>
              <a:defRPr sz="2250" b="1">
                <a:solidFill>
                  <a:srgbClr val="B95435"/>
                </a:solidFill>
                <a:latin typeface="Helvetica Neue"/>
                <a:ea typeface="Helvetica Neue"/>
                <a:cs typeface="Helvetica Neue"/>
              </a:defRPr>
            </a:pPr>
            <a:r>
              <a:rPr sz="2250" b="1">
                <a:solidFill>
                  <a:srgbClr val="B95435"/>
                </a:solidFill>
                <a:latin typeface="Helvetica Neue"/>
                <a:ea typeface="Helvetica Neue"/>
                <a:cs typeface="Helvetica Neue"/>
              </a:rPr>
              <a:t>2.015 × online error</a:t>
            </a:r>
          </a:p>
        </p:txBody>
      </p:sp>
      <p:sp>
        <p:nvSpPr>
          <p:cNvPr id="8" name="One emulator. Exposed grid. ">
            <a:extLst xmlns:a="http://schemas.openxmlformats.org/drawingml/2006/main">
              <a:ext uri="{FF2B5EF4-FFF2-40B4-BE49-F238E27FC236}">
                <a16:creationId xmlns:a16="http://schemas.microsoft.com/office/drawing/2014/main" id="{87FD3862-48E2-48E3-A3E1-22C106C193DB}"/>
              </a:ext>
            </a:extLst>
          </p:cNvPr>
          <p:cNvSpPr>
            <a:spLocks xmlns:a="http://schemas.openxmlformats.org/drawingml/2006/main" noGrp="1"/>
          </p:cNvSpPr>
          <p:nvPr/>
        </p:nvSpPr>
        <p:spPr>
          <a:xfrm xmlns:a="http://schemas.openxmlformats.org/drawingml/2006/main">
            <a:off x="609600" y="56483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One emulator. Exposed grid. Median of three scored refit initializations.</a:t>
            </a:r>
          </a:p>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Fitting computation differs. Worsening history 124753321 remains included.</a:t>
            </a:r>
          </a:p>
        </p:txBody>
      </p:sp>
    </p:spTree>
    <p:extLst>
      <p:ext uri="{BB962C8B-B14F-4D97-AF65-F5344CB8AC3E}">
        <p14:creationId xmlns:p14="http://schemas.microsoft.com/office/powerpoint/2010/main" val="1334966853"/>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BAA79C1-D7BB-4153-8F90-FC69FB0BBDF7}"/>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Lower error than a specified random policy</a:t>
            </a:r>
          </a:p>
        </p:txBody>
      </p:sp>
      <p:sp>
        <p:nvSpPr>
          <p:cNvPr id="2" name="page">
            <a:extLst xmlns:a="http://schemas.openxmlformats.org/drawingml/2006/main">
              <a:ext uri="{FF2B5EF4-FFF2-40B4-BE49-F238E27FC236}">
                <a16:creationId xmlns:a16="http://schemas.microsoft.com/office/drawing/2014/main" id="{2D93C8E1-2C21-4EF9-B070-9CF1F60ACD4B}"/>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09</a:t>
            </a:r>
          </a:p>
        </p:txBody>
      </p:sp>
      <p:sp>
        <p:nvSpPr>
          <p:cNvPr id="3" name="Mean held-out mechanism MSE.">
            <a:extLst xmlns:a="http://schemas.openxmlformats.org/drawingml/2006/main">
              <a:ext uri="{FF2B5EF4-FFF2-40B4-BE49-F238E27FC236}">
                <a16:creationId xmlns:a16="http://schemas.microsoft.com/office/drawing/2014/main" id="{74AE3616-CC64-4D3B-88EA-A82E4953E74B}"/>
              </a:ext>
            </a:extLst>
          </p:cNvPr>
          <p:cNvSpPr>
            <a:spLocks xmlns:a="http://schemas.openxmlformats.org/drawingml/2006/main" noGrp="1"/>
          </p:cNvSpPr>
          <p:nvPr/>
        </p:nvSpPr>
        <p:spPr>
          <a:xfrm xmlns:a="http://schemas.openxmlformats.org/drawingml/2006/main">
            <a:off x="609600" y="149542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66B"/>
                </a:solidFill>
                <a:latin typeface="Helvetica Neue"/>
                <a:ea typeface="Helvetica Neue"/>
                <a:cs typeface="Helvetica Neue"/>
              </a:defRPr>
            </a:defPPr>
          </a:lstStyle>
          <a:p xmlns:a="http://schemas.openxmlformats.org/drawingml/2006/main">
            <a:pPr>
              <a:defRPr sz="1800" b="0">
                <a:solidFill>
                  <a:srgbClr val="53666B"/>
                </a:solidFill>
                <a:latin typeface="Helvetica Neue"/>
                <a:ea typeface="Helvetica Neue"/>
                <a:cs typeface="Helvetica Neue"/>
              </a:defRPr>
            </a:pPr>
            <a:r>
              <a:rPr sz="1800" b="0">
                <a:solidFill>
                  <a:srgbClr val="53666B"/>
                </a:solidFill>
                <a:latin typeface="Helvetica Neue"/>
                <a:ea typeface="Helvetica Neue"/>
                <a:cs typeface="Helvetica Neue"/>
              </a:rPr>
              <a:t>Mean held-out mechanism MSE. Lower is better.</a:t>
            </a:r>
          </a:p>
        </p:txBody>
      </p:sp>
      <p:graphicFrame>
        <p:nvGraphicFramePr>
          <p:cNvPr id="4" name="Chart">
            <a:extLst xmlns:a="http://schemas.openxmlformats.org/drawingml/2006/main">
              <a:ext uri="{FF2B5EF4-FFF2-40B4-BE49-F238E27FC236}">
                <a16:creationId xmlns:a16="http://schemas.microsoft.com/office/drawing/2014/main" id="{E3E6BF9F-22C3-483E-82B8-01C650894233}"/>
              </a:ext>
            </a:extLst>
          </p:cNvPr>
          <p:cNvGraphicFramePr/>
          <p:nvPr/>
        </p:nvGraphicFramePr>
        <p:xfrm>
          <a:off xmlns:a="http://schemas.openxmlformats.org/drawingml/2006/main" x="457200" y="2114550"/>
          <a:ext xmlns:a="http://schemas.openxmlformats.org/drawingml/2006/main" cx="6943725" cy="3105150"/>
        </p:xfrm>
        <a:graphic xmlns:a="http://schemas.openxmlformats.org/drawingml/2006/main">
          <a:graphicData uri="http://schemas.openxmlformats.org/drawingml/2006/chart">
            <c:chart xmlns:r="http://schemas.openxmlformats.org/officeDocument/2006/relationships" xmlns:c="http://schemas.openxmlformats.org/drawingml/2006/chart" r:id="Rd21bea7c69364f7f"/>
          </a:graphicData>
        </a:graphic>
      </p:graphicFrame>
      <p:sp>
        <p:nvSpPr>
          <p:cNvPr id="5" name="64.85%">
            <a:extLst xmlns:a="http://schemas.openxmlformats.org/drawingml/2006/main">
              <a:ext uri="{FF2B5EF4-FFF2-40B4-BE49-F238E27FC236}">
                <a16:creationId xmlns:a16="http://schemas.microsoft.com/office/drawing/2014/main" id="{0D5A5F85-78DC-4203-B030-347501043263}"/>
              </a:ext>
            </a:extLst>
          </p:cNvPr>
          <p:cNvSpPr>
            <a:spLocks xmlns:a="http://schemas.openxmlformats.org/drawingml/2006/main" noGrp="1"/>
          </p:cNvSpPr>
          <p:nvPr/>
        </p:nvSpPr>
        <p:spPr>
          <a:xfrm xmlns:a="http://schemas.openxmlformats.org/drawingml/2006/main">
            <a:off x="7800975" y="19335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087F83"/>
                </a:solidFill>
                <a:latin typeface="Helvetica Neue"/>
                <a:ea typeface="Helvetica Neue"/>
                <a:cs typeface="Helvetica Neue"/>
              </a:defRPr>
            </a:defPPr>
          </a:lstStyle>
          <a:p xmlns:a="http://schemas.openxmlformats.org/drawingml/2006/main">
            <a:pPr>
              <a:defRPr sz="5100" b="1">
                <a:solidFill>
                  <a:srgbClr val="087F83"/>
                </a:solidFill>
                <a:latin typeface="Helvetica Neue"/>
                <a:ea typeface="Helvetica Neue"/>
                <a:cs typeface="Helvetica Neue"/>
              </a:defRPr>
            </a:pPr>
            <a:r>
              <a:rPr sz="5100" b="1">
                <a:solidFill>
                  <a:srgbClr val="087F83"/>
                </a:solidFill>
                <a:latin typeface="Helvetica Neue"/>
                <a:ea typeface="Helvetica Neue"/>
                <a:cs typeface="Helvetica Neue"/>
              </a:rPr>
              <a:t>64.85%</a:t>
            </a:r>
          </a:p>
        </p:txBody>
      </p:sp>
      <p:sp>
        <p:nvSpPr>
          <p:cNvPr id="6" name="Lower group mean error&#10;than ">
            <a:extLst xmlns:a="http://schemas.openxmlformats.org/drawingml/2006/main">
              <a:ext uri="{FF2B5EF4-FFF2-40B4-BE49-F238E27FC236}">
                <a16:creationId xmlns:a16="http://schemas.microsoft.com/office/drawing/2014/main" id="{BD76B5D2-AA1D-4342-9B79-E2C5ADCC9C9C}"/>
              </a:ext>
            </a:extLst>
          </p:cNvPr>
          <p:cNvSpPr>
            <a:spLocks xmlns:a="http://schemas.openxmlformats.org/drawingml/2006/main" noGrp="1"/>
          </p:cNvSpPr>
          <p:nvPr/>
        </p:nvSpPr>
        <p:spPr>
          <a:xfrm xmlns:a="http://schemas.openxmlformats.org/drawingml/2006/main">
            <a:off x="7820025" y="29146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313A"/>
                </a:solidFill>
                <a:latin typeface="Helvetica Neue"/>
                <a:ea typeface="Helvetica Neue"/>
                <a:cs typeface="Helvetica Neue"/>
              </a:defRPr>
            </a:defPPr>
          </a:lstStyle>
          <a:p xmlns:a="http://schemas.openxmlformats.org/drawingml/2006/main">
            <a:pP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Lower group mean error</a:t>
            </a:r>
          </a:p>
          <a:p xmlns:a="http://schemas.openxmlformats.org/drawingml/2006/main">
            <a:pP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than random</a:t>
            </a:r>
          </a:p>
        </p:txBody>
      </p:sp>
      <p:sp>
        <p:nvSpPr>
          <p:cNvPr id="7" name="19 / 20 systems&#10;2,000 sample">
            <a:extLst xmlns:a="http://schemas.openxmlformats.org/drawingml/2006/main">
              <a:ext uri="{FF2B5EF4-FFF2-40B4-BE49-F238E27FC236}">
                <a16:creationId xmlns:a16="http://schemas.microsoft.com/office/drawing/2014/main" id="{7FE4421A-BDB0-4D05-AA11-F9864DAE83A1}"/>
              </a:ext>
            </a:extLst>
          </p:cNvPr>
          <p:cNvSpPr>
            <a:spLocks xmlns:a="http://schemas.openxmlformats.org/drawingml/2006/main" noGrp="1"/>
          </p:cNvSpPr>
          <p:nvPr/>
        </p:nvSpPr>
        <p:spPr>
          <a:xfrm xmlns:a="http://schemas.openxmlformats.org/drawingml/2006/main">
            <a:off x="7810500" y="4067175"/>
            <a:ext cx="381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313A"/>
                </a:solidFill>
                <a:latin typeface="Helvetica Neue"/>
                <a:ea typeface="Helvetica Neue"/>
                <a:cs typeface="Helvetica Neue"/>
              </a:defRPr>
            </a:defPPr>
          </a:lstStyle>
          <a:p xmlns:a="http://schemas.openxmlformats.org/drawingml/2006/main">
            <a:pP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19 / 20 systems</a:t>
            </a:r>
          </a:p>
          <a:p xmlns:a="http://schemas.openxmlformats.org/drawingml/2006/main">
            <a:pP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2,000 samples per</a:t>
            </a:r>
          </a:p>
          <a:p xmlns:a="http://schemas.openxmlformats.org/drawingml/2006/main">
            <a:pPr>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arm and system</a:t>
            </a:r>
          </a:p>
        </p:txBody>
      </p:sp>
      <p:sp>
        <p:nvSpPr>
          <p:cNvPr id="8" name="Secondary random comparison:">
            <a:extLst xmlns:a="http://schemas.openxmlformats.org/drawingml/2006/main">
              <a:ext uri="{FF2B5EF4-FFF2-40B4-BE49-F238E27FC236}">
                <a16:creationId xmlns:a16="http://schemas.microsoft.com/office/drawing/2014/main" id="{4104079D-C112-4DBA-96CB-C79818A047A3}"/>
              </a:ext>
            </a:extLst>
          </p:cNvPr>
          <p:cNvSpPr>
            <a:spLocks xmlns:a="http://schemas.openxmlformats.org/drawingml/2006/main" noGrp="1"/>
          </p:cNvSpPr>
          <p:nvPr/>
        </p:nvSpPr>
        <p:spPr>
          <a:xfrm xmlns:a="http://schemas.openxmlformats.org/drawingml/2006/main">
            <a:off x="609600" y="56388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Secondary random comparison: p = 0.00750. Primary coverage comparison failed: p = 0.05108.</a:t>
            </a:r>
          </a:p>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The scoring ablation remains unresolved. One synthetic generator. Equal samples, unequal compute.</a:t>
            </a:r>
          </a:p>
        </p:txBody>
      </p:sp>
    </p:spTree>
    <p:extLst>
      <p:ext uri="{BB962C8B-B14F-4D97-AF65-F5344CB8AC3E}">
        <p14:creationId xmlns:p14="http://schemas.microsoft.com/office/powerpoint/2010/main" val="1625435688"/>
      </p:ext>
    </p:extLst>
  </p:cSld>
</p:sld>
</file>

<file path=ppt/slides/slide1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63A0221B-0BDE-4220-A4CC-9BBCA1227AA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Simple structure can be the strongest model</a:t>
            </a:r>
          </a:p>
        </p:txBody>
      </p:sp>
      <p:sp>
        <p:nvSpPr>
          <p:cNvPr id="2" name="page">
            <a:extLst xmlns:a="http://schemas.openxmlformats.org/drawingml/2006/main">
              <a:ext uri="{FF2B5EF4-FFF2-40B4-BE49-F238E27FC236}">
                <a16:creationId xmlns:a16="http://schemas.microsoft.com/office/drawing/2014/main" id="{0A39BEA2-1832-40DC-B650-16F351C03787}"/>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10</a:t>
            </a:r>
          </a:p>
        </p:txBody>
      </p:sp>
      <p:sp>
        <p:nvSpPr>
          <p:cNvPr id="3" name="Delivery wins across 11 phys">
            <a:extLst xmlns:a="http://schemas.openxmlformats.org/drawingml/2006/main">
              <a:ext uri="{FF2B5EF4-FFF2-40B4-BE49-F238E27FC236}">
                <a16:creationId xmlns:a16="http://schemas.microsoft.com/office/drawing/2014/main" id="{0CC80C4E-6FFD-4310-8DA8-7C0564698B57}"/>
              </a:ext>
            </a:extLst>
          </p:cNvPr>
          <p:cNvSpPr>
            <a:spLocks xmlns:a="http://schemas.openxmlformats.org/drawingml/2006/main" noGrp="1"/>
          </p:cNvSpPr>
          <p:nvPr/>
        </p:nvSpPr>
        <p:spPr>
          <a:xfrm xmlns:a="http://schemas.openxmlformats.org/drawingml/2006/main">
            <a:off x="609600" y="15240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Delivery wins across 11 physical conditions</a:t>
            </a:r>
          </a:p>
        </p:txBody>
      </p:sp>
      <p:graphicFrame>
        <p:nvGraphicFramePr>
          <p:cNvPr id="4" name="Chart">
            <a:extLst xmlns:a="http://schemas.openxmlformats.org/drawingml/2006/main">
              <a:ext uri="{FF2B5EF4-FFF2-40B4-BE49-F238E27FC236}">
                <a16:creationId xmlns:a16="http://schemas.microsoft.com/office/drawing/2014/main" id="{29443162-99D7-447B-9151-3FE5693B9980}"/>
              </a:ext>
            </a:extLst>
          </p:cNvPr>
          <p:cNvGraphicFramePr/>
          <p:nvPr/>
        </p:nvGraphicFramePr>
        <p:xfrm>
          <a:off xmlns:a="http://schemas.openxmlformats.org/drawingml/2006/main" x="523875" y="2171700"/>
          <a:ext xmlns:a="http://schemas.openxmlformats.org/drawingml/2006/main" cx="6715125" cy="3067050"/>
        </p:xfrm>
        <a:graphic xmlns:a="http://schemas.openxmlformats.org/drawingml/2006/main">
          <a:graphicData uri="http://schemas.openxmlformats.org/drawingml/2006/chart">
            <c:chart xmlns:r="http://schemas.openxmlformats.org/officeDocument/2006/relationships" xmlns:c="http://schemas.openxmlformats.org/drawingml/2006/chart" r:id="R90820c77cbc84cb4"/>
          </a:graphicData>
        </a:graphic>
      </p:graphicFrame>
      <p:sp>
        <p:nvSpPr>
          <p:cNvPr id="5" name="0 / 11">
            <a:extLst xmlns:a="http://schemas.openxmlformats.org/drawingml/2006/main">
              <a:ext uri="{FF2B5EF4-FFF2-40B4-BE49-F238E27FC236}">
                <a16:creationId xmlns:a16="http://schemas.microsoft.com/office/drawing/2014/main" id="{8A3F2123-EC37-4347-8EC6-4691C051D7E4}"/>
              </a:ext>
            </a:extLst>
          </p:cNvPr>
          <p:cNvSpPr>
            <a:spLocks xmlns:a="http://schemas.openxmlformats.org/drawingml/2006/main" noGrp="1"/>
          </p:cNvSpPr>
          <p:nvPr/>
        </p:nvSpPr>
        <p:spPr>
          <a:xfrm xmlns:a="http://schemas.openxmlformats.org/drawingml/2006/main">
            <a:off x="7858125" y="1933575"/>
            <a:ext cx="35433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B95435"/>
                </a:solidFill>
                <a:latin typeface="Helvetica Neue"/>
                <a:ea typeface="Helvetica Neue"/>
                <a:cs typeface="Helvetica Neue"/>
              </a:defRPr>
            </a:defPPr>
          </a:lstStyle>
          <a:p xmlns:a="http://schemas.openxmlformats.org/drawingml/2006/main">
            <a:pPr>
              <a:defRPr sz="5550" b="1">
                <a:solidFill>
                  <a:srgbClr val="B95435"/>
                </a:solidFill>
                <a:latin typeface="Helvetica Neue"/>
                <a:ea typeface="Helvetica Neue"/>
                <a:cs typeface="Helvetica Neue"/>
              </a:defRPr>
            </a:pPr>
            <a:r>
              <a:rPr sz="5550" b="1">
                <a:solidFill>
                  <a:srgbClr val="B95435"/>
                </a:solidFill>
                <a:latin typeface="Helvetica Neue"/>
                <a:ea typeface="Helvetica Neue"/>
                <a:cs typeface="Helvetica Neue"/>
              </a:rPr>
              <a:t>0 / 11</a:t>
            </a:r>
          </a:p>
        </p:txBody>
      </p:sp>
      <p:sp>
        <p:nvSpPr>
          <p:cNvPr id="6" name="Delivery wins&#10;against Fourie">
            <a:extLst xmlns:a="http://schemas.openxmlformats.org/drawingml/2006/main">
              <a:ext uri="{FF2B5EF4-FFF2-40B4-BE49-F238E27FC236}">
                <a16:creationId xmlns:a16="http://schemas.microsoft.com/office/drawing/2014/main" id="{39B0B75F-6C72-4D8C-8A84-4C55709B1B52}"/>
              </a:ext>
            </a:extLst>
          </p:cNvPr>
          <p:cNvSpPr>
            <a:spLocks xmlns:a="http://schemas.openxmlformats.org/drawingml/2006/main" noGrp="1"/>
          </p:cNvSpPr>
          <p:nvPr/>
        </p:nvSpPr>
        <p:spPr>
          <a:xfrm xmlns:a="http://schemas.openxmlformats.org/drawingml/2006/main">
            <a:off x="7896225" y="3048000"/>
            <a:ext cx="3619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13A"/>
                </a:solidFill>
                <a:latin typeface="Helvetica Neue"/>
                <a:ea typeface="Helvetica Neue"/>
                <a:cs typeface="Helvetica Neue"/>
              </a:defRPr>
            </a:defPPr>
          </a:lstStyle>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Delivery wins</a:t>
            </a:r>
          </a:p>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against Fourier</a:t>
            </a:r>
          </a:p>
        </p:txBody>
      </p:sp>
      <p:sp>
        <p:nvSpPr>
          <p:cNvPr id="7" name="A candidate method fits the ">
            <a:extLst xmlns:a="http://schemas.openxmlformats.org/drawingml/2006/main">
              <a:ext uri="{FF2B5EF4-FFF2-40B4-BE49-F238E27FC236}">
                <a16:creationId xmlns:a16="http://schemas.microsoft.com/office/drawing/2014/main" id="{8AC652D0-01CF-48B3-BA4C-EBC3FEC3722E}"/>
              </a:ext>
            </a:extLst>
          </p:cNvPr>
          <p:cNvSpPr>
            <a:spLocks xmlns:a="http://schemas.openxmlformats.org/drawingml/2006/main" noGrp="1"/>
          </p:cNvSpPr>
          <p:nvPr/>
        </p:nvSpPr>
        <p:spPr>
          <a:xfrm xmlns:a="http://schemas.openxmlformats.org/drawingml/2006/main">
            <a:off x="609600" y="551497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F83"/>
                </a:solidFill>
                <a:latin typeface="Helvetica Neue"/>
                <a:ea typeface="Helvetica Neue"/>
                <a:cs typeface="Helvetica Neue"/>
              </a:defRPr>
            </a:defPPr>
          </a:lstStyle>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A candidate method fits the final prediction and</a:t>
            </a:r>
          </a:p>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compares strong simple models on reserved validation.</a:t>
            </a:r>
          </a:p>
        </p:txBody>
      </p:sp>
      <p:sp>
        <p:nvSpPr>
          <p:cNvPr id="8" name="One apparatus. Correlated co">
            <a:extLst xmlns:a="http://schemas.openxmlformats.org/drawingml/2006/main">
              <a:ext uri="{FF2B5EF4-FFF2-40B4-BE49-F238E27FC236}">
                <a16:creationId xmlns:a16="http://schemas.microsoft.com/office/drawing/2014/main" id="{70AE4102-DD03-45F1-95A8-F7E383270A2B}"/>
              </a:ext>
            </a:extLst>
          </p:cNvPr>
          <p:cNvSpPr>
            <a:spLocks xmlns:a="http://schemas.openxmlformats.org/drawingml/2006/main" noGrp="1"/>
          </p:cNvSpPr>
          <p:nvPr/>
        </p:nvSpPr>
        <p:spPr>
          <a:xfrm xmlns:a="http://schemas.openxmlformats.org/drawingml/2006/main">
            <a:off x="609600" y="63246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66B"/>
                </a:solidFill>
                <a:latin typeface="Helvetica Neue"/>
                <a:ea typeface="Helvetica Neue"/>
                <a:cs typeface="Helvetica Neue"/>
              </a:defRPr>
            </a:defPPr>
          </a:lstStyle>
          <a:p xmlns:a="http://schemas.openxmlformats.org/drawingml/2006/main">
            <a:pPr>
              <a:defRPr sz="1725" b="0">
                <a:solidFill>
                  <a:srgbClr val="53666B"/>
                </a:solidFill>
                <a:latin typeface="Helvetica Neue"/>
                <a:ea typeface="Helvetica Neue"/>
                <a:cs typeface="Helvetica Neue"/>
              </a:defRPr>
            </a:pPr>
            <a:r>
              <a:rPr sz="1725" b="0">
                <a:solidFill>
                  <a:srgbClr val="53666B"/>
                </a:solidFill>
                <a:latin typeface="Helvetica Neue"/>
                <a:ea typeface="Helvetica Neue"/>
                <a:cs typeface="Helvetica Neue"/>
              </a:rPr>
              <a:t>One apparatus. Correlated conditions. New method superiority remains open.</a:t>
            </a:r>
          </a:p>
        </p:txBody>
      </p:sp>
    </p:spTree>
    <p:extLst>
      <p:ext uri="{BB962C8B-B14F-4D97-AF65-F5344CB8AC3E}">
        <p14:creationId xmlns:p14="http://schemas.microsoft.com/office/powerpoint/2010/main" val="4473127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2026-10-09T01:01:32.0340000Z</dcterms:created>
  <dcterms:modified xsi:type="dcterms:W3CDTF">2026-10-09T01:01:32.0340000Z</dcterms:modified>
</coreProperties>
</file>