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6e9198fdd54b6c" /><Relationship Type="http://schemas.openxmlformats.org/officeDocument/2006/relationships/extended-properties" Target="/docProps/app.xml" Id="R5a5b341f8cd04796" /><Relationship Type="http://schemas.openxmlformats.org/officeDocument/2006/relationships/officeDocument" Target="/ppt/presentation.xml" Id="R7cb2cb1bca124b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519af79c1e45cf"/>
  </p:sldMasterIdLst>
  <p:notesMasterIdLst>
    <p:notesMasterId xmlns:r="http://schemas.openxmlformats.org/officeDocument/2006/relationships" r:id="R9554ef9d738d4bf1"/>
  </p:notesMasterIdLst>
  <p:sldIdLst>
    <p:sldId xmlns:r="http://schemas.openxmlformats.org/officeDocument/2006/relationships" id="256" r:id="Rcdd410658d114a5d"/>
    <p:sldId xmlns:r="http://schemas.openxmlformats.org/officeDocument/2006/relationships" id="257" r:id="Rfe895b259a7745bb"/>
    <p:sldId xmlns:r="http://schemas.openxmlformats.org/officeDocument/2006/relationships" id="258" r:id="R5dc5ad4766dc4bd6"/>
    <p:sldId xmlns:r="http://schemas.openxmlformats.org/officeDocument/2006/relationships" id="259" r:id="Rdc75ed1eac1b41da"/>
    <p:sldId xmlns:r="http://schemas.openxmlformats.org/officeDocument/2006/relationships" id="260" r:id="Rf14df4a6eb90400b"/>
    <p:sldId xmlns:r="http://schemas.openxmlformats.org/officeDocument/2006/relationships" id="261" r:id="R23023dc56cb84ad2"/>
    <p:sldId xmlns:r="http://schemas.openxmlformats.org/officeDocument/2006/relationships" id="262" r:id="R8a8357f5a2404428"/>
    <p:sldId xmlns:r="http://schemas.openxmlformats.org/officeDocument/2006/relationships" id="263" r:id="Re50bbfcb32284d9b"/>
    <p:sldId xmlns:r="http://schemas.openxmlformats.org/officeDocument/2006/relationships" id="264" r:id="Racf8f4b90ce84021"/>
    <p:sldId xmlns:r="http://schemas.openxmlformats.org/officeDocument/2006/relationships" id="265" r:id="Rf3e2446c8fee4f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4d483f8a3c4e0c" /><Relationship Type="http://schemas.openxmlformats.org/officeDocument/2006/relationships/slideMaster" Target="/ppt/slideMasters/slideMaster1.xml" Id="Rad519af79c1e45cf" /><Relationship Type="http://schemas.openxmlformats.org/officeDocument/2006/relationships/notesMaster" Target="/ppt/notesMasters/notesMaster1.xml" Id="R9554ef9d738d4bf1" /><Relationship Type="http://schemas.openxmlformats.org/officeDocument/2006/relationships/presProps" Target="/ppt/presProps.xml" Id="R74a321e72b8f44e8" /><Relationship Type="http://schemas.openxmlformats.org/officeDocument/2006/relationships/tableStyles" Target="/ppt/tableStyles.xml" Id="Rb76baf9548ae4b76" /><Relationship Type="http://schemas.openxmlformats.org/officeDocument/2006/relationships/slide" Target="/ppt/slides/slide1.xml" Id="Rcdd410658d114a5d" /><Relationship Type="http://schemas.openxmlformats.org/officeDocument/2006/relationships/slide" Target="/ppt/slides/slide2.xml" Id="Rfe895b259a7745bb" /><Relationship Type="http://schemas.openxmlformats.org/officeDocument/2006/relationships/slide" Target="/ppt/slides/slide3.xml" Id="R5dc5ad4766dc4bd6" /><Relationship Type="http://schemas.openxmlformats.org/officeDocument/2006/relationships/slide" Target="/ppt/slides/slide4.xml" Id="Rdc75ed1eac1b41da" /><Relationship Type="http://schemas.openxmlformats.org/officeDocument/2006/relationships/slide" Target="/ppt/slides/slide5.xml" Id="Rf14df4a6eb90400b" /><Relationship Type="http://schemas.openxmlformats.org/officeDocument/2006/relationships/slide" Target="/ppt/slides/slide6.xml" Id="R23023dc56cb84ad2" /><Relationship Type="http://schemas.openxmlformats.org/officeDocument/2006/relationships/slide" Target="/ppt/slides/slide7.xml" Id="R8a8357f5a2404428" /><Relationship Type="http://schemas.openxmlformats.org/officeDocument/2006/relationships/slide" Target="/ppt/slides/slide8.xml" Id="Re50bbfcb32284d9b" /><Relationship Type="http://schemas.openxmlformats.org/officeDocument/2006/relationships/slide" Target="/ppt/slides/slide9.xml" Id="Racf8f4b90ce84021" /><Relationship Type="http://schemas.openxmlformats.org/officeDocument/2006/relationships/slide" Target="/ppt/slides/slide10.xml" Id="Rf3e2446c8fee4f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e863a2ca2b46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a24ebaaad04491" /><Relationship Type="http://schemas.openxmlformats.org/officeDocument/2006/relationships/notesMaster" Target="/ppt/notesMasters/notesMaster1.xml" Id="R91b85e752d2f44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ed36aae3e948d5" /><Relationship Type="http://schemas.openxmlformats.org/officeDocument/2006/relationships/notesMaster" Target="/ppt/notesMasters/notesMaster1.xml" Id="R234bdf5e8bf54d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3b370aa0ad4ace" /><Relationship Type="http://schemas.openxmlformats.org/officeDocument/2006/relationships/notesMaster" Target="/ppt/notesMasters/notesMaster1.xml" Id="R209709d9a5d346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6fc3d39ab84a33" /><Relationship Type="http://schemas.openxmlformats.org/officeDocument/2006/relationships/notesMaster" Target="/ppt/notesMasters/notesMaster1.xml" Id="R9205eeb7e55048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4c7801aaa64ac2" /><Relationship Type="http://schemas.openxmlformats.org/officeDocument/2006/relationships/notesMaster" Target="/ppt/notesMasters/notesMaster1.xml" Id="Ra0b017e3401945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06bf69a2454a77" /><Relationship Type="http://schemas.openxmlformats.org/officeDocument/2006/relationships/notesMaster" Target="/ppt/notesMasters/notesMaster1.xml" Id="Re68aa482c38b45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bd66c95f4a42a2" /><Relationship Type="http://schemas.openxmlformats.org/officeDocument/2006/relationships/notesMaster" Target="/ppt/notesMasters/notesMaster1.xml" Id="R9d94107e28954f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95bd8d856e4f27" /><Relationship Type="http://schemas.openxmlformats.org/officeDocument/2006/relationships/notesMaster" Target="/ppt/notesMasters/notesMaster1.xml" Id="R3c11080d7f5148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d62e82010a473d" /><Relationship Type="http://schemas.openxmlformats.org/officeDocument/2006/relationships/notesMaster" Target="/ppt/notesMasters/notesMaster1.xml" Id="R5df496c3cb3143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10f63d44f24e70" /><Relationship Type="http://schemas.openxmlformats.org/officeDocument/2006/relationships/notesMaster" Target="/ppt/notesMasters/notesMaster1.xml" Id="Rd9ffd788bc134b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ACE selects interventions using an assumed causal graph and uncertainty about local mechanisms. Compressor visual is a newly generated conceptual engineering illustration, not the apparatus used in the reported synthetic experiments. Slides1–4 introduce the theory; slides5–7 give precise illustrative inputs, scores and outputs; slide8 shows an archived graph; slides9–10 show historical evidence. Implementation: baselines.py, EnsembleStudentSCM / EnsembleLearner / PropagatedVariancePolicy, and scripts/research/persistent_scm.py. Historical PEV uses known graphs, independently initialized neural heads, model-only candidate contexts and covariance-based integrated variance reduction summed over descendant mechanisms. It does not identify the graph or optimize the proposed terminal-risk objective. Noise proxy is residual error, not a certified aleatoric estimate.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/Users/pat/code/ACE/docs/development/guidance/ace_theoretical_ideation_2026-10-08.md</a:t>
            </a:r>
          </a:p>
          <a:p xmlns:a="http://schemas.openxmlformats.org/drawingml/2006/main">
            <a:r>
              <a:t>/Users/pat/code/ACE/docs/ACE_evidence_and_public_claims_2026-10-08.md</a:t>
            </a:r>
          </a:p>
          <a:p xmlns:a="http://schemas.openxmlformats.org/drawingml/2006/main">
            <a:r>
              <a:t>/Users/pat/code/ACE/presentations/ACE_theory_and_evidence/mechanistic_demonstration_2026-10-09.json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SCM definition: Xi=fi(Pa_i,Ui). Edges specify direct causes in the assumed graph, f describes the mechanism, U describes external disturbances. The toy is a fully observed, deterministic chain with dimensionless values. Its true rules are M=2.5X and Y=3M, with U=0. These truth equations explain the example to the audience; the policy receives only its candidate models and allowed actions, not oracle truth. Known graph does not imply known mechanisms. General SCMs may have dependent disturbances; identification and fitting require explicit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/Users/pat/code/ACE/docs/development/guidance/ace_theoretical_ideation_2026-10-08.md</a:t>
            </a:r>
          </a:p>
          <a:p xmlns:a="http://schemas.openxmlformats.org/drawingml/2006/main">
            <a:r>
              <a:t>/Users/pat/code/ACE/presentations/ACE_theory_and_evidence/mechanistic_demonstration_2026-10-09.json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do(M=m) fixes M independently of its usual parents and replaces M=fM(X,UM) with M=m. X→M is removed for this experiment, while M→Y remains. Row X=x,M=m,Y=y supplies a natural Y label with measured parent m, but is not a natural M=fM(X) label. Under do(X=x), both M and Y remain naturally generated and eligible under the stated retention/noise assumptions. The implementation excludes the intervened head and uses observed parents for eligible training. Candidate simulation propagates ensemble-mean parents. Historical acquisition-study evaluation instead predicts each mechanism from observed parents; the toy composed target forecast and delivery studies have different evaluation semantics.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/Users/pat/code/ACE/docs/development/guidance/ace_theoretical_ideation_2026-10-08.md</a:t>
            </a:r>
          </a:p>
          <a:p xmlns:a="http://schemas.openxmlformats.org/drawingml/2006/main">
            <a:r>
              <a:t>/Users/pat/code/ACE/presentations/ACE_theory_and_evidence/mechanistic_demonstration_2026-10-09.json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Analytic representation-size illustration, not an ACE benchmark. Define a deterministic discrete SCM with10independently controllable five-valued input nodes and9two-parent mechanism nodes arranged as a binary reduction tree. Every endogenous output also has5values. A naive associative lookup table for the final response over the full joint input grid requires5^10=9,765,625entries. With the graph supplied, nine local mechanism tables require9*5^2=225entries, a43,402.78fold representation-count difference. This is not a measured intervention-count reduction. Learning local tables assumes each required parent configuration is accessible with the child mechanism intact and allvariablesobserved; without internal interventions, reachability can fail. Sharedparentsettings may reveal several labels. Noncausal regressors can exploit smoothness/sparsity and need not enumerate a grid; the comparator is specifically exhaustive lookup, not allassociativelearning. No empirical superiority over this new baseline has been measured. Current PEV scores candidates by descendant ensemble covariance reduction; details retained in the worked calculation.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/Users/pat/code/ACE/docs/development/guidance/ace_theoretical_ideation_2026-10-08.md</a:t>
            </a:r>
          </a:p>
          <a:p xmlns:a="http://schemas.openxmlformats.org/drawingml/2006/main">
            <a:r>
              <a:t>/Users/pat/code/ACE/presentations/ACE_theory_and_evidence/mechanistic_demonstration_2026-10-09.json</a:t>
            </a:r>
          </a:p>
          <a:p xmlns:a="http://schemas.openxmlformats.org/drawingml/2006/main">
            <a:r>
              <a:t>Uniform random sampling baseline: independently draw one of N=5^10 joint configurations, with replacement and no SCM. Expected distinct fraction after n draws is 1−(1−1/N)^n. The smallest n for95% expected coverage is29,255,197. This is expected grid coverage, not a95% probability of complete coverage or a prediction-error target. The exhaustive/local entry ratio is43,402.78; do not present the random/local ratio as experimental intervention savings. Local access and determinism assumptions stated above remain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configuration only. Three linear ensemble members: M slopes1,2,3, Y slopes2,3,4; ensemble means2X and3M. Candidates ordered X−1,X0,X1,M−1,M0,M1. Reference parent values−1,0,1. Population covariance denominator3, residual noise proxy1/20, deterministic mean-propagated parent contexts, no jitter or epsilon exploration. Preintervention observation history empty for this hand-constructed initial state. One response remaining. Oracle truth hidden from score: M=2.5X,Y=3M. Production historical confirmation uses neural heads and different grids/batches. All numbers are generated by explain_ace_mechanics.py with exact rational arithmetic.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/Users/pat/code/ACE/presentations/ACE_theory_and_evidence/mechanistic_demonstration_2026-10-09.json</a:t>
            </a:r>
          </a:p>
          <a:p xmlns:a="http://schemas.openxmlformats.org/drawingml/2006/main">
            <a:r>
              <a:t>/Users/pat/code/ACE/scripts/research/explain_ace_mechanics.py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score for M context±1 is160/387≈0.413436693. Y context±2 is640/1467≈0.436264485. Their sum is≈0.849701178. Under do(M=±1) the clamped M mechanism contributes zero, leaving only Y≈0.413436693. Zero contexts give zero covariance and zero score. X+1 tiesX−1; first-maximum tie rule choosesX−1. At that action the ensemble mean predictsM−2,Y−6. No oracle outcome is queried during scoring. The Y slope ensemble is evaluated at the simulated mean parent; it is not a member-paired composed posterior.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/Users/pat/code/ACE/presentations/ACE_theory_and_evidence/mechanistic_demonstration_2026-10-09.json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oracle row isX−1,M−2.5,Y−7.5. Eligible pairs M:(−1,−2.5),Y:(−2.5,−7.5); clamped X supplies no natural root-distribution update. For transparent arithmetic use one gradient step on half squared error, with etaM1/2 and etaY2/25. M slopes1,2,3 become1.75,2.25,2.75. Y slopes2,3,4 become2.5,3,3.5. At X−1, updated mean predictsM−2.25 andY−6.75. Signed final error drops from1.5 to.75 on this same illustrative row. This is not held-out improvement or production training: production uses neural heads, Adam and member-specific masks. Response budget becomes0. Do not associate this made-up row with the real archived trace.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/Users/pat/code/ACE/presentations/ACE_theory_and_evidence/mechanistic_demonstration_2026-10-09.json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archived DAG for smallest seed5000, not chosen for favorable performance. Edges point parent to child. HighlightX7 first chosen intervention and its descendant edges. FirstactiondoX7=3.857086181640625 buys50responses. Eachrow supplieseligible natural-mechanism labels using observedparents. Fullcampaign32interventionbatches1600responses plus400observationalresponses. All20DAGs in thecomparison shareonefive-layergenerator, not20independentgraphfamilies. Rawrows/candidatescores notretained for thisaction.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results/research_pev_shift30_mean_confirmation/shift30/pev/seed_5000/system.json</a:t>
            </a:r>
          </a:p>
          <a:p xmlns:a="http://schemas.openxmlformats.org/drawingml/2006/main">
            <a:r>
              <a:t>results/research_pev_shift30_mean_confirmation/shift30/pev/seed_5000/trajectory.csv</a:t>
            </a:r>
          </a:p>
          <a:p xmlns:a="http://schemas.openxmlformats.org/drawingml/2006/main">
            <a:r>
              <a:t>/Users/pat/code/ACE/results/research_pev_shift30_mean_confirmation/README.md</a:t>
            </a:r>
          </a:p>
          <a:p xmlns:a="http://schemas.openxmlformats.org/drawingml/2006/main">
            <a:r>
              <a:t>/Users/pat/code/ACE/presentations/ACE_theory_and_evidence/recorded_curves_2026-10-09.json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All20shift30systemsseeds5000–5019. Arithmeticmean noise-free feasible nonroot mechanism MSE, measured-parent prediction. Full32checkpoints shown atleft; samecurves4–32zoomatright. FinalACE.0154302049,random.0438980071,64.85%lowerratioofmeans,19/20pairedwins. Secondarycontrastp.00750. Prespecifiedcoveragecontrastfails p.05108 andnaivevariancescoringunresolved p.62176. Earlyrandomadvantage remains visible. No Bresults,confidenceband,newfit ornewhypothesis.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/Users/pat/code/ACE/results/research_pev_shift30_mean_confirmation/README.md</a:t>
            </a:r>
          </a:p>
          <a:p xmlns:a="http://schemas.openxmlformats.org/drawingml/2006/main">
            <a:r>
              <a:t>/Users/pat/code/ACE/presentations/ACE_theory_and_evidence/recorded_curves_2026-10-09.json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 descriptivepost-hocdisplayonly. TargetdefinedasrandomfinalgroupmeanMSE .043898007078491626. Firstobservedgroupmeancrossing,nointerpolation:ACEbatch10,500interventionresponses+120obs=620total,mean.04007927;randombatch28,1400interventionresponses+360obs=1760total,mean.04216014. 1−10/28=64.2857%fewerbatches/interventionresponses;1−620/1760=64.7727%fewertotalresponses. Randomcrossesbackabove atbatch31. Bothoriginalcampaignsactuallyran32batches2000totalresponses;thesearedescriptiveprefixcomparisons,notactualsavedcompute/measurements,norvalidatedprospectivestoppingrule. Groupmeanfirstcrossingnotmeanofindividualfirstcrossings. Noone-systemorpopulationguarantee. Originalstudiesshowfixedbudgetpredictionadvantage;prospectivesample-efficiencyconfirmationremainsfuture.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/Users/pat/code/ACE/presentations/ACE_theory_and_evidence/recorded_curves_2026-10-09.json</a:t>
            </a:r>
          </a:p>
          <a:p xmlns:a="http://schemas.openxmlformats.org/drawingml/2006/main">
            <a:r>
              <a:t>/Users/pat/code/ACE/results/research_pev_shift30_mean_confirmation/README.md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58edadb24643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9f7951adff41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d9411378c241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243d7edd0e4a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5ba90c721c4c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4cdcb22d1749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07BE2F-EB44-45BE-A450-0E5C47BC70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071255-1744-4ED2-A669-12356283AB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619384D-28C0-40F0-B60C-802CC3D5BF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6EF0BB-AA83-4C03-9972-7D4F2015E2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700167-752E-4C01-92ED-DA6273CDFA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D2ECAC-E4A2-4161-9FD0-BAA6B23A37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5359DF-C0EB-4159-ACA8-2D913F35DD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5385D51-E29E-4631-9047-7F0B5BB72E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DA069B-2752-4470-BA2F-D0F7A83C9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A4D67C-67BE-41F2-A6C0-71269FFBDE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3eca301f0643f2" /><Relationship Type="http://schemas.openxmlformats.org/officeDocument/2006/relationships/slideLayout" Target="/ppt/slideLayouts/slideLayout1.xml" Id="Rc03ef05c5ffc4438" /><Relationship Type="http://schemas.openxmlformats.org/officeDocument/2006/relationships/slideLayout" Target="/ppt/slideLayouts/slideLayout2.xml" Id="Rb72dc26d1a6f4d71" /><Relationship Type="http://schemas.openxmlformats.org/officeDocument/2006/relationships/slideLayout" Target="/ppt/slideLayouts/slideLayout3.xml" Id="R8cf8da1649354687" /><Relationship Type="http://schemas.openxmlformats.org/officeDocument/2006/relationships/slideLayout" Target="/ppt/slideLayouts/slideLayout4.xml" Id="Rac56eaa4d8e54ffb" /><Relationship Type="http://schemas.openxmlformats.org/officeDocument/2006/relationships/slideLayout" Target="/ppt/slideLayouts/slideLayout5.xml" Id="R706fd12bd36f4fba" /><Relationship Type="http://schemas.openxmlformats.org/officeDocument/2006/relationships/slideLayout" Target="/ppt/slideLayouts/slideLayout6.xml" Id="R2cb428e6421f4b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3ef05c5ffc4438"/>
    <p:sldLayoutId xmlns:r="http://schemas.openxmlformats.org/officeDocument/2006/relationships" id="2147483650" r:id="Rb72dc26d1a6f4d71"/>
    <p:sldLayoutId xmlns:r="http://schemas.openxmlformats.org/officeDocument/2006/relationships" id="2147483651" r:id="R8cf8da1649354687"/>
    <p:sldLayoutId xmlns:r="http://schemas.openxmlformats.org/officeDocument/2006/relationships" id="2147483652" r:id="Rac56eaa4d8e54ffb"/>
    <p:sldLayoutId xmlns:r="http://schemas.openxmlformats.org/officeDocument/2006/relationships" id="2147483653" r:id="R706fd12bd36f4fba"/>
    <p:sldLayoutId xmlns:r="http://schemas.openxmlformats.org/officeDocument/2006/relationships" id="2147483654" r:id="R2cb428e6421f4b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c4dde85ddd441b" /><Relationship Type="http://schemas.openxmlformats.org/officeDocument/2006/relationships/image" Target="/ppt/media/image.png" Id="R501b983f6462489d" /><Relationship Type="http://schemas.openxmlformats.org/officeDocument/2006/relationships/notesSlide" Target="/ppt/notesSlides/notesSlide1.xml" Id="Rc60b2d99fb484c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6c7daee4f44e57" /><Relationship Type="http://schemas.openxmlformats.org/officeDocument/2006/relationships/notesSlide" Target="/ppt/notesSlides/notesSlide2.xml" Id="R50f8e728396946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58c0d3e40340d4" /><Relationship Type="http://schemas.openxmlformats.org/officeDocument/2006/relationships/notesSlide" Target="/ppt/notesSlides/notesSlide3.xml" Id="R99d6e2cfce074d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ea813d99a24fd3" /><Relationship Type="http://schemas.openxmlformats.org/officeDocument/2006/relationships/notesSlide" Target="/ppt/notesSlides/notesSlide4.xml" Id="R5b69b8cd296a41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3d13644c94716" /><Relationship Type="http://schemas.openxmlformats.org/officeDocument/2006/relationships/notesSlide" Target="/ppt/notesSlides/notesSlide5.xml" Id="Ra0b0ccea028845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b09fe1dcaa4843" /><Relationship Type="http://schemas.openxmlformats.org/officeDocument/2006/relationships/notesSlide" Target="/ppt/notesSlides/notesSlide6.xml" Id="R2361e2f24d3f4e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d532dc9e494896" /><Relationship Type="http://schemas.openxmlformats.org/officeDocument/2006/relationships/notesSlide" Target="/ppt/notesSlides/notesSlide7.xml" Id="R52534df9211540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97f35899674741" /><Relationship Type="http://schemas.openxmlformats.org/officeDocument/2006/relationships/notesSlide" Target="/ppt/notesSlides/notesSlide8.xml" Id="R0af988eabaaa4d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9d1d76f7ea48bc" /><Relationship Type="http://schemas.openxmlformats.org/officeDocument/2006/relationships/chart" Target="/ppt/slides/charts/chart1.xml" Id="R2e01ca806de74a4b" /><Relationship Type="http://schemas.openxmlformats.org/officeDocument/2006/relationships/chart" Target="/ppt/slides/charts/chart2.xml" Id="R444a7df466dd4555" /><Relationship Type="http://schemas.openxmlformats.org/officeDocument/2006/relationships/notesSlide" Target="/ppt/notesSlides/notesSlide9.xml" Id="R4b816f05af7344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98f1d9f8e348e4" /><Relationship Type="http://schemas.openxmlformats.org/officeDocument/2006/relationships/chart" Target="/ppt/slides/charts/chart3.xml" Id="Rb9f9c73ff36d4b04" /><Relationship Type="http://schemas.openxmlformats.org/officeDocument/2006/relationships/notesSlide" Target="/ppt/notesSlides/notesSlide10.xml" Id="R3473ab758510443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Random</c:v>
          </c:tx>
          <c:spPr>
            <a:ln xmlns:a="http://schemas.openxmlformats.org/drawingml/2006/main" w="28575">
              <a:solidFill>
                <a:srgbClr val="B95435"/>
              </a:solidFill>
            </a:ln>
          </c:spPr>
          <c:marker>
            <c:symbol val="none"/>
          </c:marker>
          <c:cat>
            <c:numRef>
              <c:f>'Chart Data'!$A$2:$A$33</c:f>
              <c:numCache>
                <c:formatCode>General</c:formatCode>
                <c:ptCount val="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</c:numCache>
            </c:numRef>
          </c:cat>
          <c:val>
            <c:numRef>
              <c:f>'Chart Data'!$B$2:$B$33</c:f>
              <c:numCache>
                <c:formatCode>0.0</c:formatCode>
                <c:ptCount val="32"/>
                <c:pt idx="0">
                  <c:v>2.2732068463</c:v>
                </c:pt>
                <c:pt idx="1">
                  <c:v>0.471886686419</c:v>
                </c:pt>
                <c:pt idx="2">
                  <c:v>0.10972867089</c:v>
                </c:pt>
                <c:pt idx="3">
                  <c:v>0.0669085623209</c:v>
                </c:pt>
                <c:pt idx="4">
                  <c:v>0.06569636005</c:v>
                </c:pt>
                <c:pt idx="5">
                  <c:v>0.0629286340252</c:v>
                </c:pt>
                <c:pt idx="6">
                  <c:v>0.0653752201358</c:v>
                </c:pt>
                <c:pt idx="7">
                  <c:v>0.0649233507722</c:v>
                </c:pt>
                <c:pt idx="8">
                  <c:v>0.0582163593845</c:v>
                </c:pt>
                <c:pt idx="9">
                  <c:v>0.0646492747348</c:v>
                </c:pt>
                <c:pt idx="10">
                  <c:v>0.0720560292501</c:v>
                </c:pt>
                <c:pt idx="11">
                  <c:v>0.0753091231711</c:v>
                </c:pt>
                <c:pt idx="12">
                  <c:v>0.0727468288016</c:v>
                </c:pt>
                <c:pt idx="13">
                  <c:v>0.0723713423048</c:v>
                </c:pt>
                <c:pt idx="14">
                  <c:v>0.0724149556073</c:v>
                </c:pt>
                <c:pt idx="15">
                  <c:v>0.0717998610912</c:v>
                </c:pt>
                <c:pt idx="16">
                  <c:v>0.0686765256895</c:v>
                </c:pt>
                <c:pt idx="17">
                  <c:v>0.0587051144801</c:v>
                </c:pt>
                <c:pt idx="18">
                  <c:v>0.0571742685284</c:v>
                </c:pt>
                <c:pt idx="19">
                  <c:v>0.0544004405493</c:v>
                </c:pt>
                <c:pt idx="20">
                  <c:v>0.0542922261814</c:v>
                </c:pt>
                <c:pt idx="21">
                  <c:v>0.0553085399088</c:v>
                </c:pt>
                <c:pt idx="22">
                  <c:v>0.0501537249925</c:v>
                </c:pt>
                <c:pt idx="23">
                  <c:v>0.0497737358661</c:v>
                </c:pt>
                <c:pt idx="24">
                  <c:v>0.0496752072739</c:v>
                </c:pt>
                <c:pt idx="25">
                  <c:v>0.0487805661038</c:v>
                </c:pt>
                <c:pt idx="26">
                  <c:v>0.04543041126</c:v>
                </c:pt>
                <c:pt idx="27">
                  <c:v>0.0421601388253</c:v>
                </c:pt>
                <c:pt idx="28">
                  <c:v>0.0431491192364</c:v>
                </c:pt>
                <c:pt idx="29">
                  <c:v>0.0432550288176</c:v>
                </c:pt>
                <c:pt idx="30">
                  <c:v>0.0455449700639</c:v>
                </c:pt>
                <c:pt idx="31">
                  <c:v>0.0438980070785</c:v>
                </c:pt>
              </c:numCache>
            </c:numRef>
          </c:val>
          <c:smooth val="0"/>
        </c:ser>
        <c:ser>
          <c:idx val="1"/>
          <c:order val="1"/>
          <c:tx>
            <c:v>ACE / PEV</c:v>
          </c:tx>
          <c:spPr>
            <a:ln xmlns:a="http://schemas.openxmlformats.org/drawingml/2006/main" w="28575">
              <a:solidFill>
                <a:srgbClr val="087F83"/>
              </a:solidFill>
            </a:ln>
          </c:spPr>
          <c:marker>
            <c:symbol val="none"/>
          </c:marker>
          <c:cat>
            <c:numRef>
              <c:f>'Chart Data'!$C$2:$C$33</c:f>
              <c:numCache>
                <c:formatCode>General</c:formatCode>
                <c:ptCount val="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</c:numCache>
            </c:numRef>
          </c:cat>
          <c:val>
            <c:numRef>
              <c:f>'Chart Data'!$D$2:$D$33</c:f>
              <c:numCache>
                <c:formatCode>0.0</c:formatCode>
                <c:ptCount val="32"/>
                <c:pt idx="0">
                  <c:v>6.1393211968</c:v>
                </c:pt>
                <c:pt idx="1">
                  <c:v>1.42892976507</c:v>
                </c:pt>
                <c:pt idx="2">
                  <c:v>0.371549300366</c:v>
                </c:pt>
                <c:pt idx="3">
                  <c:v>0.118696252316</c:v>
                </c:pt>
                <c:pt idx="4">
                  <c:v>0.0891531731772</c:v>
                </c:pt>
                <c:pt idx="5">
                  <c:v>0.0737694362645</c:v>
                </c:pt>
                <c:pt idx="6">
                  <c:v>0.0530689909715</c:v>
                </c:pt>
                <c:pt idx="7">
                  <c:v>0.0491279692323</c:v>
                </c:pt>
                <c:pt idx="8">
                  <c:v>0.047785933589</c:v>
                </c:pt>
                <c:pt idx="9">
                  <c:v>0.0400792712592</c:v>
                </c:pt>
                <c:pt idx="10">
                  <c:v>0.0403974543664</c:v>
                </c:pt>
                <c:pt idx="11">
                  <c:v>0.0382029949284</c:v>
                </c:pt>
                <c:pt idx="12">
                  <c:v>0.030342672804</c:v>
                </c:pt>
                <c:pt idx="13">
                  <c:v>0.0291690604685</c:v>
                </c:pt>
                <c:pt idx="14">
                  <c:v>0.0277269143791</c:v>
                </c:pt>
                <c:pt idx="15">
                  <c:v>0.0251735080168</c:v>
                </c:pt>
                <c:pt idx="16">
                  <c:v>0.024291315978</c:v>
                </c:pt>
                <c:pt idx="17">
                  <c:v>0.0238577286833</c:v>
                </c:pt>
                <c:pt idx="18">
                  <c:v>0.0224386316811</c:v>
                </c:pt>
                <c:pt idx="19">
                  <c:v>0.0224865435665</c:v>
                </c:pt>
                <c:pt idx="20">
                  <c:v>0.0218317552663</c:v>
                </c:pt>
                <c:pt idx="21">
                  <c:v>0.0204009176553</c:v>
                </c:pt>
                <c:pt idx="22">
                  <c:v>0.0216182428369</c:v>
                </c:pt>
                <c:pt idx="23">
                  <c:v>0.020389394095</c:v>
                </c:pt>
                <c:pt idx="24">
                  <c:v>0.0192289545853</c:v>
                </c:pt>
                <c:pt idx="25">
                  <c:v>0.0190304754876</c:v>
                </c:pt>
                <c:pt idx="26">
                  <c:v>0.0181310143643</c:v>
                </c:pt>
                <c:pt idx="27">
                  <c:v>0.0171716089184</c:v>
                </c:pt>
                <c:pt idx="28">
                  <c:v>0.0167776460259</c:v>
                </c:pt>
                <c:pt idx="29">
                  <c:v>0.0162150930691</c:v>
                </c:pt>
                <c:pt idx="30">
                  <c:v>0.0154987929315</c:v>
                </c:pt>
                <c:pt idx="31">
                  <c:v>0.0154302049069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Intervention batches (50 responses each)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6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3DDD9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Random</c:v>
          </c:tx>
          <c:spPr>
            <a:ln xmlns:a="http://schemas.openxmlformats.org/drawingml/2006/main" w="28575">
              <a:solidFill>
                <a:srgbClr val="B95435"/>
              </a:solidFill>
            </a:ln>
          </c:spPr>
          <c:marker>
            <c:symbol val="none"/>
          </c:marker>
          <c:cat>
            <c:numRef>
              <c:f>'Chart Data'!$A$2:$A$30</c:f>
              <c:numCache>
                <c:formatCode>General</c:formatCode>
                <c:ptCount val="29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17</c:v>
                </c:pt>
                <c:pt idx="14">
                  <c:v>18</c:v>
                </c:pt>
                <c:pt idx="15">
                  <c:v>19</c:v>
                </c:pt>
                <c:pt idx="16">
                  <c:v>20</c:v>
                </c:pt>
                <c:pt idx="17">
                  <c:v>21</c:v>
                </c:pt>
                <c:pt idx="18">
                  <c:v>22</c:v>
                </c:pt>
                <c:pt idx="19">
                  <c:v>23</c:v>
                </c:pt>
                <c:pt idx="20">
                  <c:v>24</c:v>
                </c:pt>
                <c:pt idx="21">
                  <c:v>25</c:v>
                </c:pt>
                <c:pt idx="22">
                  <c:v>26</c:v>
                </c:pt>
                <c:pt idx="23">
                  <c:v>27</c:v>
                </c:pt>
                <c:pt idx="24">
                  <c:v>28</c:v>
                </c:pt>
                <c:pt idx="25">
                  <c:v>29</c:v>
                </c:pt>
                <c:pt idx="26">
                  <c:v>30</c:v>
                </c:pt>
                <c:pt idx="27">
                  <c:v>31</c:v>
                </c:pt>
                <c:pt idx="28">
                  <c:v>32</c:v>
                </c:pt>
              </c:numCache>
            </c:numRef>
          </c:cat>
          <c:val>
            <c:numRef>
              <c:f>'Chart Data'!$B$2:$B$30</c:f>
              <c:numCache>
                <c:formatCode>0.00</c:formatCode>
                <c:ptCount val="29"/>
                <c:pt idx="0">
                  <c:v>0.0669085623209</c:v>
                </c:pt>
                <c:pt idx="1">
                  <c:v>0.06569636005</c:v>
                </c:pt>
                <c:pt idx="2">
                  <c:v>0.0629286340252</c:v>
                </c:pt>
                <c:pt idx="3">
                  <c:v>0.0653752201358</c:v>
                </c:pt>
                <c:pt idx="4">
                  <c:v>0.0649233507722</c:v>
                </c:pt>
                <c:pt idx="5">
                  <c:v>0.0582163593845</c:v>
                </c:pt>
                <c:pt idx="6">
                  <c:v>0.0646492747348</c:v>
                </c:pt>
                <c:pt idx="7">
                  <c:v>0.0720560292501</c:v>
                </c:pt>
                <c:pt idx="8">
                  <c:v>0.0753091231711</c:v>
                </c:pt>
                <c:pt idx="9">
                  <c:v>0.0727468288016</c:v>
                </c:pt>
                <c:pt idx="10">
                  <c:v>0.0723713423048</c:v>
                </c:pt>
                <c:pt idx="11">
                  <c:v>0.0724149556073</c:v>
                </c:pt>
                <c:pt idx="12">
                  <c:v>0.0717998610912</c:v>
                </c:pt>
                <c:pt idx="13">
                  <c:v>0.0686765256895</c:v>
                </c:pt>
                <c:pt idx="14">
                  <c:v>0.0587051144801</c:v>
                </c:pt>
                <c:pt idx="15">
                  <c:v>0.0571742685284</c:v>
                </c:pt>
                <c:pt idx="16">
                  <c:v>0.0544004405493</c:v>
                </c:pt>
                <c:pt idx="17">
                  <c:v>0.0542922261814</c:v>
                </c:pt>
                <c:pt idx="18">
                  <c:v>0.0553085399088</c:v>
                </c:pt>
                <c:pt idx="19">
                  <c:v>0.0501537249925</c:v>
                </c:pt>
                <c:pt idx="20">
                  <c:v>0.0497737358661</c:v>
                </c:pt>
                <c:pt idx="21">
                  <c:v>0.0496752072739</c:v>
                </c:pt>
                <c:pt idx="22">
                  <c:v>0.0487805661038</c:v>
                </c:pt>
                <c:pt idx="23">
                  <c:v>0.04543041126</c:v>
                </c:pt>
                <c:pt idx="24">
                  <c:v>0.0421601388253</c:v>
                </c:pt>
                <c:pt idx="25">
                  <c:v>0.0431491192364</c:v>
                </c:pt>
                <c:pt idx="26">
                  <c:v>0.0432550288176</c:v>
                </c:pt>
                <c:pt idx="27">
                  <c:v>0.0455449700639</c:v>
                </c:pt>
                <c:pt idx="28">
                  <c:v>0.0438980070785</c:v>
                </c:pt>
              </c:numCache>
            </c:numRef>
          </c:val>
          <c:smooth val="0"/>
        </c:ser>
        <c:ser>
          <c:idx val="1"/>
          <c:order val="1"/>
          <c:tx>
            <c:v>ACE / PEV</c:v>
          </c:tx>
          <c:spPr>
            <a:ln xmlns:a="http://schemas.openxmlformats.org/drawingml/2006/main" w="28575">
              <a:solidFill>
                <a:srgbClr val="087F83"/>
              </a:solidFill>
            </a:ln>
          </c:spPr>
          <c:marker>
            <c:symbol val="none"/>
          </c:marker>
          <c:cat>
            <c:numRef>
              <c:f>'Chart Data'!$C$2:$C$30</c:f>
              <c:numCache>
                <c:formatCode>General</c:formatCode>
                <c:ptCount val="29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17</c:v>
                </c:pt>
                <c:pt idx="14">
                  <c:v>18</c:v>
                </c:pt>
                <c:pt idx="15">
                  <c:v>19</c:v>
                </c:pt>
                <c:pt idx="16">
                  <c:v>20</c:v>
                </c:pt>
                <c:pt idx="17">
                  <c:v>21</c:v>
                </c:pt>
                <c:pt idx="18">
                  <c:v>22</c:v>
                </c:pt>
                <c:pt idx="19">
                  <c:v>23</c:v>
                </c:pt>
                <c:pt idx="20">
                  <c:v>24</c:v>
                </c:pt>
                <c:pt idx="21">
                  <c:v>25</c:v>
                </c:pt>
                <c:pt idx="22">
                  <c:v>26</c:v>
                </c:pt>
                <c:pt idx="23">
                  <c:v>27</c:v>
                </c:pt>
                <c:pt idx="24">
                  <c:v>28</c:v>
                </c:pt>
                <c:pt idx="25">
                  <c:v>29</c:v>
                </c:pt>
                <c:pt idx="26">
                  <c:v>30</c:v>
                </c:pt>
                <c:pt idx="27">
                  <c:v>31</c:v>
                </c:pt>
                <c:pt idx="28">
                  <c:v>32</c:v>
                </c:pt>
              </c:numCache>
            </c:numRef>
          </c:cat>
          <c:val>
            <c:numRef>
              <c:f>'Chart Data'!$D$2:$D$30</c:f>
              <c:numCache>
                <c:formatCode>0.00</c:formatCode>
                <c:ptCount val="29"/>
                <c:pt idx="0">
                  <c:v>0.118696252316</c:v>
                </c:pt>
                <c:pt idx="1">
                  <c:v>0.0891531731772</c:v>
                </c:pt>
                <c:pt idx="2">
                  <c:v>0.0737694362645</c:v>
                </c:pt>
                <c:pt idx="3">
                  <c:v>0.0530689909715</c:v>
                </c:pt>
                <c:pt idx="4">
                  <c:v>0.0491279692323</c:v>
                </c:pt>
                <c:pt idx="5">
                  <c:v>0.047785933589</c:v>
                </c:pt>
                <c:pt idx="6">
                  <c:v>0.0400792712592</c:v>
                </c:pt>
                <c:pt idx="7">
                  <c:v>0.0403974543664</c:v>
                </c:pt>
                <c:pt idx="8">
                  <c:v>0.0382029949284</c:v>
                </c:pt>
                <c:pt idx="9">
                  <c:v>0.030342672804</c:v>
                </c:pt>
                <c:pt idx="10">
                  <c:v>0.0291690604685</c:v>
                </c:pt>
                <c:pt idx="11">
                  <c:v>0.0277269143791</c:v>
                </c:pt>
                <c:pt idx="12">
                  <c:v>0.0251735080168</c:v>
                </c:pt>
                <c:pt idx="13">
                  <c:v>0.024291315978</c:v>
                </c:pt>
                <c:pt idx="14">
                  <c:v>0.0238577286833</c:v>
                </c:pt>
                <c:pt idx="15">
                  <c:v>0.0224386316811</c:v>
                </c:pt>
                <c:pt idx="16">
                  <c:v>0.0224865435665</c:v>
                </c:pt>
                <c:pt idx="17">
                  <c:v>0.0218317552663</c:v>
                </c:pt>
                <c:pt idx="18">
                  <c:v>0.0204009176553</c:v>
                </c:pt>
                <c:pt idx="19">
                  <c:v>0.0216182428369</c:v>
                </c:pt>
                <c:pt idx="20">
                  <c:v>0.020389394095</c:v>
                </c:pt>
                <c:pt idx="21">
                  <c:v>0.0192289545853</c:v>
                </c:pt>
                <c:pt idx="22">
                  <c:v>0.0190304754876</c:v>
                </c:pt>
                <c:pt idx="23">
                  <c:v>0.0181310143643</c:v>
                </c:pt>
                <c:pt idx="24">
                  <c:v>0.0171716089184</c:v>
                </c:pt>
                <c:pt idx="25">
                  <c:v>0.0167776460259</c:v>
                </c:pt>
                <c:pt idx="26">
                  <c:v>0.0162150930691</c:v>
                </c:pt>
                <c:pt idx="27">
                  <c:v>0.0154987929315</c:v>
                </c:pt>
                <c:pt idx="28">
                  <c:v>0.0154302049069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Intervention batches (50 responses each)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1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3DDD9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Result</c:v>
          </c:tx>
          <c:spPr>
            <a:solidFill xmlns:a="http://schemas.openxmlformats.org/drawingml/2006/main">
              <a:srgbClr val="087F8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9543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87F83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Random</c:v>
                </c:pt>
                <c:pt idx="1">
                  <c:v>ACE / PEV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28</c:v>
                </c:pt>
                <c:pt idx="1">
                  <c:v>10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6313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3DDD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3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3DDD9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C1EA9D9-585A-4CFA-8F99-6AE0CAAF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B7A54B9C-85F6-44C5-AEF3-65D71494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9DD4C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9DD4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DD4C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C68B1-1DD4-4970-B2BE-EB4CE52AA8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b983f6462489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ACE">
            <a:extLst xmlns:a="http://schemas.openxmlformats.org/drawingml/2006/main">
              <a:ext uri="{FF2B5EF4-FFF2-40B4-BE49-F238E27FC236}">
                <a16:creationId xmlns:a16="http://schemas.microsoft.com/office/drawing/2014/main" id="{D06FE819-52EC-4950-A8F1-BE351600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"/>
            <a:ext cx="523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7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ACE</a:t>
            </a:r>
          </a:p>
        </p:txBody>
      </p:sp>
      <p:sp>
        <p:nvSpPr>
          <p:cNvPr id="5" name="Learn what to&#10;change next.">
            <a:extLst xmlns:a="http://schemas.openxmlformats.org/drawingml/2006/main">
              <a:ext uri="{FF2B5EF4-FFF2-40B4-BE49-F238E27FC236}">
                <a16:creationId xmlns:a16="http://schemas.microsoft.com/office/drawing/2014/main" id="{2A7767E4-162D-4B64-AE8E-A06D81B7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24075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Learn what to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change next.</a:t>
            </a:r>
          </a:p>
        </p:txBody>
      </p:sp>
      <p:sp>
        <p:nvSpPr>
          <p:cNvPr id="6" name="Causal models for&#10;smarter ex">
            <a:extLst xmlns:a="http://schemas.openxmlformats.org/drawingml/2006/main">
              <a:ext uri="{FF2B5EF4-FFF2-40B4-BE49-F238E27FC236}">
                <a16:creationId xmlns:a16="http://schemas.microsoft.com/office/drawing/2014/main" id="{78E59463-31F9-48C4-B758-5FB90047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3387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9DD4C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9DD4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9DD4CD"/>
                </a:solidFill>
                <a:latin typeface="Helvetica Neue"/>
                <a:ea typeface="Helvetica Neue"/>
                <a:cs typeface="Helvetica Neue"/>
              </a:rPr>
              <a:t>Causal models for</a:t>
            </a:r>
          </a:p>
          <a:p xmlns:a="http://schemas.openxmlformats.org/drawingml/2006/main">
            <a:pPr>
              <a:defRPr sz="2325" b="0">
                <a:solidFill>
                  <a:srgbClr val="9DD4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9DD4CD"/>
                </a:solidFill>
                <a:latin typeface="Helvetica Neue"/>
                <a:ea typeface="Helvetica Neue"/>
                <a:cs typeface="Helvetica Neue"/>
              </a:rPr>
              <a:t>smarter experiments</a:t>
            </a:r>
          </a:p>
        </p:txBody>
      </p:sp>
      <p:sp>
        <p:nvSpPr>
          <p:cNvPr id="7" name="STRUCTURE  →  INTERVENE  →  ">
            <a:extLst xmlns:a="http://schemas.openxmlformats.org/drawingml/2006/main">
              <a:ext uri="{FF2B5EF4-FFF2-40B4-BE49-F238E27FC236}">
                <a16:creationId xmlns:a16="http://schemas.microsoft.com/office/drawing/2014/main" id="{CF3F46EE-1A37-4A7F-B3AC-9E19F9CD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674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9DD4C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9DD4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9DD4CD"/>
                </a:solidFill>
                <a:latin typeface="Helvetica Neue"/>
                <a:ea typeface="Helvetica Neue"/>
                <a:cs typeface="Helvetica Neue"/>
              </a:rPr>
              <a:t>STRUCTURE  →  INTERVENE  →  LEARN</a:t>
            </a:r>
          </a:p>
        </p:txBody>
      </p:sp>
      <p:sp>
        <p:nvSpPr>
          <p:cNvPr id="8" name="Compressor concept illustrat">
            <a:extLst xmlns:a="http://schemas.openxmlformats.org/drawingml/2006/main">
              <a:ext uri="{FF2B5EF4-FFF2-40B4-BE49-F238E27FC236}">
                <a16:creationId xmlns:a16="http://schemas.microsoft.com/office/drawing/2014/main" id="{F8E7FF15-DC23-4F6F-B0A1-B62058D5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3246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9DD4C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9DD4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DD4CD"/>
                </a:solidFill>
                <a:latin typeface="Helvetica Neue"/>
                <a:ea typeface="Helvetica Neue"/>
                <a:cs typeface="Helvetica Neue"/>
              </a:rPr>
              <a:t>Compressor concept illustration</a:t>
            </a:r>
          </a:p>
        </p:txBody>
      </p:sp>
    </p:spTree>
    <p:extLst>
      <p:ext uri="{BB962C8B-B14F-4D97-AF65-F5344CB8AC3E}">
        <p14:creationId xmlns:p14="http://schemas.microsoft.com/office/powerpoint/2010/main" val="14163899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45017-3C85-42A5-832B-2DD0E26ECDC4}"/>
              </a:ext>
            </a:extLst>
          </p:cNvPr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5734050" y="4200525"/>
            <a:ext cx="26479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087F83"/>
            </a:solidFill>
            <a:tailEnd type="triangle" w="lg" len="lg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D7BAA-F2D5-4410-A149-AD9152B09CD3}"/>
              </a:ext>
            </a:extLst>
          </p:cNvPr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2019300" y="4200525"/>
            <a:ext cx="26479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087F83"/>
            </a:solidFill>
            <a:tailEnd type="triangle" w="lg" len="lg"/>
          </a:ln>
        </p:spPr>
      </p:cxnSp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D15236F4-0B82-44FE-AB44-45BA4551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The causal model inside ACE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16220ED7-7BCA-4FCB-B2E3-767BAAC9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Xᵢ = fᵢ(Paᵢ, Uᵢ)">
            <a:extLst xmlns:a="http://schemas.openxmlformats.org/drawingml/2006/main">
              <a:ext uri="{FF2B5EF4-FFF2-40B4-BE49-F238E27FC236}">
                <a16:creationId xmlns:a16="http://schemas.microsoft.com/office/drawing/2014/main" id="{C4A1A76E-4964-4A3A-81B1-B967EE84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Xᵢ = fᵢ(Paᵢ, Uᵢ)</a:t>
            </a:r>
          </a:p>
        </p:txBody>
      </p:sp>
      <p:sp>
        <p:nvSpPr>
          <p:cNvPr id="4" name="Parents Paᵢ supply inputs. U">
            <a:extLst xmlns:a="http://schemas.openxmlformats.org/drawingml/2006/main">
              <a:ext uri="{FF2B5EF4-FFF2-40B4-BE49-F238E27FC236}">
                <a16:creationId xmlns:a16="http://schemas.microsoft.com/office/drawing/2014/main" id="{9A88DA9D-7539-44D6-B27F-00DE0EEE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Parents Paᵢ supply inputs. Uᵢ represents outside influences.</a:t>
            </a:r>
          </a:p>
        </p:txBody>
      </p:sp>
      <p:sp>
        <p:nvSpPr>
          <p:cNvPr id="5" name="SCM node X">
            <a:extLst xmlns:a="http://schemas.openxmlformats.org/drawingml/2006/main">
              <a:ext uri="{FF2B5EF4-FFF2-40B4-BE49-F238E27FC236}">
                <a16:creationId xmlns:a16="http://schemas.microsoft.com/office/drawing/2014/main" id="{54DEF4E9-5EAA-4865-8A28-086174D2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10668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</a:t>
            </a:r>
          </a:p>
        </p:txBody>
      </p:sp>
      <p:sp>
        <p:nvSpPr>
          <p:cNvPr id="6" name="SCM node M">
            <a:extLst xmlns:a="http://schemas.openxmlformats.org/drawingml/2006/main">
              <a:ext uri="{FF2B5EF4-FFF2-40B4-BE49-F238E27FC236}">
                <a16:creationId xmlns:a16="http://schemas.microsoft.com/office/drawing/2014/main" id="{814FF8E3-FA64-4C66-91D0-B5485DF7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10000"/>
            <a:ext cx="10668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</a:t>
            </a:r>
          </a:p>
        </p:txBody>
      </p:sp>
      <p:sp>
        <p:nvSpPr>
          <p:cNvPr id="7" name="SCM node Y">
            <a:extLst xmlns:a="http://schemas.openxmlformats.org/drawingml/2006/main">
              <a:ext uri="{FF2B5EF4-FFF2-40B4-BE49-F238E27FC236}">
                <a16:creationId xmlns:a16="http://schemas.microsoft.com/office/drawing/2014/main" id="{725671FD-D4AE-4546-B0A7-7D179FB4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10668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</a:t>
            </a:r>
          </a:p>
        </p:txBody>
      </p:sp>
      <p:sp>
        <p:nvSpPr>
          <p:cNvPr id="10" name="M = 2.5X">
            <a:extLst xmlns:a="http://schemas.openxmlformats.org/drawingml/2006/main">
              <a:ext uri="{FF2B5EF4-FFF2-40B4-BE49-F238E27FC236}">
                <a16:creationId xmlns:a16="http://schemas.microsoft.com/office/drawing/2014/main" id="{A9A840FC-B1D1-4D1A-925B-C6A897AA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910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M = 2.5X</a:t>
            </a:r>
          </a:p>
        </p:txBody>
      </p:sp>
      <p:sp>
        <p:nvSpPr>
          <p:cNvPr id="11" name="Y = 3M">
            <a:extLst xmlns:a="http://schemas.openxmlformats.org/drawingml/2006/main">
              <a:ext uri="{FF2B5EF4-FFF2-40B4-BE49-F238E27FC236}">
                <a16:creationId xmlns:a16="http://schemas.microsoft.com/office/drawing/2014/main" id="{DAEBC2E5-DCC8-42AF-AACB-BFC8DA20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910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Y = 3M</a:t>
            </a:r>
          </a:p>
        </p:txBody>
      </p:sp>
      <p:sp>
        <p:nvSpPr>
          <p:cNvPr id="12" name="Worked example: known graph,">
            <a:extLst xmlns:a="http://schemas.openxmlformats.org/drawingml/2006/main">
              <a:ext uri="{FF2B5EF4-FFF2-40B4-BE49-F238E27FC236}">
                <a16:creationId xmlns:a16="http://schemas.microsoft.com/office/drawing/2014/main" id="{58D4BC90-537C-4C3A-89BF-1FDC039F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Worked example: known graph, unknown slopes, zero disturbances and dimensionless values.</a:t>
            </a:r>
          </a:p>
        </p:txBody>
      </p:sp>
    </p:spTree>
    <p:extLst>
      <p:ext uri="{BB962C8B-B14F-4D97-AF65-F5344CB8AC3E}">
        <p14:creationId xmlns:p14="http://schemas.microsoft.com/office/powerpoint/2010/main" val="19634968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15755-B990-4AD4-B44D-FEB0C17E2CE6}"/>
              </a:ext>
            </a:extLst>
          </p:cNvPr>
          <p:cNvCxnSpPr>
            <a:stCxn xmlns:a="http://schemas.openxmlformats.org/drawingml/2006/main" id="11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5734050" y="4762500"/>
            <a:ext cx="26479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087F83"/>
            </a:solidFill>
            <a:tailEnd type="triangle" w="lg" len="lg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AB433-EF6D-4E0E-9FD3-7269FC8859F6}"/>
              </a:ext>
            </a:extLst>
          </p:cNvPr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5734050" y="2590800"/>
            <a:ext cx="26479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087F83"/>
            </a:solidFill>
            <a:tailEnd type="triangle" w="lg" len="lg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45418-8E2D-4E01-8E73-D7B17FEBF6DB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2019300" y="2590800"/>
            <a:ext cx="264795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087F83"/>
            </a:solidFill>
            <a:tailEnd type="triangle" w="lg" len="lg"/>
          </a:ln>
        </p:spPr>
      </p:cxnSp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32C0CD89-A47B-45C5-B619-F197629D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Choose where to intervene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B9DCBDD4-C07F-407E-B440-78F83123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Ordinary system">
            <a:extLst xmlns:a="http://schemas.openxmlformats.org/drawingml/2006/main">
              <a:ext uri="{FF2B5EF4-FFF2-40B4-BE49-F238E27FC236}">
                <a16:creationId xmlns:a16="http://schemas.microsoft.com/office/drawing/2014/main" id="{2DDC1E80-12FA-4188-9903-1D22124A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Ordinary system</a:t>
            </a:r>
          </a:p>
        </p:txBody>
      </p:sp>
      <p:sp>
        <p:nvSpPr>
          <p:cNvPr id="4" name="SCM node X">
            <a:extLst xmlns:a="http://schemas.openxmlformats.org/drawingml/2006/main">
              <a:ext uri="{FF2B5EF4-FFF2-40B4-BE49-F238E27FC236}">
                <a16:creationId xmlns:a16="http://schemas.microsoft.com/office/drawing/2014/main" id="{0B9E8A33-CB75-4AA0-BDD4-2432CDBC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0275"/>
            <a:ext cx="10668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</a:t>
            </a:r>
          </a:p>
        </p:txBody>
      </p:sp>
      <p:sp>
        <p:nvSpPr>
          <p:cNvPr id="5" name="SCM node M">
            <a:extLst xmlns:a="http://schemas.openxmlformats.org/drawingml/2006/main">
              <a:ext uri="{FF2B5EF4-FFF2-40B4-BE49-F238E27FC236}">
                <a16:creationId xmlns:a16="http://schemas.microsoft.com/office/drawing/2014/main" id="{37E07926-0B22-4E3B-825C-D5025AA9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0275"/>
            <a:ext cx="10668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</a:t>
            </a:r>
          </a:p>
        </p:txBody>
      </p:sp>
      <p:sp>
        <p:nvSpPr>
          <p:cNvPr id="6" name="SCM node Y">
            <a:extLst xmlns:a="http://schemas.openxmlformats.org/drawingml/2006/main">
              <a:ext uri="{FF2B5EF4-FFF2-40B4-BE49-F238E27FC236}">
                <a16:creationId xmlns:a16="http://schemas.microsoft.com/office/drawing/2014/main" id="{8183221A-B133-4BDC-9BD5-B355A69B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0275"/>
            <a:ext cx="10668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</a:t>
            </a:r>
          </a:p>
        </p:txBody>
      </p:sp>
      <p:sp>
        <p:nvSpPr>
          <p:cNvPr id="9" name="Experiment: do(M = 1)">
            <a:extLst xmlns:a="http://schemas.openxmlformats.org/drawingml/2006/main">
              <a:ext uri="{FF2B5EF4-FFF2-40B4-BE49-F238E27FC236}">
                <a16:creationId xmlns:a16="http://schemas.microsoft.com/office/drawing/2014/main" id="{80798AF2-2874-458A-A463-A99A9A35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6191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Experiment: do(M = 1)</a:t>
            </a:r>
          </a:p>
        </p:txBody>
      </p:sp>
      <p:sp>
        <p:nvSpPr>
          <p:cNvPr id="10" name="SCM node X">
            <a:extLst xmlns:a="http://schemas.openxmlformats.org/drawingml/2006/main">
              <a:ext uri="{FF2B5EF4-FFF2-40B4-BE49-F238E27FC236}">
                <a16:creationId xmlns:a16="http://schemas.microsoft.com/office/drawing/2014/main" id="{2FC1F085-EC4F-4192-BD5F-7CED80F5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71975"/>
            <a:ext cx="10668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</a:t>
            </a:r>
          </a:p>
        </p:txBody>
      </p:sp>
      <p:sp>
        <p:nvSpPr>
          <p:cNvPr id="11" name="SCM node M = 1">
            <a:extLst xmlns:a="http://schemas.openxmlformats.org/drawingml/2006/main">
              <a:ext uri="{FF2B5EF4-FFF2-40B4-BE49-F238E27FC236}">
                <a16:creationId xmlns:a16="http://schemas.microsoft.com/office/drawing/2014/main" id="{76C3531A-30C8-48C2-AA72-30425788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71975"/>
            <a:ext cx="10668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 = 1</a:t>
            </a:r>
          </a:p>
        </p:txBody>
      </p:sp>
      <p:sp>
        <p:nvSpPr>
          <p:cNvPr id="12" name="SCM node Y">
            <a:extLst xmlns:a="http://schemas.openxmlformats.org/drawingml/2006/main">
              <a:ext uri="{FF2B5EF4-FFF2-40B4-BE49-F238E27FC236}">
                <a16:creationId xmlns:a16="http://schemas.microsoft.com/office/drawing/2014/main" id="{DF64FD09-B1F6-442E-986E-85B0DB2E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71975"/>
            <a:ext cx="106680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</a:t>
            </a:r>
          </a:p>
        </p:txBody>
      </p:sp>
      <p:sp>
        <p:nvSpPr>
          <p:cNvPr id="14" name="Incoming edge removed">
            <a:extLst xmlns:a="http://schemas.openxmlformats.org/drawingml/2006/main">
              <a:ext uri="{FF2B5EF4-FFF2-40B4-BE49-F238E27FC236}">
                <a16:creationId xmlns:a16="http://schemas.microsoft.com/office/drawing/2014/main" id="{07D9D10B-7399-467B-AA8D-B239E0B6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768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9543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954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95435"/>
                </a:solidFill>
                <a:latin typeface="Helvetica Neue"/>
                <a:ea typeface="Helvetica Neue"/>
                <a:cs typeface="Helvetica Neue"/>
              </a:rPr>
              <a:t>Incoming edge removed</a:t>
            </a:r>
          </a:p>
        </p:txBody>
      </p:sp>
      <p:sp>
        <p:nvSpPr>
          <p:cNvPr id="15" name="Y still responds to M">
            <a:extLst xmlns:a="http://schemas.openxmlformats.org/drawingml/2006/main">
              <a:ext uri="{FF2B5EF4-FFF2-40B4-BE49-F238E27FC236}">
                <a16:creationId xmlns:a16="http://schemas.microsoft.com/office/drawing/2014/main" id="{F33D10DD-8352-4867-9531-B2D5949A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276850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Y still responds to M</a:t>
            </a:r>
          </a:p>
        </p:txBody>
      </p:sp>
      <p:sp>
        <p:nvSpPr>
          <p:cNvPr id="16" name="One paid response can train ">
            <a:extLst xmlns:a="http://schemas.openxmlformats.org/drawingml/2006/main">
              <a:ext uri="{FF2B5EF4-FFF2-40B4-BE49-F238E27FC236}">
                <a16:creationId xmlns:a16="http://schemas.microsoft.com/office/drawing/2014/main" id="{FA710F7E-F44A-44CB-9830-1F759308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One paid response can train several natural mechanisms. It is still one paid response.</a:t>
            </a:r>
          </a:p>
        </p:txBody>
      </p:sp>
    </p:spTree>
    <p:extLst>
      <p:ext uri="{BB962C8B-B14F-4D97-AF65-F5344CB8AC3E}">
        <p14:creationId xmlns:p14="http://schemas.microsoft.com/office/powerpoint/2010/main" val="6655150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7E52D027-DC76-4269-BF0C-B944084A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Exhaustive grids multiply the work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DF8E1A4D-41ED-445C-90B3-FDB047E5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10 inputs · 5 settings each ">
            <a:extLst xmlns:a="http://schemas.openxmlformats.org/drawingml/2006/main">
              <a:ext uri="{FF2B5EF4-FFF2-40B4-BE49-F238E27FC236}">
                <a16:creationId xmlns:a16="http://schemas.microsoft.com/office/drawing/2014/main" id="{1A294F44-E3A1-471F-BA30-65E374A4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10 inputs · 5 settings each · a deliberately naive joint-table baseline</a:t>
            </a:r>
          </a:p>
        </p:txBody>
      </p:sp>
      <p:sp>
        <p:nvSpPr>
          <p:cNvPr id="4" name="SCM-FREE JOINT TABLE">
            <a:extLst xmlns:a="http://schemas.openxmlformats.org/drawingml/2006/main">
              <a:ext uri="{FF2B5EF4-FFF2-40B4-BE49-F238E27FC236}">
                <a16:creationId xmlns:a16="http://schemas.microsoft.com/office/drawing/2014/main" id="{86266B4E-786C-4922-B133-D3BEF9C0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B9543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B954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95435"/>
                </a:solidFill>
                <a:latin typeface="Helvetica Neue"/>
                <a:ea typeface="Helvetica Neue"/>
                <a:cs typeface="Helvetica Neue"/>
              </a:rPr>
              <a:t>SCM-FREE JOINT TABLE</a:t>
            </a:r>
          </a:p>
        </p:txBody>
      </p:sp>
      <p:sp>
        <p:nvSpPr>
          <p:cNvPr id="5" name="9.77 million">
            <a:extLst xmlns:a="http://schemas.openxmlformats.org/drawingml/2006/main">
              <a:ext uri="{FF2B5EF4-FFF2-40B4-BE49-F238E27FC236}">
                <a16:creationId xmlns:a16="http://schemas.microsoft.com/office/drawing/2014/main" id="{5E49B6A7-A994-4BB1-9CA3-C7025347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695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550" b="1">
                <a:solidFill>
                  <a:srgbClr val="B9543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5550" b="1">
                <a:solidFill>
                  <a:srgbClr val="B954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B95435"/>
                </a:solidFill>
                <a:latin typeface="Helvetica Neue"/>
                <a:ea typeface="Helvetica Neue"/>
                <a:cs typeface="Helvetica Neue"/>
              </a:rPr>
              <a:t>9.77 million</a:t>
            </a:r>
          </a:p>
        </p:txBody>
      </p:sp>
      <p:sp>
        <p:nvSpPr>
          <p:cNvPr id="6" name="configurations for exhaustiv">
            <a:extLst xmlns:a="http://schemas.openxmlformats.org/drawingml/2006/main">
              <a:ext uri="{FF2B5EF4-FFF2-40B4-BE49-F238E27FC236}">
                <a16:creationId xmlns:a16="http://schemas.microsoft.com/office/drawing/2014/main" id="{1448CE5D-13CD-48D4-9B3C-E5A178D2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configurations for exhaustive coverage</a:t>
            </a:r>
          </a:p>
        </p:txBody>
      </p:sp>
      <p:sp>
        <p:nvSpPr>
          <p:cNvPr id="7" name="29.26 million random draws">
            <a:extLst xmlns:a="http://schemas.openxmlformats.org/drawingml/2006/main">
              <a:ext uri="{FF2B5EF4-FFF2-40B4-BE49-F238E27FC236}">
                <a16:creationId xmlns:a16="http://schemas.microsoft.com/office/drawing/2014/main" id="{83457D64-6034-4CD2-B6A3-1F2776CB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14850"/>
            <a:ext cx="723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B9543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B954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B95435"/>
                </a:solidFill>
                <a:latin typeface="Helvetica Neue"/>
                <a:ea typeface="Helvetica Neue"/>
                <a:cs typeface="Helvetica Neue"/>
              </a:rPr>
              <a:t>29.26 million random draws</a:t>
            </a:r>
          </a:p>
        </p:txBody>
      </p:sp>
      <p:sp>
        <p:nvSpPr>
          <p:cNvPr id="8" name="for 95% expected joint-grid ">
            <a:extLst xmlns:a="http://schemas.openxmlformats.org/drawingml/2006/main">
              <a:ext uri="{FF2B5EF4-FFF2-40B4-BE49-F238E27FC236}">
                <a16:creationId xmlns:a16="http://schemas.microsoft.com/office/drawing/2014/main" id="{4AFCF647-7E33-474C-A0A0-F975F228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709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for 95% expected joint-grid coverage¹</a:t>
            </a:r>
          </a:p>
        </p:txBody>
      </p:sp>
      <p:sp>
        <p:nvSpPr>
          <p:cNvPr id="9" name="SCM LOCAL TABLES">
            <a:extLst xmlns:a="http://schemas.openxmlformats.org/drawingml/2006/main">
              <a:ext uri="{FF2B5EF4-FFF2-40B4-BE49-F238E27FC236}">
                <a16:creationId xmlns:a16="http://schemas.microsoft.com/office/drawing/2014/main" id="{6218F94A-CE78-4AE0-9A80-DC849E96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47900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SCM LOCAL TABLES</a:t>
            </a:r>
          </a:p>
        </p:txBody>
      </p:sp>
      <p:sp>
        <p:nvSpPr>
          <p:cNvPr id="10" name="225">
            <a:extLst xmlns:a="http://schemas.openxmlformats.org/drawingml/2006/main">
              <a:ext uri="{FF2B5EF4-FFF2-40B4-BE49-F238E27FC236}">
                <a16:creationId xmlns:a16="http://schemas.microsoft.com/office/drawing/2014/main" id="{AD4BE916-DC94-4962-81BC-AF4F442E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90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690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6900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225</a:t>
            </a:r>
          </a:p>
        </p:txBody>
      </p:sp>
      <p:sp>
        <p:nvSpPr>
          <p:cNvPr id="11" name="local entries">
            <a:extLst xmlns:a="http://schemas.openxmlformats.org/drawingml/2006/main">
              <a:ext uri="{FF2B5EF4-FFF2-40B4-BE49-F238E27FC236}">
                <a16:creationId xmlns:a16="http://schemas.microsoft.com/office/drawing/2014/main" id="{1C14253F-A490-4CED-A88B-92EB392E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local entries</a:t>
            </a:r>
          </a:p>
        </p:txBody>
      </p:sp>
      <p:sp>
        <p:nvSpPr>
          <p:cNvPr id="12" name="9 mechanisms&#10;25 settings eac">
            <a:extLst xmlns:a="http://schemas.openxmlformats.org/drawingml/2006/main">
              <a:ext uri="{FF2B5EF4-FFF2-40B4-BE49-F238E27FC236}">
                <a16:creationId xmlns:a16="http://schemas.microsoft.com/office/drawing/2014/main" id="{BF6DDFA8-C5D4-40E3-A019-77B7B8DD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19650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9 mechanisms</a:t>
            </a:r>
          </a:p>
          <a:p xmlns:a="http://schemas.openxmlformats.org/drawingml/2006/main">
            <a:pPr>
              <a:defRPr sz="20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25 settings each</a:t>
            </a:r>
          </a:p>
        </p:txBody>
      </p:sp>
      <p:sp>
        <p:nvSpPr>
          <p:cNvPr id="13" name="Analytic coverage / represen">
            <a:extLst xmlns:a="http://schemas.openxmlformats.org/drawingml/2006/main">
              <a:ext uri="{FF2B5EF4-FFF2-40B4-BE49-F238E27FC236}">
                <a16:creationId xmlns:a16="http://schemas.microsoft.com/office/drawing/2014/main" id="{1AC641F0-7E92-4E50-9D7C-A8658E30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Analytic coverage / representation example, not a measured ACE speedup. ¹ Uniform draws with replacement.</a:t>
            </a:r>
          </a:p>
        </p:txBody>
      </p:sp>
    </p:spTree>
    <p:extLst>
      <p:ext uri="{BB962C8B-B14F-4D97-AF65-F5344CB8AC3E}">
        <p14:creationId xmlns:p14="http://schemas.microsoft.com/office/powerpoint/2010/main" val="1399645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FA627B93-918D-4368-AE22-C3E67629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Exact inputs to the three-node demonstration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4DCDD56B-8C9A-4CA3-A13D-9F13F6A4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98D78-D6E6-4DEC-B29D-48ED7733C5DD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820400" cy="20574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86125"/>
                <a:gridCol w="3190875"/>
                <a:gridCol w="4343400"/>
              </a:tblGrid>
              <a:tr h="685800">
                <a:tc>
                  <a:txBody>
                    <a:bodyPr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Mechanism</a:t>
                      </a:r>
                    </a:p>
                  </a:txBody>
                  <a:tcPr marL="91440" marR="91440" marT="45720" marB="45720">
                    <a:solidFill>
                      <a:srgbClr val="112B3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Member slopes</a:t>
                      </a:r>
                    </a:p>
                  </a:txBody>
                  <a:tcPr marL="91440" marR="91440" marT="45720" marB="45720">
                    <a:solidFill>
                      <a:srgbClr val="112B3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prediction</a:t>
                      </a:r>
                    </a:p>
                  </a:txBody>
                  <a:tcPr marL="91440" marR="91440" marT="45720" marB="45720">
                    <a:solidFill>
                      <a:srgbClr val="112B36"/>
                    </a:solidFill>
                  </a:tcPr>
                </a:tc>
              </a:tr>
              <a:tr h="685800">
                <a:tc>
                  <a:txBody>
                    <a:bodyPr lIns="95250" tIns="95250" rIns="95250" bIns="95250"/>
                    <a:lstStyle/>
                    <a:p>
                      <a:r>
                        <a:rPr sz="21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 from X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1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1, 2, 3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1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M̂ = 2X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  <a:tr h="685800">
                <a:tc>
                  <a:txBody>
                    <a:bodyPr lIns="95250" tIns="95250" rIns="95250" bIns="95250"/>
                    <a:lstStyle/>
                    <a:p>
                      <a:r>
                        <a:rPr sz="21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 from M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1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2, 3, 4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1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Ŷ = 3M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4" name="Actions: clamp X or M to −1,">
            <a:extLst xmlns:a="http://schemas.openxmlformats.org/drawingml/2006/main">
              <a:ext uri="{FF2B5EF4-FFF2-40B4-BE49-F238E27FC236}">
                <a16:creationId xmlns:a16="http://schemas.microsoft.com/office/drawing/2014/main" id="{F1A90D83-1C7B-4D11-B5E7-66E73A2E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Actions: clamp X or M to −1, 0 or +1</a:t>
            </a:r>
          </a:p>
        </p:txBody>
      </p:sp>
      <p:sp>
        <p:nvSpPr>
          <p:cNvPr id="5" name="References: −1, 0, +1     No">
            <a:extLst xmlns:a="http://schemas.openxmlformats.org/drawingml/2006/main">
              <a:ext uri="{FF2B5EF4-FFF2-40B4-BE49-F238E27FC236}">
                <a16:creationId xmlns:a16="http://schemas.microsoft.com/office/drawing/2014/main" id="{5A595FF1-3549-4521-A103-FD2DC66F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References: −1, 0, +1     Noise proxy: 0.05</a:t>
            </a:r>
          </a:p>
          <a:p xmlns:a="http://schemas.openxmlformats.org/drawingml/2006/main">
            <a:pPr>
              <a:defRPr sz="2175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Budget: one response     Ties: first action in the list</a:t>
            </a:r>
          </a:p>
        </p:txBody>
      </p:sp>
      <p:sp>
        <p:nvSpPr>
          <p:cNvPr id="6" name="Simplified linear ensemble ·">
            <a:extLst xmlns:a="http://schemas.openxmlformats.org/drawingml/2006/main">
              <a:ext uri="{FF2B5EF4-FFF2-40B4-BE49-F238E27FC236}">
                <a16:creationId xmlns:a16="http://schemas.microsoft.com/office/drawing/2014/main" id="{BF7E5487-AC87-493D-BA1D-BBC9298E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Simplified linear ensemble · six candidate actions · one response budget</a:t>
            </a:r>
          </a:p>
        </p:txBody>
      </p:sp>
    </p:spTree>
    <p:extLst>
      <p:ext uri="{BB962C8B-B14F-4D97-AF65-F5344CB8AC3E}">
        <p14:creationId xmlns:p14="http://schemas.microsoft.com/office/powerpoint/2010/main" val="9067131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5C50A4C-5E4A-43BC-B348-E3DDE480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The score selects do(X = −1)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9A395380-286F-4858-9B9F-8C152ED6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0E7FB-727A-45F5-8F4F-4622C76A0FC3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820400" cy="3600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2533650"/>
                <a:gridCol w="2533650"/>
                <a:gridCol w="2514600"/>
              </a:tblGrid>
              <a:tr h="51435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Intervention</a:t>
                      </a:r>
                    </a:p>
                  </a:txBody>
                  <a:tcPr marL="91440" marR="91440" marT="45720" marB="45720">
                    <a:solidFill>
                      <a:srgbClr val="112B3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 contribution</a:t>
                      </a:r>
                    </a:p>
                  </a:txBody>
                  <a:tcPr marL="91440" marR="91440" marT="45720" marB="45720">
                    <a:solidFill>
                      <a:srgbClr val="112B3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 contribution</a:t>
                      </a:r>
                    </a:p>
                  </a:txBody>
                  <a:tcPr marL="91440" marR="91440" marT="45720" marB="45720">
                    <a:solidFill>
                      <a:srgbClr val="112B3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112B36"/>
                    </a:solidFill>
                  </a:tcPr>
                </a:tc>
              </a:tr>
              <a:tr h="5143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do(X = -1)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0.413437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0.436264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0.849701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  <a:tr h="5143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do(X = 0)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0.000000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0.000000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0.000000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  <a:tr h="5143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do(X = 1)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0.413437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0.436264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0.849701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  <a:tr h="5143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do(M = -1)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0.000000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0.413437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0.413437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  <a:tr h="5143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do(M = 0)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0.000000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0.000000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0.000000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  <a:tr h="5143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do(M = 1)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0.000000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0.413437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0.413437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4" name="Selected prediction: M̂ = −2">
            <a:extLst xmlns:a="http://schemas.openxmlformats.org/drawingml/2006/main">
              <a:ext uri="{FF2B5EF4-FFF2-40B4-BE49-F238E27FC236}">
                <a16:creationId xmlns:a16="http://schemas.microsoft.com/office/drawing/2014/main" id="{51351594-E107-497E-AC21-C5DF7F24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Selected prediction: M̂ = −2,  Ŷ = −6</a:t>
            </a:r>
          </a:p>
        </p:txBody>
      </p:sp>
      <p:sp>
        <p:nvSpPr>
          <p:cNvPr id="5" name="Score contribution: mean Cov">
            <a:extLst xmlns:a="http://schemas.openxmlformats.org/drawingml/2006/main">
              <a:ext uri="{FF2B5EF4-FFF2-40B4-BE49-F238E27FC236}">
                <a16:creationId xmlns:a16="http://schemas.microsoft.com/office/drawing/2014/main" id="{2DA0E289-BA82-4A28-9BBB-C3999A89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Score contribution: mean Cov² / (Variance + noise proxy) · tied actions follow the declared order</a:t>
            </a:r>
          </a:p>
        </p:txBody>
      </p:sp>
    </p:spTree>
    <p:extLst>
      <p:ext uri="{BB962C8B-B14F-4D97-AF65-F5344CB8AC3E}">
        <p14:creationId xmlns:p14="http://schemas.microsoft.com/office/powerpoint/2010/main" val="20425376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0B0D20CA-C66A-4307-AF27-7E3AA2DB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The response updates eligible mechanisms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1B704EDA-3B72-42A2-A6B7-3A9B94D6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Observed row: X = −1, M = −2">
            <a:extLst xmlns:a="http://schemas.openxmlformats.org/drawingml/2006/main">
              <a:ext uri="{FF2B5EF4-FFF2-40B4-BE49-F238E27FC236}">
                <a16:creationId xmlns:a16="http://schemas.microsoft.com/office/drawing/2014/main" id="{021F85B7-16ED-497C-B015-9DC3D8C6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763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Observed row: X = −1, M = −2.5, Y = −7.5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CC44C-B6B4-4720-93B3-FF5C265DC07B}"/>
              </a:ext>
            </a:extLst>
          </p:cNvPr>
          <p:cNvGraphicFramePr/>
          <p:nvPr/>
        </p:nvGraphicFramePr>
        <p:xfrm>
          <a:off xmlns:a="http://schemas.openxmlformats.org/drawingml/2006/main" x="609600" y="2419350"/>
          <a:ext xmlns:a="http://schemas.openxmlformats.org/drawingml/2006/main" cx="10820400" cy="1943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33750"/>
                <a:gridCol w="3771900"/>
                <a:gridCol w="3714750"/>
              </a:tblGrid>
              <a:tr h="64770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Natural mechanism</a:t>
                      </a:r>
                    </a:p>
                  </a:txBody>
                  <a:tcPr marL="91440" marR="91440" marT="45720" marB="45720">
                    <a:solidFill>
                      <a:srgbClr val="112B3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input</a:t>
                      </a:r>
                    </a:p>
                  </a:txBody>
                  <a:tcPr marL="91440" marR="91440" marT="45720" marB="45720">
                    <a:solidFill>
                      <a:srgbClr val="112B3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label</a:t>
                      </a:r>
                    </a:p>
                  </a:txBody>
                  <a:tcPr marL="91440" marR="91440" marT="45720" marB="45720">
                    <a:solidFill>
                      <a:srgbClr val="112B36"/>
                    </a:solidFill>
                  </a:tcPr>
                </a:tc>
              </a:tr>
              <a:tr h="647700">
                <a:tc>
                  <a:txBody>
                    <a:bodyPr lIns="95250" tIns="95250" rIns="95250" bIns="95250"/>
                    <a:lstStyle/>
                    <a:p>
                      <a:r>
                        <a:rPr sz="2100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100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X = −1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100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 = −2.5</a:t>
                      </a:r>
                    </a:p>
                  </a:txBody>
                  <a:tcPr marL="91440" marR="91440" marT="45720" marB="45720">
                    <a:solidFill>
                      <a:srgbClr val="EDF3EF"/>
                    </a:solidFill>
                  </a:tcPr>
                </a:tc>
              </a:tr>
              <a:tr h="647700">
                <a:tc>
                  <a:txBody>
                    <a:bodyPr lIns="95250" tIns="95250" rIns="95250" bIns="95250"/>
                    <a:lstStyle/>
                    <a:p>
                      <a:r>
                        <a:rPr sz="2100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100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M = −2.5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2100" b="0">
                          <a:solidFill>
                            <a:srgbClr val="1631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 = −7.5</a:t>
                      </a:r>
                    </a:p>
                  </a:txBody>
                  <a:tcPr marL="91440" marR="91440" marT="45720" marB="45720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5" name="After one illustrative gradi">
            <a:extLst xmlns:a="http://schemas.openxmlformats.org/drawingml/2006/main">
              <a:ext uri="{FF2B5EF4-FFF2-40B4-BE49-F238E27FC236}">
                <a16:creationId xmlns:a16="http://schemas.microsoft.com/office/drawing/2014/main" id="{2ECBFE91-AE06-4B2C-B862-F546B085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After one illustrative gradient update</a:t>
            </a:r>
          </a:p>
        </p:txBody>
      </p:sp>
      <p:sp>
        <p:nvSpPr>
          <p:cNvPr id="6" name="M̂ = −2.25       Ŷ = −6.75  ">
            <a:extLst xmlns:a="http://schemas.openxmlformats.org/drawingml/2006/main">
              <a:ext uri="{FF2B5EF4-FFF2-40B4-BE49-F238E27FC236}">
                <a16:creationId xmlns:a16="http://schemas.microsoft.com/office/drawing/2014/main" id="{68FCEA35-9884-409D-BD37-FDAD1F30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47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M̂ = −2.25       Ŷ = −6.75       Budget left: 0</a:t>
            </a:r>
          </a:p>
        </p:txBody>
      </p:sp>
      <p:sp>
        <p:nvSpPr>
          <p:cNvPr id="7" name="Illustrative linear update ·">
            <a:extLst xmlns:a="http://schemas.openxmlformats.org/drawingml/2006/main">
              <a:ext uri="{FF2B5EF4-FFF2-40B4-BE49-F238E27FC236}">
                <a16:creationId xmlns:a16="http://schemas.microsoft.com/office/drawing/2014/main" id="{782F7D6C-256F-44E8-AC87-8269352C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Illustrative linear update · both natural mechanisms learn from the same paid response</a:t>
            </a:r>
          </a:p>
        </p:txBody>
      </p:sp>
    </p:spTree>
    <p:extLst>
      <p:ext uri="{BB962C8B-B14F-4D97-AF65-F5344CB8AC3E}">
        <p14:creationId xmlns:p14="http://schemas.microsoft.com/office/powerpoint/2010/main" val="5519794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160878D-598F-427D-907E-5647B16D20F1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1428750" y="3019425"/>
            <a:ext cx="1381125" cy="1409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9541A2C-1432-466C-909D-A2381F0EBE0E}"/>
              </a:ext>
            </a:extLst>
          </p:cNvPr>
          <p:cNvCxnSpPr>
            <a:stCxn xmlns:a="http://schemas.openxmlformats.org/drawingml/2006/main" id="5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1428750" y="3724275"/>
            <a:ext cx="1381125" cy="704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89F21A9-44BA-4CE4-A79B-1F15CF4DB07D}"/>
              </a:ext>
            </a:extLst>
          </p:cNvPr>
          <p:cNvCxnSpPr>
            <a:stCxn xmlns:a="http://schemas.openxmlformats.org/drawingml/2006/main" id="3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1428750" y="2314575"/>
            <a:ext cx="1381125" cy="1409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13979F8-A354-4C4C-B28E-4ABC9975ADA8}"/>
              </a:ext>
            </a:extLst>
          </p:cNvPr>
          <p:cNvCxnSpPr>
            <a:stCxn xmlns:a="http://schemas.openxmlformats.org/drawingml/2006/main" id="7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1428750" y="3724275"/>
            <a:ext cx="1381125" cy="1409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F0010F2-023D-4B36-AF9E-C73C27F42881}"/>
              </a:ext>
            </a:extLst>
          </p:cNvPr>
          <p:cNvCxnSpPr>
            <a:stCxn xmlns:a="http://schemas.openxmlformats.org/drawingml/2006/main" id="5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1428750" y="3019425"/>
            <a:ext cx="1381125" cy="704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1FA2704-F0D5-468E-B7DE-81F9985F7FF8}"/>
              </a:ext>
            </a:extLst>
          </p:cNvPr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1428750" y="2314575"/>
            <a:ext cx="1381125" cy="2819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49C79C-4D53-4FB5-8866-3F6607221A5E}"/>
              </a:ext>
            </a:extLst>
          </p:cNvPr>
          <p:cNvCxnSpPr>
            <a:stCxn xmlns:a="http://schemas.openxmlformats.org/drawingml/2006/main" id="3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1428750" y="231457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644FE45-8431-42E4-B937-C51DFF5E9466}"/>
              </a:ext>
            </a:extLst>
          </p:cNvPr>
          <p:cNvCxnSpPr>
            <a:stCxn xmlns:a="http://schemas.openxmlformats.org/drawingml/2006/main" id="27" idx="6"/>
            <a:endCxn xmlns:a="http://schemas.openxmlformats.org/drawingml/2006/main" id="32" idx="2"/>
          </p:cNvCxnSpPr>
          <p:nvPr/>
        </p:nvCxnSpPr>
        <p:spPr>
          <a:xfrm xmlns:a="http://schemas.openxmlformats.org/drawingml/2006/main">
            <a:off x="7286625" y="513397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DF9F8A5-E852-4554-90DE-38FCFADA5511}"/>
              </a:ext>
            </a:extLst>
          </p:cNvPr>
          <p:cNvCxnSpPr>
            <a:stCxn xmlns:a="http://schemas.openxmlformats.org/drawingml/2006/main" id="23" idx="6"/>
            <a:endCxn xmlns:a="http://schemas.openxmlformats.org/drawingml/2006/main" id="31" idx="2"/>
          </p:cNvCxnSpPr>
          <p:nvPr/>
        </p:nvCxnSpPr>
        <p:spPr>
          <a:xfrm xmlns:a="http://schemas.openxmlformats.org/drawingml/2006/main">
            <a:off x="7286625" y="2314575"/>
            <a:ext cx="1381125" cy="2114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2DC0663-762E-4178-8244-D603E4893B86}"/>
              </a:ext>
            </a:extLst>
          </p:cNvPr>
          <p:cNvCxnSpPr>
            <a:stCxn xmlns:a="http://schemas.openxmlformats.org/drawingml/2006/main" id="27" idx="6"/>
            <a:endCxn xmlns:a="http://schemas.openxmlformats.org/drawingml/2006/main" id="30" idx="2"/>
          </p:cNvCxnSpPr>
          <p:nvPr/>
        </p:nvCxnSpPr>
        <p:spPr>
          <a:xfrm xmlns:a="http://schemas.openxmlformats.org/drawingml/2006/main" flipV="1">
            <a:off x="7286625" y="3724275"/>
            <a:ext cx="1381125" cy="1409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9D294F1-E95D-4B6F-AA8F-1060E8042754}"/>
              </a:ext>
            </a:extLst>
          </p:cNvPr>
          <p:cNvCxnSpPr>
            <a:stCxn xmlns:a="http://schemas.openxmlformats.org/drawingml/2006/main" id="23" idx="6"/>
            <a:endCxn xmlns:a="http://schemas.openxmlformats.org/drawingml/2006/main" id="29" idx="2"/>
          </p:cNvCxnSpPr>
          <p:nvPr/>
        </p:nvCxnSpPr>
        <p:spPr>
          <a:xfrm xmlns:a="http://schemas.openxmlformats.org/drawingml/2006/main">
            <a:off x="7286625" y="2314575"/>
            <a:ext cx="1381125" cy="704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A2A20C7-4944-4CB1-8534-6152DB28EB9E}"/>
              </a:ext>
            </a:extLst>
          </p:cNvPr>
          <p:cNvCxnSpPr>
            <a:stCxn xmlns:a="http://schemas.openxmlformats.org/drawingml/2006/main" id="24" idx="6"/>
            <a:endCxn xmlns:a="http://schemas.openxmlformats.org/drawingml/2006/main" id="28" idx="2"/>
          </p:cNvCxnSpPr>
          <p:nvPr/>
        </p:nvCxnSpPr>
        <p:spPr>
          <a:xfrm xmlns:a="http://schemas.openxmlformats.org/drawingml/2006/main" flipV="1">
            <a:off x="7286625" y="2314575"/>
            <a:ext cx="1381125" cy="704850"/>
          </a:xfrm>
          <a:prstGeom xmlns:a="http://schemas.openxmlformats.org/drawingml/2006/main" prst="straightConnector1">
            <a:avLst/>
          </a:prstGeom>
          <a:ln xmlns:a="http://schemas.openxmlformats.org/drawingml/2006/main" w="42863">
            <a:solidFill>
              <a:srgbClr val="B95435"/>
            </a:solidFill>
            <a:tailEnd type="triangle" w="lg" len="lg"/>
          </a:ln>
        </p:spPr>
      </p:cxnSp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6FA1474-CA40-45BF-B75B-6DFC47E9FEF6}"/>
              </a:ext>
            </a:extLst>
          </p:cNvPr>
          <p:cNvCxnSpPr>
            <a:stCxn xmlns:a="http://schemas.openxmlformats.org/drawingml/2006/main" id="18" idx="6"/>
            <a:endCxn xmlns:a="http://schemas.openxmlformats.org/drawingml/2006/main" id="27" idx="2"/>
          </p:cNvCxnSpPr>
          <p:nvPr/>
        </p:nvCxnSpPr>
        <p:spPr>
          <a:xfrm xmlns:a="http://schemas.openxmlformats.org/drawingml/2006/main">
            <a:off x="5334000" y="3900488"/>
            <a:ext cx="1381125" cy="123348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785654-092F-47B9-9CB3-CC9FDC457609}"/>
              </a:ext>
            </a:extLst>
          </p:cNvPr>
          <p:cNvCxnSpPr>
            <a:stCxn xmlns:a="http://schemas.openxmlformats.org/drawingml/2006/main" id="20" idx="6"/>
            <a:endCxn xmlns:a="http://schemas.openxmlformats.org/drawingml/2006/main" id="27" idx="2"/>
          </p:cNvCxnSpPr>
          <p:nvPr/>
        </p:nvCxnSpPr>
        <p:spPr>
          <a:xfrm xmlns:a="http://schemas.openxmlformats.org/drawingml/2006/main">
            <a:off x="5334000" y="4605338"/>
            <a:ext cx="1381125" cy="52863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7D1AA6D-C177-43BF-9E5F-4827227AB20A}"/>
              </a:ext>
            </a:extLst>
          </p:cNvPr>
          <p:cNvCxnSpPr>
            <a:stCxn xmlns:a="http://schemas.openxmlformats.org/drawingml/2006/main" id="19" idx="6"/>
            <a:endCxn xmlns:a="http://schemas.openxmlformats.org/drawingml/2006/main" id="26" idx="2"/>
          </p:cNvCxnSpPr>
          <p:nvPr/>
        </p:nvCxnSpPr>
        <p:spPr>
          <a:xfrm xmlns:a="http://schemas.openxmlformats.org/drawingml/2006/main">
            <a:off x="5334000" y="4252913"/>
            <a:ext cx="1381125" cy="17621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A969A3-2347-4F1B-B410-00BCD2D8533A}"/>
              </a:ext>
            </a:extLst>
          </p:cNvPr>
          <p:cNvCxnSpPr>
            <a:stCxn xmlns:a="http://schemas.openxmlformats.org/drawingml/2006/main" id="14" idx="6"/>
            <a:endCxn xmlns:a="http://schemas.openxmlformats.org/drawingml/2006/main" id="26" idx="2"/>
          </p:cNvCxnSpPr>
          <p:nvPr/>
        </p:nvCxnSpPr>
        <p:spPr>
          <a:xfrm xmlns:a="http://schemas.openxmlformats.org/drawingml/2006/main">
            <a:off x="5334000" y="2490788"/>
            <a:ext cx="1381125" cy="1938337"/>
          </a:xfrm>
          <a:prstGeom xmlns:a="http://schemas.openxmlformats.org/drawingml/2006/main" prst="straightConnector1">
            <a:avLst/>
          </a:prstGeom>
          <a:ln xmlns:a="http://schemas.openxmlformats.org/drawingml/2006/main" w="42863">
            <a:solidFill>
              <a:srgbClr val="B95435"/>
            </a:solidFill>
            <a:tailEnd type="triangle" w="lg" len="lg"/>
          </a:ln>
        </p:spPr>
      </p:cxnSp>
      <p:cxnSp>
        <p:nvCxn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4AB6E4-39FB-4F15-85C5-A57281B917E1}"/>
              </a:ext>
            </a:extLst>
          </p:cNvPr>
          <p:cNvCxnSpPr>
            <a:stCxn xmlns:a="http://schemas.openxmlformats.org/drawingml/2006/main" id="17" idx="6"/>
            <a:endCxn xmlns:a="http://schemas.openxmlformats.org/drawingml/2006/main" id="26" idx="2"/>
          </p:cNvCxnSpPr>
          <p:nvPr/>
        </p:nvCxnSpPr>
        <p:spPr>
          <a:xfrm xmlns:a="http://schemas.openxmlformats.org/drawingml/2006/main">
            <a:off x="5334000" y="3548063"/>
            <a:ext cx="1381125" cy="88106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7E8C6E-ACFB-464E-8ABB-A4653DBC2047}"/>
              </a:ext>
            </a:extLst>
          </p:cNvPr>
          <p:cNvCxnSpPr>
            <a:stCxn xmlns:a="http://schemas.openxmlformats.org/drawingml/2006/main" id="22" idx="6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5334000" y="3724275"/>
            <a:ext cx="1381125" cy="1585913"/>
          </a:xfrm>
          <a:prstGeom xmlns:a="http://schemas.openxmlformats.org/drawingml/2006/main" prst="straightConnector1">
            <a:avLst/>
          </a:prstGeom>
          <a:ln xmlns:a="http://schemas.openxmlformats.org/drawingml/2006/main" w="42863">
            <a:solidFill>
              <a:srgbClr val="B95435"/>
            </a:solidFill>
            <a:tailEnd type="triangle" w="lg" len="lg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B7002F7-7CC6-4945-B91D-D876F1691378}"/>
              </a:ext>
            </a:extLst>
          </p:cNvPr>
          <p:cNvCxnSpPr>
            <a:stCxn xmlns:a="http://schemas.openxmlformats.org/drawingml/2006/main" id="13" idx="6"/>
            <a:endCxn xmlns:a="http://schemas.openxmlformats.org/drawingml/2006/main" id="25" idx="2"/>
          </p:cNvCxnSpPr>
          <p:nvPr/>
        </p:nvCxnSpPr>
        <p:spPr>
          <a:xfrm xmlns:a="http://schemas.openxmlformats.org/drawingml/2006/main">
            <a:off x="5334000" y="2138363"/>
            <a:ext cx="1381125" cy="1585912"/>
          </a:xfrm>
          <a:prstGeom xmlns:a="http://schemas.openxmlformats.org/drawingml/2006/main" prst="straightConnector1">
            <a:avLst/>
          </a:prstGeom>
          <a:ln xmlns:a="http://schemas.openxmlformats.org/drawingml/2006/main" w="42863">
            <a:solidFill>
              <a:srgbClr val="B95435"/>
            </a:solidFill>
            <a:tailEnd type="triangle" w="lg" len="lg"/>
          </a:ln>
        </p:spPr>
      </p:cxnSp>
      <p:cxnSp>
        <p:nvCxn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C35846-301E-40A1-9FCA-965AFF7E25F8}"/>
              </a:ext>
            </a:extLst>
          </p:cNvPr>
          <p:cNvCxnSpPr>
            <a:stCxn xmlns:a="http://schemas.openxmlformats.org/drawingml/2006/main" id="19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 flipV="1">
            <a:off x="5334000" y="3019425"/>
            <a:ext cx="1381125" cy="123348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C469A1-EFA4-4819-9B96-80C344372FDC}"/>
              </a:ext>
            </a:extLst>
          </p:cNvPr>
          <p:cNvCxnSpPr>
            <a:stCxn xmlns:a="http://schemas.openxmlformats.org/drawingml/2006/main" id="18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 flipV="1">
            <a:off x="5334000" y="3019425"/>
            <a:ext cx="1381125" cy="8810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F1A01F9-DC2C-4B8F-A675-6A2318F6B6FE}"/>
              </a:ext>
            </a:extLst>
          </p:cNvPr>
          <p:cNvCxnSpPr>
            <a:stCxn xmlns:a="http://schemas.openxmlformats.org/drawingml/2006/main" id="14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>
            <a:off x="5334000" y="2490788"/>
            <a:ext cx="1381125" cy="528637"/>
          </a:xfrm>
          <a:prstGeom xmlns:a="http://schemas.openxmlformats.org/drawingml/2006/main" prst="straightConnector1">
            <a:avLst/>
          </a:prstGeom>
          <a:ln xmlns:a="http://schemas.openxmlformats.org/drawingml/2006/main" w="42863">
            <a:solidFill>
              <a:srgbClr val="B95435"/>
            </a:solidFill>
            <a:tailEnd type="triangle" w="lg" len="lg"/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2C26A7-5283-40D5-9422-0C8062C70C13}"/>
              </a:ext>
            </a:extLst>
          </p:cNvPr>
          <p:cNvCxnSpPr>
            <a:stCxn xmlns:a="http://schemas.openxmlformats.org/drawingml/2006/main" id="16" idx="6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5334000" y="2314575"/>
            <a:ext cx="1381125" cy="8810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8284F8C-1EDE-435A-AE36-E9DDD7F0ADB9}"/>
              </a:ext>
            </a:extLst>
          </p:cNvPr>
          <p:cNvCxnSpPr>
            <a:stCxn xmlns:a="http://schemas.openxmlformats.org/drawingml/2006/main" id="18" idx="6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5334000" y="2314575"/>
            <a:ext cx="1381125" cy="15859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4307F9-621A-4EE3-98AC-03A04F0D931E}"/>
              </a:ext>
            </a:extLst>
          </p:cNvPr>
          <p:cNvCxnSpPr>
            <a:stCxn xmlns:a="http://schemas.openxmlformats.org/drawingml/2006/main" id="17" idx="6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5334000" y="2314575"/>
            <a:ext cx="1381125" cy="123348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12514A-78D8-425A-8CC0-2C18C515B07F}"/>
              </a:ext>
            </a:extLst>
          </p:cNvPr>
          <p:cNvCxnSpPr>
            <a:stCxn xmlns:a="http://schemas.openxmlformats.org/drawingml/2006/main" id="9" idx="6"/>
            <a:endCxn xmlns:a="http://schemas.openxmlformats.org/drawingml/2006/main" id="22" idx="2"/>
          </p:cNvCxnSpPr>
          <p:nvPr/>
        </p:nvCxnSpPr>
        <p:spPr>
          <a:xfrm xmlns:a="http://schemas.openxmlformats.org/drawingml/2006/main">
            <a:off x="3381375" y="3019425"/>
            <a:ext cx="1381125" cy="2290763"/>
          </a:xfrm>
          <a:prstGeom xmlns:a="http://schemas.openxmlformats.org/drawingml/2006/main" prst="straightConnector1">
            <a:avLst/>
          </a:prstGeom>
          <a:ln xmlns:a="http://schemas.openxmlformats.org/drawingml/2006/main" w="42863">
            <a:solidFill>
              <a:srgbClr val="B95435"/>
            </a:solidFill>
            <a:tailEnd type="triangle" w="lg" len="lg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D344FA-375B-4173-99B4-7B978B30C4FB}"/>
              </a:ext>
            </a:extLst>
          </p:cNvPr>
          <p:cNvCxnSpPr>
            <a:stCxn xmlns:a="http://schemas.openxmlformats.org/drawingml/2006/main" id="11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>
            <a:off x="3381375" y="4429125"/>
            <a:ext cx="1381125" cy="52863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99FF7D-F376-4AA3-8EA2-90A31EDF0904}"/>
              </a:ext>
            </a:extLst>
          </p:cNvPr>
          <p:cNvCxnSpPr>
            <a:stCxn xmlns:a="http://schemas.openxmlformats.org/drawingml/2006/main" id="8" idx="6"/>
            <a:endCxn xmlns:a="http://schemas.openxmlformats.org/drawingml/2006/main" id="20" idx="2"/>
          </p:cNvCxnSpPr>
          <p:nvPr/>
        </p:nvCxnSpPr>
        <p:spPr>
          <a:xfrm xmlns:a="http://schemas.openxmlformats.org/drawingml/2006/main">
            <a:off x="3381375" y="2314575"/>
            <a:ext cx="1381125" cy="22907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2BFA95-4341-493E-AC65-7B579030DCFA}"/>
              </a:ext>
            </a:extLst>
          </p:cNvPr>
          <p:cNvCxnSpPr>
            <a:stCxn xmlns:a="http://schemas.openxmlformats.org/drawingml/2006/main" id="12" idx="6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3381375" y="4605338"/>
            <a:ext cx="1381125" cy="52863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3BD0F6-C310-4706-8EE1-025320292B3B}"/>
              </a:ext>
            </a:extLst>
          </p:cNvPr>
          <p:cNvCxnSpPr>
            <a:stCxn xmlns:a="http://schemas.openxmlformats.org/drawingml/2006/main" id="11" idx="6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V="1">
            <a:off x="3381375" y="4252913"/>
            <a:ext cx="1381125" cy="17621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C63300-DD37-43A8-8198-320A9821722E}"/>
              </a:ext>
            </a:extLst>
          </p:cNvPr>
          <p:cNvCxnSpPr>
            <a:stCxn xmlns:a="http://schemas.openxmlformats.org/drawingml/2006/main" id="8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3381375" y="2314575"/>
            <a:ext cx="1381125" cy="15859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726678-9E13-476A-9E44-EFA7D252EF96}"/>
              </a:ext>
            </a:extLst>
          </p:cNvPr>
          <p:cNvCxnSpPr>
            <a:stCxn xmlns:a="http://schemas.openxmlformats.org/drawingml/2006/main" id="11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V="1">
            <a:off x="3381375" y="3548063"/>
            <a:ext cx="1381125" cy="88106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6A36DA-B0DA-4EC2-9980-87F7821EEF27}"/>
              </a:ext>
            </a:extLst>
          </p:cNvPr>
          <p:cNvCxnSpPr>
            <a:stCxn xmlns:a="http://schemas.openxmlformats.org/drawingml/2006/main" id="10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V="1">
            <a:off x="3381375" y="3548063"/>
            <a:ext cx="1381125" cy="17621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27B136-E6ED-4690-A652-9ED5EEE38851}"/>
              </a:ext>
            </a:extLst>
          </p:cNvPr>
          <p:cNvCxnSpPr>
            <a:stCxn xmlns:a="http://schemas.openxmlformats.org/drawingml/2006/main" id="12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3381375" y="3195638"/>
            <a:ext cx="1381125" cy="193833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021A32-107E-4A54-9B13-3EF33A65201B}"/>
              </a:ext>
            </a:extLst>
          </p:cNvPr>
          <p:cNvCxnSpPr>
            <a:stCxn xmlns:a="http://schemas.openxmlformats.org/drawingml/2006/main" id="8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3381375" y="2314575"/>
            <a:ext cx="1381125" cy="52863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0130B6-1D1A-4218-B67D-3EE24F3E2ACE}"/>
              </a:ext>
            </a:extLst>
          </p:cNvPr>
          <p:cNvCxnSpPr>
            <a:stCxn xmlns:a="http://schemas.openxmlformats.org/drawingml/2006/main" id="9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3381375" y="2490788"/>
            <a:ext cx="1381125" cy="528637"/>
          </a:xfrm>
          <a:prstGeom xmlns:a="http://schemas.openxmlformats.org/drawingml/2006/main" prst="straightConnector1">
            <a:avLst/>
          </a:prstGeom>
          <a:ln xmlns:a="http://schemas.openxmlformats.org/drawingml/2006/main" w="42863">
            <a:solidFill>
              <a:srgbClr val="B95435"/>
            </a:solidFill>
            <a:tailEnd type="triangle" w="lg" len="lg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7457FC-35F5-4BFB-8442-260748EFBBBA}"/>
              </a:ext>
            </a:extLst>
          </p:cNvPr>
          <p:cNvCxnSpPr>
            <a:stCxn xmlns:a="http://schemas.openxmlformats.org/drawingml/2006/main" id="11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3381375" y="2490788"/>
            <a:ext cx="1381125" cy="193833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8C9545-273E-4887-AE59-FE35F52C5C10}"/>
              </a:ext>
            </a:extLst>
          </p:cNvPr>
          <p:cNvCxnSpPr>
            <a:stCxn xmlns:a="http://schemas.openxmlformats.org/drawingml/2006/main" id="9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3381375" y="2138363"/>
            <a:ext cx="1381125" cy="881062"/>
          </a:xfrm>
          <a:prstGeom xmlns:a="http://schemas.openxmlformats.org/drawingml/2006/main" prst="straightConnector1">
            <a:avLst/>
          </a:prstGeom>
          <a:ln xmlns:a="http://schemas.openxmlformats.org/drawingml/2006/main" w="42863">
            <a:solidFill>
              <a:srgbClr val="B95435"/>
            </a:solidFill>
            <a:tailEnd type="triangle" w="lg" len="lg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EC3E9F-8314-4FF0-B492-CCE39C9A9FB3}"/>
              </a:ext>
            </a:extLst>
          </p:cNvPr>
          <p:cNvCxnSpPr>
            <a:stCxn xmlns:a="http://schemas.openxmlformats.org/drawingml/2006/main" id="6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1428750" y="4429125"/>
            <a:ext cx="1381125" cy="704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EE0753-4073-40C2-BCF4-D413F94B84DF}"/>
              </a:ext>
            </a:extLst>
          </p:cNvPr>
          <p:cNvCxnSpPr>
            <a:stCxn xmlns:a="http://schemas.openxmlformats.org/drawingml/2006/main" id="7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1428750" y="513397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BA8AE"/>
            </a:solidFill>
            <a:tailEnd type="triangle" w="lg" len="lg"/>
          </a:ln>
        </p:spPr>
      </p:cxnSp>
      <p:sp>
        <p:nvSpPr>
          <p:cNvPr id="75" name="title">
            <a:extLst xmlns:a="http://schemas.openxmlformats.org/drawingml/2006/main">
              <a:ext uri="{FF2B5EF4-FFF2-40B4-BE49-F238E27FC236}">
                <a16:creationId xmlns:a16="http://schemas.microsoft.com/office/drawing/2014/main" id="{0D2641F2-AB26-4E7C-B15D-208B5A87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A real scenario: 30 linked mechanisms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91BF9899-6F6D-4404-807C-7CE9646F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SCM node X1">
            <a:extLst xmlns:a="http://schemas.openxmlformats.org/drawingml/2006/main">
              <a:ext uri="{FF2B5EF4-FFF2-40B4-BE49-F238E27FC236}">
                <a16:creationId xmlns:a16="http://schemas.microsoft.com/office/drawing/2014/main" id="{EDE1270E-E54B-4D45-83D8-A75FBD43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621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X1</a:t>
            </a:r>
          </a:p>
        </p:txBody>
      </p:sp>
      <p:sp>
        <p:nvSpPr>
          <p:cNvPr id="4" name="SCM node X2">
            <a:extLst xmlns:a="http://schemas.openxmlformats.org/drawingml/2006/main">
              <a:ext uri="{FF2B5EF4-FFF2-40B4-BE49-F238E27FC236}">
                <a16:creationId xmlns:a16="http://schemas.microsoft.com/office/drawing/2014/main" id="{E2A26913-85B0-4998-AD04-5F605C9F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X2</a:t>
            </a:r>
          </a:p>
        </p:txBody>
      </p:sp>
      <p:sp>
        <p:nvSpPr>
          <p:cNvPr id="5" name="SCM node X3">
            <a:extLst xmlns:a="http://schemas.openxmlformats.org/drawingml/2006/main">
              <a:ext uri="{FF2B5EF4-FFF2-40B4-BE49-F238E27FC236}">
                <a16:creationId xmlns:a16="http://schemas.microsoft.com/office/drawing/2014/main" id="{95A6F1AC-B82C-4E74-8DDA-C19B3C66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X3</a:t>
            </a:r>
          </a:p>
        </p:txBody>
      </p:sp>
      <p:sp>
        <p:nvSpPr>
          <p:cNvPr id="6" name="SCM node X4">
            <a:extLst xmlns:a="http://schemas.openxmlformats.org/drawingml/2006/main">
              <a:ext uri="{FF2B5EF4-FFF2-40B4-BE49-F238E27FC236}">
                <a16:creationId xmlns:a16="http://schemas.microsoft.com/office/drawing/2014/main" id="{3995FDBF-3AF1-4D51-868B-DAEA1607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7672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X4</a:t>
            </a:r>
          </a:p>
        </p:txBody>
      </p:sp>
      <p:sp>
        <p:nvSpPr>
          <p:cNvPr id="7" name="SCM node X5">
            <a:extLst xmlns:a="http://schemas.openxmlformats.org/drawingml/2006/main">
              <a:ext uri="{FF2B5EF4-FFF2-40B4-BE49-F238E27FC236}">
                <a16:creationId xmlns:a16="http://schemas.microsoft.com/office/drawing/2014/main" id="{CA4F4A95-D33E-438C-A439-D85E4F38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X5</a:t>
            </a:r>
          </a:p>
        </p:txBody>
      </p:sp>
      <p:sp>
        <p:nvSpPr>
          <p:cNvPr id="8" name="SCM node X6">
            <a:extLst xmlns:a="http://schemas.openxmlformats.org/drawingml/2006/main">
              <a:ext uri="{FF2B5EF4-FFF2-40B4-BE49-F238E27FC236}">
                <a16:creationId xmlns:a16="http://schemas.microsoft.com/office/drawing/2014/main" id="{613489C6-F96D-42E3-954F-45F0DB98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621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X6</a:t>
            </a:r>
          </a:p>
        </p:txBody>
      </p:sp>
      <p:sp>
        <p:nvSpPr>
          <p:cNvPr id="9" name="SCM node X7">
            <a:extLst xmlns:a="http://schemas.openxmlformats.org/drawingml/2006/main">
              <a:ext uri="{FF2B5EF4-FFF2-40B4-BE49-F238E27FC236}">
                <a16:creationId xmlns:a16="http://schemas.microsoft.com/office/drawing/2014/main" id="{377DE729-4BAF-436E-9389-C4EB4178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6702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435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X7</a:t>
            </a:r>
          </a:p>
        </p:txBody>
      </p:sp>
      <p:sp>
        <p:nvSpPr>
          <p:cNvPr id="10" name="SCM node X8">
            <a:extLst xmlns:a="http://schemas.openxmlformats.org/drawingml/2006/main">
              <a:ext uri="{FF2B5EF4-FFF2-40B4-BE49-F238E27FC236}">
                <a16:creationId xmlns:a16="http://schemas.microsoft.com/office/drawing/2014/main" id="{0431DACD-F0C5-4E9C-8F46-AC3E2D90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5718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X8</a:t>
            </a:r>
          </a:p>
        </p:txBody>
      </p:sp>
      <p:sp>
        <p:nvSpPr>
          <p:cNvPr id="11" name="SCM node X9">
            <a:extLst xmlns:a="http://schemas.openxmlformats.org/drawingml/2006/main">
              <a:ext uri="{FF2B5EF4-FFF2-40B4-BE49-F238E27FC236}">
                <a16:creationId xmlns:a16="http://schemas.microsoft.com/office/drawing/2014/main" id="{27F3CF54-1701-43B5-BAAC-14B5D95B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27672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X9</a:t>
            </a:r>
          </a:p>
        </p:txBody>
      </p:sp>
      <p:sp>
        <p:nvSpPr>
          <p:cNvPr id="12" name="SCM node X10">
            <a:extLst xmlns:a="http://schemas.openxmlformats.org/drawingml/2006/main">
              <a:ext uri="{FF2B5EF4-FFF2-40B4-BE49-F238E27FC236}">
                <a16:creationId xmlns:a16="http://schemas.microsoft.com/office/drawing/2014/main" id="{23634AB5-D904-4549-8C72-06888340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9815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X10</a:t>
            </a:r>
          </a:p>
        </p:txBody>
      </p:sp>
      <p:sp>
        <p:nvSpPr>
          <p:cNvPr id="13" name="SCM node X11">
            <a:extLst xmlns:a="http://schemas.openxmlformats.org/drawingml/2006/main">
              <a:ext uri="{FF2B5EF4-FFF2-40B4-BE49-F238E27FC236}">
                <a16:creationId xmlns:a16="http://schemas.microsoft.com/office/drawing/2014/main" id="{4B7B2745-7C6D-4094-9E23-0E5865EB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5963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X11</a:t>
            </a:r>
          </a:p>
        </p:txBody>
      </p:sp>
      <p:sp>
        <p:nvSpPr>
          <p:cNvPr id="14" name="SCM node X12">
            <a:extLst xmlns:a="http://schemas.openxmlformats.org/drawingml/2006/main">
              <a:ext uri="{FF2B5EF4-FFF2-40B4-BE49-F238E27FC236}">
                <a16:creationId xmlns:a16="http://schemas.microsoft.com/office/drawing/2014/main" id="{D12AD5B0-DE42-41E9-8D5D-D7520E04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38388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X12</a:t>
            </a:r>
          </a:p>
        </p:txBody>
      </p:sp>
      <p:sp>
        <p:nvSpPr>
          <p:cNvPr id="15" name="SCM node X13">
            <a:extLst xmlns:a="http://schemas.openxmlformats.org/drawingml/2006/main">
              <a:ext uri="{FF2B5EF4-FFF2-40B4-BE49-F238E27FC236}">
                <a16:creationId xmlns:a16="http://schemas.microsoft.com/office/drawing/2014/main" id="{05DDED23-6027-4CAB-88DB-8BA549EE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90813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X13</a:t>
            </a:r>
          </a:p>
        </p:txBody>
      </p:sp>
      <p:sp>
        <p:nvSpPr>
          <p:cNvPr id="16" name="SCM node X14">
            <a:extLst xmlns:a="http://schemas.openxmlformats.org/drawingml/2006/main">
              <a:ext uri="{FF2B5EF4-FFF2-40B4-BE49-F238E27FC236}">
                <a16:creationId xmlns:a16="http://schemas.microsoft.com/office/drawing/2014/main" id="{7E23D59A-FB34-4C57-874E-525EE576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3238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X14</a:t>
            </a:r>
          </a:p>
        </p:txBody>
      </p:sp>
      <p:sp>
        <p:nvSpPr>
          <p:cNvPr id="17" name="SCM node X15">
            <a:extLst xmlns:a="http://schemas.openxmlformats.org/drawingml/2006/main">
              <a:ext uri="{FF2B5EF4-FFF2-40B4-BE49-F238E27FC236}">
                <a16:creationId xmlns:a16="http://schemas.microsoft.com/office/drawing/2014/main" id="{B6B43BEE-7A3D-4813-9759-621219C3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5663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X15</a:t>
            </a:r>
          </a:p>
        </p:txBody>
      </p:sp>
      <p:sp>
        <p:nvSpPr>
          <p:cNvPr id="18" name="SCM node X16">
            <a:extLst xmlns:a="http://schemas.openxmlformats.org/drawingml/2006/main">
              <a:ext uri="{FF2B5EF4-FFF2-40B4-BE49-F238E27FC236}">
                <a16:creationId xmlns:a16="http://schemas.microsoft.com/office/drawing/2014/main" id="{2FAEFE0F-84FA-4367-8BE6-9C8E0479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48088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X16</a:t>
            </a:r>
          </a:p>
        </p:txBody>
      </p:sp>
      <p:sp>
        <p:nvSpPr>
          <p:cNvPr id="19" name="SCM node X17">
            <a:extLst xmlns:a="http://schemas.openxmlformats.org/drawingml/2006/main">
              <a:ext uri="{FF2B5EF4-FFF2-40B4-BE49-F238E27FC236}">
                <a16:creationId xmlns:a16="http://schemas.microsoft.com/office/drawing/2014/main" id="{DECDFBEA-9BA4-4EA9-9D7C-F1A98BDC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00513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X17</a:t>
            </a:r>
          </a:p>
        </p:txBody>
      </p:sp>
      <p:sp>
        <p:nvSpPr>
          <p:cNvPr id="20" name="SCM node X18">
            <a:extLst xmlns:a="http://schemas.openxmlformats.org/drawingml/2006/main">
              <a:ext uri="{FF2B5EF4-FFF2-40B4-BE49-F238E27FC236}">
                <a16:creationId xmlns:a16="http://schemas.microsoft.com/office/drawing/2014/main" id="{9DEEB74F-E3EF-466C-B9D8-A287B49B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52938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X18</a:t>
            </a:r>
          </a:p>
        </p:txBody>
      </p:sp>
      <p:sp>
        <p:nvSpPr>
          <p:cNvPr id="21" name="SCM node X19">
            <a:extLst xmlns:a="http://schemas.openxmlformats.org/drawingml/2006/main">
              <a:ext uri="{FF2B5EF4-FFF2-40B4-BE49-F238E27FC236}">
                <a16:creationId xmlns:a16="http://schemas.microsoft.com/office/drawing/2014/main" id="{19736E61-5589-442B-89F8-51B6FEAA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05363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X19</a:t>
            </a:r>
          </a:p>
        </p:txBody>
      </p:sp>
      <p:sp>
        <p:nvSpPr>
          <p:cNvPr id="22" name="SCM node X20">
            <a:extLst xmlns:a="http://schemas.openxmlformats.org/drawingml/2006/main">
              <a:ext uri="{FF2B5EF4-FFF2-40B4-BE49-F238E27FC236}">
                <a16:creationId xmlns:a16="http://schemas.microsoft.com/office/drawing/2014/main" id="{2244BD4E-4D39-4919-B76B-49F19FEF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57788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X20</a:t>
            </a:r>
          </a:p>
        </p:txBody>
      </p:sp>
      <p:sp>
        <p:nvSpPr>
          <p:cNvPr id="23" name="SCM node X21">
            <a:extLst xmlns:a="http://schemas.openxmlformats.org/drawingml/2006/main">
              <a:ext uri="{FF2B5EF4-FFF2-40B4-BE49-F238E27FC236}">
                <a16:creationId xmlns:a16="http://schemas.microsoft.com/office/drawing/2014/main" id="{A933F78D-6A2E-474F-89E2-DB766659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621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X21</a:t>
            </a:r>
          </a:p>
        </p:txBody>
      </p:sp>
      <p:sp>
        <p:nvSpPr>
          <p:cNvPr id="24" name="SCM node X22">
            <a:extLst xmlns:a="http://schemas.openxmlformats.org/drawingml/2006/main">
              <a:ext uri="{FF2B5EF4-FFF2-40B4-BE49-F238E27FC236}">
                <a16:creationId xmlns:a16="http://schemas.microsoft.com/office/drawing/2014/main" id="{A582E7BA-8F90-4944-AD7F-E05A11A5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6702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X22</a:t>
            </a:r>
          </a:p>
        </p:txBody>
      </p:sp>
      <p:sp>
        <p:nvSpPr>
          <p:cNvPr id="25" name="SCM node X23">
            <a:extLst xmlns:a="http://schemas.openxmlformats.org/drawingml/2006/main">
              <a:ext uri="{FF2B5EF4-FFF2-40B4-BE49-F238E27FC236}">
                <a16:creationId xmlns:a16="http://schemas.microsoft.com/office/drawing/2014/main" id="{916D0B68-87B6-4631-A7DB-72E393E1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718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X23</a:t>
            </a:r>
          </a:p>
        </p:txBody>
      </p:sp>
      <p:sp>
        <p:nvSpPr>
          <p:cNvPr id="26" name="SCM node X24">
            <a:extLst xmlns:a="http://schemas.openxmlformats.org/drawingml/2006/main">
              <a:ext uri="{FF2B5EF4-FFF2-40B4-BE49-F238E27FC236}">
                <a16:creationId xmlns:a16="http://schemas.microsoft.com/office/drawing/2014/main" id="{1C76702E-37F2-44A8-B900-D6E307DE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7672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X24</a:t>
            </a:r>
          </a:p>
        </p:txBody>
      </p:sp>
      <p:sp>
        <p:nvSpPr>
          <p:cNvPr id="27" name="SCM node X25">
            <a:extLst xmlns:a="http://schemas.openxmlformats.org/drawingml/2006/main">
              <a:ext uri="{FF2B5EF4-FFF2-40B4-BE49-F238E27FC236}">
                <a16:creationId xmlns:a16="http://schemas.microsoft.com/office/drawing/2014/main" id="{8EA605AE-B4D0-4C5A-971F-4B7168FA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815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X25</a:t>
            </a:r>
          </a:p>
        </p:txBody>
      </p:sp>
      <p:sp>
        <p:nvSpPr>
          <p:cNvPr id="28" name="SCM node X26">
            <a:extLst xmlns:a="http://schemas.openxmlformats.org/drawingml/2006/main">
              <a:ext uri="{FF2B5EF4-FFF2-40B4-BE49-F238E27FC236}">
                <a16:creationId xmlns:a16="http://schemas.microsoft.com/office/drawing/2014/main" id="{84CE7069-C03B-4787-86B6-D8C34480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621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X26</a:t>
            </a:r>
          </a:p>
        </p:txBody>
      </p:sp>
      <p:sp>
        <p:nvSpPr>
          <p:cNvPr id="29" name="SCM node X27">
            <a:extLst xmlns:a="http://schemas.openxmlformats.org/drawingml/2006/main">
              <a:ext uri="{FF2B5EF4-FFF2-40B4-BE49-F238E27FC236}">
                <a16:creationId xmlns:a16="http://schemas.microsoft.com/office/drawing/2014/main" id="{AEE9990D-FA20-42AB-82DC-CC70B25B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6702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X27</a:t>
            </a:r>
          </a:p>
        </p:txBody>
      </p:sp>
      <p:sp>
        <p:nvSpPr>
          <p:cNvPr id="30" name="SCM node X28">
            <a:extLst xmlns:a="http://schemas.openxmlformats.org/drawingml/2006/main">
              <a:ext uri="{FF2B5EF4-FFF2-40B4-BE49-F238E27FC236}">
                <a16:creationId xmlns:a16="http://schemas.microsoft.com/office/drawing/2014/main" id="{F7ACA518-DDEA-4D2E-964A-5DA933AC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718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X28</a:t>
            </a:r>
          </a:p>
        </p:txBody>
      </p:sp>
      <p:sp>
        <p:nvSpPr>
          <p:cNvPr id="31" name="SCM node X29">
            <a:extLst xmlns:a="http://schemas.openxmlformats.org/drawingml/2006/main">
              <a:ext uri="{FF2B5EF4-FFF2-40B4-BE49-F238E27FC236}">
                <a16:creationId xmlns:a16="http://schemas.microsoft.com/office/drawing/2014/main" id="{BC51657B-7619-45A9-9A0D-599EEB26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7672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X29</a:t>
            </a:r>
          </a:p>
        </p:txBody>
      </p:sp>
      <p:sp>
        <p:nvSpPr>
          <p:cNvPr id="32" name="SCM node X30">
            <a:extLst xmlns:a="http://schemas.openxmlformats.org/drawingml/2006/main">
              <a:ext uri="{FF2B5EF4-FFF2-40B4-BE49-F238E27FC236}">
                <a16:creationId xmlns:a16="http://schemas.microsoft.com/office/drawing/2014/main" id="{B65B8AE7-7EF4-4F5F-9A9F-091D9811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81575"/>
            <a:ext cx="571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D3DDD9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X30</a:t>
            </a:r>
          </a:p>
        </p:txBody>
      </p:sp>
      <p:sp>
        <p:nvSpPr>
          <p:cNvPr id="73" name="First selected action: do(X7">
            <a:extLst xmlns:a="http://schemas.openxmlformats.org/drawingml/2006/main">
              <a:ext uri="{FF2B5EF4-FFF2-40B4-BE49-F238E27FC236}">
                <a16:creationId xmlns:a16="http://schemas.microsoft.com/office/drawing/2014/main" id="{D925E843-F1AA-469E-9742-CA8A52D6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First selected action: do(X7 = 3.8571)  →  50 responses</a:t>
            </a:r>
          </a:p>
        </p:txBody>
      </p:sp>
      <p:sp>
        <p:nvSpPr>
          <p:cNvPr id="74" name="Arrows point from cause to e">
            <a:extLst xmlns:a="http://schemas.openxmlformats.org/drawingml/2006/main">
              <a:ext uri="{FF2B5EF4-FFF2-40B4-BE49-F238E27FC236}">
                <a16:creationId xmlns:a16="http://schemas.microsoft.com/office/drawing/2014/main" id="{71184435-56D8-49AD-BCE5-191C630D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Arrows point from cause to effect. Coral follows the X7 intervention downstream · archived seed 5000.</a:t>
            </a:r>
          </a:p>
        </p:txBody>
      </p:sp>
    </p:spTree>
    <p:extLst>
      <p:ext uri="{BB962C8B-B14F-4D97-AF65-F5344CB8AC3E}">
        <p14:creationId xmlns:p14="http://schemas.microsoft.com/office/powerpoint/2010/main" val="13977226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971E6861-A758-4115-977B-DC64D1A6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65% lower final prediction error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A365967A-7949-4DF4-BCBC-887969CC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19 of 20 systems won · equal">
            <a:extLst xmlns:a="http://schemas.openxmlformats.org/drawingml/2006/main">
              <a:ext uri="{FF2B5EF4-FFF2-40B4-BE49-F238E27FC236}">
                <a16:creationId xmlns:a16="http://schemas.microsoft.com/office/drawing/2014/main" id="{043778FA-9411-4593-9525-BD819AC8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19 of 20 systems won · equal budgets · lower error is better</a:t>
            </a:r>
          </a:p>
        </p:txBody>
      </p:sp>
      <p:sp>
        <p:nvSpPr>
          <p:cNvPr id="4" name="Full recorded curve">
            <a:extLst xmlns:a="http://schemas.openxmlformats.org/drawingml/2006/main">
              <a:ext uri="{FF2B5EF4-FFF2-40B4-BE49-F238E27FC236}">
                <a16:creationId xmlns:a16="http://schemas.microsoft.com/office/drawing/2014/main" id="{D03864F6-EA53-43B5-8033-C7E2EED8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3667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Full recorded curve</a:t>
            </a:r>
          </a:p>
        </p:txBody>
      </p:sp>
      <p:sp>
        <p:nvSpPr>
          <p:cNvPr id="5" name="Detail: batches 4–32">
            <a:extLst xmlns:a="http://schemas.openxmlformats.org/drawingml/2006/main">
              <a:ext uri="{FF2B5EF4-FFF2-40B4-BE49-F238E27FC236}">
                <a16:creationId xmlns:a16="http://schemas.microsoft.com/office/drawing/2014/main" id="{A25E205F-83B9-4AED-9ACC-39658B91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859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Detail: batches 4–32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A83E67B-FEC4-4E68-9D16-03853E05F746}"/>
              </a:ext>
            </a:extLst>
          </p:cNvPr>
          <p:cNvGraphicFramePr/>
          <p:nvPr/>
        </p:nvGraphicFramePr>
        <p:xfrm>
          <a:off xmlns:a="http://schemas.openxmlformats.org/drawingml/2006/main" x="609600" y="2524125"/>
          <a:ext xmlns:a="http://schemas.openxmlformats.org/drawingml/2006/main" cx="3429000" cy="2638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01ca806de74a4b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A22ED393-5D4D-4CBA-8496-D85B9E352A92}"/>
              </a:ext>
            </a:extLst>
          </p:cNvPr>
          <p:cNvGraphicFramePr/>
          <p:nvPr/>
        </p:nvGraphicFramePr>
        <p:xfrm>
          <a:off xmlns:a="http://schemas.openxmlformats.org/drawingml/2006/main" x="4419600" y="2524125"/>
          <a:ext xmlns:a="http://schemas.openxmlformats.org/drawingml/2006/main" cx="7048500" cy="2638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4a7df466dd4555"/>
          </a:graphicData>
        </a:graphic>
      </p:graphicFrame>
      <p:sp>
        <p:nvSpPr>
          <p:cNvPr id="8" name="Final MSE: 0.01543 ACE vs 0.">
            <a:extLst xmlns:a="http://schemas.openxmlformats.org/drawingml/2006/main">
              <a:ext uri="{FF2B5EF4-FFF2-40B4-BE49-F238E27FC236}">
                <a16:creationId xmlns:a16="http://schemas.microsoft.com/office/drawing/2014/main" id="{F79EC544-11BE-48CF-A57B-E1424AC8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Final MSE: 0.01543 ACE vs 0.04390 random  |  19 / 20 wins</a:t>
            </a:r>
          </a:p>
        </p:txBody>
      </p:sp>
      <p:sp>
        <p:nvSpPr>
          <p:cNvPr id="9" name="20 synthetic systems · 2,000">
            <a:extLst xmlns:a="http://schemas.openxmlformats.org/drawingml/2006/main">
              <a:ext uri="{FF2B5EF4-FFF2-40B4-BE49-F238E27FC236}">
                <a16:creationId xmlns:a16="http://schemas.microsoft.com/office/drawing/2014/main" id="{4AC7A210-596B-466E-8DA5-83B41669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20 synthetic systems · 2,000 responses per arm · random action selection with the same SCM learner</a:t>
            </a:r>
          </a:p>
        </p:txBody>
      </p:sp>
    </p:spTree>
    <p:extLst>
      <p:ext uri="{BB962C8B-B14F-4D97-AF65-F5344CB8AC3E}">
        <p14:creationId xmlns:p14="http://schemas.microsoft.com/office/powerpoint/2010/main" val="18223473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6CD57019-FF5D-45F6-8423-DB2DDB0E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64% fewer intervention batches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92FD1E7C-D006-43FE-83AB-2B33BDF1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246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First recorded crossing of M">
            <a:extLst xmlns:a="http://schemas.openxmlformats.org/drawingml/2006/main">
              <a:ext uri="{FF2B5EF4-FFF2-40B4-BE49-F238E27FC236}">
                <a16:creationId xmlns:a16="http://schemas.microsoft.com/office/drawing/2014/main" id="{6AA873A3-3558-4DAB-9867-DE956449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First recorded crossing of MSE ≤ 0.04390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44ECA29-D241-46AE-999A-0AEC5AF88BEB}"/>
              </a:ext>
            </a:extLst>
          </p:cNvPr>
          <p:cNvGraphicFramePr/>
          <p:nvPr/>
        </p:nvGraphicFramePr>
        <p:xfrm>
          <a:off xmlns:a="http://schemas.openxmlformats.org/drawingml/2006/main" x="666750" y="2143125"/>
          <a:ext xmlns:a="http://schemas.openxmlformats.org/drawingml/2006/main" cx="5762625" cy="3276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f9c73ff36d4b04"/>
          </a:graphicData>
        </a:graphic>
      </p:graphicFrame>
      <p:sp>
        <p:nvSpPr>
          <p:cNvPr id="5" name="Intervention batches · 50 re">
            <a:extLst xmlns:a="http://schemas.openxmlformats.org/drawingml/2006/main">
              <a:ext uri="{FF2B5EF4-FFF2-40B4-BE49-F238E27FC236}">
                <a16:creationId xmlns:a16="http://schemas.microsoft.com/office/drawing/2014/main" id="{A8D2C46C-2D1C-49AD-ADE2-833D7988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592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Intervention batches · 50 responses each</a:t>
            </a:r>
          </a:p>
        </p:txBody>
      </p:sp>
      <p:sp>
        <p:nvSpPr>
          <p:cNvPr id="6" name="64.3% fewer">
            <a:extLst xmlns:a="http://schemas.openxmlformats.org/drawingml/2006/main">
              <a:ext uri="{FF2B5EF4-FFF2-40B4-BE49-F238E27FC236}">
                <a16:creationId xmlns:a16="http://schemas.microsoft.com/office/drawing/2014/main" id="{BAE10C92-CD39-4E18-9DF2-02E65103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28875"/>
            <a:ext cx="4381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7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75" b="1">
                <a:solidFill>
                  <a:srgbClr val="087F83"/>
                </a:solidFill>
                <a:latin typeface="Helvetica Neue"/>
                <a:ea typeface="Helvetica Neue"/>
                <a:cs typeface="Helvetica Neue"/>
              </a:rPr>
              <a:t>64.3% fewer</a:t>
            </a:r>
          </a:p>
        </p:txBody>
      </p:sp>
      <p:sp>
        <p:nvSpPr>
          <p:cNvPr id="7" name="1,400 → 500&#10;intervention res">
            <a:extLst xmlns:a="http://schemas.openxmlformats.org/drawingml/2006/main">
              <a:ext uri="{FF2B5EF4-FFF2-40B4-BE49-F238E27FC236}">
                <a16:creationId xmlns:a16="http://schemas.microsoft.com/office/drawing/2014/main" id="{20BA5C94-0ACC-42E4-904D-BE5EE17E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90900"/>
            <a:ext cx="4229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1,400 → 500</a:t>
            </a:r>
          </a:p>
          <a:p xmlns:a="http://schemas.openxmlformats.org/drawingml/2006/main">
            <a:pPr>
              <a:defRPr sz="2325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6313A"/>
                </a:solidFill>
                <a:latin typeface="Helvetica Neue"/>
                <a:ea typeface="Helvetica Neue"/>
                <a:cs typeface="Helvetica Neue"/>
              </a:rPr>
              <a:t>intervention responses</a:t>
            </a:r>
          </a:p>
        </p:txBody>
      </p:sp>
      <p:sp>
        <p:nvSpPr>
          <p:cNvPr id="8" name="Including observations:&#10;1,76">
            <a:extLst xmlns:a="http://schemas.openxmlformats.org/drawingml/2006/main">
              <a:ext uri="{FF2B5EF4-FFF2-40B4-BE49-F238E27FC236}">
                <a16:creationId xmlns:a16="http://schemas.microsoft.com/office/drawing/2014/main" id="{3289E5A6-CBFE-4B49-90CA-DEE0E886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48200"/>
            <a:ext cx="42195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Including observations:</a:t>
            </a:r>
          </a:p>
          <a:p xmlns:a="http://schemas.openxmlformats.org/drawingml/2006/main">
            <a:pPr>
              <a:defRPr sz="20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1,760 → 620 total responses</a:t>
            </a:r>
          </a:p>
        </p:txBody>
      </p:sp>
      <p:sp>
        <p:nvSpPr>
          <p:cNvPr id="9" name="Retrospective comparison of ">
            <a:extLst xmlns:a="http://schemas.openxmlformats.org/drawingml/2006/main">
              <a:ext uri="{FF2B5EF4-FFF2-40B4-BE49-F238E27FC236}">
                <a16:creationId xmlns:a16="http://schemas.microsoft.com/office/drawing/2014/main" id="{D5183E0F-CA35-485F-893F-7CACB0C0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3666B"/>
                </a:solidFill>
                <a:latin typeface="Helvetica Neue"/>
                <a:ea typeface="Helvetica Neue"/>
                <a:cs typeface="Helvetica Neue"/>
              </a:rPr>
              <a:t>Retrospective comparison of mean learning curves across 20 synthetic systems · target: random’s final mean error</a:t>
            </a:r>
          </a:p>
        </p:txBody>
      </p:sp>
    </p:spTree>
    <p:extLst>
      <p:ext uri="{BB962C8B-B14F-4D97-AF65-F5344CB8AC3E}">
        <p14:creationId xmlns:p14="http://schemas.microsoft.com/office/powerpoint/2010/main" val="46689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2026-10-09T15:05:01.9240000Z</dcterms:created>
  <dcterms:modified xsi:type="dcterms:W3CDTF">2026-10-09T15:05:01.9240000Z</dcterms:modified>
</coreProperties>
</file>